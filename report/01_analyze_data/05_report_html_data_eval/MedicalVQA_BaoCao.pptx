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1.xml" ContentType="application/vnd.openxmlformats-officedocument.drawingml.chart+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rts/chart2.xml" ContentType="application/vnd.openxmlformats-officedocument.drawingml.chart+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rts/chart3.xml" ContentType="application/vnd.openxmlformats-officedocument.drawingml.chart+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rts/chart4.xml" ContentType="application/vnd.openxmlformats-officedocument.drawingml.chart+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257" r:id="rId3"/>
    <p:sldId id="258" r:id="rId4"/>
    <p:sldId id="260" r:id="rId5"/>
    <p:sldId id="261" r:id="rId6"/>
    <p:sldId id="310" r:id="rId7"/>
    <p:sldId id="262" r:id="rId8"/>
    <p:sldId id="311" r:id="rId9"/>
    <p:sldId id="263" r:id="rId10"/>
    <p:sldId id="312" r:id="rId11"/>
    <p:sldId id="313" r:id="rId12"/>
    <p:sldId id="264" r:id="rId13"/>
    <p:sldId id="265" r:id="rId14"/>
    <p:sldId id="266" r:id="rId15"/>
    <p:sldId id="314" r:id="rId16"/>
    <p:sldId id="267" r:id="rId17"/>
    <p:sldId id="315" r:id="rId18"/>
    <p:sldId id="269" r:id="rId19"/>
    <p:sldId id="270" r:id="rId20"/>
    <p:sldId id="271" r:id="rId21"/>
    <p:sldId id="272" r:id="rId22"/>
    <p:sldId id="273" r:id="rId23"/>
    <p:sldId id="275" r:id="rId24"/>
    <p:sldId id="276" r:id="rId25"/>
    <p:sldId id="277" r:id="rId26"/>
    <p:sldId id="278" r:id="rId27"/>
    <p:sldId id="279" r:id="rId28"/>
    <p:sldId id="280" r:id="rId29"/>
    <p:sldId id="281" r:id="rId30"/>
    <p:sldId id="282" r:id="rId31"/>
    <p:sldId id="303" r:id="rId32"/>
    <p:sldId id="283" r:id="rId33"/>
    <p:sldId id="284" r:id="rId34"/>
    <p:sldId id="285" r:id="rId35"/>
    <p:sldId id="286" r:id="rId36"/>
    <p:sldId id="304" r:id="rId37"/>
    <p:sldId id="287" r:id="rId38"/>
    <p:sldId id="301" r:id="rId39"/>
    <p:sldId id="288" r:id="rId40"/>
    <p:sldId id="289" r:id="rId41"/>
    <p:sldId id="316" r:id="rId42"/>
    <p:sldId id="290" r:id="rId43"/>
    <p:sldId id="291" r:id="rId44"/>
    <p:sldId id="292" r:id="rId45"/>
    <p:sldId id="293" r:id="rId46"/>
    <p:sldId id="294" r:id="rId47"/>
    <p:sldId id="295" r:id="rId48"/>
    <p:sldId id="296" r:id="rId49"/>
    <p:sldId id="297" r:id="rId50"/>
    <p:sldId id="299" r:id="rId51"/>
    <p:sldId id="300" r:id="rId5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6820" autoAdjust="0"/>
  </p:normalViewPr>
  <p:slideViewPr>
    <p:cSldViewPr snapToGrid="0" snapToObjects="1">
      <p:cViewPr>
        <p:scale>
          <a:sx n="66" d="100"/>
          <a:sy n="66" d="100"/>
        </p:scale>
        <p:origin x="1301"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A1 — không chú ý</c:v>
                </c:pt>
              </c:strCache>
            </c:strRef>
          </c:tx>
          <c:spPr>
            <a:solidFill>
              <a:srgbClr val="1466C0"/>
            </a:solidFill>
            <a:effectLst/>
          </c:spPr>
          <c:invertIfNegative val="0"/>
          <c:dLbls>
            <c:numFmt formatCode="0.0&quot;%&quot;" sourceLinked="0"/>
            <c:spPr>
              <a:noFill/>
              <a:ln>
                <a:noFill/>
              </a:ln>
              <a:effectLst/>
            </c:spPr>
            <c:txPr>
              <a:bodyPr/>
              <a:lstStyle/>
              <a:p>
                <a:pPr>
                  <a:defRPr sz="1000" b="0" i="0" u="none" strike="noStrike">
                    <a:solidFill>
                      <a:srgbClr val="1424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_all</c:v>
                </c:pt>
                <c:pt idx="1">
                  <c:v>_img</c:v>
                </c:pt>
                <c:pt idx="2">
                  <c:v>_txt</c:v>
                </c:pt>
                <c:pt idx="3">
                  <c:v>_dec</c:v>
                </c:pt>
              </c:strCache>
            </c:strRef>
          </c:cat>
          <c:val>
            <c:numRef>
              <c:f>Sheet1!$B$2:$B$5</c:f>
              <c:numCache>
                <c:formatCode>General</c:formatCode>
                <c:ptCount val="4"/>
                <c:pt idx="0">
                  <c:v>28.8</c:v>
                </c:pt>
                <c:pt idx="1">
                  <c:v>23.4</c:v>
                </c:pt>
                <c:pt idx="2">
                  <c:v>25.6</c:v>
                </c:pt>
                <c:pt idx="3">
                  <c:v>23.8</c:v>
                </c:pt>
              </c:numCache>
            </c:numRef>
          </c:val>
          <c:extLst>
            <c:ext xmlns:c16="http://schemas.microsoft.com/office/drawing/2014/chart" uri="{C3380CC4-5D6E-409C-BE32-E72D297353CC}">
              <c16:uniqueId val="{00000000-8867-4F2E-883A-C9AC69F2FD81}"/>
            </c:ext>
          </c:extLst>
        </c:ser>
        <c:ser>
          <c:idx val="1"/>
          <c:order val="1"/>
          <c:tx>
            <c:strRef>
              <c:f>Sheet1!$C$1</c:f>
              <c:strCache>
                <c:ptCount val="1"/>
                <c:pt idx="0">
                  <c:v>A2 — có chú ý</c:v>
                </c:pt>
              </c:strCache>
            </c:strRef>
          </c:tx>
          <c:spPr>
            <a:solidFill>
              <a:srgbClr val="6B33C7"/>
            </a:solidFill>
            <a:effectLst/>
          </c:spPr>
          <c:invertIfNegative val="0"/>
          <c:dLbls>
            <c:numFmt formatCode="0.0&quot;%&quot;" sourceLinked="0"/>
            <c:spPr>
              <a:noFill/>
              <a:ln>
                <a:noFill/>
              </a:ln>
              <a:effectLst/>
            </c:spPr>
            <c:txPr>
              <a:bodyPr/>
              <a:lstStyle/>
              <a:p>
                <a:pPr>
                  <a:defRPr sz="1000" b="0" i="0" u="none" strike="noStrike">
                    <a:solidFill>
                      <a:srgbClr val="1424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_all</c:v>
                </c:pt>
                <c:pt idx="1">
                  <c:v>_img</c:v>
                </c:pt>
                <c:pt idx="2">
                  <c:v>_txt</c:v>
                </c:pt>
                <c:pt idx="3">
                  <c:v>_dec</c:v>
                </c:pt>
              </c:strCache>
            </c:strRef>
          </c:cat>
          <c:val>
            <c:numRef>
              <c:f>Sheet1!$C$2:$C$5</c:f>
              <c:numCache>
                <c:formatCode>General</c:formatCode>
                <c:ptCount val="4"/>
                <c:pt idx="0">
                  <c:v>24</c:v>
                </c:pt>
                <c:pt idx="1">
                  <c:v>21</c:v>
                </c:pt>
                <c:pt idx="2">
                  <c:v>23.8</c:v>
                </c:pt>
                <c:pt idx="3">
                  <c:v>24.8</c:v>
                </c:pt>
              </c:numCache>
            </c:numRef>
          </c:val>
          <c:extLst>
            <c:ext xmlns:c16="http://schemas.microsoft.com/office/drawing/2014/chart" uri="{C3380CC4-5D6E-409C-BE32-E72D297353CC}">
              <c16:uniqueId val="{00000001-8867-4F2E-883A-C9AC69F2FD8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F637B"/>
                </a:solidFill>
                <a:latin typeface="Calibri"/>
              </a:defRPr>
            </a:pPr>
            <a:endParaRPr lang="en-US"/>
          </a:p>
        </c:txPr>
        <c:crossAx val="2094734552"/>
        <c:crosses val="autoZero"/>
        <c:auto val="1"/>
        <c:lblAlgn val="ctr"/>
        <c:lblOffset val="100"/>
        <c:noMultiLvlLbl val="1"/>
      </c:catAx>
      <c:valAx>
        <c:axId val="2094734552"/>
        <c:scaling>
          <c:orientation val="minMax"/>
          <c:max val="32"/>
          <c:min val="0"/>
        </c:scaling>
        <c:delete val="0"/>
        <c:axPos val="l"/>
        <c:majorGridlines>
          <c:spPr>
            <a:ln w="9525" cap="flat">
              <a:solidFill>
                <a:srgbClr val="D3DEEA"/>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F637B"/>
                </a:solidFill>
                <a:latin typeface="Calibri"/>
              </a:defRPr>
            </a:pPr>
            <a:endParaRPr lang="en-US"/>
          </a:p>
        </c:txPr>
        <c:crossAx val="2094734554"/>
        <c:crosses val="autoZero"/>
        <c:crossBetween val="between"/>
        <c:majorUnit val="8"/>
      </c:valAx>
      <c:spPr>
        <a:solidFill>
          <a:srgbClr val="FFFFFF"/>
        </a:solidFill>
        <a:ln>
          <a:noFill/>
        </a:ln>
        <a:effectLst/>
      </c:spPr>
    </c:plotArea>
    <c:legend>
      <c:legendPos val="b"/>
      <c:overlay val="0"/>
      <c:txPr>
        <a:bodyPr/>
        <a:lstStyle/>
        <a:p>
          <a:pPr>
            <a:defRPr sz="1100">
              <a:solidFill>
                <a:srgbClr val="4F637B"/>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Q_pooled — 1 token</c:v>
                </c:pt>
              </c:strCache>
            </c:strRef>
          </c:tx>
          <c:spPr>
            <a:solidFill>
              <a:srgbClr val="8494A8"/>
            </a:solidFill>
            <a:effectLst/>
          </c:spPr>
          <c:invertIfNegative val="0"/>
          <c:dLbls>
            <c:numFmt formatCode="0.00" sourceLinked="0"/>
            <c:spPr>
              <a:noFill/>
              <a:ln>
                <a:noFill/>
              </a:ln>
              <a:effectLst/>
            </c:spPr>
            <c:txPr>
              <a:bodyPr/>
              <a:lstStyle/>
              <a:p>
                <a:pPr>
                  <a:defRPr sz="1000" b="0" i="0" u="none" strike="noStrike">
                    <a:solidFill>
                      <a:srgbClr val="1424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EM Overall</c:v>
                </c:pt>
                <c:pt idx="1">
                  <c:v>EM Open</c:v>
                </c:pt>
                <c:pt idx="2">
                  <c:v>F1 Open</c:v>
                </c:pt>
                <c:pt idx="3">
                  <c:v>sem_open ×100</c:v>
                </c:pt>
              </c:strCache>
            </c:strRef>
          </c:cat>
          <c:val>
            <c:numRef>
              <c:f>Sheet1!$B$2:$B$5</c:f>
              <c:numCache>
                <c:formatCode>General</c:formatCode>
                <c:ptCount val="4"/>
                <c:pt idx="0">
                  <c:v>33.26</c:v>
                </c:pt>
                <c:pt idx="1">
                  <c:v>5.5</c:v>
                </c:pt>
                <c:pt idx="2">
                  <c:v>12.5</c:v>
                </c:pt>
                <c:pt idx="3">
                  <c:v>30.48</c:v>
                </c:pt>
              </c:numCache>
            </c:numRef>
          </c:val>
          <c:extLst>
            <c:ext xmlns:c16="http://schemas.microsoft.com/office/drawing/2014/chart" uri="{C3380CC4-5D6E-409C-BE32-E72D297353CC}">
              <c16:uniqueId val="{00000000-7527-4CF6-A63E-2010B6317526}"/>
            </c:ext>
          </c:extLst>
        </c:ser>
        <c:ser>
          <c:idx val="1"/>
          <c:order val="1"/>
          <c:tx>
            <c:strRef>
              <c:f>Sheet1!$C$1</c:f>
              <c:strCache>
                <c:ptCount val="1"/>
                <c:pt idx="0">
                  <c:v>Q_qformer — 17 token</c:v>
                </c:pt>
              </c:strCache>
            </c:strRef>
          </c:tx>
          <c:spPr>
            <a:solidFill>
              <a:srgbClr val="6B33C7"/>
            </a:solidFill>
            <a:effectLst/>
          </c:spPr>
          <c:invertIfNegative val="0"/>
          <c:dLbls>
            <c:numFmt formatCode="0.00" sourceLinked="0"/>
            <c:spPr>
              <a:noFill/>
              <a:ln>
                <a:noFill/>
              </a:ln>
              <a:effectLst/>
            </c:spPr>
            <c:txPr>
              <a:bodyPr/>
              <a:lstStyle/>
              <a:p>
                <a:pPr>
                  <a:defRPr sz="1000" b="0" i="0" u="none" strike="noStrike">
                    <a:solidFill>
                      <a:srgbClr val="1424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EM Overall</c:v>
                </c:pt>
                <c:pt idx="1">
                  <c:v>EM Open</c:v>
                </c:pt>
                <c:pt idx="2">
                  <c:v>F1 Open</c:v>
                </c:pt>
                <c:pt idx="3">
                  <c:v>sem_open ×100</c:v>
                </c:pt>
              </c:strCache>
            </c:strRef>
          </c:cat>
          <c:val>
            <c:numRef>
              <c:f>Sheet1!$C$2:$C$5</c:f>
              <c:numCache>
                <c:formatCode>General</c:formatCode>
                <c:ptCount val="4"/>
                <c:pt idx="0">
                  <c:v>35.25</c:v>
                </c:pt>
                <c:pt idx="1">
                  <c:v>10.5</c:v>
                </c:pt>
                <c:pt idx="2">
                  <c:v>17.25</c:v>
                </c:pt>
                <c:pt idx="3">
                  <c:v>34.270000000000003</c:v>
                </c:pt>
              </c:numCache>
            </c:numRef>
          </c:val>
          <c:extLst>
            <c:ext xmlns:c16="http://schemas.microsoft.com/office/drawing/2014/chart" uri="{C3380CC4-5D6E-409C-BE32-E72D297353CC}">
              <c16:uniqueId val="{00000001-7527-4CF6-A63E-2010B6317526}"/>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4F637B"/>
                </a:solidFill>
                <a:latin typeface="Calibri"/>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9525" cap="flat">
              <a:solidFill>
                <a:srgbClr val="D3DE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F637B"/>
                </a:solidFill>
                <a:latin typeface="Calibri"/>
              </a:defRPr>
            </a:pPr>
            <a:endParaRPr lang="en-US"/>
          </a:p>
        </c:txPr>
        <c:crossAx val="2094734554"/>
        <c:crosses val="autoZero"/>
        <c:crossBetween val="between"/>
        <c:majorUnit val="10"/>
      </c:valAx>
      <c:spPr>
        <a:solidFill>
          <a:srgbClr val="FFFFFF"/>
        </a:solidFill>
        <a:ln>
          <a:noFill/>
        </a:ln>
        <a:effectLst/>
      </c:spPr>
    </c:plotArea>
    <c:legend>
      <c:legendPos val="b"/>
      <c:overlay val="0"/>
      <c:txPr>
        <a:bodyPr/>
        <a:lstStyle/>
        <a:p>
          <a:pPr>
            <a:defRPr sz="1100">
              <a:solidFill>
                <a:srgbClr val="4F637B"/>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gemma_2_lora_E2b (2B)</c:v>
                </c:pt>
              </c:strCache>
            </c:strRef>
          </c:tx>
          <c:spPr>
            <a:solidFill>
              <a:srgbClr val="0B8457"/>
            </a:solidFill>
            <a:effectLst/>
          </c:spPr>
          <c:invertIfNegative val="0"/>
          <c:dLbls>
            <c:numFmt formatCode="0.00" sourceLinked="0"/>
            <c:spPr>
              <a:noFill/>
              <a:ln>
                <a:noFill/>
              </a:ln>
              <a:effectLst/>
            </c:spPr>
            <c:txPr>
              <a:bodyPr/>
              <a:lstStyle/>
              <a:p>
                <a:pPr>
                  <a:defRPr sz="1000" b="0" i="0" u="none" strike="noStrike">
                    <a:solidFill>
                      <a:srgbClr val="1424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EM Overall
VQA-RAD</c:v>
                </c:pt>
                <c:pt idx="1">
                  <c:v>EM Overall
RadImageNet</c:v>
                </c:pt>
                <c:pt idx="2">
                  <c:v>EM Open
VQA-RAD</c:v>
                </c:pt>
                <c:pt idx="3">
                  <c:v>sem_open ×100
VQA-RAD</c:v>
                </c:pt>
              </c:strCache>
            </c:strRef>
          </c:cat>
          <c:val>
            <c:numRef>
              <c:f>Sheet1!$B$2:$B$5</c:f>
              <c:numCache>
                <c:formatCode>General</c:formatCode>
                <c:ptCount val="4"/>
                <c:pt idx="0">
                  <c:v>37.92</c:v>
                </c:pt>
                <c:pt idx="1">
                  <c:v>30.2</c:v>
                </c:pt>
                <c:pt idx="2">
                  <c:v>20</c:v>
                </c:pt>
                <c:pt idx="3">
                  <c:v>51.12</c:v>
                </c:pt>
              </c:numCache>
            </c:numRef>
          </c:val>
          <c:extLst>
            <c:ext xmlns:c16="http://schemas.microsoft.com/office/drawing/2014/chart" uri="{C3380CC4-5D6E-409C-BE32-E72D297353CC}">
              <c16:uniqueId val="{00000000-A99A-4A73-9A70-73D64EE542E0}"/>
            </c:ext>
          </c:extLst>
        </c:ser>
        <c:ser>
          <c:idx val="1"/>
          <c:order val="1"/>
          <c:tx>
            <c:strRef>
              <c:f>Sheet1!$C$1</c:f>
              <c:strCache>
                <c:ptCount val="1"/>
                <c:pt idx="0">
                  <c:v>gemma_4_lora_E4b (4B)</c:v>
                </c:pt>
              </c:strCache>
            </c:strRef>
          </c:tx>
          <c:spPr>
            <a:solidFill>
              <a:srgbClr val="1466C0"/>
            </a:solidFill>
            <a:effectLst/>
          </c:spPr>
          <c:invertIfNegative val="0"/>
          <c:dLbls>
            <c:numFmt formatCode="0.00" sourceLinked="0"/>
            <c:spPr>
              <a:noFill/>
              <a:ln>
                <a:noFill/>
              </a:ln>
              <a:effectLst/>
            </c:spPr>
            <c:txPr>
              <a:bodyPr/>
              <a:lstStyle/>
              <a:p>
                <a:pPr>
                  <a:defRPr sz="1000" b="0" i="0" u="none" strike="noStrike">
                    <a:solidFill>
                      <a:srgbClr val="1424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EM Overall
VQA-RAD</c:v>
                </c:pt>
                <c:pt idx="1">
                  <c:v>EM Overall
RadImageNet</c:v>
                </c:pt>
                <c:pt idx="2">
                  <c:v>EM Open
VQA-RAD</c:v>
                </c:pt>
                <c:pt idx="3">
                  <c:v>sem_open ×100
VQA-RAD</c:v>
                </c:pt>
              </c:strCache>
            </c:strRef>
          </c:cat>
          <c:val>
            <c:numRef>
              <c:f>Sheet1!$C$2:$C$5</c:f>
              <c:numCache>
                <c:formatCode>General</c:formatCode>
                <c:ptCount val="4"/>
                <c:pt idx="0">
                  <c:v>41.46</c:v>
                </c:pt>
                <c:pt idx="1">
                  <c:v>25</c:v>
                </c:pt>
                <c:pt idx="2">
                  <c:v>14.5</c:v>
                </c:pt>
                <c:pt idx="3">
                  <c:v>43.67</c:v>
                </c:pt>
              </c:numCache>
            </c:numRef>
          </c:val>
          <c:extLst>
            <c:ext xmlns:c16="http://schemas.microsoft.com/office/drawing/2014/chart" uri="{C3380CC4-5D6E-409C-BE32-E72D297353CC}">
              <c16:uniqueId val="{00000001-A99A-4A73-9A70-73D64EE542E0}"/>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4F637B"/>
                </a:solidFill>
                <a:latin typeface="Calibri"/>
              </a:defRPr>
            </a:pPr>
            <a:endParaRPr lang="en-US"/>
          </a:p>
        </c:txPr>
        <c:crossAx val="2094734552"/>
        <c:crosses val="autoZero"/>
        <c:auto val="1"/>
        <c:lblAlgn val="ctr"/>
        <c:lblOffset val="100"/>
        <c:noMultiLvlLbl val="1"/>
      </c:catAx>
      <c:valAx>
        <c:axId val="2094734552"/>
        <c:scaling>
          <c:orientation val="minMax"/>
          <c:max val="60"/>
          <c:min val="0"/>
        </c:scaling>
        <c:delete val="0"/>
        <c:axPos val="l"/>
        <c:majorGridlines>
          <c:spPr>
            <a:ln w="9525" cap="flat">
              <a:solidFill>
                <a:srgbClr val="D3DE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F637B"/>
                </a:solidFill>
                <a:latin typeface="Calibri"/>
              </a:defRPr>
            </a:pPr>
            <a:endParaRPr lang="en-US"/>
          </a:p>
        </c:txPr>
        <c:crossAx val="2094734554"/>
        <c:crosses val="autoZero"/>
        <c:crossBetween val="between"/>
        <c:majorUnit val="15"/>
      </c:valAx>
      <c:spPr>
        <a:solidFill>
          <a:srgbClr val="FFFFFF"/>
        </a:solidFill>
        <a:ln>
          <a:noFill/>
        </a:ln>
        <a:effectLst/>
      </c:spPr>
    </c:plotArea>
    <c:legend>
      <c:legendPos val="b"/>
      <c:overlay val="0"/>
      <c:txPr>
        <a:bodyPr/>
        <a:lstStyle/>
        <a:p>
          <a:pPr>
            <a:defRPr sz="1100">
              <a:solidFill>
                <a:srgbClr val="4F637B"/>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VQA-RAD (nội miền, rò rỉ 99,51%)</c:v>
                </c:pt>
              </c:strCache>
            </c:strRef>
          </c:tx>
          <c:spPr>
            <a:solidFill>
              <a:srgbClr val="8494A8"/>
            </a:solidFill>
            <a:effectLst/>
          </c:spPr>
          <c:invertIfNegative val="0"/>
          <c:dLbls>
            <c:numFmt formatCode="0.00" sourceLinked="0"/>
            <c:spPr>
              <a:noFill/>
              <a:ln>
                <a:noFill/>
              </a:ln>
              <a:effectLst/>
            </c:spPr>
            <c:txPr>
              <a:bodyPr/>
              <a:lstStyle/>
              <a:p>
                <a:pPr>
                  <a:defRPr sz="950" b="0" i="0" u="none" strike="noStrike">
                    <a:solidFill>
                      <a:srgbClr val="1424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P_resnet_trans</c:v>
                </c:pt>
                <c:pt idx="1">
                  <c:v>Q_pooled</c:v>
                </c:pt>
                <c:pt idx="2">
                  <c:v>Q_qformer</c:v>
                </c:pt>
                <c:pt idx="3">
                  <c:v>gemma_2 (2B)</c:v>
                </c:pt>
                <c:pt idx="4">
                  <c:v>gemma_4 (4B)</c:v>
                </c:pt>
              </c:strCache>
            </c:strRef>
          </c:cat>
          <c:val>
            <c:numRef>
              <c:f>Sheet1!$B$2:$B$6</c:f>
              <c:numCache>
                <c:formatCode>General</c:formatCode>
                <c:ptCount val="5"/>
                <c:pt idx="0">
                  <c:v>38.799999999999997</c:v>
                </c:pt>
                <c:pt idx="1">
                  <c:v>33.26</c:v>
                </c:pt>
                <c:pt idx="2">
                  <c:v>35.25</c:v>
                </c:pt>
                <c:pt idx="3">
                  <c:v>37.92</c:v>
                </c:pt>
                <c:pt idx="4">
                  <c:v>41.46</c:v>
                </c:pt>
              </c:numCache>
            </c:numRef>
          </c:val>
          <c:extLst>
            <c:ext xmlns:c16="http://schemas.microsoft.com/office/drawing/2014/chart" uri="{C3380CC4-5D6E-409C-BE32-E72D297353CC}">
              <c16:uniqueId val="{00000000-D2EC-4A89-A0B9-C3A531798298}"/>
            </c:ext>
          </c:extLst>
        </c:ser>
        <c:ser>
          <c:idx val="1"/>
          <c:order val="1"/>
          <c:tx>
            <c:strRef>
              <c:f>Sheet1!$C$1</c:f>
              <c:strCache>
                <c:ptCount val="1"/>
                <c:pt idx="0">
                  <c:v>RadImageNet-VQA (tập sạch)</c:v>
                </c:pt>
              </c:strCache>
            </c:strRef>
          </c:tx>
          <c:spPr>
            <a:solidFill>
              <a:srgbClr val="0B8457"/>
            </a:solidFill>
            <a:effectLst/>
          </c:spPr>
          <c:invertIfNegative val="0"/>
          <c:dLbls>
            <c:numFmt formatCode="0.00" sourceLinked="0"/>
            <c:spPr>
              <a:noFill/>
              <a:ln>
                <a:noFill/>
              </a:ln>
              <a:effectLst/>
            </c:spPr>
            <c:txPr>
              <a:bodyPr/>
              <a:lstStyle/>
              <a:p>
                <a:pPr>
                  <a:defRPr sz="950" b="0" i="0" u="none" strike="noStrike">
                    <a:solidFill>
                      <a:srgbClr val="1424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P_resnet_trans</c:v>
                </c:pt>
                <c:pt idx="1">
                  <c:v>Q_pooled</c:v>
                </c:pt>
                <c:pt idx="2">
                  <c:v>Q_qformer</c:v>
                </c:pt>
                <c:pt idx="3">
                  <c:v>gemma_2 (2B)</c:v>
                </c:pt>
                <c:pt idx="4">
                  <c:v>gemma_4 (4B)</c:v>
                </c:pt>
              </c:strCache>
            </c:strRef>
          </c:cat>
          <c:val>
            <c:numRef>
              <c:f>Sheet1!$C$2:$C$6</c:f>
              <c:numCache>
                <c:formatCode>General</c:formatCode>
                <c:ptCount val="5"/>
                <c:pt idx="0">
                  <c:v>27</c:v>
                </c:pt>
                <c:pt idx="1">
                  <c:v>25.8</c:v>
                </c:pt>
                <c:pt idx="2">
                  <c:v>23.6</c:v>
                </c:pt>
                <c:pt idx="3">
                  <c:v>30.2</c:v>
                </c:pt>
                <c:pt idx="4">
                  <c:v>25</c:v>
                </c:pt>
              </c:numCache>
            </c:numRef>
          </c:val>
          <c:extLst>
            <c:ext xmlns:c16="http://schemas.microsoft.com/office/drawing/2014/chart" uri="{C3380CC4-5D6E-409C-BE32-E72D297353CC}">
              <c16:uniqueId val="{00000001-D2EC-4A89-A0B9-C3A531798298}"/>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F637B"/>
                </a:solidFill>
                <a:latin typeface="Calibri"/>
              </a:defRPr>
            </a:pPr>
            <a:endParaRPr lang="en-US"/>
          </a:p>
        </c:txPr>
        <c:crossAx val="2094734552"/>
        <c:crosses val="autoZero"/>
        <c:auto val="1"/>
        <c:lblAlgn val="ctr"/>
        <c:lblOffset val="100"/>
        <c:noMultiLvlLbl val="1"/>
      </c:catAx>
      <c:valAx>
        <c:axId val="2094734552"/>
        <c:scaling>
          <c:orientation val="minMax"/>
          <c:max val="48"/>
          <c:min val="0"/>
        </c:scaling>
        <c:delete val="0"/>
        <c:axPos val="l"/>
        <c:majorGridlines>
          <c:spPr>
            <a:ln w="9525" cap="flat">
              <a:solidFill>
                <a:srgbClr val="D3DEEA"/>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F637B"/>
                </a:solidFill>
                <a:latin typeface="Calibri"/>
              </a:defRPr>
            </a:pPr>
            <a:endParaRPr lang="en-US"/>
          </a:p>
        </c:txPr>
        <c:crossAx val="2094734554"/>
        <c:crosses val="autoZero"/>
        <c:crossBetween val="between"/>
        <c:majorUnit val="12"/>
      </c:valAx>
      <c:spPr>
        <a:solidFill>
          <a:srgbClr val="FFFFFF"/>
        </a:solidFill>
        <a:ln>
          <a:noFill/>
        </a:ln>
        <a:effectLst/>
      </c:spPr>
    </c:plotArea>
    <c:legend>
      <c:legendPos val="b"/>
      <c:overlay val="0"/>
      <c:txPr>
        <a:bodyPr/>
        <a:lstStyle/>
        <a:p>
          <a:pPr>
            <a:defRPr sz="1100">
              <a:solidFill>
                <a:srgbClr val="4F637B"/>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0677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Đồ án cuối kỳ môn Học sâu. SVTH: Hoàng Đình Quý Vũ. GVHD: PGS.TS Lê Anh Cường. Thông điệp xuyên suốt: điểm cao trên VQA-RAD phần lớn đến từ rò rỉ ảnh, phải đo trên tập sạch mới biết mô hình thật sự tổng quát hóa.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Bảy phần: bài toán &amp; dữ liệu, lý thuyết, kiến trúc &amp; tiến hóa, bộ chỉ số, thiết lập &amp; kết quả, ablation &amp; Gemma, tổng hợp.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câu đóng có sàn 50% nên điểm tổng thể dễ gây ảo giác. Câu mở mới phân biệt được mô hình.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Đề bài yêu cầu nêu khái niệm multimodal DL và đặc điểm bài toán text+image. Bốn đặc điểm: dị thể, căn chỉnh, hợp nhất, bổ sung.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cách hợp nhất: early / intermediate / late. Đề tài dùng intermediate (concat) — đây là chỗ Q-Former can thiệp.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sz="1200" b="0" kern="1200" dirty="0">
                <a:solidFill>
                  <a:schemeClr val="tx1"/>
                </a:solidFill>
                <a:effectLst/>
                <a:latin typeface="+mn-lt"/>
                <a:ea typeface="+mn-ea"/>
                <a:cs typeface="+mn-cs"/>
              </a:rPr>
              <a:t>Slide 6 </a:t>
            </a:r>
            <a:r>
              <a:rPr lang="en-US" sz="1200" b="0" kern="1200" dirty="0" err="1">
                <a:solidFill>
                  <a:schemeClr val="tx1"/>
                </a:solidFill>
                <a:effectLst/>
                <a:latin typeface="+mn-lt"/>
                <a:ea typeface="+mn-ea"/>
                <a:cs typeface="+mn-cs"/>
              </a:rPr>
              <a:t>giải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thích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trực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quan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về</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cấu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trúc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và</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lý</a:t>
            </a:r>
            <a:r>
              <a:rPr lang="en-US" sz="1200" b="0" kern="1200" dirty="0">
                <a:solidFill>
                  <a:schemeClr val="tx1"/>
                </a:solidFill>
                <a:effectLst/>
                <a:latin typeface="+mn-lt"/>
                <a:ea typeface="+mn-ea"/>
                <a:cs typeface="+mn-cs"/>
              </a:rPr>
              <a:t> do </a:t>
            </a:r>
            <a:r>
              <a:rPr lang="en-US" sz="1200" b="0" kern="1200" dirty="0" err="1">
                <a:solidFill>
                  <a:schemeClr val="tx1"/>
                </a:solidFill>
                <a:effectLst/>
                <a:latin typeface="+mn-lt"/>
                <a:ea typeface="+mn-ea"/>
                <a:cs typeface="+mn-cs"/>
              </a:rPr>
              <a:t>cần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có</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Bộ</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chiếu</a:t>
            </a:r>
            <a:r>
              <a:rPr lang="en-US" sz="1200" b="0" kern="1200" dirty="0">
                <a:solidFill>
                  <a:schemeClr val="tx1"/>
                </a:solidFill>
                <a:effectLst/>
                <a:latin typeface="+mn-lt"/>
                <a:ea typeface="+mn-ea"/>
                <a:cs typeface="+mn-cs"/>
              </a:rPr>
              <a:t> (Projector).</a:t>
            </a:r>
          </a:p>
          <a:p>
            <a:endParaRPr lang="en-US" sz="1200" b="0" kern="1200" dirty="0">
              <a:solidFill>
                <a:schemeClr val="tx1"/>
              </a:solidFill>
              <a:effectLst/>
              <a:latin typeface="+mn-lt"/>
              <a:ea typeface="+mn-ea"/>
              <a:cs typeface="+mn-cs"/>
            </a:endParaRPr>
          </a:p>
          <a:p>
            <a:r>
              <a:rPr lang="en-US" sz="1200" b="0" kern="1200" dirty="0" err="1">
                <a:solidFill>
                  <a:schemeClr val="tx1"/>
                </a:solidFill>
                <a:effectLst/>
                <a:latin typeface="+mn-lt"/>
                <a:ea typeface="+mn-ea"/>
                <a:cs typeface="+mn-cs"/>
              </a:rPr>
              <a:t>Nhìn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vào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sơ</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đồ</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luồng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phía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trên</a:t>
            </a:r>
            <a:r>
              <a:rPr lang="en-US" sz="1200" b="0" kern="1200" dirty="0">
                <a:solidFill>
                  <a:schemeClr val="tx1"/>
                </a:solidFill>
                <a:effectLst/>
                <a:latin typeface="+mn-lt"/>
                <a:ea typeface="+mn-ea"/>
                <a:cs typeface="+mn-cs"/>
              </a:rPr>
              <a:t>:</a:t>
            </a:r>
          </a:p>
          <a:p>
            <a:r>
              <a:rPr lang="en-US" sz="1200" b="0" kern="1200" dirty="0" err="1">
                <a:solidFill>
                  <a:schemeClr val="tx1"/>
                </a:solidFill>
                <a:effectLst/>
                <a:latin typeface="+mn-lt"/>
                <a:ea typeface="+mn-ea"/>
                <a:cs typeface="+mn-cs"/>
              </a:rPr>
              <a:t>Vì</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v_img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có</a:t>
            </a:r>
            <a:r>
              <a:rPr lang="en-US" sz="1200" b="0" kern="1200" dirty="0">
                <a:solidFill>
                  <a:schemeClr val="tx1"/>
                </a:solidFill>
                <a:effectLst/>
                <a:latin typeface="+mn-lt"/>
                <a:ea typeface="+mn-ea"/>
                <a:cs typeface="+mn-cs"/>
              </a:rPr>
              <a:t> 128 </a:t>
            </a:r>
            <a:r>
              <a:rPr lang="en-US" sz="1200" b="0" kern="1200" dirty="0" err="1">
                <a:solidFill>
                  <a:schemeClr val="tx1"/>
                </a:solidFill>
                <a:effectLst/>
                <a:latin typeface="+mn-lt"/>
                <a:ea typeface="+mn-ea"/>
                <a:cs typeface="+mn-cs"/>
              </a:rPr>
              <a:t>chiều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còn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v_txt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có</a:t>
            </a:r>
            <a:r>
              <a:rPr lang="en-US" sz="1200" b="0" kern="1200" dirty="0">
                <a:solidFill>
                  <a:schemeClr val="tx1"/>
                </a:solidFill>
                <a:effectLst/>
                <a:latin typeface="+mn-lt"/>
                <a:ea typeface="+mn-ea"/>
                <a:cs typeface="+mn-cs"/>
              </a:rPr>
              <a:t> 64 </a:t>
            </a:r>
            <a:r>
              <a:rPr lang="en-US" sz="1200" b="0" kern="1200" dirty="0" err="1">
                <a:solidFill>
                  <a:schemeClr val="tx1"/>
                </a:solidFill>
                <a:effectLst/>
                <a:latin typeface="+mn-lt"/>
                <a:ea typeface="+mn-ea"/>
                <a:cs typeface="+mn-cs"/>
              </a:rPr>
              <a:t>chiều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mô</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hình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sử</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dụng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hai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khối</a:t>
            </a:r>
            <a:r>
              <a:rPr lang="en-US" sz="1200" b="0" kern="1200" dirty="0">
                <a:solidFill>
                  <a:schemeClr val="tx1"/>
                </a:solidFill>
                <a:effectLst/>
                <a:latin typeface="+mn-lt"/>
                <a:ea typeface="+mn-ea"/>
                <a:cs typeface="+mn-cs"/>
              </a:rPr>
              <a:t> Projector </a:t>
            </a:r>
            <a:r>
              <a:rPr lang="en-US" sz="1200" b="0" kern="1200" dirty="0" err="1">
                <a:solidFill>
                  <a:schemeClr val="tx1"/>
                </a:solidFill>
                <a:effectLst/>
                <a:latin typeface="+mn-lt"/>
                <a:ea typeface="+mn-ea"/>
                <a:cs typeface="+mn-cs"/>
              </a:rPr>
              <a:t>độc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lập</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Img</a:t>
            </a:r>
            <a:r>
              <a:rPr lang="en-US" sz="1200" b="0" kern="1200" dirty="0">
                <a:solidFill>
                  <a:schemeClr val="tx1"/>
                </a:solidFill>
                <a:effectLst/>
                <a:latin typeface="+mn-lt"/>
                <a:ea typeface="+mn-ea"/>
                <a:cs typeface="+mn-cs"/>
              </a:rPr>
              <a:t> Projector </a:t>
            </a:r>
            <a:r>
              <a:rPr lang="en-US" sz="1200" b="0" kern="1200" dirty="0" err="1">
                <a:solidFill>
                  <a:schemeClr val="tx1"/>
                </a:solidFill>
                <a:effectLst/>
                <a:latin typeface="+mn-lt"/>
                <a:ea typeface="+mn-ea"/>
                <a:cs typeface="+mn-cs"/>
              </a:rPr>
              <a:t>và</a:t>
            </a:r>
            <a:r>
              <a:rPr lang="en-US" sz="1200" b="0" kern="1200" dirty="0">
                <a:solidFill>
                  <a:schemeClr val="tx1"/>
                </a:solidFill>
                <a:effectLst/>
                <a:latin typeface="+mn-lt"/>
                <a:ea typeface="+mn-ea"/>
                <a:cs typeface="+mn-cs"/>
              </a:rPr>
              <a:t> Txt Projector). </a:t>
            </a:r>
            <a:r>
              <a:rPr lang="en-US" sz="1200" b="0" kern="1200" dirty="0" err="1">
                <a:solidFill>
                  <a:schemeClr val="tx1"/>
                </a:solidFill>
                <a:effectLst/>
                <a:latin typeface="+mn-lt"/>
                <a:ea typeface="+mn-ea"/>
                <a:cs typeface="+mn-cs"/>
              </a:rPr>
              <a:t>Mỗi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khối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gồm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chuỗi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biến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đổi</a:t>
            </a:r>
            <a:r>
              <a:rPr lang="en-US" sz="1200" b="0" kern="1200" dirty="0">
                <a:solidFill>
                  <a:schemeClr val="tx1"/>
                </a:solidFill>
                <a:effectLst/>
                <a:latin typeface="+mn-lt"/>
                <a:ea typeface="+mn-ea"/>
                <a:cs typeface="+mn-cs"/>
              </a:rPr>
              <a:t> Linear -&gt; GELU -&gt; Linear -&gt; </a:t>
            </a:r>
            <a:r>
              <a:rPr lang="en-US" sz="1200" b="0" kern="1200" dirty="0" err="1">
                <a:solidFill>
                  <a:schemeClr val="tx1"/>
                </a:solidFill>
                <a:effectLst/>
                <a:latin typeface="+mn-lt"/>
                <a:ea typeface="+mn-ea"/>
                <a:cs typeface="+mn-cs"/>
              </a:rPr>
              <a:t>LayerNorm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để</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đưa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cả</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hai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nhánh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về</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cùng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số</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chiều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không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gian</a:t>
            </a:r>
            <a:r>
              <a:rPr lang="en-US" sz="1200" b="0" kern="1200" dirty="0">
                <a:solidFill>
                  <a:schemeClr val="tx1"/>
                </a:solidFill>
                <a:effectLst/>
                <a:latin typeface="+mn-lt"/>
                <a:ea typeface="+mn-ea"/>
                <a:cs typeface="+mn-cs"/>
              </a:rPr>
              <a:t> P (vector </a:t>
            </a:r>
            <a:r>
              <a:rPr lang="en-US" sz="1200" b="0" kern="1200" dirty="0" err="1">
                <a:solidFill>
                  <a:schemeClr val="tx1"/>
                </a:solidFill>
                <a:effectLst/>
                <a:latin typeface="+mn-lt"/>
                <a:ea typeface="+mn-ea"/>
                <a:cs typeface="+mn-cs"/>
              </a:rPr>
              <a:t>z_img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và</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z_txt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màu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tím</a:t>
            </a:r>
            <a:r>
              <a:rPr lang="en-US" sz="1200" b="0" kern="1200" dirty="0">
                <a:solidFill>
                  <a:schemeClr val="tx1"/>
                </a:solidFill>
                <a:effectLst/>
                <a:latin typeface="+mn-lt"/>
                <a:ea typeface="+mn-ea"/>
                <a:cs typeface="+mn-cs"/>
              </a:rPr>
              <a:t>). Khung </a:t>
            </a:r>
            <a:r>
              <a:rPr lang="en-US" sz="1200" b="0" kern="1200" dirty="0" err="1">
                <a:solidFill>
                  <a:schemeClr val="tx1"/>
                </a:solidFill>
                <a:effectLst/>
                <a:latin typeface="+mn-lt"/>
                <a:ea typeface="+mn-ea"/>
                <a:cs typeface="+mn-cs"/>
              </a:rPr>
              <a:t>màu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vàng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nhấn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mạnh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hai</a:t>
            </a:r>
            <a:r>
              <a:rPr lang="en-US" sz="1200" b="0" kern="1200" dirty="0">
                <a:solidFill>
                  <a:schemeClr val="tx1"/>
                </a:solidFill>
                <a:effectLst/>
                <a:latin typeface="+mn-lt"/>
                <a:ea typeface="+mn-ea"/>
                <a:cs typeface="+mn-cs"/>
              </a:rPr>
              <a:t> module </a:t>
            </a:r>
            <a:r>
              <a:rPr lang="en-US" sz="1200" b="0" kern="1200" dirty="0" err="1">
                <a:solidFill>
                  <a:schemeClr val="tx1"/>
                </a:solidFill>
                <a:effectLst/>
                <a:latin typeface="+mn-lt"/>
                <a:ea typeface="+mn-ea"/>
                <a:cs typeface="+mn-cs"/>
              </a:rPr>
              <a:t>này</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hoàn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toàn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riêng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biệt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và</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không</a:t>
            </a:r>
            <a:r>
              <a:rPr lang="en-US" sz="1200" b="0" kern="1200" dirty="0">
                <a:solidFill>
                  <a:schemeClr val="tx1"/>
                </a:solidFill>
                <a:effectLst/>
                <a:latin typeface="+mn-lt"/>
                <a:ea typeface="+mn-ea"/>
                <a:cs typeface="+mn-cs"/>
              </a:rPr>
              <a:t> chia </a:t>
            </a:r>
            <a:r>
              <a:rPr lang="en-US" sz="1200" b="0" kern="1200" dirty="0" err="1">
                <a:solidFill>
                  <a:schemeClr val="tx1"/>
                </a:solidFill>
                <a:effectLst/>
                <a:latin typeface="+mn-lt"/>
                <a:ea typeface="+mn-ea"/>
                <a:cs typeface="+mn-cs"/>
              </a:rPr>
              <a:t>sẻ</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trọng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số</a:t>
            </a:r>
            <a:r>
              <a:rPr lang="en-US" sz="1200" b="0" kern="1200" dirty="0">
                <a:solidFill>
                  <a:schemeClr val="tx1"/>
                </a:solidFill>
                <a:effectLst/>
                <a:latin typeface="+mn-lt"/>
                <a:ea typeface="+mn-ea"/>
                <a:cs typeface="+mn-cs"/>
              </a:rPr>
              <a: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err="1">
                <a:solidFill>
                  <a:schemeClr val="tx1"/>
                </a:solidFill>
                <a:effectLst/>
                <a:latin typeface="+mn-lt"/>
                <a:ea typeface="+mn-ea"/>
                <a:cs typeface="+mn-cs"/>
              </a:rPr>
              <a:t>Nhìn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xuống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hai</a:t>
            </a:r>
            <a:r>
              <a:rPr lang="en-US" sz="1200" b="0" kern="1200" dirty="0">
                <a:solidFill>
                  <a:schemeClr val="tx1"/>
                </a:solidFill>
                <a:effectLst/>
                <a:latin typeface="+mn-lt"/>
                <a:ea typeface="+mn-ea"/>
                <a:cs typeface="+mn-cs"/>
              </a:rPr>
              <a:t> ô </a:t>
            </a:r>
            <a:r>
              <a:rPr lang="en-US" sz="1200" b="0" kern="1200" dirty="0" err="1">
                <a:solidFill>
                  <a:schemeClr val="tx1"/>
                </a:solidFill>
                <a:effectLst/>
                <a:latin typeface="+mn-lt"/>
                <a:ea typeface="+mn-ea"/>
                <a:cs typeface="+mn-cs"/>
              </a:rPr>
              <a:t>minh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họa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khái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niệm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bên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dưới</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Ô </a:t>
            </a:r>
            <a:r>
              <a:rPr lang="en-US" sz="1200" b="0" kern="1200" dirty="0" err="1">
                <a:solidFill>
                  <a:schemeClr val="tx1"/>
                </a:solidFill>
                <a:effectLst/>
                <a:latin typeface="+mn-lt"/>
                <a:ea typeface="+mn-ea"/>
                <a:cs typeface="+mn-cs"/>
              </a:rPr>
              <a:t>bên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trái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thấy</a:t>
            </a:r>
            <a:r>
              <a:rPr lang="en-US" sz="1200" b="0" kern="1200" dirty="0">
                <a:solidFill>
                  <a:schemeClr val="tx1"/>
                </a:solidFill>
                <a:effectLst/>
                <a:latin typeface="+mn-lt"/>
                <a:ea typeface="+mn-ea"/>
                <a:cs typeface="+mn-cs"/>
              </a:rPr>
              <a:t> ở </a:t>
            </a:r>
            <a:r>
              <a:rPr lang="en-US" sz="1200" b="0" kern="1200" dirty="0" err="1">
                <a:solidFill>
                  <a:schemeClr val="tx1"/>
                </a:solidFill>
                <a:effectLst/>
                <a:latin typeface="+mn-lt"/>
                <a:ea typeface="+mn-ea"/>
                <a:cs typeface="+mn-cs"/>
              </a:rPr>
              <a:t>không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gian</a:t>
            </a:r>
            <a:r>
              <a:rPr lang="en-US" sz="1200" b="0" kern="1200" dirty="0">
                <a:solidFill>
                  <a:schemeClr val="tx1"/>
                </a:solidFill>
                <a:effectLst/>
                <a:latin typeface="+mn-lt"/>
                <a:ea typeface="+mn-ea"/>
                <a:cs typeface="+mn-cs"/>
              </a:rPr>
              <a:t> ban </a:t>
            </a:r>
            <a:r>
              <a:rPr lang="en-US" sz="1200" b="0" kern="1200" dirty="0" err="1">
                <a:solidFill>
                  <a:schemeClr val="tx1"/>
                </a:solidFill>
                <a:effectLst/>
                <a:latin typeface="+mn-lt"/>
                <a:ea typeface="+mn-ea"/>
                <a:cs typeface="+mn-cs"/>
              </a:rPr>
              <a:t>đầu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các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điểm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đặc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trưng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ảnh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màu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xanh</a:t>
            </a:r>
            <a:r>
              <a:rPr lang="en-US" sz="1200" b="0" kern="1200" dirty="0">
                <a:solidFill>
                  <a:schemeClr val="tx1"/>
                </a:solidFill>
                <a:effectLst/>
                <a:latin typeface="+mn-lt"/>
                <a:ea typeface="+mn-ea"/>
                <a:cs typeface="+mn-cs"/>
              </a:rPr>
              <a:t>, R^128) </a:t>
            </a:r>
            <a:r>
              <a:rPr lang="en-US" sz="1200" b="0" kern="1200" dirty="0" err="1">
                <a:solidFill>
                  <a:schemeClr val="tx1"/>
                </a:solidFill>
                <a:effectLst/>
                <a:latin typeface="+mn-lt"/>
                <a:ea typeface="+mn-ea"/>
                <a:cs typeface="+mn-cs"/>
              </a:rPr>
              <a:t>và</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văn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bản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màu</a:t>
            </a:r>
            <a:r>
              <a:rPr lang="en-US" sz="1200" b="0" kern="1200" dirty="0">
                <a:solidFill>
                  <a:schemeClr val="tx1"/>
                </a:solidFill>
                <a:effectLst/>
                <a:latin typeface="+mn-lt"/>
                <a:ea typeface="+mn-ea"/>
                <a:cs typeface="+mn-cs"/>
              </a:rPr>
              <a:t> cam, R^64) </a:t>
            </a:r>
            <a:r>
              <a:rPr lang="en-US" sz="1200" b="0" kern="1200" dirty="0" err="1">
                <a:solidFill>
                  <a:schemeClr val="tx1"/>
                </a:solidFill>
                <a:effectLst/>
                <a:latin typeface="+mn-lt"/>
                <a:ea typeface="+mn-ea"/>
                <a:cs typeface="+mn-cs"/>
              </a:rPr>
              <a:t>nằm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phân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tán</a:t>
            </a:r>
            <a:r>
              <a:rPr lang="en-US" sz="1200" b="0" kern="1200" dirty="0">
                <a:solidFill>
                  <a:schemeClr val="tx1"/>
                </a:solidFill>
                <a:effectLst/>
                <a:latin typeface="+mn-lt"/>
                <a:ea typeface="+mn-ea"/>
                <a:cs typeface="+mn-cs"/>
              </a:rPr>
              <a:t> ở </a:t>
            </a:r>
            <a:r>
              <a:rPr lang="en-US" sz="1200" b="0" kern="1200" dirty="0" err="1">
                <a:solidFill>
                  <a:schemeClr val="tx1"/>
                </a:solidFill>
                <a:effectLst/>
                <a:latin typeface="+mn-lt"/>
                <a:ea typeface="+mn-ea"/>
                <a:cs typeface="+mn-cs"/>
              </a:rPr>
              <a:t>hai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không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gian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hoàn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toàn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lệch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nhau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không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thể</a:t>
            </a:r>
            <a:r>
              <a:rPr lang="en-US" sz="1200" b="0" kern="1200" dirty="0">
                <a:solidFill>
                  <a:schemeClr val="tx1"/>
                </a:solidFill>
                <a:effectLst/>
                <a:latin typeface="+mn-lt"/>
                <a:ea typeface="+mn-ea"/>
                <a:cs typeface="+mn-cs"/>
              </a:rPr>
              <a:t> so </a:t>
            </a:r>
            <a:r>
              <a:rPr lang="en-US" sz="1200" b="0" kern="1200" dirty="0" err="1">
                <a:solidFill>
                  <a:schemeClr val="tx1"/>
                </a:solidFill>
                <a:effectLst/>
                <a:latin typeface="+mn-lt"/>
                <a:ea typeface="+mn-ea"/>
                <a:cs typeface="+mn-cs"/>
              </a:rPr>
              <a:t>sánh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trực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tiếp</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Sau </a:t>
            </a:r>
            <a:r>
              <a:rPr lang="en-US" sz="1200" b="0" kern="1200" dirty="0" err="1">
                <a:solidFill>
                  <a:schemeClr val="tx1"/>
                </a:solidFill>
                <a:effectLst/>
                <a:latin typeface="+mn-lt"/>
                <a:ea typeface="+mn-ea"/>
                <a:cs typeface="+mn-cs"/>
              </a:rPr>
              <a:t>khi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đi</a:t>
            </a:r>
            <a:r>
              <a:rPr lang="en-US" sz="1200" b="0" kern="1200" dirty="0">
                <a:solidFill>
                  <a:schemeClr val="tx1"/>
                </a:solidFill>
                <a:effectLst/>
                <a:latin typeface="+mn-lt"/>
                <a:ea typeface="+mn-ea"/>
                <a:cs typeface="+mn-cs"/>
              </a:rPr>
              <a:t> qua Projector (</a:t>
            </a:r>
            <a:r>
              <a:rPr lang="en-US" sz="1200" b="0" kern="1200" dirty="0" err="1">
                <a:solidFill>
                  <a:schemeClr val="tx1"/>
                </a:solidFill>
                <a:effectLst/>
                <a:latin typeface="+mn-lt"/>
                <a:ea typeface="+mn-ea"/>
                <a:cs typeface="+mn-cs"/>
              </a:rPr>
              <a:t>mũi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tên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tím</a:t>
            </a:r>
            <a:r>
              <a:rPr lang="en-US" sz="1200" b="0" kern="1200" dirty="0">
                <a:solidFill>
                  <a:schemeClr val="tx1"/>
                </a:solidFill>
                <a:effectLst/>
                <a:latin typeface="+mn-lt"/>
                <a:ea typeface="+mn-ea"/>
                <a:cs typeface="+mn-cs"/>
              </a:rPr>
              <a:t>), ở ô </a:t>
            </a:r>
            <a:r>
              <a:rPr lang="en-US" sz="1200" b="0" kern="1200" dirty="0" err="1">
                <a:solidFill>
                  <a:schemeClr val="tx1"/>
                </a:solidFill>
                <a:effectLst/>
                <a:latin typeface="+mn-lt"/>
                <a:ea typeface="+mn-ea"/>
                <a:cs typeface="+mn-cs"/>
              </a:rPr>
              <a:t>bên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phải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cả</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hai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đã</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được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đưa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về</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cùng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không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gian</a:t>
            </a:r>
            <a:r>
              <a:rPr lang="en-US" sz="1200" b="0" kern="1200" dirty="0">
                <a:solidFill>
                  <a:schemeClr val="tx1"/>
                </a:solidFill>
                <a:effectLst/>
                <a:latin typeface="+mn-lt"/>
                <a:ea typeface="+mn-ea"/>
                <a:cs typeface="+mn-cs"/>
              </a:rPr>
              <a:t> R^P. Các </a:t>
            </a:r>
            <a:r>
              <a:rPr lang="en-US" sz="1200" b="0" kern="1200" dirty="0" err="1">
                <a:solidFill>
                  <a:schemeClr val="tx1"/>
                </a:solidFill>
                <a:effectLst/>
                <a:latin typeface="+mn-lt"/>
                <a:ea typeface="+mn-ea"/>
                <a:cs typeface="+mn-cs"/>
              </a:rPr>
              <a:t>điểm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ảnh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màu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xanh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và</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điểm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văn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bản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màu</a:t>
            </a:r>
            <a:r>
              <a:rPr lang="en-US" sz="1200" b="0" kern="1200" dirty="0">
                <a:solidFill>
                  <a:schemeClr val="tx1"/>
                </a:solidFill>
                <a:effectLst/>
                <a:latin typeface="+mn-lt"/>
                <a:ea typeface="+mn-ea"/>
                <a:cs typeface="+mn-cs"/>
              </a:rPr>
              <a:t> cam </a:t>
            </a:r>
            <a:r>
              <a:rPr lang="en-US" sz="1200" b="0" kern="1200" dirty="0" err="1">
                <a:solidFill>
                  <a:schemeClr val="tx1"/>
                </a:solidFill>
                <a:effectLst/>
                <a:latin typeface="+mn-lt"/>
                <a:ea typeface="+mn-ea"/>
                <a:cs typeface="+mn-cs"/>
              </a:rPr>
              <a:t>tương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ứng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được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kéo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lại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nằm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sát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cạnh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nhau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theo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từng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cặp</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giúp</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quá</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trình</a:t>
            </a:r>
            <a:r>
              <a:rPr lang="en-US" sz="1200" b="0" kern="1200" dirty="0">
                <a:solidFill>
                  <a:schemeClr val="tx1"/>
                </a:solidFill>
                <a:effectLst/>
                <a:latin typeface="+mn-lt"/>
                <a:ea typeface="+mn-ea"/>
                <a:cs typeface="+mn-cs"/>
              </a:rPr>
              <a:t> Fusion </a:t>
            </a:r>
            <a:r>
              <a:rPr lang="en-US" sz="1200" b="0" kern="1200" dirty="0" err="1">
                <a:solidFill>
                  <a:schemeClr val="tx1"/>
                </a:solidFill>
                <a:effectLst/>
                <a:latin typeface="+mn-lt"/>
                <a:ea typeface="+mn-ea"/>
                <a:cs typeface="+mn-cs"/>
              </a:rPr>
              <a:t>và</a:t>
            </a:r>
            <a:r>
              <a:rPr lang="en-US" sz="1200" b="0" kern="1200" dirty="0">
                <a:solidFill>
                  <a:schemeClr val="tx1"/>
                </a:solidFill>
                <a:effectLst/>
                <a:latin typeface="+mn-lt"/>
                <a:ea typeface="+mn-ea"/>
                <a:cs typeface="+mn-cs"/>
              </a:rPr>
              <a:t> Cross-Attention </a:t>
            </a:r>
            <a:r>
              <a:rPr lang="en-US" sz="1200" b="0" kern="1200" dirty="0" err="1">
                <a:solidFill>
                  <a:schemeClr val="tx1"/>
                </a:solidFill>
                <a:effectLst/>
                <a:latin typeface="+mn-lt"/>
                <a:ea typeface="+mn-ea"/>
                <a:cs typeface="+mn-cs"/>
              </a:rPr>
              <a:t>sau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đó</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diễn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ra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chính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xác</a:t>
            </a:r>
            <a:r>
              <a:rPr lang="en-US" sz="1200" b="0" kern="1200" dirty="0">
                <a:solidFill>
                  <a:schemeClr val="tx1"/>
                </a:solidFill>
                <a:effectLst/>
                <a:latin typeface="+mn-lt"/>
                <a:ea typeface="+mn-ea"/>
                <a:cs typeface="+mn-cs"/>
              </a:rPr>
              <a:t>.</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Ý </a:t>
            </a:r>
            <a:r>
              <a:rPr lang="en-US" sz="1200" b="0" kern="1200" dirty="0" err="1">
                <a:solidFill>
                  <a:schemeClr val="tx1"/>
                </a:solidFill>
                <a:effectLst/>
                <a:latin typeface="+mn-lt"/>
                <a:ea typeface="+mn-ea"/>
                <a:cs typeface="+mn-cs"/>
              </a:rPr>
              <a:t>nghĩa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cốt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lõi</a:t>
            </a:r>
            <a:r>
              <a:rPr lang="en-US" sz="1200" b="0" kern="1200" dirty="0">
                <a:solidFill>
                  <a:schemeClr val="tx1"/>
                </a:solidFill>
                <a:effectLst/>
                <a:latin typeface="+mn-lt"/>
                <a:ea typeface="+mn-ea"/>
                <a:cs typeface="+mn-cs"/>
              </a:rPr>
              <a:t>:</a:t>
            </a:r>
          </a:p>
          <a:p>
            <a:r>
              <a:rPr lang="en-US" sz="1200" b="0" kern="1200" dirty="0" err="1">
                <a:solidFill>
                  <a:schemeClr val="tx1"/>
                </a:solidFill>
                <a:effectLst/>
                <a:latin typeface="+mn-lt"/>
                <a:ea typeface="+mn-ea"/>
                <a:cs typeface="+mn-cs"/>
              </a:rPr>
              <a:t>Đồng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bộ</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số</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chiều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và</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không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gian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hình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học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để</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các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điểm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đặc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trưng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tương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ứng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của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ảnh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và</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chữ</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nằm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sát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cạnh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nhau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giúp</a:t>
            </a:r>
            <a:r>
              <a:rPr lang="en-US" sz="1200" b="0" kern="1200" dirty="0">
                <a:solidFill>
                  <a:schemeClr val="tx1"/>
                </a:solidFill>
                <a:effectLst/>
                <a:latin typeface="+mn-lt"/>
                <a:ea typeface="+mn-ea"/>
                <a:cs typeface="+mn-cs"/>
              </a:rPr>
              <a:t> Fusion </a:t>
            </a:r>
            <a:r>
              <a:rPr lang="en-US" sz="1200" b="0" kern="1200" dirty="0" err="1">
                <a:solidFill>
                  <a:schemeClr val="tx1"/>
                </a:solidFill>
                <a:effectLst/>
                <a:latin typeface="+mn-lt"/>
                <a:ea typeface="+mn-ea"/>
                <a:cs typeface="+mn-cs"/>
              </a:rPr>
              <a:t>và</a:t>
            </a:r>
            <a:r>
              <a:rPr lang="en-US" sz="1200" b="0" kern="1200" dirty="0">
                <a:solidFill>
                  <a:schemeClr val="tx1"/>
                </a:solidFill>
                <a:effectLst/>
                <a:latin typeface="+mn-lt"/>
                <a:ea typeface="+mn-ea"/>
                <a:cs typeface="+mn-cs"/>
              </a:rPr>
              <a:t> Cross-Attention </a:t>
            </a:r>
            <a:r>
              <a:rPr lang="en-US" sz="1200" b="0" kern="1200" dirty="0" err="1">
                <a:solidFill>
                  <a:schemeClr val="tx1"/>
                </a:solidFill>
                <a:effectLst/>
                <a:latin typeface="+mn-lt"/>
                <a:ea typeface="+mn-ea"/>
                <a:cs typeface="+mn-cs"/>
              </a:rPr>
              <a:t>đạt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hiệu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quả</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tối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đa</a:t>
            </a:r>
            <a:r>
              <a:rPr lang="en-US" sz="1200" b="0" kern="1200" dirty="0">
                <a:solidFill>
                  <a:schemeClr val="tx1"/>
                </a:solidFill>
                <a:effectLst/>
                <a:latin typeface="+mn-lt"/>
                <a:ea typeface="+mn-ea"/>
                <a:cs typeface="+mn-cs"/>
              </a:rPr>
              <a:t>.</a:t>
            </a:r>
          </a:p>
          <a:p>
            <a:endParaRPr lang="en-US" sz="1200" b="0" kern="1200" dirty="0">
              <a:solidFill>
                <a:schemeClr val="tx1"/>
              </a:solidFill>
              <a:effectLst/>
              <a:latin typeface="+mn-lt"/>
              <a:ea typeface="+mn-ea"/>
              <a:cs typeface="+mn-cs"/>
            </a:endParaRPr>
          </a:p>
          <a:p>
            <a:endParaRPr lang="en-US" dirty="0"/>
          </a:p>
        </p:txBody>
      </p:sp>
    </p:spTree>
    <p:extLst>
      <p:ext uri="{BB962C8B-B14F-4D97-AF65-F5344CB8AC3E}">
        <p14:creationId xmlns:p14="http://schemas.microsoft.com/office/powerpoint/2010/main" val="23904395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Self-attention: trong một chuỗi. Cross-attention: giữa hai phương thức — đây là cơ chế liên kết câu hỏi ↔ vùng ảnh mà đề bài hỏi.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sz="1200" b="0" kern="1200" dirty="0">
                <a:solidFill>
                  <a:schemeClr val="tx1"/>
                </a:solidFill>
                <a:effectLst/>
                <a:latin typeface="+mn-lt"/>
                <a:ea typeface="+mn-ea"/>
                <a:cs typeface="+mn-cs"/>
              </a:rPr>
              <a:t>Slide </a:t>
            </a:r>
            <a:r>
              <a:rPr lang="en-US" sz="1200" b="0" kern="1200" dirty="0" err="1">
                <a:solidFill>
                  <a:schemeClr val="tx1"/>
                </a:solidFill>
                <a:effectLst/>
                <a:latin typeface="+mn-lt"/>
                <a:ea typeface="+mn-ea"/>
                <a:cs typeface="+mn-cs"/>
              </a:rPr>
              <a:t>hiển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thị</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Top Flow -&gt; </a:t>
            </a:r>
            <a:r>
              <a:rPr lang="en-US" sz="1200" b="0" kern="1200" dirty="0" err="1">
                <a:solidFill>
                  <a:schemeClr val="tx1"/>
                </a:solidFill>
                <a:effectLst/>
                <a:latin typeface="+mn-lt"/>
                <a:ea typeface="+mn-ea"/>
                <a:cs typeface="+mn-cs"/>
              </a:rPr>
              <a:t>Biểu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đồ</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cột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trọng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số</a:t>
            </a:r>
            <a:r>
              <a:rPr lang="en-US" sz="1200" b="0" kern="1200" dirty="0">
                <a:solidFill>
                  <a:schemeClr val="tx1"/>
                </a:solidFill>
                <a:effectLst/>
                <a:latin typeface="+mn-lt"/>
                <a:ea typeface="+mn-ea"/>
                <a:cs typeface="+mn-cs"/>
              </a:rPr>
              <a:t> alpha: `effusion` (0.42 </a:t>
            </a:r>
            <a:r>
              <a:rPr lang="en-US" sz="1200" b="0" kern="1200" dirty="0" err="1">
                <a:solidFill>
                  <a:schemeClr val="tx1"/>
                </a:solidFill>
                <a:effectLst/>
                <a:latin typeface="+mn-lt"/>
                <a:ea typeface="+mn-ea"/>
                <a:cs typeface="+mn-cs"/>
              </a:rPr>
              <a:t>cao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nhất</a:t>
            </a:r>
            <a:r>
              <a:rPr lang="en-US" sz="1200" b="0" kern="1200" dirty="0">
                <a:solidFill>
                  <a:schemeClr val="tx1"/>
                </a:solidFill>
                <a:effectLst/>
                <a:latin typeface="+mn-lt"/>
                <a:ea typeface="+mn-ea"/>
                <a:cs typeface="+mn-cs"/>
              </a:rPr>
              <a:t>), `pleural` (0.31), `is` (0.08), 2 </a:t>
            </a:r>
            <a:r>
              <a:rPr lang="en-US" sz="1200" b="0" kern="1200" dirty="0" err="1">
                <a:solidFill>
                  <a:schemeClr val="tx1"/>
                </a:solidFill>
                <a:effectLst/>
                <a:latin typeface="+mn-lt"/>
                <a:ea typeface="+mn-ea"/>
                <a:cs typeface="+mn-cs"/>
              </a:rPr>
              <a:t>vị</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trí</a:t>
            </a:r>
            <a:r>
              <a:rPr lang="en-US" sz="1200" b="0" kern="1200" dirty="0">
                <a:solidFill>
                  <a:schemeClr val="tx1"/>
                </a:solidFill>
                <a:effectLst/>
                <a:latin typeface="+mn-lt"/>
                <a:ea typeface="+mn-ea"/>
                <a:cs typeface="+mn-cs"/>
              </a:rPr>
              <a:t> `&lt;pad&gt;` </a:t>
            </a:r>
            <a:r>
              <a:rPr lang="en-US" sz="1200" b="0" kern="1200" dirty="0" err="1">
                <a:solidFill>
                  <a:schemeClr val="tx1"/>
                </a:solidFill>
                <a:effectLst/>
                <a:latin typeface="+mn-lt"/>
                <a:ea typeface="+mn-ea"/>
                <a:cs typeface="+mn-cs"/>
              </a:rPr>
              <a:t>bị</a:t>
            </a:r>
            <a:r>
              <a:rPr lang="en-US" sz="1200" b="0" kern="1200" dirty="0">
                <a:solidFill>
                  <a:schemeClr val="tx1"/>
                </a:solidFill>
                <a:effectLst/>
                <a:latin typeface="+mn-lt"/>
                <a:ea typeface="+mn-ea"/>
                <a:cs typeface="+mn-cs"/>
              </a:rPr>
              <a:t> mask score = -infinity -&gt; alpha = 0 (</a:t>
            </a:r>
            <a:r>
              <a:rPr lang="en-US" sz="1200" b="0" kern="1200" dirty="0" err="1">
                <a:solidFill>
                  <a:schemeClr val="tx1"/>
                </a:solidFill>
                <a:effectLst/>
                <a:latin typeface="+mn-lt"/>
                <a:ea typeface="+mn-ea"/>
                <a:cs typeface="+mn-cs"/>
              </a:rPr>
              <a:t>cột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đỏ</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gạch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chéo</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Output: context = </a:t>
            </a:r>
            <a:r>
              <a:rPr lang="en-US" sz="1200" b="0" kern="1200" dirty="0" err="1">
                <a:solidFill>
                  <a:schemeClr val="tx1"/>
                </a:solidFill>
                <a:effectLst/>
                <a:latin typeface="+mn-lt"/>
                <a:ea typeface="+mn-ea"/>
                <a:cs typeface="+mn-cs"/>
              </a:rPr>
              <a:t>tổng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của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alpha_t</a:t>
            </a:r>
            <a:r>
              <a:rPr lang="en-US" sz="1200" b="0" kern="1200" dirty="0">
                <a:solidFill>
                  <a:schemeClr val="tx1"/>
                </a:solidFill>
                <a:effectLst/>
                <a:latin typeface="+mn-lt"/>
                <a:ea typeface="+mn-ea"/>
                <a:cs typeface="+mn-cs"/>
              </a:rPr>
              <a:t> * </a:t>
            </a:r>
            <a:r>
              <a:rPr lang="en-US" sz="1200" b="0" kern="1200" dirty="0" err="1">
                <a:solidFill>
                  <a:schemeClr val="tx1"/>
                </a:solidFill>
                <a:effectLst/>
                <a:latin typeface="+mn-lt"/>
                <a:ea typeface="+mn-ea"/>
                <a:cs typeface="+mn-cs"/>
              </a:rPr>
              <a:t>h_t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tổng</a:t>
            </a:r>
            <a:r>
              <a:rPr lang="en-US" sz="1200" b="0" kern="1200" dirty="0">
                <a:solidFill>
                  <a:schemeClr val="tx1"/>
                </a:solidFill>
                <a:effectLst/>
                <a:latin typeface="+mn-lt"/>
                <a:ea typeface="+mn-ea"/>
                <a:cs typeface="+mn-cs"/>
              </a:rPr>
              <a:t> alpha = 1.00.</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Ý </a:t>
            </a:r>
            <a:r>
              <a:rPr lang="en-US" sz="1200" b="0" kern="1200" dirty="0" err="1">
                <a:solidFill>
                  <a:schemeClr val="tx1"/>
                </a:solidFill>
                <a:effectLst/>
                <a:latin typeface="+mn-lt"/>
                <a:ea typeface="+mn-ea"/>
                <a:cs typeface="+mn-cs"/>
              </a:rPr>
              <a:t>nghĩa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cốt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lõi</a:t>
            </a:r>
            <a:r>
              <a:rPr lang="en-US" sz="1200" b="0" kern="1200" dirty="0">
                <a:solidFill>
                  <a:schemeClr val="tx1"/>
                </a:solidFill>
                <a:effectLst/>
                <a:latin typeface="+mn-lt"/>
                <a:ea typeface="+mn-ea"/>
                <a:cs typeface="+mn-cs"/>
              </a:rPr>
              <a:t>:</a:t>
            </a:r>
          </a:p>
          <a:p>
            <a:r>
              <a:rPr lang="en-US" sz="1200" b="0" kern="1200" dirty="0" err="1">
                <a:solidFill>
                  <a:schemeClr val="tx1"/>
                </a:solidFill>
                <a:effectLst/>
                <a:latin typeface="+mn-lt"/>
                <a:ea typeface="+mn-ea"/>
                <a:cs typeface="+mn-cs"/>
              </a:rPr>
              <a:t>Dồn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trọng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số</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vào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từ</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khóa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lâm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sàng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quan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trọng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loại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bỏ</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hoàn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toàn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nhiễu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từ</a:t>
            </a:r>
            <a:r>
              <a:rPr lang="en-US" sz="1200" b="0" kern="1200" dirty="0">
                <a:solidFill>
                  <a:schemeClr val="tx1"/>
                </a:solidFill>
                <a:effectLst/>
                <a:latin typeface="+mn-lt"/>
                <a:ea typeface="+mn-ea"/>
                <a:cs typeface="+mn-cs"/>
              </a:rPr>
              <a:t> token </a:t>
            </a:r>
            <a:r>
              <a:rPr lang="en-US" sz="1200" b="0" kern="1200" dirty="0" err="1">
                <a:solidFill>
                  <a:schemeClr val="tx1"/>
                </a:solidFill>
                <a:effectLst/>
                <a:latin typeface="+mn-lt"/>
                <a:ea typeface="+mn-ea"/>
                <a:cs typeface="+mn-cs"/>
              </a:rPr>
              <a:t>đệm</a:t>
            </a:r>
            <a:r>
              <a:rPr lang="en-US" sz="1200" b="0" kern="1200" dirty="0">
                <a:solidFill>
                  <a:schemeClr val="tx1"/>
                </a:solidFill>
                <a:effectLst/>
                <a:latin typeface="+mn-lt"/>
                <a:ea typeface="+mn-ea"/>
                <a:cs typeface="+mn-cs"/>
              </a:rPr>
              <a:t> PAD, </a:t>
            </a:r>
            <a:r>
              <a:rPr lang="en-US" sz="1200" b="0" kern="1200" dirty="0" err="1">
                <a:solidFill>
                  <a:schemeClr val="tx1"/>
                </a:solidFill>
                <a:effectLst/>
                <a:latin typeface="+mn-lt"/>
                <a:ea typeface="+mn-ea"/>
                <a:cs typeface="+mn-cs"/>
              </a:rPr>
              <a:t>tạo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tính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minh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bạch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có</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thể</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giải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thích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được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mô</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hình</a:t>
            </a:r>
            <a:r>
              <a:rPr lang="en-US" sz="1200" b="0" kern="1200" dirty="0">
                <a:solidFill>
                  <a:schemeClr val="tx1"/>
                </a:solidFill>
                <a:effectLst/>
                <a:latin typeface="+mn-lt"/>
                <a:ea typeface="+mn-ea"/>
                <a:cs typeface="+mn-cs"/>
              </a:rPr>
              <a:t>.</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Speaker note:</a:t>
            </a:r>
          </a:p>
          <a:p>
            <a:r>
              <a:rPr lang="en-US" sz="1200" b="0" kern="1200" dirty="0">
                <a:solidFill>
                  <a:schemeClr val="tx1"/>
                </a:solidFill>
                <a:effectLst/>
                <a:latin typeface="+mn-lt"/>
                <a:ea typeface="+mn-ea"/>
                <a:cs typeface="+mn-cs"/>
              </a:rPr>
              <a:t>Slide 8 </a:t>
            </a:r>
            <a:r>
              <a:rPr lang="en-US" sz="1200" b="0" kern="1200" dirty="0" err="1">
                <a:solidFill>
                  <a:schemeClr val="tx1"/>
                </a:solidFill>
                <a:effectLst/>
                <a:latin typeface="+mn-lt"/>
                <a:ea typeface="+mn-ea"/>
                <a:cs typeface="+mn-cs"/>
              </a:rPr>
              <a:t>trực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quan</a:t>
            </a:r>
            <a:r>
              <a:rPr lang="en-US" sz="1200" b="0" kern="1200" dirty="0">
                <a:solidFill>
                  <a:schemeClr val="tx1"/>
                </a:solidFill>
                <a:effectLst/>
                <a:latin typeface="+mn-lt"/>
                <a:ea typeface="+mn-ea"/>
                <a:cs typeface="+mn-cs"/>
              </a:rPr>
              <a:t> hóa Temporal Attention </a:t>
            </a:r>
            <a:r>
              <a:rPr lang="en-US" sz="1200" b="0" kern="1200" dirty="0" err="1">
                <a:solidFill>
                  <a:schemeClr val="tx1"/>
                </a:solidFill>
                <a:effectLst/>
                <a:latin typeface="+mn-lt"/>
                <a:ea typeface="+mn-ea"/>
                <a:cs typeface="+mn-cs"/>
              </a:rPr>
              <a:t>bằng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biểu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đồ</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cột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Mô</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hình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tự</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chấm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điểm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từ</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khóa</a:t>
            </a:r>
            <a:r>
              <a:rPr lang="en-US" sz="1200" b="0" kern="1200" dirty="0">
                <a:solidFill>
                  <a:schemeClr val="tx1"/>
                </a:solidFill>
                <a:effectLst/>
                <a:latin typeface="+mn-lt"/>
                <a:ea typeface="+mn-ea"/>
                <a:cs typeface="+mn-cs"/>
              </a:rPr>
              <a:t> y khoa: 'effusion' </a:t>
            </a:r>
            <a:r>
              <a:rPr lang="en-US" sz="1200" b="0" kern="1200" dirty="0" err="1">
                <a:solidFill>
                  <a:schemeClr val="tx1"/>
                </a:solidFill>
                <a:effectLst/>
                <a:latin typeface="+mn-lt"/>
                <a:ea typeface="+mn-ea"/>
                <a:cs typeface="+mn-cs"/>
              </a:rPr>
              <a:t>nhận</a:t>
            </a:r>
            <a:r>
              <a:rPr lang="en-US" sz="1200" b="0" kern="1200" dirty="0">
                <a:solidFill>
                  <a:schemeClr val="tx1"/>
                </a:solidFill>
                <a:effectLst/>
                <a:latin typeface="+mn-lt"/>
                <a:ea typeface="+mn-ea"/>
                <a:cs typeface="+mn-cs"/>
              </a:rPr>
              <a:t> alpha </a:t>
            </a:r>
            <a:r>
              <a:rPr lang="en-US" sz="1200" b="0" kern="1200" dirty="0" err="1">
                <a:solidFill>
                  <a:schemeClr val="tx1"/>
                </a:solidFill>
                <a:effectLst/>
                <a:latin typeface="+mn-lt"/>
                <a:ea typeface="+mn-ea"/>
                <a:cs typeface="+mn-cs"/>
              </a:rPr>
              <a:t>cao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nhất</a:t>
            </a:r>
            <a:r>
              <a:rPr lang="en-US" sz="1200" b="0" kern="1200" dirty="0">
                <a:solidFill>
                  <a:schemeClr val="tx1"/>
                </a:solidFill>
                <a:effectLst/>
                <a:latin typeface="+mn-lt"/>
                <a:ea typeface="+mn-ea"/>
                <a:cs typeface="+mn-cs"/>
              </a:rPr>
              <a:t> 0.42, 'pleural' </a:t>
            </a:r>
            <a:r>
              <a:rPr lang="en-US" sz="1200" b="0" kern="1200" dirty="0" err="1">
                <a:solidFill>
                  <a:schemeClr val="tx1"/>
                </a:solidFill>
                <a:effectLst/>
                <a:latin typeface="+mn-lt"/>
                <a:ea typeface="+mn-ea"/>
                <a:cs typeface="+mn-cs"/>
              </a:rPr>
              <a:t>nhận</a:t>
            </a:r>
            <a:r>
              <a:rPr lang="en-US" sz="1200" b="0" kern="1200" dirty="0">
                <a:solidFill>
                  <a:schemeClr val="tx1"/>
                </a:solidFill>
                <a:effectLst/>
                <a:latin typeface="+mn-lt"/>
                <a:ea typeface="+mn-ea"/>
                <a:cs typeface="+mn-cs"/>
              </a:rPr>
              <a:t> 0.31; </a:t>
            </a:r>
            <a:r>
              <a:rPr lang="en-US" sz="1200" b="0" kern="1200" dirty="0" err="1">
                <a:solidFill>
                  <a:schemeClr val="tx1"/>
                </a:solidFill>
                <a:effectLst/>
                <a:latin typeface="+mn-lt"/>
                <a:ea typeface="+mn-ea"/>
                <a:cs typeface="+mn-cs"/>
              </a:rPr>
              <a:t>trong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khi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hai</a:t>
            </a:r>
            <a:r>
              <a:rPr lang="en-US" sz="1200" b="0" kern="1200" dirty="0">
                <a:solidFill>
                  <a:schemeClr val="tx1"/>
                </a:solidFill>
                <a:effectLst/>
                <a:latin typeface="+mn-lt"/>
                <a:ea typeface="+mn-ea"/>
                <a:cs typeface="+mn-cs"/>
              </a:rPr>
              <a:t> token </a:t>
            </a:r>
            <a:r>
              <a:rPr lang="en-US" sz="1200" b="0" kern="1200" dirty="0" err="1">
                <a:solidFill>
                  <a:schemeClr val="tx1"/>
                </a:solidFill>
                <a:effectLst/>
                <a:latin typeface="+mn-lt"/>
                <a:ea typeface="+mn-ea"/>
                <a:cs typeface="+mn-cs"/>
              </a:rPr>
              <a:t>đệm</a:t>
            </a:r>
            <a:r>
              <a:rPr lang="en-US" sz="1200" b="0" kern="1200" dirty="0">
                <a:solidFill>
                  <a:schemeClr val="tx1"/>
                </a:solidFill>
                <a:effectLst/>
                <a:latin typeface="+mn-lt"/>
                <a:ea typeface="+mn-ea"/>
                <a:cs typeface="+mn-cs"/>
              </a:rPr>
              <a:t> &lt;pad&gt; </a:t>
            </a:r>
            <a:r>
              <a:rPr lang="en-US" sz="1200" b="0" kern="1200" dirty="0" err="1">
                <a:solidFill>
                  <a:schemeClr val="tx1"/>
                </a:solidFill>
                <a:effectLst/>
                <a:latin typeface="+mn-lt"/>
                <a:ea typeface="+mn-ea"/>
                <a:cs typeface="+mn-cs"/>
              </a:rPr>
              <a:t>bị</a:t>
            </a:r>
            <a:r>
              <a:rPr lang="en-US" sz="1200" b="0" kern="1200" dirty="0">
                <a:solidFill>
                  <a:schemeClr val="tx1"/>
                </a:solidFill>
                <a:effectLst/>
                <a:latin typeface="+mn-lt"/>
                <a:ea typeface="+mn-ea"/>
                <a:cs typeface="+mn-cs"/>
              </a:rPr>
              <a:t> mask score = -infinity </a:t>
            </a:r>
            <a:r>
              <a:rPr lang="en-US" sz="1200" b="0" kern="1200" dirty="0" err="1">
                <a:solidFill>
                  <a:schemeClr val="tx1"/>
                </a:solidFill>
                <a:effectLst/>
                <a:latin typeface="+mn-lt"/>
                <a:ea typeface="+mn-ea"/>
                <a:cs typeface="+mn-cs"/>
              </a:rPr>
              <a:t>nên</a:t>
            </a:r>
            <a:r>
              <a:rPr lang="en-US" sz="1200" b="0" kern="1200" dirty="0">
                <a:solidFill>
                  <a:schemeClr val="tx1"/>
                </a:solidFill>
                <a:effectLst/>
                <a:latin typeface="+mn-lt"/>
                <a:ea typeface="+mn-ea"/>
                <a:cs typeface="+mn-cs"/>
              </a:rPr>
              <a:t> alpha = 0 (</a:t>
            </a:r>
            <a:r>
              <a:rPr lang="en-US" sz="1200" b="0" kern="1200" dirty="0" err="1">
                <a:solidFill>
                  <a:schemeClr val="tx1"/>
                </a:solidFill>
                <a:effectLst/>
                <a:latin typeface="+mn-lt"/>
                <a:ea typeface="+mn-ea"/>
                <a:cs typeface="+mn-cs"/>
              </a:rPr>
              <a:t>cột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đỏ</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gạch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chéo</a:t>
            </a:r>
            <a:r>
              <a:rPr lang="en-US" sz="1200" b="0" kern="1200" dirty="0">
                <a:solidFill>
                  <a:schemeClr val="tx1"/>
                </a:solidFill>
                <a:effectLst/>
                <a:latin typeface="+mn-lt"/>
                <a:ea typeface="+mn-ea"/>
                <a:cs typeface="+mn-cs"/>
              </a:rPr>
              <a:t>). </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Ý </a:t>
            </a:r>
            <a:r>
              <a:rPr lang="en-US" sz="1200" b="0" kern="1200" dirty="0" err="1">
                <a:solidFill>
                  <a:schemeClr val="tx1"/>
                </a:solidFill>
                <a:effectLst/>
                <a:latin typeface="+mn-lt"/>
                <a:ea typeface="+mn-ea"/>
                <a:cs typeface="+mn-cs"/>
              </a:rPr>
              <a:t>nghĩa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cốt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lõi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là</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giúp</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mô</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hình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dồn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trọng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số</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vào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từ</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khóa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lâm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sàng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chính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và</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triệt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tiêu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hoàn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toàn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nhiễu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từ</a:t>
            </a:r>
            <a:r>
              <a:rPr lang="en-US" sz="1200" b="0" kern="1200" dirty="0">
                <a:solidFill>
                  <a:schemeClr val="tx1"/>
                </a:solidFill>
                <a:effectLst/>
                <a:latin typeface="+mn-lt"/>
                <a:ea typeface="+mn-ea"/>
                <a:cs typeface="+mn-cs"/>
              </a:rPr>
              <a:t> token </a:t>
            </a:r>
            <a:r>
              <a:rPr lang="en-US" sz="1200" b="0" kern="1200" dirty="0" err="1">
                <a:solidFill>
                  <a:schemeClr val="tx1"/>
                </a:solidFill>
                <a:effectLst/>
                <a:latin typeface="+mn-lt"/>
                <a:ea typeface="+mn-ea"/>
                <a:cs typeface="+mn-cs"/>
              </a:rPr>
              <a:t>đệm</a:t>
            </a:r>
            <a:r>
              <a:rPr lang="en-US" sz="1200" b="0" kern="1200" dirty="0">
                <a:solidFill>
                  <a:schemeClr val="tx1"/>
                </a:solidFill>
                <a:effectLst/>
                <a:latin typeface="+mn-lt"/>
                <a:ea typeface="+mn-ea"/>
                <a:cs typeface="+mn-cs"/>
              </a:rPr>
              <a:t>.</a:t>
            </a:r>
          </a:p>
          <a:p>
            <a:endParaRPr lang="en-US" dirty="0"/>
          </a:p>
        </p:txBody>
      </p:sp>
    </p:spTree>
    <p:extLst>
      <p:ext uri="{BB962C8B-B14F-4D97-AF65-F5344CB8AC3E}">
        <p14:creationId xmlns:p14="http://schemas.microsoft.com/office/powerpoint/2010/main" val="8678799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CNN: nguyên lý (conv-pool-phân cấp), ưu (bất biến, chia sẻ trọng số), nhược (cục bộ), vai trò (encoder ảnh).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sz="1200" b="0" kern="1200" dirty="0">
                <a:solidFill>
                  <a:schemeClr val="tx1"/>
                </a:solidFill>
                <a:effectLst/>
                <a:latin typeface="+mn-lt"/>
                <a:ea typeface="+mn-ea"/>
                <a:cs typeface="+mn-cs"/>
              </a:rPr>
              <a:t>Slide </a:t>
            </a:r>
            <a:r>
              <a:rPr lang="en-US" sz="1200" b="0" kern="1200" dirty="0" err="1">
                <a:solidFill>
                  <a:schemeClr val="tx1"/>
                </a:solidFill>
                <a:effectLst/>
                <a:latin typeface="+mn-lt"/>
                <a:ea typeface="+mn-ea"/>
                <a:cs typeface="+mn-cs"/>
              </a:rPr>
              <a:t>hiển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thị</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Sơ</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đồ</a:t>
            </a:r>
            <a:r>
              <a:rPr lang="en-US" sz="1200" b="0" kern="1200" dirty="0">
                <a:solidFill>
                  <a:schemeClr val="tx1"/>
                </a:solidFill>
                <a:effectLst/>
                <a:latin typeface="+mn-lt"/>
                <a:ea typeface="+mn-ea"/>
                <a:cs typeface="+mn-cs"/>
              </a:rPr>
              <a:t> Flow Top: </a:t>
            </a:r>
            <a:r>
              <a:rPr lang="en-US" sz="1200" b="0" kern="1200" dirty="0" err="1">
                <a:solidFill>
                  <a:schemeClr val="tx1"/>
                </a:solidFill>
                <a:effectLst/>
                <a:latin typeface="+mn-lt"/>
                <a:ea typeface="+mn-ea"/>
                <a:cs typeface="+mn-cs"/>
              </a:rPr>
              <a:t>Ảnh</a:t>
            </a:r>
            <a:r>
              <a:rPr lang="en-US" sz="1200" b="0" kern="1200" dirty="0">
                <a:solidFill>
                  <a:schemeClr val="tx1"/>
                </a:solidFill>
                <a:effectLst/>
                <a:latin typeface="+mn-lt"/>
                <a:ea typeface="+mn-ea"/>
                <a:cs typeface="+mn-cs"/>
              </a:rPr>
              <a:t> 224x224 -&gt; Block 1 (32ch 112x112) -&gt; Block 2 (64ch 56x56) -&gt; Block 3 (128ch 28x28) -&gt; SE-Block (</a:t>
            </a:r>
            <a:r>
              <a:rPr lang="en-US" sz="1200" b="0" kern="1200" dirty="0" err="1">
                <a:solidFill>
                  <a:schemeClr val="tx1"/>
                </a:solidFill>
                <a:effectLst/>
                <a:latin typeface="+mn-lt"/>
                <a:ea typeface="+mn-ea"/>
                <a:cs typeface="+mn-cs"/>
              </a:rPr>
              <a:t>nét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đứt</a:t>
            </a:r>
            <a:r>
              <a:rPr lang="en-US" sz="1200" b="0" kern="1200" dirty="0">
                <a:solidFill>
                  <a:schemeClr val="tx1"/>
                </a:solidFill>
                <a:effectLst/>
                <a:latin typeface="+mn-lt"/>
                <a:ea typeface="+mn-ea"/>
                <a:cs typeface="+mn-cs"/>
              </a:rPr>
              <a:t>) -&gt; </a:t>
            </a:r>
            <a:r>
              <a:rPr lang="en-US" sz="1200" b="0" kern="1200" dirty="0" err="1">
                <a:solidFill>
                  <a:schemeClr val="tx1"/>
                </a:solidFill>
                <a:effectLst/>
                <a:latin typeface="+mn-lt"/>
                <a:ea typeface="+mn-ea"/>
                <a:cs typeface="+mn-cs"/>
              </a:rPr>
              <a:t>AdaptiveAvgPool</a:t>
            </a:r>
            <a:r>
              <a:rPr lang="en-US" sz="1200" b="0" kern="1200" dirty="0">
                <a:solidFill>
                  <a:schemeClr val="tx1"/>
                </a:solidFill>
                <a:effectLst/>
                <a:latin typeface="+mn-lt"/>
                <a:ea typeface="+mn-ea"/>
                <a:cs typeface="+mn-cs"/>
              </a:rPr>
              <a:t> + </a:t>
            </a:r>
            <a:r>
              <a:rPr lang="en-US" sz="1200" b="0" kern="1200" dirty="0" err="1">
                <a:solidFill>
                  <a:schemeClr val="tx1"/>
                </a:solidFill>
                <a:effectLst/>
                <a:latin typeface="+mn-lt"/>
                <a:ea typeface="+mn-ea"/>
                <a:cs typeface="+mn-cs"/>
              </a:rPr>
              <a:t>LayerNorm</a:t>
            </a:r>
            <a:r>
              <a:rPr lang="en-US" sz="1200" b="0" kern="1200" dirty="0">
                <a:solidFill>
                  <a:schemeClr val="tx1"/>
                </a:solidFill>
                <a:effectLst/>
                <a:latin typeface="+mn-lt"/>
                <a:ea typeface="+mn-ea"/>
                <a:cs typeface="+mn-cs"/>
              </a:rPr>
              <a:t> -&gt; </a:t>
            </a:r>
            <a:r>
              <a:rPr lang="en-US" sz="1200" b="0" kern="1200" dirty="0" err="1">
                <a:solidFill>
                  <a:schemeClr val="tx1"/>
                </a:solidFill>
                <a:effectLst/>
                <a:latin typeface="+mn-lt"/>
                <a:ea typeface="+mn-ea"/>
                <a:cs typeface="+mn-cs"/>
              </a:rPr>
              <a:t>v_img</a:t>
            </a:r>
            <a:r>
              <a:rPr lang="en-US" sz="1200" b="0" kern="1200" dirty="0">
                <a:solidFill>
                  <a:schemeClr val="tx1"/>
                </a:solidFill>
                <a:effectLst/>
                <a:latin typeface="+mn-lt"/>
                <a:ea typeface="+mn-ea"/>
                <a:cs typeface="+mn-cs"/>
              </a:rPr>
              <a:t> [B,128].</a:t>
            </a:r>
          </a:p>
          <a:p>
            <a:r>
              <a:rPr lang="en-US" sz="1200" b="0" kern="1200" dirty="0">
                <a:solidFill>
                  <a:schemeClr val="tx1"/>
                </a:solidFill>
                <a:effectLst/>
                <a:latin typeface="+mn-lt"/>
                <a:ea typeface="+mn-ea"/>
                <a:cs typeface="+mn-cs"/>
              </a:rPr>
              <a:t>- Khung </a:t>
            </a:r>
            <a:r>
              <a:rPr lang="en-US" sz="1200" b="0" kern="1200" dirty="0" err="1">
                <a:solidFill>
                  <a:schemeClr val="tx1"/>
                </a:solidFill>
                <a:effectLst/>
                <a:latin typeface="+mn-lt"/>
                <a:ea typeface="+mn-ea"/>
                <a:cs typeface="+mn-cs"/>
              </a:rPr>
              <a:t>công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thức</a:t>
            </a:r>
            <a:r>
              <a:rPr lang="en-US" sz="1200" b="0" kern="1200" dirty="0">
                <a:solidFill>
                  <a:schemeClr val="tx1"/>
                </a:solidFill>
                <a:effectLst/>
                <a:latin typeface="+mn-lt"/>
                <a:ea typeface="+mn-ea"/>
                <a:cs typeface="+mn-cs"/>
              </a:rPr>
              <a:t> &amp; 3 ô </a:t>
            </a:r>
            <a:r>
              <a:rPr lang="en-US" sz="1200" b="0" kern="1200" dirty="0" err="1">
                <a:solidFill>
                  <a:schemeClr val="tx1"/>
                </a:solidFill>
                <a:effectLst/>
                <a:latin typeface="+mn-lt"/>
                <a:ea typeface="+mn-ea"/>
                <a:cs typeface="+mn-cs"/>
              </a:rPr>
              <a:t>lý</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giải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Vì</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sao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xếp</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tầng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BatchNorm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BatchNorm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nén</a:t>
            </a:r>
            <a:r>
              <a:rPr lang="en-US" sz="1200" b="0" kern="1200" dirty="0">
                <a:solidFill>
                  <a:schemeClr val="tx1"/>
                </a:solidFill>
                <a:effectLst/>
                <a:latin typeface="+mn-lt"/>
                <a:ea typeface="+mn-ea"/>
                <a:cs typeface="+mn-cs"/>
              </a:rPr>
              <a:t> vector).</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Ý </a:t>
            </a:r>
            <a:r>
              <a:rPr lang="en-US" sz="1200" b="0" kern="1200" dirty="0" err="1">
                <a:solidFill>
                  <a:schemeClr val="tx1"/>
                </a:solidFill>
                <a:effectLst/>
                <a:latin typeface="+mn-lt"/>
                <a:ea typeface="+mn-ea"/>
                <a:cs typeface="+mn-cs"/>
              </a:rPr>
              <a:t>nghĩa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cốt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lõi</a:t>
            </a:r>
            <a:r>
              <a:rPr lang="en-US" sz="1200" b="0" kern="1200" dirty="0">
                <a:solidFill>
                  <a:schemeClr val="tx1"/>
                </a:solidFill>
                <a:effectLst/>
                <a:latin typeface="+mn-lt"/>
                <a:ea typeface="+mn-ea"/>
                <a:cs typeface="+mn-cs"/>
              </a:rPr>
              <a:t>:</a:t>
            </a:r>
          </a:p>
          <a:p>
            <a:r>
              <a:rPr lang="en-US" sz="1200" b="0" kern="1200" dirty="0" err="1">
                <a:solidFill>
                  <a:schemeClr val="tx1"/>
                </a:solidFill>
                <a:effectLst/>
                <a:latin typeface="+mn-lt"/>
                <a:ea typeface="+mn-ea"/>
                <a:cs typeface="+mn-cs"/>
              </a:rPr>
              <a:t>Thiết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kế</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mạng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tích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chập</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nhỏ</a:t>
            </a:r>
            <a:r>
              <a:rPr lang="en-US" sz="1200" b="0" kern="1200" dirty="0">
                <a:solidFill>
                  <a:schemeClr val="tx1"/>
                </a:solidFill>
                <a:effectLst/>
                <a:latin typeface="+mn-lt"/>
                <a:ea typeface="+mn-ea"/>
                <a:cs typeface="+mn-cs"/>
              </a:rPr>
              <a:t> 3 </a:t>
            </a:r>
            <a:r>
              <a:rPr lang="en-US" sz="1200" b="0" kern="1200" dirty="0" err="1">
                <a:solidFill>
                  <a:schemeClr val="tx1"/>
                </a:solidFill>
                <a:effectLst/>
                <a:latin typeface="+mn-lt"/>
                <a:ea typeface="+mn-ea"/>
                <a:cs typeface="+mn-cs"/>
              </a:rPr>
              <a:t>khối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gọn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nhẹ</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nhưng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vẫn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đảm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bảo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kích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thước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chuẩn</a:t>
            </a:r>
            <a:r>
              <a:rPr lang="en-US" sz="1200" b="0" kern="1200" dirty="0">
                <a:solidFill>
                  <a:schemeClr val="tx1"/>
                </a:solidFill>
                <a:effectLst/>
                <a:latin typeface="+mn-lt"/>
                <a:ea typeface="+mn-ea"/>
                <a:cs typeface="+mn-cs"/>
              </a:rPr>
              <a:t> 128 </a:t>
            </a:r>
            <a:r>
              <a:rPr lang="en-US" sz="1200" b="0" kern="1200" dirty="0" err="1">
                <a:solidFill>
                  <a:schemeClr val="tx1"/>
                </a:solidFill>
                <a:effectLst/>
                <a:latin typeface="+mn-lt"/>
                <a:ea typeface="+mn-ea"/>
                <a:cs typeface="+mn-cs"/>
              </a:rPr>
              <a:t>chiều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hoàn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toàn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tương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thích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với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đầu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ra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của</a:t>
            </a:r>
            <a:r>
              <a:rPr lang="en-US" sz="1200" b="0" kern="1200" dirty="0">
                <a:solidFill>
                  <a:schemeClr val="tx1"/>
                </a:solidFill>
                <a:effectLst/>
                <a:latin typeface="+mn-lt"/>
                <a:ea typeface="+mn-ea"/>
                <a:cs typeface="+mn-cs"/>
              </a:rPr>
              <a:t> ResNet-18.</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Speaker note:</a:t>
            </a:r>
          </a:p>
          <a:p>
            <a:r>
              <a:rPr lang="en-US" sz="1200" b="0" kern="1200" dirty="0">
                <a:solidFill>
                  <a:schemeClr val="tx1"/>
                </a:solidFill>
                <a:effectLst/>
                <a:latin typeface="+mn-lt"/>
                <a:ea typeface="+mn-ea"/>
                <a:cs typeface="+mn-cs"/>
              </a:rPr>
              <a:t>Slide 10 chi </a:t>
            </a:r>
            <a:r>
              <a:rPr lang="en-US" sz="1200" b="0" kern="1200" dirty="0" err="1">
                <a:solidFill>
                  <a:schemeClr val="tx1"/>
                </a:solidFill>
                <a:effectLst/>
                <a:latin typeface="+mn-lt"/>
                <a:ea typeface="+mn-ea"/>
                <a:cs typeface="+mn-cs"/>
              </a:rPr>
              <a:t>tiết</a:t>
            </a:r>
            <a:r>
              <a:rPr lang="en-US" sz="1200" b="0" kern="1200" dirty="0">
                <a:solidFill>
                  <a:schemeClr val="tx1"/>
                </a:solidFill>
                <a:effectLst/>
                <a:latin typeface="+mn-lt"/>
                <a:ea typeface="+mn-ea"/>
                <a:cs typeface="+mn-cs"/>
              </a:rPr>
              <a:t> hóa </a:t>
            </a:r>
            <a:r>
              <a:rPr lang="en-US" sz="1200" b="0" kern="1200" dirty="0" err="1">
                <a:solidFill>
                  <a:schemeClr val="tx1"/>
                </a:solidFill>
                <a:effectLst/>
                <a:latin typeface="+mn-lt"/>
                <a:ea typeface="+mn-ea"/>
                <a:cs typeface="+mn-cs"/>
              </a:rPr>
              <a:t>mạng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CustomCNN</a:t>
            </a:r>
            <a:r>
              <a:rPr lang="en-US" sz="1200" b="0" kern="1200" dirty="0">
                <a:solidFill>
                  <a:schemeClr val="tx1"/>
                </a:solidFill>
                <a:effectLst/>
                <a:latin typeface="+mn-lt"/>
                <a:ea typeface="+mn-ea"/>
                <a:cs typeface="+mn-cs"/>
              </a:rPr>
              <a:t> qua </a:t>
            </a:r>
            <a:r>
              <a:rPr lang="en-US" sz="1200" b="0" kern="1200" dirty="0" err="1">
                <a:solidFill>
                  <a:schemeClr val="tx1"/>
                </a:solidFill>
                <a:effectLst/>
                <a:latin typeface="+mn-lt"/>
                <a:ea typeface="+mn-ea"/>
                <a:cs typeface="+mn-cs"/>
              </a:rPr>
              <a:t>sơ</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đồ</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luồng</a:t>
            </a:r>
            <a:r>
              <a:rPr lang="en-US" sz="1200" b="0" kern="1200" dirty="0">
                <a:solidFill>
                  <a:schemeClr val="tx1"/>
                </a:solidFill>
                <a:effectLst/>
                <a:latin typeface="+mn-lt"/>
                <a:ea typeface="+mn-ea"/>
                <a:cs typeface="+mn-cs"/>
              </a:rPr>
              <a:t> 3 </a:t>
            </a:r>
            <a:r>
              <a:rPr lang="en-US" sz="1200" b="0" kern="1200" dirty="0" err="1">
                <a:solidFill>
                  <a:schemeClr val="tx1"/>
                </a:solidFill>
                <a:effectLst/>
                <a:latin typeface="+mn-lt"/>
                <a:ea typeface="+mn-ea"/>
                <a:cs typeface="+mn-cs"/>
              </a:rPr>
              <a:t>khối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Kênh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tăng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dần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từ</a:t>
            </a:r>
            <a:r>
              <a:rPr lang="en-US" sz="1200" b="0" kern="1200" dirty="0">
                <a:solidFill>
                  <a:schemeClr val="tx1"/>
                </a:solidFill>
                <a:effectLst/>
                <a:latin typeface="+mn-lt"/>
                <a:ea typeface="+mn-ea"/>
                <a:cs typeface="+mn-cs"/>
              </a:rPr>
              <a:t> 32 -&gt; 64 -&gt; 128, </a:t>
            </a:r>
            <a:r>
              <a:rPr lang="en-US" sz="1200" b="0" kern="1200" dirty="0" err="1">
                <a:solidFill>
                  <a:schemeClr val="tx1"/>
                </a:solidFill>
                <a:effectLst/>
                <a:latin typeface="+mn-lt"/>
                <a:ea typeface="+mn-ea"/>
                <a:cs typeface="+mn-cs"/>
              </a:rPr>
              <a:t>còn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kích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thước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nén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dần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từ</a:t>
            </a:r>
            <a:r>
              <a:rPr lang="en-US" sz="1200" b="0" kern="1200" dirty="0">
                <a:solidFill>
                  <a:schemeClr val="tx1"/>
                </a:solidFill>
                <a:effectLst/>
                <a:latin typeface="+mn-lt"/>
                <a:ea typeface="+mn-ea"/>
                <a:cs typeface="+mn-cs"/>
              </a:rPr>
              <a:t> 112 -&gt; 56 -&gt; 28x28. </a:t>
            </a:r>
            <a:r>
              <a:rPr lang="en-US" sz="1200" b="0" kern="1200" dirty="0" err="1">
                <a:solidFill>
                  <a:schemeClr val="tx1"/>
                </a:solidFill>
                <a:effectLst/>
                <a:latin typeface="+mn-lt"/>
                <a:ea typeface="+mn-ea"/>
                <a:cs typeface="+mn-cs"/>
              </a:rPr>
              <a:t>Tầng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AdaptiveAvgPool</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cuối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nén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về</a:t>
            </a:r>
            <a:r>
              <a:rPr lang="en-US" sz="1200" b="0" kern="1200" dirty="0">
                <a:solidFill>
                  <a:schemeClr val="tx1"/>
                </a:solidFill>
                <a:effectLst/>
                <a:latin typeface="+mn-lt"/>
                <a:ea typeface="+mn-ea"/>
                <a:cs typeface="+mn-cs"/>
              </a:rPr>
              <a:t> vector </a:t>
            </a:r>
            <a:r>
              <a:rPr lang="en-US" sz="1200" b="0" kern="1200" dirty="0" err="1">
                <a:solidFill>
                  <a:schemeClr val="tx1"/>
                </a:solidFill>
                <a:effectLst/>
                <a:latin typeface="+mn-lt"/>
                <a:ea typeface="+mn-ea"/>
                <a:cs typeface="+mn-cs"/>
              </a:rPr>
              <a:t>v_img</a:t>
            </a:r>
            <a:r>
              <a:rPr lang="en-US" sz="1200" b="0" kern="1200" dirty="0">
                <a:solidFill>
                  <a:schemeClr val="tx1"/>
                </a:solidFill>
                <a:effectLst/>
                <a:latin typeface="+mn-lt"/>
                <a:ea typeface="+mn-ea"/>
                <a:cs typeface="+mn-cs"/>
              </a:rPr>
              <a:t> 128 </a:t>
            </a:r>
            <a:r>
              <a:rPr lang="en-US" sz="1200" b="0" kern="1200" dirty="0" err="1">
                <a:solidFill>
                  <a:schemeClr val="tx1"/>
                </a:solidFill>
                <a:effectLst/>
                <a:latin typeface="+mn-lt"/>
                <a:ea typeface="+mn-ea"/>
                <a:cs typeface="+mn-cs"/>
              </a:rPr>
              <a:t>chiều</a:t>
            </a:r>
            <a:r>
              <a:rPr lang="en-US" sz="1200" b="0" kern="1200" dirty="0">
                <a:solidFill>
                  <a:schemeClr val="tx1"/>
                </a:solidFill>
                <a:effectLst/>
                <a:latin typeface="+mn-lt"/>
                <a:ea typeface="+mn-ea"/>
                <a:cs typeface="+mn-cs"/>
              </a:rPr>
              <a:t>. </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Ý </a:t>
            </a:r>
            <a:r>
              <a:rPr lang="en-US" sz="1200" b="0" kern="1200" dirty="0" err="1">
                <a:solidFill>
                  <a:schemeClr val="tx1"/>
                </a:solidFill>
                <a:effectLst/>
                <a:latin typeface="+mn-lt"/>
                <a:ea typeface="+mn-ea"/>
                <a:cs typeface="+mn-cs"/>
              </a:rPr>
              <a:t>nghĩa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cốt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lõi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của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thiết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kế</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này</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là</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tạo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ra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một</a:t>
            </a:r>
            <a:r>
              <a:rPr lang="en-US" sz="1200" b="0" kern="1200" dirty="0">
                <a:solidFill>
                  <a:schemeClr val="tx1"/>
                </a:solidFill>
                <a:effectLst/>
                <a:latin typeface="+mn-lt"/>
                <a:ea typeface="+mn-ea"/>
                <a:cs typeface="+mn-cs"/>
              </a:rPr>
              <a:t> encoder </a:t>
            </a:r>
            <a:r>
              <a:rPr lang="en-US" sz="1200" b="0" kern="1200" dirty="0" err="1">
                <a:solidFill>
                  <a:schemeClr val="tx1"/>
                </a:solidFill>
                <a:effectLst/>
                <a:latin typeface="+mn-lt"/>
                <a:ea typeface="+mn-ea"/>
                <a:cs typeface="+mn-cs"/>
              </a:rPr>
              <a:t>ảnh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tự</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phát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triển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cực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kỳ</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gọn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nhẹ</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nhưng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vẫn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đảm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bảo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tương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thích</a:t>
            </a:r>
            <a:r>
              <a:rPr lang="en-US" sz="1200" b="0" kern="1200" dirty="0">
                <a:solidFill>
                  <a:schemeClr val="tx1"/>
                </a:solidFill>
                <a:effectLst/>
                <a:latin typeface="+mn-lt"/>
                <a:ea typeface="+mn-ea"/>
                <a:cs typeface="+mn-cs"/>
              </a:rPr>
              <a:t> 128 </a:t>
            </a:r>
            <a:r>
              <a:rPr lang="en-US" sz="1200" b="0" kern="1200" dirty="0" err="1">
                <a:solidFill>
                  <a:schemeClr val="tx1"/>
                </a:solidFill>
                <a:effectLst/>
                <a:latin typeface="+mn-lt"/>
                <a:ea typeface="+mn-ea"/>
                <a:cs typeface="+mn-cs"/>
              </a:rPr>
              <a:t>chiều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với</a:t>
            </a:r>
            <a:r>
              <a:rPr lang="en-US" sz="1200" b="0" kern="1200" dirty="0">
                <a:solidFill>
                  <a:schemeClr val="tx1"/>
                </a:solidFill>
                <a:effectLst/>
                <a:latin typeface="+mn-lt"/>
                <a:ea typeface="+mn-ea"/>
                <a:cs typeface="+mn-cs"/>
              </a:rPr>
              <a:t> ResNet-18.</a:t>
            </a:r>
          </a:p>
          <a:p>
            <a:endParaRPr lang="en-US" dirty="0"/>
          </a:p>
        </p:txBody>
      </p:sp>
    </p:spTree>
    <p:extLst>
      <p:ext uri="{BB962C8B-B14F-4D97-AF65-F5344CB8AC3E}">
        <p14:creationId xmlns:p14="http://schemas.microsoft.com/office/powerpoint/2010/main" val="3734366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sz="1200" b="0" kern="1200" dirty="0">
                <a:solidFill>
                  <a:schemeClr val="tx1"/>
                </a:solidFill>
                <a:effectLst/>
                <a:latin typeface="+mn-lt"/>
                <a:ea typeface="+mn-ea"/>
                <a:cs typeface="+mn-cs"/>
              </a:rPr>
              <a:t>Slide 11 </a:t>
            </a:r>
            <a:r>
              <a:rPr lang="en-US" sz="1200" b="0" kern="1200" dirty="0" err="1">
                <a:solidFill>
                  <a:schemeClr val="tx1"/>
                </a:solidFill>
                <a:effectLst/>
                <a:latin typeface="+mn-lt"/>
                <a:ea typeface="+mn-ea"/>
                <a:cs typeface="+mn-cs"/>
              </a:rPr>
              <a:t>minh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họa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cơ</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chế</a:t>
            </a:r>
            <a:r>
              <a:rPr lang="en-US" sz="1200" b="0" kern="1200" dirty="0">
                <a:solidFill>
                  <a:schemeClr val="tx1"/>
                </a:solidFill>
                <a:effectLst/>
                <a:latin typeface="+mn-lt"/>
                <a:ea typeface="+mn-ea"/>
                <a:cs typeface="+mn-cs"/>
              </a:rPr>
              <a:t> SE-Block </a:t>
            </a:r>
            <a:r>
              <a:rPr lang="en-US" sz="1200" b="0" kern="1200" dirty="0" err="1">
                <a:solidFill>
                  <a:schemeClr val="tx1"/>
                </a:solidFill>
                <a:effectLst/>
                <a:latin typeface="+mn-lt"/>
                <a:ea typeface="+mn-ea"/>
                <a:cs typeface="+mn-cs"/>
              </a:rPr>
              <a:t>trên</a:t>
            </a:r>
            <a:r>
              <a:rPr lang="en-US" sz="1200" b="0" kern="1200" dirty="0">
                <a:solidFill>
                  <a:schemeClr val="tx1"/>
                </a:solidFill>
                <a:effectLst/>
                <a:latin typeface="+mn-lt"/>
                <a:ea typeface="+mn-ea"/>
                <a:cs typeface="+mn-cs"/>
              </a:rPr>
              <a:t> 6 </a:t>
            </a:r>
            <a:r>
              <a:rPr lang="en-US" sz="1200" b="0" kern="1200" dirty="0" err="1">
                <a:solidFill>
                  <a:schemeClr val="tx1"/>
                </a:solidFill>
                <a:effectLst/>
                <a:latin typeface="+mn-lt"/>
                <a:ea typeface="+mn-ea"/>
                <a:cs typeface="+mn-cs"/>
              </a:rPr>
              <a:t>kênh</a:t>
            </a:r>
            <a:r>
              <a:rPr lang="en-US" sz="1200" b="0" kern="1200" dirty="0">
                <a:solidFill>
                  <a:schemeClr val="tx1"/>
                </a:solidFill>
                <a:effectLst/>
                <a:latin typeface="+mn-lt"/>
                <a:ea typeface="+mn-ea"/>
                <a:cs typeface="+mn-cs"/>
              </a:rPr>
              <a:t> c1-c6. Qua 3 </a:t>
            </a:r>
            <a:r>
              <a:rPr lang="en-US" sz="1200" b="0" kern="1200" dirty="0" err="1">
                <a:solidFill>
                  <a:schemeClr val="tx1"/>
                </a:solidFill>
                <a:effectLst/>
                <a:latin typeface="+mn-lt"/>
                <a:ea typeface="+mn-ea"/>
                <a:cs typeface="+mn-cs"/>
              </a:rPr>
              <a:t>bước</a:t>
            </a:r>
            <a:r>
              <a:rPr lang="en-US" sz="1200" b="0" kern="1200" dirty="0">
                <a:solidFill>
                  <a:schemeClr val="tx1"/>
                </a:solidFill>
                <a:effectLst/>
                <a:latin typeface="+mn-lt"/>
                <a:ea typeface="+mn-ea"/>
                <a:cs typeface="+mn-cs"/>
              </a:rPr>
              <a:t> Squeeze-Excite-Scale, </a:t>
            </a:r>
            <a:r>
              <a:rPr lang="en-US" sz="1200" b="0" kern="1200" dirty="0" err="1">
                <a:solidFill>
                  <a:schemeClr val="tx1"/>
                </a:solidFill>
                <a:effectLst/>
                <a:latin typeface="+mn-lt"/>
                <a:ea typeface="+mn-ea"/>
                <a:cs typeface="+mn-cs"/>
              </a:rPr>
              <a:t>mô</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hình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tính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ra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trọng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số</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kênh</a:t>
            </a:r>
            <a:r>
              <a:rPr lang="en-US" sz="1200" b="0" kern="1200" dirty="0">
                <a:solidFill>
                  <a:schemeClr val="tx1"/>
                </a:solidFill>
                <a:effectLst/>
                <a:latin typeface="+mn-lt"/>
                <a:ea typeface="+mn-ea"/>
                <a:cs typeface="+mn-cs"/>
              </a:rPr>
              <a:t> c4 </a:t>
            </a:r>
            <a:r>
              <a:rPr lang="en-US" sz="1200" b="0" kern="1200" dirty="0" err="1">
                <a:solidFill>
                  <a:schemeClr val="tx1"/>
                </a:solidFill>
                <a:effectLst/>
                <a:latin typeface="+mn-lt"/>
                <a:ea typeface="+mn-ea"/>
                <a:cs typeface="+mn-cs"/>
              </a:rPr>
              <a:t>đạt</a:t>
            </a:r>
            <a:r>
              <a:rPr lang="en-US" sz="1200" b="0" kern="1200" dirty="0">
                <a:solidFill>
                  <a:schemeClr val="tx1"/>
                </a:solidFill>
                <a:effectLst/>
                <a:latin typeface="+mn-lt"/>
                <a:ea typeface="+mn-ea"/>
                <a:cs typeface="+mn-cs"/>
              </a:rPr>
              <a:t> 0.95 </a:t>
            </a:r>
            <a:r>
              <a:rPr lang="en-US" sz="1200" b="0" kern="1200" dirty="0" err="1">
                <a:solidFill>
                  <a:schemeClr val="tx1"/>
                </a:solidFill>
                <a:effectLst/>
                <a:latin typeface="+mn-lt"/>
                <a:ea typeface="+mn-ea"/>
                <a:cs typeface="+mn-cs"/>
              </a:rPr>
              <a:t>được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tô</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xanh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đậm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khuếch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đại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tối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kênh</a:t>
            </a:r>
            <a:r>
              <a:rPr lang="en-US" sz="1200" b="0" kern="1200" dirty="0">
                <a:solidFill>
                  <a:schemeClr val="tx1"/>
                </a:solidFill>
                <a:effectLst/>
                <a:latin typeface="+mn-lt"/>
                <a:ea typeface="+mn-ea"/>
                <a:cs typeface="+mn-cs"/>
              </a:rPr>
              <a:t> c5 </a:t>
            </a:r>
            <a:r>
              <a:rPr lang="en-US" sz="1200" b="0" kern="1200" dirty="0" err="1">
                <a:solidFill>
                  <a:schemeClr val="tx1"/>
                </a:solidFill>
                <a:effectLst/>
                <a:latin typeface="+mn-lt"/>
                <a:ea typeface="+mn-ea"/>
                <a:cs typeface="+mn-cs"/>
              </a:rPr>
              <a:t>chỉ</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đạt</a:t>
            </a:r>
            <a:r>
              <a:rPr lang="en-US" sz="1200" b="0" kern="1200" dirty="0">
                <a:solidFill>
                  <a:schemeClr val="tx1"/>
                </a:solidFill>
                <a:effectLst/>
                <a:latin typeface="+mn-lt"/>
                <a:ea typeface="+mn-ea"/>
                <a:cs typeface="+mn-cs"/>
              </a:rPr>
              <a:t> 0.10 </a:t>
            </a:r>
            <a:r>
              <a:rPr lang="en-US" sz="1200" b="0" kern="1200" dirty="0" err="1">
                <a:solidFill>
                  <a:schemeClr val="tx1"/>
                </a:solidFill>
                <a:effectLst/>
                <a:latin typeface="+mn-lt"/>
                <a:ea typeface="+mn-ea"/>
                <a:cs typeface="+mn-cs"/>
              </a:rPr>
              <a:t>bị</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mờ</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dập</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tắt</a:t>
            </a:r>
            <a:r>
              <a:rPr lang="en-US" sz="1200" b="0" kern="1200" dirty="0">
                <a:solidFill>
                  <a:schemeClr val="tx1"/>
                </a:solidFill>
                <a:effectLst/>
                <a:latin typeface="+mn-lt"/>
                <a:ea typeface="+mn-ea"/>
                <a:cs typeface="+mn-cs"/>
              </a:rPr>
              <a:t>. </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Ý </a:t>
            </a:r>
            <a:r>
              <a:rPr lang="en-US" sz="1200" b="0" kern="1200" dirty="0" err="1">
                <a:solidFill>
                  <a:schemeClr val="tx1"/>
                </a:solidFill>
                <a:effectLst/>
                <a:latin typeface="+mn-lt"/>
                <a:ea typeface="+mn-ea"/>
                <a:cs typeface="+mn-cs"/>
              </a:rPr>
              <a:t>nghĩa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cốt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lõi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là</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giúp</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mô</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hình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tự</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lọc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ra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kênh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đặc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trưng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tổn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thương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quan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trọng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và</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loại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bỏ</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nhiễu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nền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mà</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không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tốn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thêm</a:t>
            </a:r>
            <a:r>
              <a:rPr lang="en-US" sz="1200" b="0" kern="1200" dirty="0">
                <a:solidFill>
                  <a:schemeClr val="tx1"/>
                </a:solidFill>
                <a:effectLst/>
                <a:latin typeface="+mn-lt"/>
                <a:ea typeface="+mn-ea"/>
                <a:cs typeface="+mn-cs"/>
              </a:rPr>
              <a:t> chi </a:t>
            </a:r>
            <a:r>
              <a:rPr lang="en-US" sz="1200" b="0" kern="1200" dirty="0" err="1">
                <a:solidFill>
                  <a:schemeClr val="tx1"/>
                </a:solidFill>
                <a:effectLst/>
                <a:latin typeface="+mn-lt"/>
                <a:ea typeface="+mn-ea"/>
                <a:cs typeface="+mn-cs"/>
              </a:rPr>
              <a:t>phí</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bộ</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nhớ</a:t>
            </a:r>
            <a:r>
              <a:rPr lang="en-US" sz="1200" b="0" kern="1200" dirty="0">
                <a:solidFill>
                  <a:schemeClr val="tx1"/>
                </a:solidFill>
                <a:effectLst/>
                <a:latin typeface="+mn-lt"/>
                <a:ea typeface="+mn-ea"/>
                <a:cs typeface="+mn-cs"/>
              </a:rPr>
              <a: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**Nguyên </a:t>
            </a:r>
            <a:r>
              <a:rPr lang="en-US" sz="1200" b="1" kern="1200" dirty="0" err="1">
                <a:solidFill>
                  <a:schemeClr val="tx1"/>
                </a:solidFill>
                <a:effectLst/>
                <a:latin typeface="+mn-lt"/>
                <a:ea typeface="+mn-ea"/>
                <a:cs typeface="+mn-cs"/>
              </a:rPr>
              <a:t>lý</a:t>
            </a:r>
            <a:r>
              <a:rPr lang="en-US" sz="1200" b="1" kern="1200" dirty="0">
                <a:solidFill>
                  <a:schemeClr val="tx1"/>
                </a:solidFill>
                <a:effectLst/>
                <a:latin typeface="+mn-lt"/>
                <a:ea typeface="+mn-ea"/>
                <a:cs typeface="+mn-cs"/>
              </a:rPr>
              <a:t> Tái </a:t>
            </a:r>
            <a:r>
              <a:rPr lang="en-US" sz="1200" b="1" kern="1200" dirty="0" err="1">
                <a:solidFill>
                  <a:schemeClr val="tx1"/>
                </a:solidFill>
                <a:effectLst/>
                <a:latin typeface="+mn-lt"/>
                <a:ea typeface="+mn-ea"/>
                <a:cs typeface="+mn-cs"/>
              </a:rPr>
              <a:t>hiệu</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chỉnh</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Trọng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số</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Kênh</a:t>
            </a:r>
            <a:r>
              <a:rPr lang="en-US" sz="1200" b="1" kern="1200" dirty="0">
                <a:solidFill>
                  <a:schemeClr val="tx1"/>
                </a:solidFill>
                <a:effectLst/>
                <a:latin typeface="+mn-lt"/>
                <a:ea typeface="+mn-ea"/>
                <a:cs typeface="+mn-cs"/>
              </a:rPr>
              <a:t> (Channel-wise Recalibration):**</a:t>
            </a:r>
            <a:r>
              <a:rPr lang="en-US" sz="1200" b="0" kern="1200" dirty="0">
                <a:solidFill>
                  <a:schemeClr val="tx1"/>
                </a:solidFill>
                <a:effectLst/>
                <a:latin typeface="+mn-lt"/>
                <a:ea typeface="+mn-ea"/>
                <a:cs typeface="+mn-cs"/>
              </a:rPr>
              <a:t> Các </a:t>
            </a:r>
            <a:r>
              <a:rPr lang="en-US" sz="1200" b="0" kern="1200" dirty="0" err="1">
                <a:solidFill>
                  <a:schemeClr val="tx1"/>
                </a:solidFill>
                <a:effectLst/>
                <a:latin typeface="+mn-lt"/>
                <a:ea typeface="+mn-ea"/>
                <a:cs typeface="+mn-cs"/>
              </a:rPr>
              <a:t>kênh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đặc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trưng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sau</a:t>
            </a:r>
            <a:r>
              <a:rPr lang="en-US" sz="1200" b="0" kern="1200" dirty="0">
                <a:solidFill>
                  <a:schemeClr val="tx1"/>
                </a:solidFill>
                <a:effectLst/>
                <a:latin typeface="+mn-lt"/>
                <a:ea typeface="+mn-ea"/>
                <a:cs typeface="+mn-cs"/>
              </a:rPr>
              <a:t> CNN </a:t>
            </a:r>
            <a:r>
              <a:rPr lang="en-US" sz="1200" b="0" kern="1200" dirty="0" err="1">
                <a:solidFill>
                  <a:schemeClr val="tx1"/>
                </a:solidFill>
                <a:effectLst/>
                <a:latin typeface="+mn-lt"/>
                <a:ea typeface="+mn-ea"/>
                <a:cs typeface="+mn-cs"/>
              </a:rPr>
              <a:t>không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mang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giá</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trị</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chẩn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đoán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giống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nhau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Một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số</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kênh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tập</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trung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vào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mô</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phổi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hoặc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tổn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thương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trong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khi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các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kênh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khác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chỉ</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chứa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phông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nền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nhiễu</a:t>
            </a:r>
            <a:r>
              <a:rPr lang="en-US" sz="1200" b="0" kern="1200" dirty="0">
                <a:solidFill>
                  <a:schemeClr val="tx1"/>
                </a:solidFill>
                <a:effectLst/>
                <a:latin typeface="+mn-lt"/>
                <a:ea typeface="+mn-ea"/>
                <a:cs typeface="+mn-cs"/>
              </a:rPr>
              <a:t>. SE-Block </a:t>
            </a:r>
            <a:r>
              <a:rPr lang="en-US" sz="1200" b="0" kern="1200" dirty="0" err="1">
                <a:solidFill>
                  <a:schemeClr val="tx1"/>
                </a:solidFill>
                <a:effectLst/>
                <a:latin typeface="+mn-lt"/>
                <a:ea typeface="+mn-ea"/>
                <a:cs typeface="+mn-cs"/>
              </a:rPr>
              <a:t>giúp</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mô</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hình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tự</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học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mức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độ</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quan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trọng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của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từng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kênh</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Cơ</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chế</a:t>
            </a:r>
            <a:r>
              <a:rPr lang="en-US" sz="1200" b="1" kern="1200" dirty="0">
                <a:solidFill>
                  <a:schemeClr val="tx1"/>
                </a:solidFill>
                <a:effectLst/>
                <a:latin typeface="+mn-lt"/>
                <a:ea typeface="+mn-ea"/>
                <a:cs typeface="+mn-cs"/>
              </a:rPr>
              <a:t> 3 </a:t>
            </a:r>
            <a:r>
              <a:rPr lang="en-US" sz="1200" b="1" kern="1200" dirty="0" err="1">
                <a:solidFill>
                  <a:schemeClr val="tx1"/>
                </a:solidFill>
                <a:effectLst/>
                <a:latin typeface="+mn-lt"/>
                <a:ea typeface="+mn-ea"/>
                <a:cs typeface="+mn-cs"/>
              </a:rPr>
              <a:t>bước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toán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học</a:t>
            </a:r>
            <a:r>
              <a:rPr lang="en-US" sz="1200" b="1" kern="1200" dirty="0">
                <a:solidFill>
                  <a:schemeClr val="tx1"/>
                </a:solidFill>
                <a:effectLst/>
                <a:latin typeface="+mn-lt"/>
                <a:ea typeface="+mn-ea"/>
                <a:cs typeface="+mn-cs"/>
              </a:rPr>
              <a:t> (Squeeze - Excite - Scale):**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 </a:t>
            </a:r>
            <a:r>
              <a:rPr lang="en-US" sz="1200" b="1" kern="1200" dirty="0">
                <a:solidFill>
                  <a:schemeClr val="tx1"/>
                </a:solidFill>
                <a:effectLst/>
                <a:latin typeface="+mn-lt"/>
                <a:ea typeface="+mn-ea"/>
                <a:cs typeface="+mn-cs"/>
              </a:rPr>
              <a:t>**Squeeze ($z \in \</a:t>
            </a:r>
            <a:r>
              <a:rPr lang="en-US" sz="1200" b="1" kern="1200" dirty="0" err="1">
                <a:solidFill>
                  <a:schemeClr val="tx1"/>
                </a:solidFill>
                <a:effectLst/>
                <a:latin typeface="+mn-lt"/>
                <a:ea typeface="+mn-ea"/>
                <a:cs typeface="+mn-cs"/>
              </a:rPr>
              <a:t>mathbb</a:t>
            </a:r>
            <a:r>
              <a:rPr lang="en-US" sz="1200" b="1" kern="1200" dirty="0">
                <a:solidFill>
                  <a:schemeClr val="tx1"/>
                </a:solidFill>
                <a:effectLst/>
                <a:latin typeface="+mn-lt"/>
                <a:ea typeface="+mn-ea"/>
                <a:cs typeface="+mn-cs"/>
              </a:rPr>
              <a:t>{R}^C$):**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Nén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thông</a:t>
            </a:r>
            <a:r>
              <a:rPr lang="en-US" sz="1200" b="0" kern="1200" dirty="0">
                <a:solidFill>
                  <a:schemeClr val="tx1"/>
                </a:solidFill>
                <a:effectLst/>
                <a:latin typeface="+mn-lt"/>
                <a:ea typeface="+mn-ea"/>
                <a:cs typeface="+mn-cs"/>
              </a:rPr>
              <a:t> tin </a:t>
            </a:r>
            <a:r>
              <a:rPr lang="en-US" sz="1200" b="0" kern="1200" dirty="0" err="1">
                <a:solidFill>
                  <a:schemeClr val="tx1"/>
                </a:solidFill>
                <a:effectLst/>
                <a:latin typeface="+mn-lt"/>
                <a:ea typeface="+mn-ea"/>
                <a:cs typeface="+mn-cs"/>
              </a:rPr>
              <a:t>không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gian</a:t>
            </a:r>
            <a:r>
              <a:rPr lang="en-US" sz="1200" b="0" kern="1200" dirty="0">
                <a:solidFill>
                  <a:schemeClr val="tx1"/>
                </a:solidFill>
                <a:effectLst/>
                <a:latin typeface="+mn-lt"/>
                <a:ea typeface="+mn-ea"/>
                <a:cs typeface="+mn-cs"/>
              </a:rPr>
              <a:t> $[H, W]$ </a:t>
            </a:r>
            <a:r>
              <a:rPr lang="en-US" sz="1200" b="0" kern="1200" dirty="0" err="1">
                <a:solidFill>
                  <a:schemeClr val="tx1"/>
                </a:solidFill>
                <a:effectLst/>
                <a:latin typeface="+mn-lt"/>
                <a:ea typeface="+mn-ea"/>
                <a:cs typeface="+mn-cs"/>
              </a:rPr>
              <a:t>thành</a:t>
            </a:r>
            <a:r>
              <a:rPr lang="en-US" sz="1200" b="0" kern="1200" dirty="0">
                <a:solidFill>
                  <a:schemeClr val="tx1"/>
                </a:solidFill>
                <a:effectLst/>
                <a:latin typeface="+mn-lt"/>
                <a:ea typeface="+mn-ea"/>
                <a:cs typeface="+mn-cs"/>
              </a:rPr>
              <a:t> 1 </a:t>
            </a:r>
            <a:r>
              <a:rPr lang="en-US" sz="1200" b="0" kern="1200" dirty="0" err="1">
                <a:solidFill>
                  <a:schemeClr val="tx1"/>
                </a:solidFill>
                <a:effectLst/>
                <a:latin typeface="+mn-lt"/>
                <a:ea typeface="+mn-ea"/>
                <a:cs typeface="+mn-cs"/>
              </a:rPr>
              <a:t>chỉ</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số</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thống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kê</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toàn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cục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mỗi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kênh</a:t>
            </a:r>
            <a:r>
              <a:rPr lang="en-US" sz="1200" b="0" kern="1200" dirty="0">
                <a:solidFill>
                  <a:schemeClr val="tx1"/>
                </a:solidFill>
                <a:effectLst/>
                <a:latin typeface="+mn-lt"/>
                <a:ea typeface="+mn-ea"/>
                <a:cs typeface="+mn-cs"/>
              </a:rPr>
              <a:t> qua Global Average Pooling.</a:t>
            </a:r>
          </a:p>
          <a:p>
            <a:r>
              <a:rPr lang="en-US" sz="1200" b="0" kern="1200" dirty="0">
                <a:solidFill>
                  <a:schemeClr val="tx1"/>
                </a:solidFill>
                <a:effectLst/>
                <a:latin typeface="+mn-lt"/>
                <a:ea typeface="+mn-ea"/>
                <a:cs typeface="+mn-cs"/>
              </a:rPr>
              <a:t>  - </a:t>
            </a:r>
            <a:r>
              <a:rPr lang="en-US" sz="1200" b="1" kern="1200" dirty="0">
                <a:solidFill>
                  <a:schemeClr val="tx1"/>
                </a:solidFill>
                <a:effectLst/>
                <a:latin typeface="+mn-lt"/>
                <a:ea typeface="+mn-ea"/>
                <a:cs typeface="+mn-cs"/>
              </a:rPr>
              <a:t>**Excite ($s \in (0,1)^C$):**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Mạng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thắt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nút</a:t>
            </a:r>
            <a:r>
              <a:rPr lang="en-US" sz="1200" b="0" kern="1200" dirty="0">
                <a:solidFill>
                  <a:schemeClr val="tx1"/>
                </a:solidFill>
                <a:effectLst/>
                <a:latin typeface="+mn-lt"/>
                <a:ea typeface="+mn-ea"/>
                <a:cs typeface="+mn-cs"/>
              </a:rPr>
              <a:t> bottleneck (FC-</a:t>
            </a:r>
            <a:r>
              <a:rPr lang="en-US" sz="1200" b="0" kern="1200" dirty="0" err="1">
                <a:solidFill>
                  <a:schemeClr val="tx1"/>
                </a:solidFill>
                <a:effectLst/>
                <a:latin typeface="+mn-lt"/>
                <a:ea typeface="+mn-ea"/>
                <a:cs typeface="+mn-cs"/>
              </a:rPr>
              <a:t>ReLU</a:t>
            </a:r>
            <a:r>
              <a:rPr lang="en-US" sz="1200" b="0" kern="1200" dirty="0">
                <a:solidFill>
                  <a:schemeClr val="tx1"/>
                </a:solidFill>
                <a:effectLst/>
                <a:latin typeface="+mn-lt"/>
                <a:ea typeface="+mn-ea"/>
                <a:cs typeface="+mn-cs"/>
              </a:rPr>
              <a:t>-FC-Sigmoid) </a:t>
            </a:r>
            <a:r>
              <a:rPr lang="en-US" sz="1200" b="0" kern="1200" dirty="0" err="1">
                <a:solidFill>
                  <a:schemeClr val="tx1"/>
                </a:solidFill>
                <a:effectLst/>
                <a:latin typeface="+mn-lt"/>
                <a:ea typeface="+mn-ea"/>
                <a:cs typeface="+mn-cs"/>
              </a:rPr>
              <a:t>tự</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học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tương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tác</a:t>
            </a:r>
            <a:r>
              <a:rPr lang="en-US" sz="1200" b="0" kern="1200" dirty="0">
                <a:solidFill>
                  <a:schemeClr val="tx1"/>
                </a:solidFill>
                <a:effectLst/>
                <a:latin typeface="+mn-lt"/>
                <a:ea typeface="+mn-ea"/>
                <a:cs typeface="+mn-cs"/>
              </a:rPr>
              <a:t> phi </a:t>
            </a:r>
            <a:r>
              <a:rPr lang="en-US" sz="1200" b="0" kern="1200" dirty="0" err="1">
                <a:solidFill>
                  <a:schemeClr val="tx1"/>
                </a:solidFill>
                <a:effectLst/>
                <a:latin typeface="+mn-lt"/>
                <a:ea typeface="+mn-ea"/>
                <a:cs typeface="+mn-cs"/>
              </a:rPr>
              <a:t>tuyến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giữa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các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kênh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để</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gán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trọng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số</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tầm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quan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trọng</a:t>
            </a:r>
            <a:r>
              <a:rPr lang="en-US" sz="1200" b="0" kern="1200" dirty="0">
                <a:solidFill>
                  <a:schemeClr val="tx1"/>
                </a:solidFill>
                <a:effectLst/>
                <a:latin typeface="+mn-lt"/>
                <a:ea typeface="+mn-ea"/>
                <a:cs typeface="+mn-cs"/>
              </a:rPr>
              <a:t> $s$.</a:t>
            </a:r>
          </a:p>
          <a:p>
            <a:r>
              <a:rPr lang="en-US" sz="1200" b="0" kern="1200" dirty="0">
                <a:solidFill>
                  <a:schemeClr val="tx1"/>
                </a:solidFill>
                <a:effectLst/>
                <a:latin typeface="+mn-lt"/>
                <a:ea typeface="+mn-ea"/>
                <a:cs typeface="+mn-cs"/>
              </a:rPr>
              <a:t>  - </a:t>
            </a:r>
            <a:r>
              <a:rPr lang="en-US" sz="1200" b="1" kern="1200" dirty="0">
                <a:solidFill>
                  <a:schemeClr val="tx1"/>
                </a:solidFill>
                <a:effectLst/>
                <a:latin typeface="+mn-lt"/>
                <a:ea typeface="+mn-ea"/>
                <a:cs typeface="+mn-cs"/>
              </a:rPr>
              <a:t>**Scale ($F' = s \</a:t>
            </a:r>
            <a:r>
              <a:rPr lang="en-US" sz="1200" b="1" kern="1200" dirty="0" err="1">
                <a:solidFill>
                  <a:schemeClr val="tx1"/>
                </a:solidFill>
                <a:effectLst/>
                <a:latin typeface="+mn-lt"/>
                <a:ea typeface="+mn-ea"/>
                <a:cs typeface="+mn-cs"/>
              </a:rPr>
              <a:t>odot</a:t>
            </a:r>
            <a:r>
              <a:rPr lang="en-US" sz="1200" b="1" kern="1200" dirty="0">
                <a:solidFill>
                  <a:schemeClr val="tx1"/>
                </a:solidFill>
                <a:effectLst/>
                <a:latin typeface="+mn-lt"/>
                <a:ea typeface="+mn-ea"/>
                <a:cs typeface="+mn-cs"/>
              </a:rPr>
              <a:t> F$):**</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Nhân</a:t>
            </a:r>
            <a:r>
              <a:rPr lang="en-US" sz="1200" b="0" kern="1200" dirty="0">
                <a:solidFill>
                  <a:schemeClr val="tx1"/>
                </a:solidFill>
                <a:effectLst/>
                <a:latin typeface="+mn-lt"/>
                <a:ea typeface="+mn-ea"/>
                <a:cs typeface="+mn-cs"/>
              </a:rPr>
              <a:t> Hadamard </a:t>
            </a:r>
            <a:r>
              <a:rPr lang="en-US" sz="1200" b="0" kern="1200" dirty="0" err="1">
                <a:solidFill>
                  <a:schemeClr val="tx1"/>
                </a:solidFill>
                <a:effectLst/>
                <a:latin typeface="+mn-lt"/>
                <a:ea typeface="+mn-ea"/>
                <a:cs typeface="+mn-cs"/>
              </a:rPr>
              <a:t>từng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kênh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s_c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với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bản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đồ</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đặc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trưng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F_c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khuếch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đại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kênh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quan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trọng</a:t>
            </a:r>
            <a:r>
              <a:rPr lang="en-US" sz="1200" b="0" kern="1200" dirty="0">
                <a:solidFill>
                  <a:schemeClr val="tx1"/>
                </a:solidFill>
                <a:effectLst/>
                <a:latin typeface="+mn-lt"/>
                <a:ea typeface="+mn-ea"/>
                <a:cs typeface="+mn-cs"/>
              </a:rPr>
              <a:t> ($c_4 = 0.95$ </a:t>
            </a:r>
            <a:r>
              <a:rPr lang="en-US" sz="1200" b="0" kern="1200" dirty="0" err="1">
                <a:solidFill>
                  <a:schemeClr val="tx1"/>
                </a:solidFill>
                <a:effectLst/>
                <a:latin typeface="+mn-lt"/>
                <a:ea typeface="+mn-ea"/>
                <a:cs typeface="+mn-cs"/>
              </a:rPr>
              <a:t>màu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xanh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đậm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và</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dập</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tắt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kênh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nhiễu</a:t>
            </a:r>
            <a:r>
              <a:rPr lang="en-US" sz="1200" b="0" kern="1200" dirty="0">
                <a:solidFill>
                  <a:schemeClr val="tx1"/>
                </a:solidFill>
                <a:effectLst/>
                <a:latin typeface="+mn-lt"/>
                <a:ea typeface="+mn-ea"/>
                <a:cs typeface="+mn-cs"/>
              </a:rPr>
              <a:t> ($c_5 = 0.10$ </a:t>
            </a:r>
            <a:r>
              <a:rPr lang="en-US" sz="1200" b="0" kern="1200" dirty="0" err="1">
                <a:solidFill>
                  <a:schemeClr val="tx1"/>
                </a:solidFill>
                <a:effectLst/>
                <a:latin typeface="+mn-lt"/>
                <a:ea typeface="+mn-ea"/>
                <a:cs typeface="+mn-cs"/>
              </a:rPr>
              <a:t>mờ</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đục</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**Ý </a:t>
            </a:r>
            <a:r>
              <a:rPr lang="en-US" sz="1200" b="1" kern="1200" dirty="0" err="1">
                <a:solidFill>
                  <a:schemeClr val="tx1"/>
                </a:solidFill>
                <a:effectLst/>
                <a:latin typeface="+mn-lt"/>
                <a:ea typeface="+mn-ea"/>
                <a:cs typeface="+mn-cs"/>
              </a:rPr>
              <a:t>nghĩa</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trong</a:t>
            </a:r>
            <a:r>
              <a:rPr lang="en-US" sz="1200" b="1" kern="1200" dirty="0">
                <a:solidFill>
                  <a:schemeClr val="tx1"/>
                </a:solidFill>
                <a:effectLst/>
                <a:latin typeface="+mn-lt"/>
                <a:ea typeface="+mn-ea"/>
                <a:cs typeface="+mn-cs"/>
              </a:rPr>
              <a:t> VQA:**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Nâng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cao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năng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lực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biểu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diễn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thị</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giác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của</a:t>
            </a:r>
            <a:r>
              <a:rPr lang="en-US" sz="1200" b="0" kern="1200" dirty="0">
                <a:solidFill>
                  <a:schemeClr val="tx1"/>
                </a:solidFill>
                <a:effectLst/>
                <a:latin typeface="+mn-lt"/>
                <a:ea typeface="+mn-ea"/>
                <a:cs typeface="+mn-cs"/>
              </a:rPr>
              <a:t> CNN </a:t>
            </a:r>
            <a:r>
              <a:rPr lang="en-US" sz="1200" b="0" kern="1200" dirty="0" err="1">
                <a:solidFill>
                  <a:schemeClr val="tx1"/>
                </a:solidFill>
                <a:effectLst/>
                <a:latin typeface="+mn-lt"/>
                <a:ea typeface="+mn-ea"/>
                <a:cs typeface="+mn-cs"/>
              </a:rPr>
              <a:t>mà</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chỉ</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bổ</a:t>
            </a:r>
            <a:r>
              <a:rPr lang="en-US" sz="1200" b="0" kern="1200" dirty="0">
                <a:solidFill>
                  <a:schemeClr val="tx1"/>
                </a:solidFill>
                <a:effectLst/>
                <a:latin typeface="+mn-lt"/>
                <a:ea typeface="+mn-ea"/>
                <a:cs typeface="+mn-cs"/>
              </a:rPr>
              <a:t> sung </a:t>
            </a:r>
            <a:r>
              <a:rPr lang="en-US" sz="1200" b="0" kern="1200" dirty="0" err="1">
                <a:solidFill>
                  <a:schemeClr val="tx1"/>
                </a:solidFill>
                <a:effectLst/>
                <a:latin typeface="+mn-lt"/>
                <a:ea typeface="+mn-ea"/>
                <a:cs typeface="+mn-cs"/>
              </a:rPr>
              <a:t>thêm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một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lượng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rất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nhỏ</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tham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số</a:t>
            </a:r>
            <a:r>
              <a:rPr lang="en-US" sz="1200" b="0" kern="1200" dirty="0">
                <a:solidFill>
                  <a:schemeClr val="tx1"/>
                </a:solidFill>
                <a:effectLst/>
                <a:latin typeface="+mn-lt"/>
                <a:ea typeface="+mn-ea"/>
                <a:cs typeface="+mn-cs"/>
              </a:rPr>
              <a:t> ($\frac{2C^2}{r}$), </a:t>
            </a:r>
            <a:r>
              <a:rPr lang="en-US" sz="1200" b="0" kern="1200" dirty="0" err="1">
                <a:solidFill>
                  <a:schemeClr val="tx1"/>
                </a:solidFill>
                <a:effectLst/>
                <a:latin typeface="+mn-lt"/>
                <a:ea typeface="+mn-ea"/>
                <a:cs typeface="+mn-cs"/>
              </a:rPr>
              <a:t>cực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kỳ</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phù</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hợp</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bài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toán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trên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dữ</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liệu</a:t>
            </a:r>
            <a:r>
              <a:rPr lang="en-US" sz="1200" b="0" kern="1200" dirty="0">
                <a:solidFill>
                  <a:schemeClr val="tx1"/>
                </a:solidFill>
                <a:effectLst/>
                <a:latin typeface="+mn-lt"/>
                <a:ea typeface="+mn-ea"/>
                <a:cs typeface="+mn-cs"/>
              </a:rPr>
              <a:t> y khoa </a:t>
            </a:r>
            <a:r>
              <a:rPr lang="en-US" sz="1200" b="0" kern="1200" dirty="0" err="1">
                <a:solidFill>
                  <a:schemeClr val="tx1"/>
                </a:solidFill>
                <a:effectLst/>
                <a:latin typeface="+mn-lt"/>
                <a:ea typeface="+mn-ea"/>
                <a:cs typeface="+mn-cs"/>
              </a:rPr>
              <a:t>giới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hạn</a:t>
            </a:r>
            <a:r>
              <a:rPr lang="en-US" sz="1200" b="0" kern="1200" dirty="0">
                <a:solidFill>
                  <a:schemeClr val="tx1"/>
                </a:solidFill>
                <a:effectLst/>
                <a:latin typeface="+mn-lt"/>
                <a:ea typeface="+mn-ea"/>
                <a:cs typeface="+mn-cs"/>
              </a:rPr>
              <a:t>.</a:t>
            </a:r>
          </a:p>
          <a:p>
            <a:r>
              <a:rPr lang="en-US" dirty="0"/>
              <a:t>	</a:t>
            </a:r>
          </a:p>
        </p:txBody>
      </p:sp>
    </p:spTree>
    <p:extLst>
      <p:ext uri="{BB962C8B-B14F-4D97-AF65-F5344CB8AC3E}">
        <p14:creationId xmlns:p14="http://schemas.microsoft.com/office/powerpoint/2010/main" val="11931337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LSTM: cổng + cell state chống tiêu biến gradient; BiLSTM đọc hai chiều; vai </a:t>
            </a:r>
            <a:r>
              <a:rPr lang="en-US" dirty="0" err="1"/>
              <a:t>trò</a:t>
            </a:r>
            <a:r>
              <a:rPr lang="en-US" dirty="0"/>
              <a:t> </a:t>
            </a:r>
            <a:r>
              <a:rPr lang="en-US" dirty="0" err="1"/>
              <a:t>mã</a:t>
            </a:r>
            <a:r>
              <a:rPr lang="en-US" dirty="0"/>
              <a:t> hóa câu </a:t>
            </a:r>
            <a:r>
              <a:rPr lang="en-US" dirty="0" err="1"/>
              <a:t>hỏi</a:t>
            </a:r>
            <a:r>
              <a:rPr lang="en-US" dirty="0"/>
              <a:t>.</a:t>
            </a:r>
          </a:p>
          <a:p>
            <a:r>
              <a:rPr lang="en-US" sz="1200" b="0" kern="1200" dirty="0">
                <a:solidFill>
                  <a:schemeClr val="tx1"/>
                </a:solidFill>
                <a:effectLst/>
                <a:latin typeface="+mn-lt"/>
                <a:ea typeface="+mn-ea"/>
                <a:cs typeface="+mn-cs"/>
              </a:rPr>
              <a:t>Speaker note:</a:t>
            </a:r>
          </a:p>
          <a:p>
            <a:r>
              <a:rPr lang="en-US" sz="1200" b="0" kern="1200" dirty="0">
                <a:solidFill>
                  <a:schemeClr val="tx1"/>
                </a:solidFill>
                <a:effectLst/>
                <a:latin typeface="+mn-lt"/>
                <a:ea typeface="+mn-ea"/>
                <a:cs typeface="+mn-cs"/>
              </a:rPr>
              <a:t>Slide 12 </a:t>
            </a:r>
            <a:r>
              <a:rPr lang="en-US" sz="1200" b="0" kern="1200" dirty="0" err="1">
                <a:solidFill>
                  <a:schemeClr val="tx1"/>
                </a:solidFill>
                <a:effectLst/>
                <a:latin typeface="+mn-lt"/>
                <a:ea typeface="+mn-ea"/>
                <a:cs typeface="+mn-cs"/>
              </a:rPr>
              <a:t>thể</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hiện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nhánh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mã</a:t>
            </a:r>
            <a:r>
              <a:rPr lang="en-US" sz="1200" b="0" kern="1200" dirty="0">
                <a:solidFill>
                  <a:schemeClr val="tx1"/>
                </a:solidFill>
                <a:effectLst/>
                <a:latin typeface="+mn-lt"/>
                <a:ea typeface="+mn-ea"/>
                <a:cs typeface="+mn-cs"/>
              </a:rPr>
              <a:t> hóa </a:t>
            </a:r>
            <a:r>
              <a:rPr lang="en-US" sz="1200" b="0" kern="1200" dirty="0" err="1">
                <a:solidFill>
                  <a:schemeClr val="tx1"/>
                </a:solidFill>
                <a:effectLst/>
                <a:latin typeface="+mn-lt"/>
                <a:ea typeface="+mn-ea"/>
                <a:cs typeface="+mn-cs"/>
              </a:rPr>
              <a:t>câu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hỏi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bằng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BiLSTM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Nhờ</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cơ</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chế</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đọc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hai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chiều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xuôi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và</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ngược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các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từ</a:t>
            </a:r>
            <a:r>
              <a:rPr lang="en-US" sz="1200" b="0" kern="1200" dirty="0">
                <a:solidFill>
                  <a:schemeClr val="tx1"/>
                </a:solidFill>
                <a:effectLst/>
                <a:latin typeface="+mn-lt"/>
                <a:ea typeface="+mn-ea"/>
                <a:cs typeface="+mn-cs"/>
              </a:rPr>
              <a:t> ở </a:t>
            </a:r>
            <a:r>
              <a:rPr lang="en-US" sz="1200" b="0" kern="1200" dirty="0" err="1">
                <a:solidFill>
                  <a:schemeClr val="tx1"/>
                </a:solidFill>
                <a:effectLst/>
                <a:latin typeface="+mn-lt"/>
                <a:ea typeface="+mn-ea"/>
                <a:cs typeface="+mn-cs"/>
              </a:rPr>
              <a:t>đầu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câu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vẫn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nắm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trọn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ngữ</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cảnh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từ</a:t>
            </a:r>
            <a:r>
              <a:rPr lang="en-US" sz="1200" b="0" kern="1200" dirty="0">
                <a:solidFill>
                  <a:schemeClr val="tx1"/>
                </a:solidFill>
                <a:effectLst/>
                <a:latin typeface="+mn-lt"/>
                <a:ea typeface="+mn-ea"/>
                <a:cs typeface="+mn-cs"/>
              </a:rPr>
              <a:t> ở </a:t>
            </a:r>
            <a:r>
              <a:rPr lang="en-US" sz="1200" b="0" kern="1200" dirty="0" err="1">
                <a:solidFill>
                  <a:schemeClr val="tx1"/>
                </a:solidFill>
                <a:effectLst/>
                <a:latin typeface="+mn-lt"/>
                <a:ea typeface="+mn-ea"/>
                <a:cs typeface="+mn-cs"/>
              </a:rPr>
              <a:t>cuối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câu</a:t>
            </a:r>
            <a:r>
              <a:rPr lang="en-US" sz="1200" b="0" kern="1200" dirty="0">
                <a:solidFill>
                  <a:schemeClr val="tx1"/>
                </a:solidFill>
                <a:effectLst/>
                <a:latin typeface="+mn-lt"/>
                <a:ea typeface="+mn-ea"/>
                <a:cs typeface="+mn-cs"/>
              </a:rPr>
              <a:t>. </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Ý </a:t>
            </a:r>
            <a:r>
              <a:rPr lang="en-US" sz="1200" b="0" kern="1200" dirty="0" err="1">
                <a:solidFill>
                  <a:schemeClr val="tx1"/>
                </a:solidFill>
                <a:effectLst/>
                <a:latin typeface="+mn-lt"/>
                <a:ea typeface="+mn-ea"/>
                <a:cs typeface="+mn-cs"/>
              </a:rPr>
              <a:t>nghĩa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cốt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lõi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là</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cô</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đọng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câu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hỏi</a:t>
            </a:r>
            <a:r>
              <a:rPr lang="en-US" sz="1200" b="0" kern="1200" dirty="0">
                <a:solidFill>
                  <a:schemeClr val="tx1"/>
                </a:solidFill>
                <a:effectLst/>
                <a:latin typeface="+mn-lt"/>
                <a:ea typeface="+mn-ea"/>
                <a:cs typeface="+mn-cs"/>
              </a:rPr>
              <a:t> 32 token </a:t>
            </a:r>
            <a:r>
              <a:rPr lang="en-US" sz="1200" b="0" kern="1200" dirty="0" err="1">
                <a:solidFill>
                  <a:schemeClr val="tx1"/>
                </a:solidFill>
                <a:effectLst/>
                <a:latin typeface="+mn-lt"/>
                <a:ea typeface="+mn-ea"/>
                <a:cs typeface="+mn-cs"/>
              </a:rPr>
              <a:t>thành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một</a:t>
            </a:r>
            <a:r>
              <a:rPr lang="en-US" sz="1200" b="0" kern="1200" dirty="0">
                <a:solidFill>
                  <a:schemeClr val="tx1"/>
                </a:solidFill>
                <a:effectLst/>
                <a:latin typeface="+mn-lt"/>
                <a:ea typeface="+mn-ea"/>
                <a:cs typeface="+mn-cs"/>
              </a:rPr>
              <a:t> vector </a:t>
            </a:r>
            <a:r>
              <a:rPr lang="en-US" sz="1200" b="0" kern="1200" dirty="0" err="1">
                <a:solidFill>
                  <a:schemeClr val="tx1"/>
                </a:solidFill>
                <a:effectLst/>
                <a:latin typeface="+mn-lt"/>
                <a:ea typeface="+mn-ea"/>
                <a:cs typeface="+mn-cs"/>
              </a:rPr>
              <a:t>ngữ</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nghĩa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v_txt</a:t>
            </a:r>
            <a:r>
              <a:rPr lang="en-US" sz="1200" b="0" kern="1200" dirty="0">
                <a:solidFill>
                  <a:schemeClr val="tx1"/>
                </a:solidFill>
                <a:effectLst/>
                <a:latin typeface="+mn-lt"/>
                <a:ea typeface="+mn-ea"/>
                <a:cs typeface="+mn-cs"/>
              </a:rPr>
              <a:t> 64 </a:t>
            </a:r>
            <a:r>
              <a:rPr lang="en-US" sz="1200" b="0" kern="1200" dirty="0" err="1">
                <a:solidFill>
                  <a:schemeClr val="tx1"/>
                </a:solidFill>
                <a:effectLst/>
                <a:latin typeface="+mn-lt"/>
                <a:ea typeface="+mn-ea"/>
                <a:cs typeface="+mn-cs"/>
              </a:rPr>
              <a:t>chiều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chuẩn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xác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để</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chuẩn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bị</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bước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hợp</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nhất</a:t>
            </a:r>
            <a:r>
              <a:rPr lang="en-US" sz="1200" b="0" kern="1200" dirty="0">
                <a:solidFill>
                  <a:schemeClr val="tx1"/>
                </a:solidFill>
                <a:effectLst/>
                <a:latin typeface="+mn-lt"/>
                <a:ea typeface="+mn-ea"/>
                <a:cs typeface="+mn-cs"/>
              </a:rPr>
              <a: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dirty="0"/>
              <a: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1" kern="1200" dirty="0">
                <a:solidFill>
                  <a:schemeClr val="tx1"/>
                </a:solidFill>
                <a:effectLst/>
                <a:latin typeface="+mn-lt"/>
                <a:ea typeface="+mn-ea"/>
                <a:cs typeface="+mn-cs"/>
              </a:rPr>
              <a:t>**Nguyên </a:t>
            </a:r>
            <a:r>
              <a:rPr lang="en-US" sz="1200" b="1" kern="1200" dirty="0" err="1">
                <a:solidFill>
                  <a:schemeClr val="tx1"/>
                </a:solidFill>
                <a:effectLst/>
                <a:latin typeface="+mn-lt"/>
                <a:ea typeface="+mn-ea"/>
                <a:cs typeface="+mn-cs"/>
              </a:rPr>
              <a:t>lý</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Mã</a:t>
            </a:r>
            <a:r>
              <a:rPr lang="en-US" sz="1200" b="1" kern="1200" dirty="0">
                <a:solidFill>
                  <a:schemeClr val="tx1"/>
                </a:solidFill>
                <a:effectLst/>
                <a:latin typeface="+mn-lt"/>
                <a:ea typeface="+mn-ea"/>
                <a:cs typeface="+mn-cs"/>
              </a:rPr>
              <a:t> hóa Hai </a:t>
            </a:r>
            <a:r>
              <a:rPr lang="en-US" sz="1200" b="1" kern="1200" dirty="0" err="1">
                <a:solidFill>
                  <a:schemeClr val="tx1"/>
                </a:solidFill>
                <a:effectLst/>
                <a:latin typeface="+mn-lt"/>
                <a:ea typeface="+mn-ea"/>
                <a:cs typeface="+mn-cs"/>
              </a:rPr>
              <a:t>chiều</a:t>
            </a:r>
            <a:r>
              <a:rPr lang="en-US" sz="1200" b="1" kern="1200" dirty="0">
                <a:solidFill>
                  <a:schemeClr val="tx1"/>
                </a:solidFill>
                <a:effectLst/>
                <a:latin typeface="+mn-lt"/>
                <a:ea typeface="+mn-ea"/>
                <a:cs typeface="+mn-cs"/>
              </a:rPr>
              <a:t> (Bidirectionality):**</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BiLSTM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đọc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chuỗi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câu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hỏi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theo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cả</a:t>
            </a:r>
            <a:r>
              <a:rPr lang="en-US" sz="1200" b="0" kern="1200" dirty="0">
                <a:solidFill>
                  <a:schemeClr val="tx1"/>
                </a:solidFill>
                <a:effectLst/>
                <a:latin typeface="+mn-lt"/>
                <a:ea typeface="+mn-ea"/>
                <a:cs typeface="+mn-cs"/>
              </a:rPr>
              <a:t> 2 </a:t>
            </a:r>
            <a:r>
              <a:rPr lang="en-US" sz="1200" b="0" kern="1200" dirty="0" err="1">
                <a:solidFill>
                  <a:schemeClr val="tx1"/>
                </a:solidFill>
                <a:effectLst/>
                <a:latin typeface="+mn-lt"/>
                <a:ea typeface="+mn-ea"/>
                <a:cs typeface="+mn-cs"/>
              </a:rPr>
              <a:t>chiều</a:t>
            </a:r>
            <a:r>
              <a:rPr lang="en-US" sz="1200" b="0" kern="1200" dirty="0">
                <a:solidFill>
                  <a:schemeClr val="tx1"/>
                </a:solidFill>
                <a:effectLst/>
                <a:latin typeface="+mn-lt"/>
                <a:ea typeface="+mn-ea"/>
                <a:cs typeface="+mn-cs"/>
              </a:rPr>
              <a:t>: Forward ($t = 1 \</a:t>
            </a:r>
            <a:r>
              <a:rPr lang="en-US" sz="1200" b="0" kern="1200" dirty="0" err="1">
                <a:solidFill>
                  <a:schemeClr val="tx1"/>
                </a:solidFill>
                <a:effectLst/>
                <a:latin typeface="+mn-lt"/>
                <a:ea typeface="+mn-ea"/>
                <a:cs typeface="+mn-cs"/>
              </a:rPr>
              <a:t>rightarrow</a:t>
            </a:r>
            <a:r>
              <a:rPr lang="en-US" sz="1200" b="0" kern="1200" dirty="0">
                <a:solidFill>
                  <a:schemeClr val="tx1"/>
                </a:solidFill>
                <a:effectLst/>
                <a:latin typeface="+mn-lt"/>
                <a:ea typeface="+mn-ea"/>
                <a:cs typeface="+mn-cs"/>
              </a:rPr>
              <a:t> 5$) </a:t>
            </a:r>
            <a:r>
              <a:rPr lang="en-US" sz="1200" b="0" kern="1200" dirty="0" err="1">
                <a:solidFill>
                  <a:schemeClr val="tx1"/>
                </a:solidFill>
                <a:effectLst/>
                <a:latin typeface="+mn-lt"/>
                <a:ea typeface="+mn-ea"/>
                <a:cs typeface="+mn-cs"/>
              </a:rPr>
              <a:t>nắm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ngữ</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cảnh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từ</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quá</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khứ</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đến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tương</a:t>
            </a:r>
            <a:r>
              <a:rPr lang="en-US" sz="1200" b="0" kern="1200" dirty="0">
                <a:solidFill>
                  <a:schemeClr val="tx1"/>
                </a:solidFill>
                <a:effectLst/>
                <a:latin typeface="+mn-lt"/>
                <a:ea typeface="+mn-ea"/>
                <a:cs typeface="+mn-cs"/>
              </a:rPr>
              <a:t> lai, Backward ($t = 5 \</a:t>
            </a:r>
            <a:r>
              <a:rPr lang="en-US" sz="1200" b="0" kern="1200" dirty="0" err="1">
                <a:solidFill>
                  <a:schemeClr val="tx1"/>
                </a:solidFill>
                <a:effectLst/>
                <a:latin typeface="+mn-lt"/>
                <a:ea typeface="+mn-ea"/>
                <a:cs typeface="+mn-cs"/>
              </a:rPr>
              <a:t>rightarrow</a:t>
            </a:r>
            <a:r>
              <a:rPr lang="en-US" sz="1200" b="0" kern="1200" dirty="0">
                <a:solidFill>
                  <a:schemeClr val="tx1"/>
                </a:solidFill>
                <a:effectLst/>
                <a:latin typeface="+mn-lt"/>
                <a:ea typeface="+mn-ea"/>
                <a:cs typeface="+mn-cs"/>
              </a:rPr>
              <a:t> 1$) </a:t>
            </a:r>
            <a:r>
              <a:rPr lang="en-US" sz="1200" b="0" kern="1200" dirty="0" err="1">
                <a:solidFill>
                  <a:schemeClr val="tx1"/>
                </a:solidFill>
                <a:effectLst/>
                <a:latin typeface="+mn-lt"/>
                <a:ea typeface="+mn-ea"/>
                <a:cs typeface="+mn-cs"/>
              </a:rPr>
              <a:t>nắm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ngữ</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cảnh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từ</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tương</a:t>
            </a:r>
            <a:r>
              <a:rPr lang="en-US" sz="1200" b="0" kern="1200" dirty="0">
                <a:solidFill>
                  <a:schemeClr val="tx1"/>
                </a:solidFill>
                <a:effectLst/>
                <a:latin typeface="+mn-lt"/>
                <a:ea typeface="+mn-ea"/>
                <a:cs typeface="+mn-cs"/>
              </a:rPr>
              <a:t> lai </a:t>
            </a:r>
            <a:r>
              <a:rPr lang="en-US" sz="1200" b="0" kern="1200" dirty="0" err="1">
                <a:solidFill>
                  <a:schemeClr val="tx1"/>
                </a:solidFill>
                <a:effectLst/>
                <a:latin typeface="+mn-lt"/>
                <a:ea typeface="+mn-ea"/>
                <a:cs typeface="+mn-cs"/>
              </a:rPr>
              <a:t>về</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quá</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khứ</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Nhờ</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đó</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mỗi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từ</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trong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câu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hỏi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ví</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dụ</a:t>
            </a:r>
            <a:r>
              <a:rPr lang="en-US" sz="1200" b="0" kern="1200" dirty="0">
                <a:solidFill>
                  <a:schemeClr val="tx1"/>
                </a:solidFill>
                <a:effectLst/>
                <a:latin typeface="+mn-lt"/>
                <a:ea typeface="+mn-ea"/>
                <a:cs typeface="+mn-cs"/>
              </a:rPr>
              <a:t> "pleural") </a:t>
            </a:r>
            <a:r>
              <a:rPr lang="en-US" sz="1200" b="0" kern="1200" dirty="0" err="1">
                <a:solidFill>
                  <a:schemeClr val="tx1"/>
                </a:solidFill>
                <a:effectLst/>
                <a:latin typeface="+mn-lt"/>
                <a:ea typeface="+mn-ea"/>
                <a:cs typeface="+mn-cs"/>
              </a:rPr>
              <a:t>đều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nhận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được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trọn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vẹn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thông</a:t>
            </a:r>
            <a:r>
              <a:rPr lang="en-US" sz="1200" b="0" kern="1200" dirty="0">
                <a:solidFill>
                  <a:schemeClr val="tx1"/>
                </a:solidFill>
                <a:effectLst/>
                <a:latin typeface="+mn-lt"/>
                <a:ea typeface="+mn-ea"/>
                <a:cs typeface="+mn-cs"/>
              </a:rPr>
              <a:t> tin </a:t>
            </a:r>
            <a:r>
              <a:rPr lang="en-US" sz="1200" b="0" kern="1200" dirty="0" err="1">
                <a:solidFill>
                  <a:schemeClr val="tx1"/>
                </a:solidFill>
                <a:effectLst/>
                <a:latin typeface="+mn-lt"/>
                <a:ea typeface="+mn-ea"/>
                <a:cs typeface="+mn-cs"/>
              </a:rPr>
              <a:t>hai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phía</a:t>
            </a:r>
            <a:r>
              <a:rPr lang="en-US" sz="1200" b="0" kern="1200" dirty="0">
                <a:solidFill>
                  <a:schemeClr val="tx1"/>
                </a:solidFill>
                <a:effectLst/>
                <a:latin typeface="+mn-lt"/>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200" b="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Các </a:t>
            </a:r>
            <a:r>
              <a:rPr lang="en-US" sz="1200" b="1" kern="1200" dirty="0" err="1">
                <a:solidFill>
                  <a:schemeClr val="tx1"/>
                </a:solidFill>
                <a:effectLst/>
                <a:latin typeface="+mn-lt"/>
                <a:ea typeface="+mn-ea"/>
                <a:cs typeface="+mn-cs"/>
              </a:rPr>
              <a:t>điểm</a:t>
            </a:r>
            <a:r>
              <a:rPr lang="en-US" sz="1200" b="1" kern="1200" dirty="0">
                <a:solidFill>
                  <a:schemeClr val="tx1"/>
                </a:solidFill>
                <a:effectLst/>
                <a:latin typeface="+mn-lt"/>
                <a:ea typeface="+mn-ea"/>
                <a:cs typeface="+mn-cs"/>
              </a:rPr>
              <a:t> then </a:t>
            </a:r>
            <a:r>
              <a:rPr lang="en-US" sz="1200" b="1" kern="1200" dirty="0" err="1">
                <a:solidFill>
                  <a:schemeClr val="tx1"/>
                </a:solidFill>
                <a:effectLst/>
                <a:latin typeface="+mn-lt"/>
                <a:ea typeface="+mn-ea"/>
                <a:cs typeface="+mn-cs"/>
              </a:rPr>
              <a:t>chốt</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trên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hình</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vẽ</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1. </a:t>
            </a:r>
            <a:r>
              <a:rPr lang="en-US" sz="1200" b="1" kern="1200" dirty="0">
                <a:solidFill>
                  <a:schemeClr val="tx1"/>
                </a:solidFill>
                <a:effectLst/>
                <a:latin typeface="+mn-lt"/>
                <a:ea typeface="+mn-ea"/>
                <a:cs typeface="+mn-cs"/>
              </a:rPr>
              <a:t>**first 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nối</a:t>
            </a:r>
            <a:r>
              <a:rPr lang="en-US" sz="1200" b="0" kern="1200" dirty="0">
                <a:solidFill>
                  <a:schemeClr val="tx1"/>
                </a:solidFill>
                <a:effectLst/>
                <a:latin typeface="+mn-lt"/>
                <a:ea typeface="+mn-ea"/>
                <a:cs typeface="+mn-cs"/>
              </a:rPr>
              <a:t> THẬT </a:t>
            </a:r>
            <a:r>
              <a:rPr lang="en-US" sz="1200" b="0" kern="1200" dirty="0" err="1">
                <a:solidFill>
                  <a:schemeClr val="tx1"/>
                </a:solidFill>
                <a:effectLst/>
                <a:latin typeface="+mn-lt"/>
                <a:ea typeface="+mn-ea"/>
                <a:cs typeface="+mn-cs"/>
              </a:rPr>
              <a:t>vào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hộp</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concat</a:t>
            </a:r>
            <a:r>
              <a:rPr lang="en-US" sz="1200" b="0" kern="1200" dirty="0">
                <a:solidFill>
                  <a:schemeClr val="tx1"/>
                </a:solidFill>
                <a:effectLst/>
                <a:latin typeface="+mn-lt"/>
                <a:ea typeface="+mn-ea"/>
                <a:cs typeface="+mn-cs"/>
              </a:rPr>
              <a:t> — </a:t>
            </a:r>
            <a:r>
              <a:rPr lang="en-US" sz="1200" b="0" kern="1200" dirty="0" err="1">
                <a:solidFill>
                  <a:schemeClr val="tx1"/>
                </a:solidFill>
                <a:effectLst/>
                <a:latin typeface="+mn-lt"/>
                <a:ea typeface="+mn-ea"/>
                <a:cs typeface="+mn-cs"/>
              </a:rPr>
              <a:t>đường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nét</a:t>
            </a:r>
            <a:r>
              <a:rPr lang="en-US" sz="1200" b="0" kern="1200" dirty="0">
                <a:solidFill>
                  <a:schemeClr val="tx1"/>
                </a:solidFill>
                <a:effectLst/>
                <a:latin typeface="+mn-lt"/>
                <a:ea typeface="+mn-ea"/>
                <a:cs typeface="+mn-cs"/>
              </a:rPr>
              <a:t> cam </a:t>
            </a:r>
            <a:r>
              <a:rPr lang="en-US" sz="1200" b="0" kern="1200" dirty="0" err="1">
                <a:solidFill>
                  <a:schemeClr val="tx1"/>
                </a:solidFill>
                <a:effectLst/>
                <a:latin typeface="+mn-lt"/>
                <a:ea typeface="+mn-ea"/>
                <a:cs typeface="+mn-cs"/>
              </a:rPr>
              <a:t>vòng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từ</a:t>
            </a:r>
            <a:r>
              <a:rPr lang="en-US" sz="1200" b="0" kern="1200" dirty="0">
                <a:solidFill>
                  <a:schemeClr val="tx1"/>
                </a:solidFill>
                <a:effectLst/>
                <a:latin typeface="+mn-lt"/>
                <a:ea typeface="+mn-ea"/>
                <a:cs typeface="+mn-cs"/>
              </a:rPr>
              <a:t> ô backward </a:t>
            </a:r>
            <a:r>
              <a:rPr lang="en-US" sz="1200" b="0" kern="1200" dirty="0" err="1">
                <a:solidFill>
                  <a:schemeClr val="tx1"/>
                </a:solidFill>
                <a:effectLst/>
                <a:latin typeface="+mn-lt"/>
                <a:ea typeface="+mn-ea"/>
                <a:cs typeface="+mn-cs"/>
              </a:rPr>
              <a:t>trái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nhất</a:t>
            </a:r>
            <a:r>
              <a:rPr lang="en-US" sz="1200" b="0" kern="1200" dirty="0">
                <a:solidFill>
                  <a:schemeClr val="tx1"/>
                </a:solidFill>
                <a:effectLst/>
                <a:latin typeface="+mn-lt"/>
                <a:ea typeface="+mn-ea"/>
                <a:cs typeface="+mn-cs"/>
              </a:rPr>
              <a:t>, qua </a:t>
            </a:r>
            <a:r>
              <a:rPr lang="en-US" sz="1200" b="0" kern="1200" dirty="0" err="1">
                <a:solidFill>
                  <a:schemeClr val="tx1"/>
                </a:solidFill>
                <a:effectLst/>
                <a:latin typeface="+mn-lt"/>
                <a:ea typeface="+mn-ea"/>
                <a:cs typeface="+mn-cs"/>
              </a:rPr>
              <a:t>phía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trên</a:t>
            </a:r>
            <a:r>
              <a:rPr lang="en-US" sz="1200" b="0" kern="1200" dirty="0">
                <a:solidFill>
                  <a:schemeClr val="tx1"/>
                </a:solidFill>
                <a:effectLst/>
                <a:latin typeface="+mn-lt"/>
                <a:ea typeface="+mn-ea"/>
                <a:cs typeface="+mn-cs"/>
              </a:rPr>
              <a:t>, sang </a:t>
            </a:r>
            <a:r>
              <a:rPr lang="en-US" sz="1200" b="0" kern="1200" dirty="0" err="1">
                <a:solidFill>
                  <a:schemeClr val="tx1"/>
                </a:solidFill>
                <a:effectLst/>
                <a:latin typeface="+mn-lt"/>
                <a:ea typeface="+mn-ea"/>
                <a:cs typeface="+mn-cs"/>
              </a:rPr>
              <a:t>phải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vào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hộp</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concat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Bản</a:t>
            </a:r>
            <a:r>
              <a:rPr lang="en-US" sz="1200" b="0" kern="1200" dirty="0">
                <a:solidFill>
                  <a:schemeClr val="tx1"/>
                </a:solidFill>
                <a:effectLst/>
                <a:latin typeface="+mn-lt"/>
                <a:ea typeface="+mn-ea"/>
                <a:cs typeface="+mn-cs"/>
              </a:rPr>
              <a:t> Gemini </a:t>
            </a:r>
            <a:r>
              <a:rPr lang="en-US" sz="1200" b="0" kern="1200" dirty="0" err="1">
                <a:solidFill>
                  <a:schemeClr val="tx1"/>
                </a:solidFill>
                <a:effectLst/>
                <a:latin typeface="+mn-lt"/>
                <a:ea typeface="+mn-ea"/>
                <a:cs typeface="+mn-cs"/>
              </a:rPr>
              <a:t>cũ</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bỏ</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trống</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2. </a:t>
            </a:r>
            <a:r>
              <a:rPr lang="en-US" sz="1200" b="1" kern="1200" dirty="0">
                <a:solidFill>
                  <a:schemeClr val="tx1"/>
                </a:solidFill>
                <a:effectLst/>
                <a:latin typeface="+mn-lt"/>
                <a:ea typeface="+mn-ea"/>
                <a:cs typeface="+mn-cs"/>
              </a:rPr>
              <a:t>**Bus 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gom</a:t>
            </a:r>
            <a:r>
              <a:rPr lang="en-US" sz="1200" b="0" kern="1200" dirty="0">
                <a:solidFill>
                  <a:schemeClr val="tx1"/>
                </a:solidFill>
                <a:effectLst/>
                <a:latin typeface="+mn-lt"/>
                <a:ea typeface="+mn-ea"/>
                <a:cs typeface="+mn-cs"/>
              </a:rPr>
              <a:t> output </a:t>
            </a:r>
            <a:r>
              <a:rPr lang="en-US" sz="1200" b="0" kern="1200" dirty="0" err="1">
                <a:solidFill>
                  <a:schemeClr val="tx1"/>
                </a:solidFill>
                <a:effectLst/>
                <a:latin typeface="+mn-lt"/>
                <a:ea typeface="+mn-ea"/>
                <a:cs typeface="+mn-cs"/>
              </a:rPr>
              <a:t>tại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mọi</a:t>
            </a:r>
            <a:r>
              <a:rPr lang="en-US" sz="1200" b="0" kern="1200" dirty="0">
                <a:solidFill>
                  <a:schemeClr val="tx1"/>
                </a:solidFill>
                <a:effectLst/>
                <a:latin typeface="+mn-lt"/>
                <a:ea typeface="+mn-ea"/>
                <a:cs typeface="+mn-cs"/>
              </a:rPr>
              <a:t> timestep (</a:t>
            </a:r>
            <a:r>
              <a:rPr lang="en-US" sz="1200" b="0" kern="1200" dirty="0" err="1">
                <a:solidFill>
                  <a:schemeClr val="tx1"/>
                </a:solidFill>
                <a:effectLst/>
                <a:latin typeface="+mn-lt"/>
                <a:ea typeface="+mn-ea"/>
                <a:cs typeface="+mn-cs"/>
              </a:rPr>
              <a:t>cả</a:t>
            </a:r>
            <a:r>
              <a:rPr lang="en-US" sz="1200" b="0" kern="1200" dirty="0">
                <a:solidFill>
                  <a:schemeClr val="tx1"/>
                </a:solidFill>
                <a:effectLst/>
                <a:latin typeface="+mn-lt"/>
                <a:ea typeface="+mn-ea"/>
                <a:cs typeface="+mn-cs"/>
              </a:rPr>
              <a:t> 2 </a:t>
            </a:r>
            <a:r>
              <a:rPr lang="en-US" sz="1200" b="0" kern="1200" dirty="0" err="1">
                <a:solidFill>
                  <a:schemeClr val="tx1"/>
                </a:solidFill>
                <a:effectLst/>
                <a:latin typeface="+mn-lt"/>
                <a:ea typeface="+mn-ea"/>
                <a:cs typeface="+mn-cs"/>
              </a:rPr>
              <a:t>chiều</a:t>
            </a:r>
            <a:r>
              <a:rPr lang="en-US" sz="1200" b="0" kern="1200" dirty="0">
                <a:solidFill>
                  <a:schemeClr val="tx1"/>
                </a:solidFill>
                <a:effectLst/>
                <a:latin typeface="+mn-lt"/>
                <a:ea typeface="+mn-ea"/>
                <a:cs typeface="+mn-cs"/>
              </a:rPr>
              <a:t>) → </a:t>
            </a:r>
            <a:r>
              <a:rPr lang="en-US" sz="1200" b="0" kern="1200" dirty="0" err="1">
                <a:solidFill>
                  <a:schemeClr val="tx1"/>
                </a:solidFill>
                <a:effectLst/>
                <a:latin typeface="+mn-lt"/>
                <a:ea typeface="+mn-ea"/>
                <a:cs typeface="+mn-cs"/>
              </a:rPr>
              <a:t>đường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nối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gom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xuống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dưới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rồi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vào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hộp</a:t>
            </a:r>
            <a:r>
              <a:rPr lang="en-US" sz="1200" b="0" kern="1200" dirty="0">
                <a:solidFill>
                  <a:schemeClr val="tx1"/>
                </a:solidFill>
                <a:effectLst/>
                <a:latin typeface="+mn-lt"/>
                <a:ea typeface="+mn-ea"/>
                <a:cs typeface="+mn-cs"/>
              </a:rPr>
              <a:t> Temporal Attention. </a:t>
            </a:r>
            <a:r>
              <a:rPr lang="en-US" sz="1200" b="0" kern="1200" dirty="0" err="1">
                <a:solidFill>
                  <a:schemeClr val="tx1"/>
                </a:solidFill>
                <a:effectLst/>
                <a:latin typeface="+mn-lt"/>
                <a:ea typeface="+mn-ea"/>
                <a:cs typeface="+mn-cs"/>
              </a:rPr>
              <a:t>Bản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cũ</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mũi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tên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chỉ</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ngược</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3. Hai </a:t>
            </a:r>
            <a:r>
              <a:rPr lang="en-US" sz="1200" b="0" kern="1200" dirty="0" err="1">
                <a:solidFill>
                  <a:schemeClr val="tx1"/>
                </a:solidFill>
                <a:effectLst/>
                <a:latin typeface="+mn-lt"/>
                <a:ea typeface="+mn-ea"/>
                <a:cs typeface="+mn-cs"/>
              </a:rPr>
              <a:t>hàng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chạy</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ngược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chiều</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forward t=1→5, backward t=5→1.</a:t>
            </a:r>
          </a:p>
          <a:p>
            <a:r>
              <a:rPr lang="en-US" sz="1200" b="0" kern="1200" dirty="0">
                <a:solidFill>
                  <a:schemeClr val="tx1"/>
                </a:solidFill>
                <a:effectLst/>
                <a:latin typeface="+mn-lt"/>
                <a:ea typeface="+mn-ea"/>
                <a:cs typeface="+mn-cs"/>
              </a:rPr>
              <a:t>4. Note </a:t>
            </a:r>
            <a:r>
              <a:rPr lang="en-US" sz="1200" b="0" kern="1200" dirty="0" err="1">
                <a:solidFill>
                  <a:schemeClr val="tx1"/>
                </a:solidFill>
                <a:effectLst/>
                <a:latin typeface="+mn-lt"/>
                <a:ea typeface="+mn-ea"/>
                <a:cs typeface="+mn-cs"/>
              </a:rPr>
              <a:t>giải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thích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trạng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thái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cuối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của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chiều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ngược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nằm</a:t>
            </a:r>
            <a:r>
              <a:rPr lang="en-US" sz="1200" b="0" kern="1200" dirty="0">
                <a:solidFill>
                  <a:schemeClr val="tx1"/>
                </a:solidFill>
                <a:effectLst/>
                <a:latin typeface="+mn-lt"/>
                <a:ea typeface="+mn-ea"/>
                <a:cs typeface="+mn-cs"/>
              </a:rPr>
              <a:t> ở ô TRÁI NHẤT — </a:t>
            </a:r>
            <a:r>
              <a:rPr lang="en-US" sz="1200" b="0" kern="1200" dirty="0" err="1">
                <a:solidFill>
                  <a:schemeClr val="tx1"/>
                </a:solidFill>
                <a:effectLst/>
                <a:latin typeface="+mn-lt"/>
                <a:ea typeface="+mn-ea"/>
                <a:cs typeface="+mn-cs"/>
              </a:rPr>
              <a:t>đó</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là</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lý</a:t>
            </a:r>
            <a:r>
              <a:rPr lang="en-US" sz="1200" b="0" kern="1200" dirty="0">
                <a:solidFill>
                  <a:schemeClr val="tx1"/>
                </a:solidFill>
                <a:effectLst/>
                <a:latin typeface="+mn-lt"/>
                <a:ea typeface="+mn-ea"/>
                <a:cs typeface="+mn-cs"/>
              </a:rPr>
              <a:t> do </a:t>
            </a:r>
            <a:r>
              <a:rPr lang="en-US" sz="1200" b="0" kern="1200" dirty="0" err="1">
                <a:solidFill>
                  <a:schemeClr val="tx1"/>
                </a:solidFill>
                <a:effectLst/>
                <a:latin typeface="+mn-lt"/>
                <a:ea typeface="+mn-ea"/>
                <a:cs typeface="+mn-cs"/>
              </a:rPr>
              <a:t>đường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nét</a:t>
            </a:r>
            <a:r>
              <a:rPr lang="en-US" sz="1200" b="0" kern="1200" dirty="0">
                <a:solidFill>
                  <a:schemeClr val="tx1"/>
                </a:solidFill>
                <a:effectLst/>
                <a:latin typeface="+mn-lt"/>
                <a:ea typeface="+mn-ea"/>
                <a:cs typeface="+mn-cs"/>
              </a:rPr>
              <a:t> cam </a:t>
            </a:r>
            <a:r>
              <a:rPr lang="en-US" sz="1200" b="0" kern="1200" dirty="0" err="1">
                <a:solidFill>
                  <a:schemeClr val="tx1"/>
                </a:solidFill>
                <a:effectLst/>
                <a:latin typeface="+mn-lt"/>
                <a:ea typeface="+mn-ea"/>
                <a:cs typeface="+mn-cs"/>
              </a:rPr>
              <a:t>phải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vòng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từ</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trái</a:t>
            </a:r>
            <a:r>
              <a:rPr lang="en-US" sz="1200" b="0" kern="1200" dirty="0">
                <a:solidFill>
                  <a:schemeClr val="tx1"/>
                </a:solidFill>
                <a:effectLst/>
                <a:latin typeface="+mn-lt"/>
                <a:ea typeface="+mn-ea"/>
                <a:cs typeface="+mn-cs"/>
              </a:rPr>
              <a:t> sang."</a:t>
            </a:r>
          </a:p>
          <a:p>
            <a:r>
              <a:rPr lang="en-US" sz="1200" b="0" kern="1200" dirty="0">
                <a:solidFill>
                  <a:schemeClr val="tx1"/>
                </a:solidFill>
                <a:effectLst/>
                <a:latin typeface="+mn-lt"/>
                <a:ea typeface="+mn-ea"/>
                <a:cs typeface="+mn-cs"/>
              </a:rPr>
              <a:t>5. Hai pill </a:t>
            </a:r>
            <a:r>
              <a:rPr lang="en-US" sz="1200" b="0" kern="1200" dirty="0" err="1">
                <a:solidFill>
                  <a:schemeClr val="tx1"/>
                </a:solidFill>
                <a:effectLst/>
                <a:latin typeface="+mn-lt"/>
                <a:ea typeface="+mn-ea"/>
                <a:cs typeface="+mn-cs"/>
              </a:rPr>
              <a:t>chế</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độ</a:t>
            </a:r>
            <a:r>
              <a:rPr lang="en-US" sz="1200" b="0" kern="1200" dirty="0">
                <a:solidFill>
                  <a:schemeClr val="tx1"/>
                </a:solidFill>
                <a:effectLst/>
                <a:latin typeface="+mn-lt"/>
                <a:ea typeface="+mn-ea"/>
                <a:cs typeface="+mn-cs"/>
              </a:rPr>
              <a:t> (`no-attention` / `attention`) </a:t>
            </a:r>
            <a:r>
              <a:rPr lang="en-US" sz="1200" b="0" kern="1200" dirty="0" err="1">
                <a:solidFill>
                  <a:schemeClr val="tx1"/>
                </a:solidFill>
                <a:effectLst/>
                <a:latin typeface="+mn-lt"/>
                <a:ea typeface="+mn-ea"/>
                <a:cs typeface="+mn-cs"/>
              </a:rPr>
              <a:t>đặt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cùng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quy</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tắc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ngoài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hộp</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phía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dưới</a:t>
            </a:r>
            <a:r>
              <a:rPr lang="en-US" sz="1200" b="0" kern="1200" dirty="0">
                <a:solidFill>
                  <a:schemeClr val="tx1"/>
                </a:solidFill>
                <a:effectLst/>
                <a:latin typeface="+mn-lt"/>
                <a:ea typeface="+mn-ea"/>
                <a:cs typeface="+mn-cs"/>
              </a:rPr>
              <a:t>.</a:t>
            </a:r>
          </a:p>
          <a:p>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Encoder self-attention hai chiều để HIỂU (BERT). Decoder self-attention có mặt nạ để SINH (GPT-2). Cùng lõi self-attention.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Encoder–decoder nối bằng cross-attention → ánh xạ đầu vào thành câu trả lời. Bảng so sánh CNN/LSTM/Transformer.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454226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SFT: cross-entropy, bắt chước đáp án. RL/SCST: tối ưu trực tiếp metric không khả vi bằng policy gradient. Thứ tự: SFT trước, RL sau.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lvl="0"/>
            <a:r>
              <a:rPr lang="en-US" sz="1200" b="1" i="0" kern="1200" dirty="0" err="1">
                <a:solidFill>
                  <a:schemeClr val="tx1"/>
                </a:solidFill>
                <a:effectLst/>
                <a:latin typeface="+mn-lt"/>
                <a:ea typeface="+mn-ea"/>
                <a:cs typeface="+mn-cs"/>
              </a:rPr>
              <a:t>Câu</a:t>
            </a:r>
            <a:r>
              <a:rPr lang="en-US" sz="1200" b="1" i="0" kern="1200" dirty="0">
                <a:solidFill>
                  <a:schemeClr val="tx1"/>
                </a:solidFill>
                <a:effectLst/>
                <a:latin typeface="+mn-lt"/>
                <a:ea typeface="+mn-ea"/>
                <a:cs typeface="+mn-cs"/>
              </a:rPr>
              <a:t> Greedy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câu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lời</a:t>
            </a:r>
            <a:r>
              <a:rPr lang="en-US" sz="1200" b="0" i="0" kern="1200" dirty="0">
                <a:solidFill>
                  <a:schemeClr val="tx1"/>
                </a:solidFill>
                <a:effectLst/>
                <a:latin typeface="+mn-lt"/>
                <a:ea typeface="+mn-ea"/>
                <a:cs typeface="+mn-cs"/>
              </a:rPr>
              <a:t> an </a:t>
            </a:r>
            <a:r>
              <a:rPr lang="en-US" sz="1200" b="0" i="0" kern="1200" dirty="0" err="1">
                <a:solidFill>
                  <a:schemeClr val="tx1"/>
                </a:solidFill>
                <a:effectLst/>
                <a:latin typeface="+mn-lt"/>
                <a:ea typeface="+mn-ea"/>
                <a:cs typeface="+mn-cs"/>
              </a:rPr>
              <a:t>toàn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được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tạo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bằng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luôn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chọn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từ</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suất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cao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nhất</a:t>
            </a:r>
            <a:r>
              <a:rPr lang="en-US" sz="1200" b="0" i="0" kern="1200" dirty="0">
                <a:solidFill>
                  <a:schemeClr val="tx1"/>
                </a:solidFill>
                <a:effectLst/>
                <a:latin typeface="+mn-lt"/>
                <a:ea typeface="+mn-ea"/>
                <a:cs typeface="+mn-cs"/>
              </a:rPr>
              <a:t> ($\text{argmax}$) </a:t>
            </a:r>
            <a:r>
              <a:rPr lang="en-US" sz="1200" b="0" i="0" kern="1200" dirty="0" err="1">
                <a:solidFill>
                  <a:schemeClr val="tx1"/>
                </a:solidFill>
                <a:effectLst/>
                <a:latin typeface="+mn-lt"/>
                <a:ea typeface="+mn-ea"/>
                <a:cs typeface="+mn-cs"/>
              </a:rPr>
              <a:t>tại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mỗi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bước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sinh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từ</a:t>
            </a:r>
            <a:r>
              <a:rPr lang="en-US" sz="1200" b="0" i="0" kern="1200" dirty="0">
                <a:solidFill>
                  <a:schemeClr val="tx1"/>
                </a:solidFill>
                <a:effectLst/>
                <a:latin typeface="+mn-lt"/>
                <a:ea typeface="+mn-ea"/>
                <a:cs typeface="+mn-cs"/>
              </a:rPr>
              <a:t>.</a:t>
            </a:r>
          </a:p>
          <a:p>
            <a:pPr lvl="0"/>
            <a:r>
              <a:rPr lang="en-US" sz="1200" b="1" i="0" kern="1200" dirty="0" err="1">
                <a:solidFill>
                  <a:schemeClr val="tx1"/>
                </a:solidFill>
                <a:effectLst/>
                <a:latin typeface="+mn-lt"/>
                <a:ea typeface="+mn-ea"/>
                <a:cs typeface="+mn-cs"/>
              </a:rPr>
              <a:t>Câu</a:t>
            </a:r>
            <a:r>
              <a:rPr lang="en-US" sz="1200" b="1" i="0" kern="1200" dirty="0">
                <a:solidFill>
                  <a:schemeClr val="tx1"/>
                </a:solidFill>
                <a:effectLst/>
                <a:latin typeface="+mn-lt"/>
                <a:ea typeface="+mn-ea"/>
                <a:cs typeface="+mn-cs"/>
              </a:rPr>
              <a:t> Sample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câu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lời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nghiệm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được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tạo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bằng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bốc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thăm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ngẫu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nhiên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từ</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dựa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theo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phân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phối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suất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khám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đáp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án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mới</a:t>
            </a:r>
            <a:r>
              <a:rPr lang="en-US" sz="1200" b="0" i="0" kern="1200" dirty="0">
                <a:solidFill>
                  <a:schemeClr val="tx1"/>
                </a:solidFill>
                <a:effectLst/>
                <a:latin typeface="+mn-lt"/>
                <a:ea typeface="+mn-ea"/>
                <a:cs typeface="+mn-cs"/>
              </a:rPr>
              <a:t>.</a:t>
            </a:r>
          </a:p>
          <a:p>
            <a:pPr lvl="0"/>
            <a:r>
              <a:rPr lang="en-US" sz="1200" b="0" i="0" kern="1200" dirty="0">
                <a:solidFill>
                  <a:schemeClr val="tx1"/>
                </a:solidFill>
                <a:effectLst/>
                <a:latin typeface="+mn-lt"/>
                <a:ea typeface="+mn-ea"/>
                <a:cs typeface="+mn-cs"/>
              </a:rPr>
              <a:t>Trong SCST, </a:t>
            </a:r>
            <a:r>
              <a:rPr lang="en-US" sz="1200" b="0" i="0" kern="1200" dirty="0" err="1">
                <a:solidFill>
                  <a:schemeClr val="tx1"/>
                </a:solidFill>
                <a:effectLst/>
                <a:latin typeface="+mn-lt"/>
                <a:ea typeface="+mn-ea"/>
                <a:cs typeface="+mn-cs"/>
              </a:rPr>
              <a:t>mô</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hình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lấy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điểm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của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câu</a:t>
            </a:r>
            <a:r>
              <a:rPr lang="en-US" sz="1200" b="0" i="0" kern="1200" dirty="0">
                <a:solidFill>
                  <a:schemeClr val="tx1"/>
                </a:solidFill>
                <a:effectLst/>
                <a:latin typeface="+mn-lt"/>
                <a:ea typeface="+mn-ea"/>
                <a:cs typeface="+mn-cs"/>
              </a:rPr>
              <a:t> Sample </a:t>
            </a:r>
            <a:r>
              <a:rPr lang="en-US" sz="1200" b="0" i="0" kern="1200" dirty="0" err="1">
                <a:solidFill>
                  <a:schemeClr val="tx1"/>
                </a:solidFill>
                <a:effectLst/>
                <a:latin typeface="+mn-lt"/>
                <a:ea typeface="+mn-ea"/>
                <a:cs typeface="+mn-cs"/>
              </a:rPr>
              <a:t>trừ</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câu</a:t>
            </a:r>
            <a:r>
              <a:rPr lang="en-US" sz="1200" b="0" i="0" kern="1200" dirty="0">
                <a:solidFill>
                  <a:schemeClr val="tx1"/>
                </a:solidFill>
                <a:effectLst/>
                <a:latin typeface="+mn-lt"/>
                <a:ea typeface="+mn-ea"/>
                <a:cs typeface="+mn-cs"/>
              </a:rPr>
              <a:t> Greedy: </a:t>
            </a:r>
            <a:r>
              <a:rPr lang="en-US" sz="1200" b="0" i="0" kern="1200" dirty="0" err="1">
                <a:solidFill>
                  <a:schemeClr val="tx1"/>
                </a:solidFill>
                <a:effectLst/>
                <a:latin typeface="+mn-lt"/>
                <a:ea typeface="+mn-ea"/>
                <a:cs typeface="+mn-cs"/>
              </a:rPr>
              <a:t>nếu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câu</a:t>
            </a:r>
            <a:r>
              <a:rPr lang="en-US" sz="1200" b="0" i="0" kern="1200" dirty="0">
                <a:solidFill>
                  <a:schemeClr val="tx1"/>
                </a:solidFill>
                <a:effectLst/>
                <a:latin typeface="+mn-lt"/>
                <a:ea typeface="+mn-ea"/>
                <a:cs typeface="+mn-cs"/>
              </a:rPr>
              <a:t> Sample hay </a:t>
            </a:r>
            <a:r>
              <a:rPr lang="en-US" sz="1200" b="0" i="0" kern="1200" dirty="0" err="1">
                <a:solidFill>
                  <a:schemeClr val="tx1"/>
                </a:solidFill>
                <a:effectLst/>
                <a:latin typeface="+mn-lt"/>
                <a:ea typeface="+mn-ea"/>
                <a:cs typeface="+mn-cs"/>
              </a:rPr>
              <a:t>hơn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sẽ</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được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thưởng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tăng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suất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sinh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còn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hơn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sẽ</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bị</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phạt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giảm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suất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sinh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ra</a:t>
            </a:r>
            <a:r>
              <a:rPr lang="en-US" sz="1200" b="0" i="0" kern="1200" dirty="0">
                <a:solidFill>
                  <a:schemeClr val="tx1"/>
                </a:solidFill>
                <a:effectLst/>
                <a:latin typeface="+mn-lt"/>
                <a:ea typeface="+mn-ea"/>
                <a:cs typeface="+mn-cs"/>
              </a:rPr>
              <a:t>).</a:t>
            </a:r>
          </a:p>
          <a:p>
            <a:pPr lvl="0"/>
            <a:endParaRPr lang="en-US" sz="1200" b="0" i="0" kern="1200" dirty="0">
              <a:solidFill>
                <a:schemeClr val="tx1"/>
              </a:solidFill>
              <a:effectLst/>
              <a:latin typeface="+mn-lt"/>
              <a:ea typeface="+mn-ea"/>
              <a:cs typeface="+mn-cs"/>
            </a:endParaRPr>
          </a:p>
          <a:p>
            <a:pPr lvl="0"/>
            <a:r>
              <a:rPr lang="en-US" sz="1200" b="1" i="0" kern="1200" dirty="0" err="1">
                <a:solidFill>
                  <a:schemeClr val="tx1"/>
                </a:solidFill>
                <a:effectLst/>
                <a:latin typeface="+mn-lt"/>
                <a:ea typeface="+mn-ea"/>
                <a:cs typeface="+mn-cs"/>
              </a:rPr>
              <a:t>Tối</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ưu</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trực</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tiếp</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các</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thước</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đo</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thực</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tế</a:t>
            </a:r>
            <a:r>
              <a:rPr lang="en-US" sz="1200" b="1" i="0" kern="1200" dirty="0">
                <a:solidFill>
                  <a:schemeClr val="tx1"/>
                </a:solidFill>
                <a:effectLst/>
                <a:latin typeface="+mn-lt"/>
                <a:ea typeface="+mn-ea"/>
                <a:cs typeface="+mn-cs"/>
              </a:rPr>
              <a:t> (EM, F1, BLEU):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Huấn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luyện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thường</a:t>
            </a:r>
            <a:r>
              <a:rPr lang="en-US" sz="1200" b="0" i="0" kern="1200" dirty="0">
                <a:solidFill>
                  <a:schemeClr val="tx1"/>
                </a:solidFill>
                <a:effectLst/>
                <a:latin typeface="+mn-lt"/>
                <a:ea typeface="+mn-ea"/>
                <a:cs typeface="+mn-cs"/>
              </a:rPr>
              <a:t> (SFT) </a:t>
            </a:r>
            <a:r>
              <a:rPr lang="en-US" sz="1200" b="0" i="0" kern="1200" dirty="0" err="1">
                <a:solidFill>
                  <a:schemeClr val="tx1"/>
                </a:solidFill>
                <a:effectLst/>
                <a:latin typeface="+mn-lt"/>
                <a:ea typeface="+mn-ea"/>
                <a:cs typeface="+mn-cs"/>
              </a:rPr>
              <a:t>chỉ</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biết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học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bắt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chước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từ</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ngữ</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từng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bước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một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theo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hàm</a:t>
            </a:r>
            <a:r>
              <a:rPr lang="en-US" sz="1200" b="0" i="0" kern="1200" dirty="0">
                <a:solidFill>
                  <a:schemeClr val="tx1"/>
                </a:solidFill>
                <a:effectLst/>
                <a:latin typeface="+mn-lt"/>
                <a:ea typeface="+mn-ea"/>
                <a:cs typeface="+mn-cs"/>
              </a:rPr>
              <a:t> Cross-Entropy. SCST </a:t>
            </a:r>
            <a:r>
              <a:rPr lang="en-US" sz="1200" b="0" i="0" kern="1200" dirty="0" err="1">
                <a:solidFill>
                  <a:schemeClr val="tx1"/>
                </a:solidFill>
                <a:effectLst/>
                <a:latin typeface="+mn-lt"/>
                <a:ea typeface="+mn-ea"/>
                <a:cs typeface="+mn-cs"/>
              </a:rPr>
              <a:t>dùng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điểm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phần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thưởng</a:t>
            </a:r>
            <a:r>
              <a:rPr lang="en-US" sz="1200" b="0" i="0" kern="1200" dirty="0">
                <a:solidFill>
                  <a:schemeClr val="tx1"/>
                </a:solidFill>
                <a:effectLst/>
                <a:latin typeface="+mn-lt"/>
                <a:ea typeface="+mn-ea"/>
                <a:cs typeface="+mn-cs"/>
              </a:rPr>
              <a:t> F1/EM </a:t>
            </a:r>
            <a:r>
              <a:rPr lang="en-US" sz="1200" b="0" i="0" kern="1200" dirty="0" err="1">
                <a:solidFill>
                  <a:schemeClr val="tx1"/>
                </a:solidFill>
                <a:effectLst/>
                <a:latin typeface="+mn-lt"/>
                <a:ea typeface="+mn-ea"/>
                <a:cs typeface="+mn-cs"/>
              </a:rPr>
              <a:t>để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ép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mô</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hình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sinh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ra</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toàn</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bộ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câu</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hoàn</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chỉnh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đạt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chính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xác</a:t>
            </a:r>
            <a:r>
              <a:rPr lang="en-US" sz="1200" b="0" i="0" kern="1200" dirty="0">
                <a:solidFill>
                  <a:schemeClr val="tx1"/>
                </a:solidFill>
                <a:effectLst/>
                <a:latin typeface="+mn-lt"/>
                <a:ea typeface="+mn-ea"/>
                <a:cs typeface="+mn-cs"/>
              </a:rPr>
              <a:t> y khoa </a:t>
            </a:r>
            <a:r>
              <a:rPr lang="en-US" sz="1200" b="0" i="0" kern="1200" dirty="0" err="1">
                <a:solidFill>
                  <a:schemeClr val="tx1"/>
                </a:solidFill>
                <a:effectLst/>
                <a:latin typeface="+mn-lt"/>
                <a:ea typeface="+mn-ea"/>
                <a:cs typeface="+mn-cs"/>
              </a:rPr>
              <a:t>cao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nhất</a:t>
            </a:r>
            <a:r>
              <a:rPr lang="en-US" sz="1200" b="0" i="0" kern="1200" dirty="0">
                <a:solidFill>
                  <a:schemeClr val="tx1"/>
                </a:solidFill>
                <a:effectLst/>
                <a:latin typeface="+mn-lt"/>
                <a:ea typeface="+mn-ea"/>
                <a:cs typeface="+mn-cs"/>
              </a:rPr>
              <a:t>.</a:t>
            </a:r>
          </a:p>
          <a:p>
            <a:pPr lvl="0"/>
            <a:r>
              <a:rPr lang="en-US" sz="1200" b="1" i="0" kern="1200" dirty="0" err="1">
                <a:solidFill>
                  <a:schemeClr val="tx1"/>
                </a:solidFill>
                <a:effectLst/>
                <a:latin typeface="+mn-lt"/>
                <a:ea typeface="+mn-ea"/>
                <a:cs typeface="+mn-cs"/>
              </a:rPr>
              <a:t>Tự</a:t>
            </a:r>
            <a:r>
              <a:rPr lang="en-US" sz="1200" b="1" i="0" kern="1200" dirty="0">
                <a:solidFill>
                  <a:schemeClr val="tx1"/>
                </a:solidFill>
                <a:effectLst/>
                <a:latin typeface="+mn-lt"/>
                <a:ea typeface="+mn-ea"/>
                <a:cs typeface="+mn-cs"/>
              </a:rPr>
              <a:t> so </a:t>
            </a:r>
            <a:r>
              <a:rPr lang="en-US" sz="1200" b="1" i="0" kern="1200" dirty="0" err="1">
                <a:solidFill>
                  <a:schemeClr val="tx1"/>
                </a:solidFill>
                <a:effectLst/>
                <a:latin typeface="+mn-lt"/>
                <a:ea typeface="+mn-ea"/>
                <a:cs typeface="+mn-cs"/>
              </a:rPr>
              <a:t>sánh</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mà</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không</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tốn</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bộ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nhớ</a:t>
            </a:r>
            <a:r>
              <a:rPr lang="en-US" sz="1200" b="1" i="0" kern="1200" dirty="0">
                <a:solidFill>
                  <a:schemeClr val="tx1"/>
                </a:solidFill>
                <a:effectLst/>
                <a:latin typeface="+mn-lt"/>
                <a:ea typeface="+mn-ea"/>
                <a:cs typeface="+mn-cs"/>
              </a:rPr>
              <a:t> (Baseline </a:t>
            </a:r>
            <a:r>
              <a:rPr lang="en-US" sz="1200" b="1" i="0" kern="1200" dirty="0" err="1">
                <a:solidFill>
                  <a:schemeClr val="tx1"/>
                </a:solidFill>
                <a:effectLst/>
                <a:latin typeface="+mn-lt"/>
                <a:ea typeface="+mn-ea"/>
                <a:cs typeface="+mn-cs"/>
              </a:rPr>
              <a:t>tự</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thân</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Lấy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chính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câu</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Greedy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phiên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bản</a:t>
            </a:r>
            <a:r>
              <a:rPr lang="en-US" sz="1200" b="0" i="0" kern="1200" dirty="0">
                <a:solidFill>
                  <a:schemeClr val="tx1"/>
                </a:solidFill>
                <a:effectLst/>
                <a:latin typeface="+mn-lt"/>
                <a:ea typeface="+mn-ea"/>
                <a:cs typeface="+mn-cs"/>
              </a:rPr>
              <a:t> an </a:t>
            </a:r>
            <a:r>
              <a:rPr lang="en-US" sz="1200" b="0" i="0" kern="1200" dirty="0" err="1">
                <a:solidFill>
                  <a:schemeClr val="tx1"/>
                </a:solidFill>
                <a:effectLst/>
                <a:latin typeface="+mn-lt"/>
                <a:ea typeface="+mn-ea"/>
                <a:cs typeface="+mn-cs"/>
              </a:rPr>
              <a:t>toàn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của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bản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thân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làm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mốc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chuẩn</a:t>
            </a:r>
            <a:r>
              <a:rPr lang="en-US" sz="1200" b="0" i="0" kern="1200" dirty="0">
                <a:solidFill>
                  <a:schemeClr val="tx1"/>
                </a:solidFill>
                <a:effectLst/>
                <a:latin typeface="+mn-lt"/>
                <a:ea typeface="+mn-ea"/>
                <a:cs typeface="+mn-cs"/>
              </a:rPr>
              <a:t> so </a:t>
            </a:r>
            <a:r>
              <a:rPr lang="en-US" sz="1200" b="0" i="0" kern="1200" dirty="0" err="1">
                <a:solidFill>
                  <a:schemeClr val="tx1"/>
                </a:solidFill>
                <a:effectLst/>
                <a:latin typeface="+mn-lt"/>
                <a:ea typeface="+mn-ea"/>
                <a:cs typeface="+mn-cs"/>
              </a:rPr>
              <a:t>sánh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giúp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mô</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hình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tự</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phê</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bình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tự</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sửa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lỗi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cần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phải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dựng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thêm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một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mạng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đánh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giá</a:t>
            </a:r>
            <a:r>
              <a:rPr lang="en-US" sz="1200" b="0" i="0" kern="1200" dirty="0">
                <a:solidFill>
                  <a:schemeClr val="tx1"/>
                </a:solidFill>
                <a:effectLst/>
                <a:latin typeface="+mn-lt"/>
                <a:ea typeface="+mn-ea"/>
                <a:cs typeface="+mn-cs"/>
              </a:rPr>
              <a:t> (Critic) </a:t>
            </a:r>
            <a:r>
              <a:rPr lang="en-US" sz="1200" b="0" i="0" kern="1200" dirty="0" err="1">
                <a:solidFill>
                  <a:schemeClr val="tx1"/>
                </a:solidFill>
                <a:effectLst/>
                <a:latin typeface="+mn-lt"/>
                <a:ea typeface="+mn-ea"/>
                <a:cs typeface="+mn-cs"/>
              </a:rPr>
              <a:t>phụ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phức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tạp</a:t>
            </a:r>
            <a:r>
              <a:rPr lang="en-US" sz="1200" b="0" i="0" kern="1200" dirty="0">
                <a:solidFill>
                  <a:schemeClr val="tx1"/>
                </a:solidFill>
                <a:effectLst/>
                <a:latin typeface="+mn-lt"/>
                <a:ea typeface="+mn-ea"/>
                <a:cs typeface="+mn-cs"/>
              </a:rPr>
              <a:t>.</a:t>
            </a:r>
          </a:p>
          <a:p>
            <a:pPr lvl="0"/>
            <a:r>
              <a:rPr lang="en-US" sz="1200" b="1" i="0" kern="1200" dirty="0" err="1">
                <a:solidFill>
                  <a:schemeClr val="tx1"/>
                </a:solidFill>
                <a:effectLst/>
                <a:latin typeface="+mn-lt"/>
                <a:ea typeface="+mn-ea"/>
                <a:cs typeface="+mn-cs"/>
              </a:rPr>
              <a:t>Khắc</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phục</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lỗi</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lệch</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ngữ</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cảnh</a:t>
            </a:r>
            <a:r>
              <a:rPr lang="en-US" sz="1200" b="1" i="0" kern="1200" dirty="0">
                <a:solidFill>
                  <a:schemeClr val="tx1"/>
                </a:solidFill>
                <a:effectLst/>
                <a:latin typeface="+mn-lt"/>
                <a:ea typeface="+mn-ea"/>
                <a:cs typeface="+mn-cs"/>
              </a:rPr>
              <a:t> (Exposure Bias):</a:t>
            </a:r>
            <a:r>
              <a:rPr lang="en-US" sz="1200" b="0" i="0" kern="1200" dirty="0">
                <a:solidFill>
                  <a:schemeClr val="tx1"/>
                </a:solidFill>
                <a:effectLst/>
                <a:latin typeface="+mn-lt"/>
                <a:ea typeface="+mn-ea"/>
                <a:cs typeface="+mn-cs"/>
              </a:rPr>
              <a:t> Cho </a:t>
            </a:r>
            <a:r>
              <a:rPr lang="en-US" sz="1200" b="0" i="0" kern="1200" dirty="0" err="1">
                <a:solidFill>
                  <a:schemeClr val="tx1"/>
                </a:solidFill>
                <a:effectLst/>
                <a:latin typeface="+mn-lt"/>
                <a:ea typeface="+mn-ea"/>
                <a:cs typeface="+mn-cs"/>
              </a:rPr>
              <a:t>phép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mô</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hình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tự</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mạo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hiểm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nghiệm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diễn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đạt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mới</a:t>
            </a:r>
            <a:r>
              <a:rPr lang="en-US" sz="1200" b="0" i="0" kern="1200" dirty="0">
                <a:solidFill>
                  <a:schemeClr val="tx1"/>
                </a:solidFill>
                <a:effectLst/>
                <a:latin typeface="+mn-lt"/>
                <a:ea typeface="+mn-ea"/>
                <a:cs typeface="+mn-cs"/>
              </a:rPr>
              <a:t> (qua </a:t>
            </a:r>
            <a:r>
              <a:rPr lang="en-US" sz="1200" b="0" i="0" kern="1200" dirty="0" err="1">
                <a:solidFill>
                  <a:schemeClr val="tx1"/>
                </a:solidFill>
                <a:effectLst/>
                <a:latin typeface="+mn-lt"/>
                <a:ea typeface="+mn-ea"/>
                <a:cs typeface="+mn-cs"/>
              </a:rPr>
              <a:t>câu</a:t>
            </a:r>
            <a:r>
              <a:rPr lang="en-US" sz="1200" b="0" i="0" kern="1200" dirty="0">
                <a:solidFill>
                  <a:schemeClr val="tx1"/>
                </a:solidFill>
                <a:effectLst/>
                <a:latin typeface="+mn-lt"/>
                <a:ea typeface="+mn-ea"/>
                <a:cs typeface="+mn-cs"/>
              </a:rPr>
              <a:t> Sample), </a:t>
            </a:r>
            <a:r>
              <a:rPr lang="en-US" sz="1200" b="0" i="0" kern="1200" dirty="0" err="1">
                <a:solidFill>
                  <a:schemeClr val="tx1"/>
                </a:solidFill>
                <a:effectLst/>
                <a:latin typeface="+mn-lt"/>
                <a:ea typeface="+mn-ea"/>
                <a:cs typeface="+mn-cs"/>
              </a:rPr>
              <a:t>từ</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học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tự</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sửa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sai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trên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chuỗi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văn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bản</a:t>
            </a:r>
            <a:r>
              <a:rPr lang="en-US" sz="1200" b="0" i="0" kern="1200" dirty="0">
                <a:solidFill>
                  <a:schemeClr val="tx1"/>
                </a:solidFill>
                <a:effectLst/>
                <a:latin typeface="+mn-lt"/>
                <a:ea typeface="+mn-ea"/>
                <a:cs typeface="+mn-cs"/>
              </a:rPr>
              <a:t> do </a:t>
            </a:r>
            <a:r>
              <a:rPr lang="en-US" sz="1200" b="0" i="0" kern="1200" dirty="0" err="1">
                <a:solidFill>
                  <a:schemeClr val="tx1"/>
                </a:solidFill>
                <a:effectLst/>
                <a:latin typeface="+mn-lt"/>
                <a:ea typeface="+mn-ea"/>
                <a:cs typeface="+mn-cs"/>
              </a:rPr>
              <a:t>chính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sinh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trong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thực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tế</a:t>
            </a:r>
            <a:r>
              <a:rPr lang="en-US" sz="1200" b="0" i="0" kern="1200" dirty="0">
                <a:solidFill>
                  <a:schemeClr val="tx1"/>
                </a:solidFill>
                <a:effectLst/>
                <a:latin typeface="+mn-lt"/>
                <a:ea typeface="+mn-ea"/>
                <a:cs typeface="+mn-cs"/>
              </a:rPr>
              <a:t>.</a:t>
            </a:r>
          </a:p>
          <a:p>
            <a:endParaRPr lang="en-US" sz="1200" b="1"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Các </a:t>
            </a:r>
            <a:r>
              <a:rPr lang="en-US" sz="1200" b="1" kern="1200" dirty="0" err="1">
                <a:solidFill>
                  <a:schemeClr val="tx1"/>
                </a:solidFill>
                <a:effectLst/>
                <a:latin typeface="+mn-lt"/>
                <a:ea typeface="+mn-ea"/>
                <a:cs typeface="+mn-cs"/>
              </a:rPr>
              <a:t>điểm</a:t>
            </a:r>
            <a:r>
              <a:rPr lang="en-US" sz="1200" b="1" kern="1200" dirty="0">
                <a:solidFill>
                  <a:schemeClr val="tx1"/>
                </a:solidFill>
                <a:effectLst/>
                <a:latin typeface="+mn-lt"/>
                <a:ea typeface="+mn-ea"/>
                <a:cs typeface="+mn-cs"/>
              </a:rPr>
              <a:t> then </a:t>
            </a:r>
            <a:r>
              <a:rPr lang="en-US" sz="1200" b="1" kern="1200" dirty="0" err="1">
                <a:solidFill>
                  <a:schemeClr val="tx1"/>
                </a:solidFill>
                <a:effectLst/>
                <a:latin typeface="+mn-lt"/>
                <a:ea typeface="+mn-ea"/>
                <a:cs typeface="+mn-cs"/>
              </a:rPr>
              <a:t>chốt</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trên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hình</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vẽ</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1. </a:t>
            </a:r>
            <a:r>
              <a:rPr lang="en-US" sz="1200" b="1" kern="1200" dirty="0">
                <a:solidFill>
                  <a:schemeClr val="tx1"/>
                </a:solidFill>
                <a:effectLst/>
                <a:latin typeface="+mn-lt"/>
                <a:ea typeface="+mn-ea"/>
                <a:cs typeface="+mn-cs"/>
              </a:rPr>
              <a:t>**Loss </a:t>
            </a:r>
            <a:r>
              <a:rPr lang="en-US" sz="1200" b="1" kern="1200" dirty="0" err="1">
                <a:solidFill>
                  <a:schemeClr val="tx1"/>
                </a:solidFill>
                <a:effectLst/>
                <a:latin typeface="+mn-lt"/>
                <a:ea typeface="+mn-ea"/>
                <a:cs typeface="+mn-cs"/>
              </a:rPr>
              <a:t>chỉ</a:t>
            </a:r>
            <a:r>
              <a:rPr lang="en-US" sz="1200" b="1" kern="1200" dirty="0">
                <a:solidFill>
                  <a:schemeClr val="tx1"/>
                </a:solidFill>
                <a:effectLst/>
                <a:latin typeface="+mn-lt"/>
                <a:ea typeface="+mn-ea"/>
                <a:cs typeface="+mn-cs"/>
              </a:rPr>
              <a:t> MỘT </a:t>
            </a:r>
            <a:r>
              <a:rPr lang="en-US" sz="1200" b="1" kern="1200" dirty="0" err="1">
                <a:solidFill>
                  <a:schemeClr val="tx1"/>
                </a:solidFill>
                <a:effectLst/>
                <a:latin typeface="+mn-lt"/>
                <a:ea typeface="+mn-ea"/>
                <a:cs typeface="+mn-cs"/>
              </a:rPr>
              <a:t>dấu</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trừ</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 `L = −(...)`, gradient descent </a:t>
            </a:r>
            <a:r>
              <a:rPr lang="en-US" sz="1200" b="0" kern="1200" dirty="0" err="1">
                <a:solidFill>
                  <a:schemeClr val="tx1"/>
                </a:solidFill>
                <a:effectLst/>
                <a:latin typeface="+mn-lt"/>
                <a:ea typeface="+mn-ea"/>
                <a:cs typeface="+mn-cs"/>
              </a:rPr>
              <a:t>đúng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Bản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cũ</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có</a:t>
            </a:r>
            <a:r>
              <a:rPr lang="en-US" sz="1200" b="0" kern="1200" dirty="0">
                <a:solidFill>
                  <a:schemeClr val="tx1"/>
                </a:solidFill>
                <a:effectLst/>
                <a:latin typeface="+mn-lt"/>
                <a:ea typeface="+mn-ea"/>
                <a:cs typeface="+mn-cs"/>
              </a:rPr>
              <a:t> 2 </a:t>
            </a:r>
            <a:r>
              <a:rPr lang="en-US" sz="1200" b="0" kern="1200" dirty="0" err="1">
                <a:solidFill>
                  <a:schemeClr val="tx1"/>
                </a:solidFill>
                <a:effectLst/>
                <a:latin typeface="+mn-lt"/>
                <a:ea typeface="+mn-ea"/>
                <a:cs typeface="+mn-cs"/>
              </a:rPr>
              <a:t>dấu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trừ</a:t>
            </a:r>
            <a:r>
              <a:rPr lang="en-US" sz="1200" b="0" kern="1200" dirty="0">
                <a:solidFill>
                  <a:schemeClr val="tx1"/>
                </a:solidFill>
                <a:effectLst/>
                <a:latin typeface="+mn-lt"/>
                <a:ea typeface="+mn-ea"/>
                <a:cs typeface="+mn-cs"/>
              </a:rPr>
              <a:t> → gradient ascent.</a:t>
            </a:r>
          </a:p>
          <a:p>
            <a:r>
              <a:rPr lang="en-US" sz="1200" b="0" kern="1200" dirty="0">
                <a:solidFill>
                  <a:schemeClr val="tx1"/>
                </a:solidFill>
                <a:effectLst/>
                <a:latin typeface="+mn-lt"/>
                <a:ea typeface="+mn-ea"/>
                <a:cs typeface="+mn-cs"/>
              </a:rPr>
              <a:t>2. </a:t>
            </a:r>
            <a:r>
              <a:rPr lang="en-US" sz="1200" b="1" kern="1200" dirty="0">
                <a:solidFill>
                  <a:schemeClr val="tx1"/>
                </a:solidFill>
                <a:effectLst/>
                <a:latin typeface="+mn-lt"/>
                <a:ea typeface="+mn-ea"/>
                <a:cs typeface="+mn-cs"/>
              </a:rPr>
              <a:t>**`0.5·EM`**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dùng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dấu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nhân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giữa</a:t>
            </a:r>
            <a:r>
              <a:rPr lang="en-US" sz="1200" b="0" kern="1200" dirty="0">
                <a:solidFill>
                  <a:schemeClr val="tx1"/>
                </a:solidFill>
                <a:effectLst/>
                <a:latin typeface="+mn-lt"/>
                <a:ea typeface="+mn-ea"/>
                <a:cs typeface="+mn-cs"/>
              </a:rPr>
              <a:t> `·` (Unicode). </a:t>
            </a:r>
            <a:r>
              <a:rPr lang="en-US" sz="1200" b="0" kern="1200" dirty="0" err="1">
                <a:solidFill>
                  <a:schemeClr val="tx1"/>
                </a:solidFill>
                <a:effectLst/>
                <a:latin typeface="+mn-lt"/>
                <a:ea typeface="+mn-ea"/>
                <a:cs typeface="+mn-cs"/>
              </a:rPr>
              <a:t>Bản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cũ</a:t>
            </a:r>
            <a:r>
              <a:rPr lang="en-US" sz="1200" b="0" kern="1200" dirty="0">
                <a:solidFill>
                  <a:schemeClr val="tx1"/>
                </a:solidFill>
                <a:effectLst/>
                <a:latin typeface="+mn-lt"/>
                <a:ea typeface="+mn-ea"/>
                <a:cs typeface="+mn-cs"/>
              </a:rPr>
              <a:t> `0.5.EM` </a:t>
            </a:r>
            <a:r>
              <a:rPr lang="en-US" sz="1200" b="0" kern="1200" dirty="0" err="1">
                <a:solidFill>
                  <a:schemeClr val="tx1"/>
                </a:solidFill>
                <a:effectLst/>
                <a:latin typeface="+mn-lt"/>
                <a:ea typeface="+mn-ea"/>
                <a:cs typeface="+mn-cs"/>
              </a:rPr>
              <a:t>đọc</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như</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số</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lỗi</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3. </a:t>
            </a:r>
            <a:r>
              <a:rPr lang="en-US" sz="1200" b="1" kern="1200" dirty="0">
                <a:solidFill>
                  <a:schemeClr val="tx1"/>
                </a:solidFill>
                <a:effectLst/>
                <a:latin typeface="+mn-lt"/>
                <a:ea typeface="+mn-ea"/>
                <a:cs typeface="+mn-cs"/>
              </a:rPr>
              <a:t>**Bar chart**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có</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trục</a:t>
            </a:r>
            <a:r>
              <a:rPr lang="en-US" sz="1200" b="0" kern="1200" dirty="0">
                <a:solidFill>
                  <a:schemeClr val="tx1"/>
                </a:solidFill>
                <a:effectLst/>
                <a:latin typeface="+mn-lt"/>
                <a:ea typeface="+mn-ea"/>
                <a:cs typeface="+mn-cs"/>
              </a:rPr>
              <a:t> tung (0 → 1.0), </a:t>
            </a:r>
            <a:r>
              <a:rPr lang="en-US" sz="1200" b="0" kern="1200" dirty="0" err="1">
                <a:solidFill>
                  <a:schemeClr val="tx1"/>
                </a:solidFill>
                <a:effectLst/>
                <a:latin typeface="+mn-lt"/>
                <a:ea typeface="+mn-ea"/>
                <a:cs typeface="+mn-cs"/>
              </a:rPr>
              <a:t>chung</a:t>
            </a:r>
            <a:r>
              <a:rPr lang="en-US" sz="1200" b="0" kern="1200" dirty="0">
                <a:solidFill>
                  <a:schemeClr val="tx1"/>
                </a:solidFill>
                <a:effectLst/>
                <a:latin typeface="+mn-lt"/>
                <a:ea typeface="+mn-ea"/>
                <a:cs typeface="+mn-cs"/>
              </a:rPr>
              <a:t> baseline, </a:t>
            </a:r>
            <a:r>
              <a:rPr lang="en-US" sz="1200" b="0" kern="1200" dirty="0" err="1">
                <a:solidFill>
                  <a:schemeClr val="tx1"/>
                </a:solidFill>
                <a:effectLst/>
                <a:latin typeface="+mn-lt"/>
                <a:ea typeface="+mn-ea"/>
                <a:cs typeface="+mn-cs"/>
              </a:rPr>
              <a:t>đúng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tỉ</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lệ</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 CASE A: r(sample)=0.9 → height=252px, r(greedy)=0.5 → height=140px → </a:t>
            </a:r>
            <a:r>
              <a:rPr lang="en-US" sz="1200" b="0" kern="1200" dirty="0" err="1">
                <a:solidFill>
                  <a:schemeClr val="tx1"/>
                </a:solidFill>
                <a:effectLst/>
                <a:latin typeface="+mn-lt"/>
                <a:ea typeface="+mn-ea"/>
                <a:cs typeface="+mn-cs"/>
              </a:rPr>
              <a:t>tỉ</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lệ</a:t>
            </a:r>
            <a:r>
              <a:rPr lang="en-US" sz="1200" b="0" kern="1200" dirty="0">
                <a:solidFill>
                  <a:schemeClr val="tx1"/>
                </a:solidFill>
                <a:effectLst/>
                <a:latin typeface="+mn-lt"/>
                <a:ea typeface="+mn-ea"/>
                <a:cs typeface="+mn-cs"/>
              </a:rPr>
              <a:t> 1.8:1 ✅</a:t>
            </a:r>
          </a:p>
          <a:p>
            <a:r>
              <a:rPr lang="en-US" sz="1200" b="0" kern="1200" dirty="0">
                <a:solidFill>
                  <a:schemeClr val="tx1"/>
                </a:solidFill>
                <a:effectLst/>
                <a:latin typeface="+mn-lt"/>
                <a:ea typeface="+mn-ea"/>
                <a:cs typeface="+mn-cs"/>
              </a:rPr>
              <a:t>   - CASE B: r(sample)=0.1 → height=28px, r(greedy)=0.9 → height=252px → </a:t>
            </a:r>
            <a:r>
              <a:rPr lang="en-US" sz="1200" b="0" kern="1200" dirty="0" err="1">
                <a:solidFill>
                  <a:schemeClr val="tx1"/>
                </a:solidFill>
                <a:effectLst/>
                <a:latin typeface="+mn-lt"/>
                <a:ea typeface="+mn-ea"/>
                <a:cs typeface="+mn-cs"/>
              </a:rPr>
              <a:t>tỉ</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lệ</a:t>
            </a:r>
            <a:r>
              <a:rPr lang="en-US" sz="1200" b="0" kern="1200" dirty="0">
                <a:solidFill>
                  <a:schemeClr val="tx1"/>
                </a:solidFill>
                <a:effectLst/>
                <a:latin typeface="+mn-lt"/>
                <a:ea typeface="+mn-ea"/>
                <a:cs typeface="+mn-cs"/>
              </a:rPr>
              <a:t> 9:1 ✅</a:t>
            </a:r>
          </a:p>
          <a:p>
            <a:r>
              <a:rPr lang="en-US" sz="1200" b="0" kern="1200" dirty="0">
                <a:solidFill>
                  <a:schemeClr val="tx1"/>
                </a:solidFill>
                <a:effectLst/>
                <a:latin typeface="+mn-lt"/>
                <a:ea typeface="+mn-ea"/>
                <a:cs typeface="+mn-cs"/>
              </a:rPr>
              <a:t>   - </a:t>
            </a:r>
            <a:r>
              <a:rPr lang="en-US" sz="1200" b="1" kern="1200" dirty="0">
                <a:solidFill>
                  <a:schemeClr val="tx1"/>
                </a:solidFill>
                <a:effectLst/>
                <a:latin typeface="+mn-lt"/>
                <a:ea typeface="+mn-ea"/>
                <a:cs typeface="+mn-cs"/>
              </a:rPr>
              <a:t>**r=0.9 ở </a:t>
            </a:r>
            <a:r>
              <a:rPr lang="en-US" sz="1200" b="1" kern="1200" dirty="0" err="1">
                <a:solidFill>
                  <a:schemeClr val="tx1"/>
                </a:solidFill>
                <a:effectLst/>
                <a:latin typeface="+mn-lt"/>
                <a:ea typeface="+mn-ea"/>
                <a:cs typeface="+mn-cs"/>
              </a:rPr>
              <a:t>hai</a:t>
            </a:r>
            <a:r>
              <a:rPr lang="en-US" sz="1200" b="1" kern="1200" dirty="0">
                <a:solidFill>
                  <a:schemeClr val="tx1"/>
                </a:solidFill>
                <a:effectLst/>
                <a:latin typeface="+mn-lt"/>
                <a:ea typeface="+mn-ea"/>
                <a:cs typeface="+mn-cs"/>
              </a:rPr>
              <a:t> case </a:t>
            </a:r>
            <a:r>
              <a:rPr lang="en-US" sz="1200" b="1" kern="1200" dirty="0" err="1">
                <a:solidFill>
                  <a:schemeClr val="tx1"/>
                </a:solidFill>
                <a:effectLst/>
                <a:latin typeface="+mn-lt"/>
                <a:ea typeface="+mn-ea"/>
                <a:cs typeface="+mn-cs"/>
              </a:rPr>
              <a:t>cao</a:t>
            </a:r>
            <a:r>
              <a:rPr lang="en-US" sz="1200" b="1" kern="1200" dirty="0">
                <a:solidFill>
                  <a:schemeClr val="tx1"/>
                </a:solidFill>
                <a:effectLst/>
                <a:latin typeface="+mn-lt"/>
                <a:ea typeface="+mn-ea"/>
                <a:cs typeface="+mn-cs"/>
              </a:rPr>
              <a:t> BẰNG NHAU**</a:t>
            </a:r>
            <a:r>
              <a:rPr lang="en-US" sz="1200" b="0" kern="1200" dirty="0">
                <a:solidFill>
                  <a:schemeClr val="tx1"/>
                </a:solidFill>
                <a:effectLst/>
                <a:latin typeface="+mn-lt"/>
                <a:ea typeface="+mn-ea"/>
                <a:cs typeface="+mn-cs"/>
              </a:rPr>
              <a:t> (252px </a:t>
            </a:r>
            <a:r>
              <a:rPr lang="en-US" sz="1200" b="0" kern="1200" dirty="0" err="1">
                <a:solidFill>
                  <a:schemeClr val="tx1"/>
                </a:solidFill>
                <a:effectLst/>
                <a:latin typeface="+mn-lt"/>
                <a:ea typeface="+mn-ea"/>
                <a:cs typeface="+mn-cs"/>
              </a:rPr>
              <a:t>cả</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hai</a:t>
            </a:r>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4. </a:t>
            </a:r>
            <a:r>
              <a:rPr lang="en-US" sz="1200" b="1" kern="1200" dirty="0">
                <a:solidFill>
                  <a:schemeClr val="tx1"/>
                </a:solidFill>
                <a:effectLst/>
                <a:latin typeface="+mn-lt"/>
                <a:ea typeface="+mn-ea"/>
                <a:cs typeface="+mn-cs"/>
              </a:rPr>
              <a:t>**CASE A </a:t>
            </a:r>
            <a:r>
              <a:rPr lang="en-US" sz="1200" b="1" kern="1200" dirty="0" err="1">
                <a:solidFill>
                  <a:schemeClr val="tx1"/>
                </a:solidFill>
                <a:effectLst/>
                <a:latin typeface="+mn-lt"/>
                <a:ea typeface="+mn-ea"/>
                <a:cs typeface="+mn-cs"/>
              </a:rPr>
              <a:t>và</a:t>
            </a:r>
            <a:r>
              <a:rPr lang="en-US" sz="1200" b="1" kern="1200" dirty="0">
                <a:solidFill>
                  <a:schemeClr val="tx1"/>
                </a:solidFill>
                <a:effectLst/>
                <a:latin typeface="+mn-lt"/>
                <a:ea typeface="+mn-ea"/>
                <a:cs typeface="+mn-cs"/>
              </a:rPr>
              <a:t> CASE B**</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cùng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thứ</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tự</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đọc</a:t>
            </a:r>
            <a:r>
              <a:rPr lang="en-US" sz="1200" b="0" kern="1200" dirty="0">
                <a:solidFill>
                  <a:schemeClr val="tx1"/>
                </a:solidFill>
                <a:effectLst/>
                <a:latin typeface="+mn-lt"/>
                <a:ea typeface="+mn-ea"/>
                <a:cs typeface="+mn-cs"/>
              </a:rPr>
              <a:t> (bar sample </a:t>
            </a:r>
            <a:r>
              <a:rPr lang="en-US" sz="1200" b="0" kern="1200" dirty="0" err="1">
                <a:solidFill>
                  <a:schemeClr val="tx1"/>
                </a:solidFill>
                <a:effectLst/>
                <a:latin typeface="+mn-lt"/>
                <a:ea typeface="+mn-ea"/>
                <a:cs typeface="+mn-cs"/>
              </a:rPr>
              <a:t>trái</a:t>
            </a:r>
            <a:r>
              <a:rPr lang="en-US" sz="1200" b="0" kern="1200" dirty="0">
                <a:solidFill>
                  <a:schemeClr val="tx1"/>
                </a:solidFill>
                <a:effectLst/>
                <a:latin typeface="+mn-lt"/>
                <a:ea typeface="+mn-ea"/>
                <a:cs typeface="+mn-cs"/>
              </a:rPr>
              <a:t>, bar greedy </a:t>
            </a:r>
            <a:r>
              <a:rPr lang="en-US" sz="1200" b="0" kern="1200" dirty="0" err="1">
                <a:solidFill>
                  <a:schemeClr val="tx1"/>
                </a:solidFill>
                <a:effectLst/>
                <a:latin typeface="+mn-lt"/>
                <a:ea typeface="+mn-ea"/>
                <a:cs typeface="+mn-cs"/>
              </a:rPr>
              <a:t>phải</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5.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Nền</a:t>
            </a:r>
            <a:r>
              <a:rPr lang="en-US" sz="1200" b="1" kern="1200" dirty="0">
                <a:solidFill>
                  <a:schemeClr val="tx1"/>
                </a:solidFill>
                <a:effectLst/>
                <a:latin typeface="+mn-lt"/>
                <a:ea typeface="+mn-ea"/>
                <a:cs typeface="+mn-cs"/>
              </a:rPr>
              <a:t> `#F6F8FB`**</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đồng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bộ</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với</a:t>
            </a:r>
            <a:r>
              <a:rPr lang="en-US" sz="1200" b="0" kern="1200" dirty="0">
                <a:solidFill>
                  <a:schemeClr val="tx1"/>
                </a:solidFill>
                <a:effectLst/>
                <a:latin typeface="+mn-lt"/>
                <a:ea typeface="+mn-ea"/>
                <a:cs typeface="+mn-cs"/>
              </a:rPr>
              <a:t> 10 </a:t>
            </a:r>
            <a:r>
              <a:rPr lang="en-US" sz="1200" b="0" kern="1200" dirty="0" err="1">
                <a:solidFill>
                  <a:schemeClr val="tx1"/>
                </a:solidFill>
                <a:effectLst/>
                <a:latin typeface="+mn-lt"/>
                <a:ea typeface="+mn-ea"/>
                <a:cs typeface="+mn-cs"/>
              </a:rPr>
              <a:t>hình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còn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lại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Bản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cũ</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nền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kem</a:t>
            </a:r>
            <a:r>
              <a:rPr lang="en-US" sz="1200" b="0" kern="1200" dirty="0">
                <a:solidFill>
                  <a:schemeClr val="tx1"/>
                </a:solidFill>
                <a:effectLst/>
                <a:latin typeface="+mn-lt"/>
                <a:ea typeface="+mn-ea"/>
                <a:cs typeface="+mn-cs"/>
              </a:rPr>
              <a:t> `#FAF2E7`.</a:t>
            </a:r>
          </a:p>
          <a:p>
            <a:r>
              <a:rPr lang="en-US" sz="1200" b="0" kern="1200" dirty="0">
                <a:solidFill>
                  <a:schemeClr val="tx1"/>
                </a:solidFill>
                <a:effectLst/>
                <a:latin typeface="+mn-lt"/>
                <a:ea typeface="+mn-ea"/>
                <a:cs typeface="+mn-cs"/>
              </a:rPr>
              <a:t>6.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Không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vẽ</a:t>
            </a:r>
            <a:r>
              <a:rPr lang="en-US" sz="1200" b="1" kern="1200" dirty="0">
                <a:solidFill>
                  <a:schemeClr val="tx1"/>
                </a:solidFill>
                <a:effectLst/>
                <a:latin typeface="+mn-lt"/>
                <a:ea typeface="+mn-ea"/>
                <a:cs typeface="+mn-cs"/>
              </a:rPr>
              <a:t> critic / value network**</a:t>
            </a:r>
            <a:r>
              <a:rPr lang="en-US" sz="1200" b="0" kern="1200" dirty="0">
                <a:solidFill>
                  <a:schemeClr val="tx1"/>
                </a:solidFill>
                <a:effectLst/>
                <a:latin typeface="+mn-lt"/>
                <a:ea typeface="+mn-ea"/>
                <a:cs typeface="+mn-cs"/>
              </a:rPr>
              <a:t> — </a:t>
            </a:r>
            <a:r>
              <a:rPr lang="en-US" sz="1200" b="0" kern="1200" dirty="0" err="1">
                <a:solidFill>
                  <a:schemeClr val="tx1"/>
                </a:solidFill>
                <a:effectLst/>
                <a:latin typeface="+mn-lt"/>
                <a:ea typeface="+mn-ea"/>
                <a:cs typeface="+mn-cs"/>
              </a:rPr>
              <a:t>đúng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tinh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thần</a:t>
            </a:r>
            <a:r>
              <a:rPr lang="en-US" sz="1200" b="0" kern="1200" dirty="0">
                <a:solidFill>
                  <a:schemeClr val="tx1"/>
                </a:solidFill>
                <a:effectLst/>
                <a:latin typeface="+mn-lt"/>
                <a:ea typeface="+mn-ea"/>
                <a:cs typeface="+mn-cs"/>
              </a:rPr>
              <a:t> self-critical (baseline </a:t>
            </a:r>
            <a:r>
              <a:rPr lang="en-US" sz="1200" b="0" kern="1200" dirty="0" err="1">
                <a:solidFill>
                  <a:schemeClr val="tx1"/>
                </a:solidFill>
                <a:effectLst/>
                <a:latin typeface="+mn-lt"/>
                <a:ea typeface="+mn-ea"/>
                <a:cs typeface="+mn-cs"/>
              </a:rPr>
              <a:t>tự</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thân</a:t>
            </a:r>
            <a:r>
              <a:rPr lang="en-US" sz="1200" b="0" kern="1200" dirty="0">
                <a:solidFill>
                  <a:schemeClr val="tx1"/>
                </a:solidFill>
                <a:effectLst/>
                <a:latin typeface="+mn-lt"/>
                <a:ea typeface="+mn-ea"/>
                <a:cs typeface="+mn-cs"/>
              </a:rPr>
              <a:t>).</a:t>
            </a:r>
          </a:p>
        </p:txBody>
      </p:sp>
    </p:spTree>
    <p:extLst>
      <p:ext uri="{BB962C8B-B14F-4D97-AF65-F5344CB8AC3E}">
        <p14:creationId xmlns:p14="http://schemas.microsoft.com/office/powerpoint/2010/main" val="26088962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biệt pretrained/đóng băng (CLIP, BERT, ResNet, GPT-2/Gemma base) vs phần mình học (projector, Q-Former, head, LoRA, RL). Transfer learning trên tập </a:t>
            </a:r>
            <a:r>
              <a:rPr lang="en-US" dirty="0" err="1"/>
              <a:t>nhỏ</a:t>
            </a:r>
            <a:r>
              <a:rPr lang="en-US" dirty="0"/>
              <a:t>.</a:t>
            </a:r>
          </a:p>
          <a:p>
            <a:endParaRPr lang="en-US" dirty="0"/>
          </a:p>
          <a:p>
            <a:r>
              <a:rPr lang="en-US" sz="1200" b="1" i="0" kern="1200" dirty="0">
                <a:solidFill>
                  <a:schemeClr val="tx1"/>
                </a:solidFill>
                <a:effectLst/>
                <a:latin typeface="+mn-lt"/>
                <a:ea typeface="+mn-ea"/>
                <a:cs typeface="+mn-cs"/>
              </a:rPr>
              <a:t>MẶT A: </a:t>
            </a:r>
            <a:r>
              <a:rPr lang="en-US" sz="1200" b="1" i="0" kern="1200" dirty="0" err="1">
                <a:solidFill>
                  <a:schemeClr val="tx1"/>
                </a:solidFill>
                <a:effectLst/>
                <a:latin typeface="+mn-lt"/>
                <a:ea typeface="+mn-ea"/>
                <a:cs typeface="+mn-cs"/>
              </a:rPr>
              <a:t>Vì</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sao</a:t>
            </a:r>
            <a:r>
              <a:rPr lang="en-US" sz="1200" b="1" i="0" kern="1200" dirty="0">
                <a:solidFill>
                  <a:schemeClr val="tx1"/>
                </a:solidFill>
                <a:effectLst/>
                <a:latin typeface="+mn-lt"/>
                <a:ea typeface="+mn-ea"/>
                <a:cs typeface="+mn-cs"/>
              </a:rPr>
              <a:t> ban </a:t>
            </a:r>
            <a:r>
              <a:rPr lang="en-US" sz="1200" b="1" i="0" kern="1200" dirty="0" err="1">
                <a:solidFill>
                  <a:schemeClr val="tx1"/>
                </a:solidFill>
                <a:effectLst/>
                <a:latin typeface="+mn-lt"/>
                <a:ea typeface="+mn-ea"/>
                <a:cs typeface="+mn-cs"/>
              </a:rPr>
              <a:t>đầu</a:t>
            </a:r>
            <a:r>
              <a:rPr lang="en-US" sz="1200" b="1" i="0" kern="1200" dirty="0">
                <a:solidFill>
                  <a:schemeClr val="tx1"/>
                </a:solidFill>
                <a:effectLst/>
                <a:latin typeface="+mn-lt"/>
                <a:ea typeface="+mn-ea"/>
                <a:cs typeface="+mn-cs"/>
              </a:rPr>
              <a:t> BẮT BUỘC PHẢI ĐÓNG BẰNG? (Lý do </a:t>
            </a:r>
            <a:r>
              <a:rPr lang="en-US" sz="1200" b="1" i="0" kern="1200" dirty="0" err="1">
                <a:solidFill>
                  <a:schemeClr val="tx1"/>
                </a:solidFill>
                <a:effectLst/>
                <a:latin typeface="+mn-lt"/>
                <a:ea typeface="+mn-ea"/>
                <a:cs typeface="+mn-cs"/>
              </a:rPr>
              <a:t>Kỹ</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thuật</a:t>
            </a:r>
            <a:r>
              <a:rPr lang="en-US" sz="1200" b="1" i="0" kern="1200" dirty="0">
                <a:solidFill>
                  <a:schemeClr val="tx1"/>
                </a:solidFill>
                <a:effectLst/>
                <a:latin typeface="+mn-lt"/>
                <a:ea typeface="+mn-ea"/>
                <a:cs typeface="+mn-cs"/>
              </a:rPr>
              <a:t>)</a:t>
            </a:r>
          </a:p>
          <a:p>
            <a:r>
              <a:rPr lang="en-US" sz="1200" b="0" i="0" kern="1200" dirty="0" err="1">
                <a:solidFill>
                  <a:schemeClr val="tx1"/>
                </a:solidFill>
                <a:effectLst/>
                <a:latin typeface="+mn-lt"/>
                <a:ea typeface="+mn-ea"/>
                <a:cs typeface="+mn-cs"/>
              </a:rPr>
              <a:t>Trên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tập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dữ</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liệu</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VQA-RAD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số</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lượng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mẫu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thực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tế</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cực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nhỏ</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chỉ</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có</a:t>
            </a:r>
            <a:r>
              <a:rPr lang="en-US" sz="1200" b="1" i="0" kern="1200" dirty="0">
                <a:solidFill>
                  <a:schemeClr val="tx1"/>
                </a:solidFill>
                <a:effectLst/>
                <a:latin typeface="+mn-lt"/>
                <a:ea typeface="+mn-ea"/>
                <a:cs typeface="+mn-cs"/>
              </a:rPr>
              <a:t> 315 </a:t>
            </a:r>
            <a:r>
              <a:rPr lang="en-US" sz="1200" b="1" i="0" kern="1200" dirty="0" err="1">
                <a:solidFill>
                  <a:schemeClr val="tx1"/>
                </a:solidFill>
                <a:effectLst/>
                <a:latin typeface="+mn-lt"/>
                <a:ea typeface="+mn-ea"/>
                <a:cs typeface="+mn-cs"/>
              </a:rPr>
              <a:t>ảnh</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và</a:t>
            </a:r>
            <a:r>
              <a:rPr lang="en-US" sz="1200" b="1" i="0" kern="1200" dirty="0">
                <a:solidFill>
                  <a:schemeClr val="tx1"/>
                </a:solidFill>
                <a:effectLst/>
                <a:latin typeface="+mn-lt"/>
                <a:ea typeface="+mn-ea"/>
                <a:cs typeface="+mn-cs"/>
              </a:rPr>
              <a:t> ~1.793 </a:t>
            </a:r>
            <a:r>
              <a:rPr lang="en-US" sz="1200" b="1" i="0" kern="1200" dirty="0" err="1">
                <a:solidFill>
                  <a:schemeClr val="tx1"/>
                </a:solidFill>
                <a:effectLst/>
                <a:latin typeface="+mn-lt"/>
                <a:ea typeface="+mn-ea"/>
                <a:cs typeface="+mn-cs"/>
              </a:rPr>
              <a:t>câu</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hỏi</a:t>
            </a:r>
            <a:r>
              <a:rPr lang="en-US" sz="1200" b="0" i="0" kern="1200" dirty="0">
                <a:solidFill>
                  <a:schemeClr val="tx1"/>
                </a:solidFill>
                <a:effectLst/>
                <a:latin typeface="+mn-lt"/>
                <a:ea typeface="+mn-ea"/>
                <a:cs typeface="+mn-cs"/>
              </a:rPr>
              <a:t>.</a:t>
            </a:r>
          </a:p>
          <a:p>
            <a:r>
              <a:rPr lang="en-US" sz="1200" b="0" i="0" kern="1200" dirty="0" err="1">
                <a:solidFill>
                  <a:schemeClr val="tx1"/>
                </a:solidFill>
                <a:effectLst/>
                <a:latin typeface="+mn-lt"/>
                <a:ea typeface="+mn-ea"/>
                <a:cs typeface="+mn-cs"/>
              </a:rPr>
              <a:t>Nếu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anh</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chị</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UNFREEZE (</a:t>
            </a:r>
            <a:r>
              <a:rPr lang="en-US" sz="1200" b="1" i="0" kern="1200" dirty="0" err="1">
                <a:solidFill>
                  <a:schemeClr val="tx1"/>
                </a:solidFill>
                <a:effectLst/>
                <a:latin typeface="+mn-lt"/>
                <a:ea typeface="+mn-ea"/>
                <a:cs typeface="+mn-cs"/>
              </a:rPr>
              <a:t>cho</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học</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lại</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toàn</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bộ</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mô</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hình</a:t>
            </a:r>
            <a:r>
              <a:rPr lang="en-US" sz="1200" b="0" i="0" kern="1200" dirty="0">
                <a:solidFill>
                  <a:schemeClr val="tx1"/>
                </a:solidFill>
                <a:effectLst/>
                <a:latin typeface="+mn-lt"/>
                <a:ea typeface="+mn-ea"/>
                <a:cs typeface="+mn-cs"/>
              </a:rPr>
              <a:t> pretrained </a:t>
            </a:r>
            <a:r>
              <a:rPr lang="en-US" sz="1200" b="0" i="0" kern="1200" dirty="0" err="1">
                <a:solidFill>
                  <a:schemeClr val="tx1"/>
                </a:solidFill>
                <a:effectLst/>
                <a:latin typeface="+mn-lt"/>
                <a:ea typeface="+mn-ea"/>
                <a:cs typeface="+mn-cs"/>
              </a:rPr>
              <a:t>lớn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như</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PubMedCLIP</a:t>
            </a:r>
            <a:r>
              <a:rPr lang="en-US" sz="1200" b="0" i="0" kern="1200" dirty="0">
                <a:solidFill>
                  <a:schemeClr val="tx1"/>
                </a:solidFill>
                <a:effectLst/>
                <a:latin typeface="+mn-lt"/>
                <a:ea typeface="+mn-ea"/>
                <a:cs typeface="+mn-cs"/>
              </a:rPr>
              <a:t> (86M </a:t>
            </a:r>
            <a:r>
              <a:rPr lang="en-US" sz="1200" b="0" i="0" kern="1200" dirty="0" err="1">
                <a:solidFill>
                  <a:schemeClr val="tx1"/>
                </a:solidFill>
                <a:effectLst/>
                <a:latin typeface="+mn-lt"/>
                <a:ea typeface="+mn-ea"/>
                <a:cs typeface="+mn-cs"/>
              </a:rPr>
              <a:t>tham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số</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PubMedBERT</a:t>
            </a:r>
            <a:r>
              <a:rPr lang="en-US" sz="1200" b="0" i="0" kern="1200" dirty="0">
                <a:solidFill>
                  <a:schemeClr val="tx1"/>
                </a:solidFill>
                <a:effectLst/>
                <a:latin typeface="+mn-lt"/>
                <a:ea typeface="+mn-ea"/>
                <a:cs typeface="+mn-cs"/>
              </a:rPr>
              <a:t> (110M </a:t>
            </a:r>
            <a:r>
              <a:rPr lang="en-US" sz="1200" b="0" i="0" kern="1200" dirty="0" err="1">
                <a:solidFill>
                  <a:schemeClr val="tx1"/>
                </a:solidFill>
                <a:effectLst/>
                <a:latin typeface="+mn-lt"/>
                <a:ea typeface="+mn-ea"/>
                <a:cs typeface="+mn-cs"/>
              </a:rPr>
              <a:t>tham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số</a:t>
            </a:r>
            <a:r>
              <a:rPr lang="en-US" sz="1200" b="0" i="0" kern="1200" dirty="0">
                <a:solidFill>
                  <a:schemeClr val="tx1"/>
                </a:solidFill>
                <a:effectLst/>
                <a:latin typeface="+mn-lt"/>
                <a:ea typeface="+mn-ea"/>
                <a:cs typeface="+mn-cs"/>
              </a:rPr>
              <a:t>) hay GPT-2 (124M </a:t>
            </a:r>
            <a:r>
              <a:rPr lang="en-US" sz="1200" b="0" i="0" kern="1200" dirty="0" err="1">
                <a:solidFill>
                  <a:schemeClr val="tx1"/>
                </a:solidFill>
                <a:effectLst/>
                <a:latin typeface="+mn-lt"/>
                <a:ea typeface="+mn-ea"/>
                <a:cs typeface="+mn-cs"/>
              </a:rPr>
              <a:t>tham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số</a:t>
            </a:r>
            <a:r>
              <a:rPr lang="en-US" sz="1200" b="0" i="0" kern="1200" dirty="0">
                <a:solidFill>
                  <a:schemeClr val="tx1"/>
                </a:solidFill>
                <a:effectLst/>
                <a:latin typeface="+mn-lt"/>
                <a:ea typeface="+mn-ea"/>
                <a:cs typeface="+mn-cs"/>
              </a:rPr>
              <a:t>):</a:t>
            </a:r>
          </a:p>
          <a:p>
            <a:pPr lvl="0"/>
            <a:r>
              <a:rPr lang="en-US" sz="1200" b="1" i="0" kern="1200" dirty="0" err="1">
                <a:solidFill>
                  <a:schemeClr val="tx1"/>
                </a:solidFill>
                <a:effectLst/>
                <a:latin typeface="+mn-lt"/>
                <a:ea typeface="+mn-ea"/>
                <a:cs typeface="+mn-cs"/>
              </a:rPr>
              <a:t>Thảm</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họa</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Quá</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khớp</a:t>
            </a:r>
            <a:r>
              <a:rPr lang="en-US" sz="1200" b="1" i="0" kern="1200" dirty="0">
                <a:solidFill>
                  <a:schemeClr val="tx1"/>
                </a:solidFill>
                <a:effectLst/>
                <a:latin typeface="+mn-lt"/>
                <a:ea typeface="+mn-ea"/>
                <a:cs typeface="+mn-cs"/>
              </a:rPr>
              <a:t> (Severe Overfitting):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Với</a:t>
            </a:r>
            <a:r>
              <a:rPr lang="en-US" sz="1200" b="0" i="0" kern="1200" dirty="0">
                <a:solidFill>
                  <a:schemeClr val="tx1"/>
                </a:solidFill>
                <a:effectLst/>
                <a:latin typeface="+mn-lt"/>
                <a:ea typeface="+mn-ea"/>
                <a:cs typeface="+mn-cs"/>
              </a:rPr>
              <a:t> 1.793 </a:t>
            </a:r>
            <a:r>
              <a:rPr lang="en-US" sz="1200" b="0" i="0" kern="1200" dirty="0" err="1">
                <a:solidFill>
                  <a:schemeClr val="tx1"/>
                </a:solidFill>
                <a:effectLst/>
                <a:latin typeface="+mn-lt"/>
                <a:ea typeface="+mn-ea"/>
                <a:cs typeface="+mn-cs"/>
              </a:rPr>
              <a:t>mẫu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phải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cập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nhật</a:t>
            </a:r>
            <a:r>
              <a:rPr lang="en-US" sz="1200" b="0" i="0" kern="1200" dirty="0">
                <a:solidFill>
                  <a:schemeClr val="tx1"/>
                </a:solidFill>
                <a:effectLst/>
                <a:latin typeface="+mn-lt"/>
                <a:ea typeface="+mn-ea"/>
                <a:cs typeface="+mn-cs"/>
              </a:rPr>
              <a:t> &gt;300 </a:t>
            </a:r>
            <a:r>
              <a:rPr lang="en-US" sz="1200" b="0" i="0" kern="1200" dirty="0" err="1">
                <a:solidFill>
                  <a:schemeClr val="tx1"/>
                </a:solidFill>
                <a:effectLst/>
                <a:latin typeface="+mn-lt"/>
                <a:ea typeface="+mn-ea"/>
                <a:cs typeface="+mn-cs"/>
              </a:rPr>
              <a:t>triệu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tham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số</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mô</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hình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sẽ</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học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thuộc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lòng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ghi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nhớ</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vẹt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tập</a:t>
            </a:r>
            <a:r>
              <a:rPr lang="en-US" sz="1200" b="0" i="0" kern="1200" dirty="0">
                <a:solidFill>
                  <a:schemeClr val="tx1"/>
                </a:solidFill>
                <a:effectLst/>
                <a:latin typeface="+mn-lt"/>
                <a:ea typeface="+mn-ea"/>
                <a:cs typeface="+mn-cs"/>
              </a:rPr>
              <a:t> train </a:t>
            </a:r>
            <a:r>
              <a:rPr lang="en-US" sz="1200" b="0" i="0" kern="1200" dirty="0" err="1">
                <a:solidFill>
                  <a:schemeClr val="tx1"/>
                </a:solidFill>
                <a:effectLst/>
                <a:latin typeface="+mn-lt"/>
                <a:ea typeface="+mn-ea"/>
                <a:cs typeface="+mn-cs"/>
              </a:rPr>
              <a:t>chỉ</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sau</a:t>
            </a:r>
            <a:r>
              <a:rPr lang="en-US" sz="1200" b="0" i="0" kern="1200" dirty="0">
                <a:solidFill>
                  <a:schemeClr val="tx1"/>
                </a:solidFill>
                <a:effectLst/>
                <a:latin typeface="+mn-lt"/>
                <a:ea typeface="+mn-ea"/>
                <a:cs typeface="+mn-cs"/>
              </a:rPr>
              <a:t> 1-2 epoch. </a:t>
            </a:r>
            <a:r>
              <a:rPr lang="en-US" sz="1200" b="0" i="0" kern="1200" dirty="0" err="1">
                <a:solidFill>
                  <a:schemeClr val="tx1"/>
                </a:solidFill>
                <a:effectLst/>
                <a:latin typeface="+mn-lt"/>
                <a:ea typeface="+mn-ea"/>
                <a:cs typeface="+mn-cs"/>
              </a:rPr>
              <a:t>Điểm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trên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tập</a:t>
            </a:r>
            <a:r>
              <a:rPr lang="en-US" sz="1200" b="0" i="0" kern="1200" dirty="0">
                <a:solidFill>
                  <a:schemeClr val="tx1"/>
                </a:solidFill>
                <a:effectLst/>
                <a:latin typeface="+mn-lt"/>
                <a:ea typeface="+mn-ea"/>
                <a:cs typeface="+mn-cs"/>
              </a:rPr>
              <a:t> train </a:t>
            </a:r>
            <a:r>
              <a:rPr lang="en-US" sz="1200" b="0" i="0" kern="1200" dirty="0" err="1">
                <a:solidFill>
                  <a:schemeClr val="tx1"/>
                </a:solidFill>
                <a:effectLst/>
                <a:latin typeface="+mn-lt"/>
                <a:ea typeface="+mn-ea"/>
                <a:cs typeface="+mn-cs"/>
              </a:rPr>
              <a:t>có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đạt</a:t>
            </a:r>
            <a:r>
              <a:rPr lang="en-US" sz="1200" b="0" i="0" kern="1200" dirty="0">
                <a:solidFill>
                  <a:schemeClr val="tx1"/>
                </a:solidFill>
                <a:effectLst/>
                <a:latin typeface="+mn-lt"/>
                <a:ea typeface="+mn-ea"/>
                <a:cs typeface="+mn-cs"/>
              </a:rPr>
              <a:t> 100%, </a:t>
            </a:r>
            <a:r>
              <a:rPr lang="en-US" sz="1200" b="0" i="0" kern="1200" dirty="0" err="1">
                <a:solidFill>
                  <a:schemeClr val="tx1"/>
                </a:solidFill>
                <a:effectLst/>
                <a:latin typeface="+mn-lt"/>
                <a:ea typeface="+mn-ea"/>
                <a:cs typeface="+mn-cs"/>
              </a:rPr>
              <a:t>nhưng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tập</a:t>
            </a:r>
            <a:r>
              <a:rPr lang="en-US" sz="1200" b="0" i="0" kern="1200" dirty="0">
                <a:solidFill>
                  <a:schemeClr val="tx1"/>
                </a:solidFill>
                <a:effectLst/>
                <a:latin typeface="+mn-lt"/>
                <a:ea typeface="+mn-ea"/>
                <a:cs typeface="+mn-cs"/>
              </a:rPr>
              <a:t> test </a:t>
            </a:r>
            <a:r>
              <a:rPr lang="en-US" sz="1200" b="0" i="0" kern="1200" dirty="0" err="1">
                <a:solidFill>
                  <a:schemeClr val="tx1"/>
                </a:solidFill>
                <a:effectLst/>
                <a:latin typeface="+mn-lt"/>
                <a:ea typeface="+mn-ea"/>
                <a:cs typeface="+mn-cs"/>
              </a:rPr>
              <a:t>sạch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RadImageNet</a:t>
            </a:r>
            <a:r>
              <a:rPr lang="en-US" sz="1200" b="0" i="0" kern="1200" dirty="0">
                <a:solidFill>
                  <a:schemeClr val="tx1"/>
                </a:solidFill>
                <a:effectLst/>
                <a:latin typeface="+mn-lt"/>
                <a:ea typeface="+mn-ea"/>
                <a:cs typeface="+mn-cs"/>
              </a:rPr>
              <a:t>-VQA) </a:t>
            </a:r>
            <a:r>
              <a:rPr lang="en-US" sz="1200" b="0" i="0" kern="1200" dirty="0" err="1">
                <a:solidFill>
                  <a:schemeClr val="tx1"/>
                </a:solidFill>
                <a:effectLst/>
                <a:latin typeface="+mn-lt"/>
                <a:ea typeface="+mn-ea"/>
                <a:cs typeface="+mn-cs"/>
              </a:rPr>
              <a:t>điểm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sẽ</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rớt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về</a:t>
            </a:r>
            <a:r>
              <a:rPr lang="en-US" sz="1200" b="0" i="0" kern="1200" dirty="0">
                <a:solidFill>
                  <a:schemeClr val="tx1"/>
                </a:solidFill>
                <a:effectLst/>
                <a:latin typeface="+mn-lt"/>
                <a:ea typeface="+mn-ea"/>
                <a:cs typeface="+mn-cs"/>
              </a:rPr>
              <a:t> 0.</a:t>
            </a:r>
          </a:p>
          <a:p>
            <a:pPr lvl="0"/>
            <a:r>
              <a:rPr lang="en-US" sz="1200" b="1" i="0" kern="1200" dirty="0" err="1">
                <a:solidFill>
                  <a:schemeClr val="tx1"/>
                </a:solidFill>
                <a:effectLst/>
                <a:latin typeface="+mn-lt"/>
                <a:ea typeface="+mn-ea"/>
                <a:cs typeface="+mn-cs"/>
              </a:rPr>
              <a:t>Thảm</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họa</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Quên</a:t>
            </a:r>
            <a:r>
              <a:rPr lang="en-US" sz="1200" b="1" i="0" kern="1200" dirty="0">
                <a:solidFill>
                  <a:schemeClr val="tx1"/>
                </a:solidFill>
                <a:effectLst/>
                <a:latin typeface="+mn-lt"/>
                <a:ea typeface="+mn-ea"/>
                <a:cs typeface="+mn-cs"/>
              </a:rPr>
              <a:t> tri </a:t>
            </a:r>
            <a:r>
              <a:rPr lang="en-US" sz="1200" b="1" i="0" kern="1200" dirty="0" err="1">
                <a:solidFill>
                  <a:schemeClr val="tx1"/>
                </a:solidFill>
                <a:effectLst/>
                <a:latin typeface="+mn-lt"/>
                <a:ea typeface="+mn-ea"/>
                <a:cs typeface="+mn-cs"/>
              </a:rPr>
              <a:t>thức</a:t>
            </a:r>
            <a:r>
              <a:rPr lang="en-US" sz="1200" b="1" i="0" kern="1200" dirty="0">
                <a:solidFill>
                  <a:schemeClr val="tx1"/>
                </a:solidFill>
                <a:effectLst/>
                <a:latin typeface="+mn-lt"/>
                <a:ea typeface="+mn-ea"/>
                <a:cs typeface="+mn-cs"/>
              </a:rPr>
              <a:t> (Catastrophic Forgetting):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PubMedCLIP</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PubMedBERT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được</a:t>
            </a:r>
            <a:r>
              <a:rPr lang="en-US" sz="1200" b="0" i="0" kern="1200" dirty="0">
                <a:solidFill>
                  <a:schemeClr val="tx1"/>
                </a:solidFill>
                <a:effectLst/>
                <a:latin typeface="+mn-lt"/>
                <a:ea typeface="+mn-ea"/>
                <a:cs typeface="+mn-cs"/>
              </a:rPr>
              <a:t> Google/Microsoft </a:t>
            </a:r>
            <a:r>
              <a:rPr lang="en-US" sz="1200" b="0" i="0" kern="1200" dirty="0" err="1">
                <a:solidFill>
                  <a:schemeClr val="tx1"/>
                </a:solidFill>
                <a:effectLst/>
                <a:latin typeface="+mn-lt"/>
                <a:ea typeface="+mn-ea"/>
                <a:cs typeface="+mn-cs"/>
              </a:rPr>
              <a:t>huấn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luyện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trên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hàng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triệu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ảnh</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văn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bản</a:t>
            </a:r>
            <a:r>
              <a:rPr lang="en-US" sz="1200" b="0" i="0" kern="1200" dirty="0">
                <a:solidFill>
                  <a:schemeClr val="tx1"/>
                </a:solidFill>
                <a:effectLst/>
                <a:latin typeface="+mn-lt"/>
                <a:ea typeface="+mn-ea"/>
                <a:cs typeface="+mn-cs"/>
              </a:rPr>
              <a:t> y khoa. </a:t>
            </a:r>
            <a:r>
              <a:rPr lang="en-US" sz="1200" b="0" i="0" kern="1200" dirty="0" err="1">
                <a:solidFill>
                  <a:schemeClr val="tx1"/>
                </a:solidFill>
                <a:effectLst/>
                <a:latin typeface="+mn-lt"/>
                <a:ea typeface="+mn-ea"/>
                <a:cs typeface="+mn-cs"/>
              </a:rPr>
              <a:t>Nếu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ép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cập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nhật</a:t>
            </a:r>
            <a:r>
              <a:rPr lang="en-US" sz="1200" b="0" i="0" kern="1200" dirty="0">
                <a:solidFill>
                  <a:schemeClr val="tx1"/>
                </a:solidFill>
                <a:effectLst/>
                <a:latin typeface="+mn-lt"/>
                <a:ea typeface="+mn-ea"/>
                <a:cs typeface="+mn-cs"/>
              </a:rPr>
              <a:t> gradient </a:t>
            </a:r>
            <a:r>
              <a:rPr lang="en-US" sz="1200" b="0" i="0" kern="1200" dirty="0" err="1">
                <a:solidFill>
                  <a:schemeClr val="tx1"/>
                </a:solidFill>
                <a:effectLst/>
                <a:latin typeface="+mn-lt"/>
                <a:ea typeface="+mn-ea"/>
                <a:cs typeface="+mn-cs"/>
              </a:rPr>
              <a:t>trên</a:t>
            </a:r>
            <a:r>
              <a:rPr lang="en-US" sz="1200" b="0" i="0" kern="1200" dirty="0">
                <a:solidFill>
                  <a:schemeClr val="tx1"/>
                </a:solidFill>
                <a:effectLst/>
                <a:latin typeface="+mn-lt"/>
                <a:ea typeface="+mn-ea"/>
                <a:cs typeface="+mn-cs"/>
              </a:rPr>
              <a:t> 1.793 </a:t>
            </a:r>
            <a:r>
              <a:rPr lang="en-US" sz="1200" b="0" i="0" kern="1200" dirty="0" err="1">
                <a:solidFill>
                  <a:schemeClr val="tx1"/>
                </a:solidFill>
                <a:effectLst/>
                <a:latin typeface="+mn-lt"/>
                <a:ea typeface="+mn-ea"/>
                <a:cs typeface="+mn-cs"/>
              </a:rPr>
              <a:t>mẫu</a:t>
            </a:r>
            <a:r>
              <a:rPr lang="en-US" sz="1200" b="0" i="0" kern="1200" dirty="0">
                <a:solidFill>
                  <a:schemeClr val="tx1"/>
                </a:solidFill>
                <a:effectLst/>
                <a:latin typeface="+mn-lt"/>
                <a:ea typeface="+mn-ea"/>
                <a:cs typeface="+mn-cs"/>
              </a:rPr>
              <a:t> VQA-RAD </a:t>
            </a:r>
            <a:r>
              <a:rPr lang="en-US" sz="1200" b="0" i="0" kern="1200" dirty="0" err="1">
                <a:solidFill>
                  <a:schemeClr val="tx1"/>
                </a:solidFill>
                <a:effectLst/>
                <a:latin typeface="+mn-lt"/>
                <a:ea typeface="+mn-ea"/>
                <a:cs typeface="+mn-cs"/>
              </a:rPr>
              <a:t>với</a:t>
            </a:r>
            <a:r>
              <a:rPr lang="en-US" sz="1200" b="0" i="0" kern="1200" dirty="0">
                <a:solidFill>
                  <a:schemeClr val="tx1"/>
                </a:solidFill>
                <a:effectLst/>
                <a:latin typeface="+mn-lt"/>
                <a:ea typeface="+mn-ea"/>
                <a:cs typeface="+mn-cs"/>
              </a:rPr>
              <a:t> learning rate </a:t>
            </a:r>
            <a:r>
              <a:rPr lang="en-US" sz="1200" b="0" i="0" kern="1200" dirty="0" err="1">
                <a:solidFill>
                  <a:schemeClr val="tx1"/>
                </a:solidFill>
                <a:effectLst/>
                <a:latin typeface="+mn-lt"/>
                <a:ea typeface="+mn-ea"/>
                <a:cs typeface="+mn-cs"/>
              </a:rPr>
              <a:t>lớn</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toàn</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bộ</a:t>
            </a:r>
            <a:r>
              <a:rPr lang="en-US" sz="1200" b="1" i="0" kern="1200" dirty="0">
                <a:solidFill>
                  <a:schemeClr val="tx1"/>
                </a:solidFill>
                <a:effectLst/>
                <a:latin typeface="+mn-lt"/>
                <a:ea typeface="+mn-ea"/>
                <a:cs typeface="+mn-cs"/>
              </a:rPr>
              <a:t> tri </a:t>
            </a:r>
            <a:r>
              <a:rPr lang="en-US" sz="1200" b="1" i="0" kern="1200" dirty="0" err="1">
                <a:solidFill>
                  <a:schemeClr val="tx1"/>
                </a:solidFill>
                <a:effectLst/>
                <a:latin typeface="+mn-lt"/>
                <a:ea typeface="+mn-ea"/>
                <a:cs typeface="+mn-cs"/>
              </a:rPr>
              <a:t>thức</a:t>
            </a:r>
            <a:r>
              <a:rPr lang="en-US" sz="1200" b="1" i="0" kern="1200" dirty="0">
                <a:solidFill>
                  <a:schemeClr val="tx1"/>
                </a:solidFill>
                <a:effectLst/>
                <a:latin typeface="+mn-lt"/>
                <a:ea typeface="+mn-ea"/>
                <a:cs typeface="+mn-cs"/>
              </a:rPr>
              <a:t> y khoa </a:t>
            </a:r>
            <a:r>
              <a:rPr lang="en-US" sz="1200" b="1" i="0" kern="1200" dirty="0" err="1">
                <a:solidFill>
                  <a:schemeClr val="tx1"/>
                </a:solidFill>
                <a:effectLst/>
                <a:latin typeface="+mn-lt"/>
                <a:ea typeface="+mn-ea"/>
                <a:cs typeface="+mn-cs"/>
              </a:rPr>
              <a:t>tổng</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quát</a:t>
            </a:r>
            <a:r>
              <a:rPr lang="en-US" sz="1200" b="1" i="0" kern="1200" dirty="0">
                <a:solidFill>
                  <a:schemeClr val="tx1"/>
                </a:solidFill>
                <a:effectLst/>
                <a:latin typeface="+mn-lt"/>
                <a:ea typeface="+mn-ea"/>
                <a:cs typeface="+mn-cs"/>
              </a:rPr>
              <a:t> ban </a:t>
            </a:r>
            <a:r>
              <a:rPr lang="en-US" sz="1200" b="1" i="0" kern="1200" dirty="0" err="1">
                <a:solidFill>
                  <a:schemeClr val="tx1"/>
                </a:solidFill>
                <a:effectLst/>
                <a:latin typeface="+mn-lt"/>
                <a:ea typeface="+mn-ea"/>
                <a:cs typeface="+mn-cs"/>
              </a:rPr>
              <a:t>đầu</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sẽ</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bị</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xoá</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sạch</a:t>
            </a:r>
            <a:r>
              <a:rPr lang="en-US" sz="1200" b="1" i="0" kern="1200" dirty="0">
                <a:solidFill>
                  <a:schemeClr val="tx1"/>
                </a:solidFill>
                <a:effectLst/>
                <a:latin typeface="+mn-lt"/>
                <a:ea typeface="+mn-ea"/>
                <a:cs typeface="+mn-cs"/>
              </a:rPr>
              <a:t> (corrupted)</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Đóng</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băng</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là</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giải</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pháp</a:t>
            </a:r>
            <a:r>
              <a:rPr lang="en-US" sz="1200" b="1" i="0" kern="1200" dirty="0">
                <a:solidFill>
                  <a:schemeClr val="tx1"/>
                </a:solidFill>
                <a:effectLst/>
                <a:latin typeface="+mn-lt"/>
                <a:ea typeface="+mn-ea"/>
                <a:cs typeface="+mn-cs"/>
              </a:rPr>
              <a:t> "Bảo </a:t>
            </a:r>
            <a:r>
              <a:rPr lang="en-US" sz="1200" b="1" i="0" kern="1200" dirty="0" err="1">
                <a:solidFill>
                  <a:schemeClr val="tx1"/>
                </a:solidFill>
                <a:effectLst/>
                <a:latin typeface="+mn-lt"/>
                <a:ea typeface="+mn-ea"/>
                <a:cs typeface="+mn-cs"/>
              </a:rPr>
              <a:t>vệ</a:t>
            </a:r>
            <a:r>
              <a:rPr lang="en-US" sz="1200" b="1" i="0" kern="1200" dirty="0">
                <a:solidFill>
                  <a:schemeClr val="tx1"/>
                </a:solidFill>
                <a:effectLst/>
                <a:latin typeface="+mn-lt"/>
                <a:ea typeface="+mn-ea"/>
                <a:cs typeface="+mn-cs"/>
              </a:rPr>
              <a:t> tri </a:t>
            </a:r>
            <a:r>
              <a:rPr lang="en-US" sz="1200" b="1" i="0" kern="1200" dirty="0" err="1">
                <a:solidFill>
                  <a:schemeClr val="tx1"/>
                </a:solidFill>
                <a:effectLst/>
                <a:latin typeface="+mn-lt"/>
                <a:ea typeface="+mn-ea"/>
                <a:cs typeface="+mn-cs"/>
              </a:rPr>
              <a:t>thức</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gốc</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chỉ</a:t>
            </a:r>
            <a:r>
              <a:rPr lang="en-US" sz="1200" b="0" i="0" kern="1200" dirty="0">
                <a:solidFill>
                  <a:schemeClr val="tx1"/>
                </a:solidFill>
                <a:effectLst/>
                <a:latin typeface="+mn-lt"/>
                <a:ea typeface="+mn-ea"/>
                <a:cs typeface="+mn-cs"/>
              </a:rPr>
              <a:t> train </a:t>
            </a:r>
            <a:r>
              <a:rPr lang="en-US" sz="1200" b="0" i="0" kern="1200" dirty="0" err="1">
                <a:solidFill>
                  <a:schemeClr val="tx1"/>
                </a:solidFill>
                <a:effectLst/>
                <a:latin typeface="+mn-lt"/>
                <a:ea typeface="+mn-ea"/>
                <a:cs typeface="+mn-cs"/>
              </a:rPr>
              <a:t>phần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cầu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nối</a:t>
            </a:r>
            <a:r>
              <a:rPr lang="en-US" sz="1200" b="0" i="0" kern="1200" dirty="0">
                <a:solidFill>
                  <a:schemeClr val="tx1"/>
                </a:solidFill>
                <a:effectLst/>
                <a:latin typeface="+mn-lt"/>
                <a:ea typeface="+mn-ea"/>
                <a:cs typeface="+mn-cs"/>
              </a:rPr>
              <a:t> (Projector) </a:t>
            </a:r>
            <a:r>
              <a:rPr lang="en-US" sz="1200" b="0" i="0" kern="1200" dirty="0" err="1">
                <a:solidFill>
                  <a:schemeClr val="tx1"/>
                </a:solidFill>
                <a:effectLst/>
                <a:latin typeface="+mn-lt"/>
                <a:ea typeface="+mn-ea"/>
                <a:cs typeface="+mn-cs"/>
              </a:rPr>
              <a:t>để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giữ</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cho</a:t>
            </a:r>
            <a:r>
              <a:rPr lang="en-US" sz="1200" b="0" i="0" kern="1200" dirty="0">
                <a:solidFill>
                  <a:schemeClr val="tx1"/>
                </a:solidFill>
                <a:effectLst/>
                <a:latin typeface="+mn-lt"/>
                <a:ea typeface="+mn-ea"/>
                <a:cs typeface="+mn-cs"/>
              </a:rPr>
              <a:t> backbone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bị</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hỏng</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t>
            </a:r>
          </a:p>
          <a:p>
            <a:pPr lvl="0"/>
            <a:r>
              <a:rPr lang="en-US" sz="1200" b="1" i="0" kern="1200" dirty="0" err="1">
                <a:solidFill>
                  <a:schemeClr val="tx1"/>
                </a:solidFill>
                <a:effectLst/>
                <a:latin typeface="+mn-lt"/>
                <a:ea typeface="+mn-ea"/>
                <a:cs typeface="+mn-cs"/>
              </a:rPr>
              <a:t>Độ</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lệch</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miền</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dữ</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liệu</a:t>
            </a:r>
            <a:r>
              <a:rPr lang="en-US" sz="1200" b="1" i="0" kern="1200" dirty="0">
                <a:solidFill>
                  <a:schemeClr val="tx1"/>
                </a:solidFill>
                <a:effectLst/>
                <a:latin typeface="+mn-lt"/>
                <a:ea typeface="+mn-ea"/>
                <a:cs typeface="+mn-cs"/>
              </a:rPr>
              <a:t> (Domain Shift):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Ảnh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đặt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câu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hỏi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ngắn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trong</a:t>
            </a:r>
            <a:r>
              <a:rPr lang="en-US" sz="1200" b="0" i="0" kern="1200" dirty="0">
                <a:solidFill>
                  <a:schemeClr val="tx1"/>
                </a:solidFill>
                <a:effectLst/>
                <a:latin typeface="+mn-lt"/>
                <a:ea typeface="+mn-ea"/>
                <a:cs typeface="+mn-cs"/>
              </a:rPr>
              <a:t> VQA-RAD </a:t>
            </a:r>
            <a:r>
              <a:rPr lang="en-US" sz="1200" b="0" i="0" kern="1200" dirty="0" err="1">
                <a:solidFill>
                  <a:schemeClr val="tx1"/>
                </a:solidFill>
                <a:effectLst/>
                <a:latin typeface="+mn-lt"/>
                <a:ea typeface="+mn-ea"/>
                <a:cs typeface="+mn-cs"/>
              </a:rPr>
              <a:t>có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phong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lâm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sàng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riêng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Nếu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đóng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băng</a:t>
            </a:r>
            <a:r>
              <a:rPr lang="en-US" sz="1200" b="0" i="0" kern="1200" dirty="0">
                <a:solidFill>
                  <a:schemeClr val="tx1"/>
                </a:solidFill>
                <a:effectLst/>
                <a:latin typeface="+mn-lt"/>
                <a:ea typeface="+mn-ea"/>
                <a:cs typeface="+mn-cs"/>
              </a:rPr>
              <a:t> 100% Encoder, Encoder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điều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chỉnh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lọc</a:t>
            </a:r>
            <a:r>
              <a:rPr lang="en-US" sz="1200" b="0" i="0" kern="1200" dirty="0">
                <a:solidFill>
                  <a:schemeClr val="tx1"/>
                </a:solidFill>
                <a:effectLst/>
                <a:latin typeface="+mn-lt"/>
                <a:ea typeface="+mn-ea"/>
                <a:cs typeface="+mn-cs"/>
              </a:rPr>
              <a:t> (filter) </a:t>
            </a:r>
            <a:r>
              <a:rPr lang="en-US" sz="1200" b="0" i="0" kern="1200" dirty="0" err="1">
                <a:solidFill>
                  <a:schemeClr val="tx1"/>
                </a:solidFill>
                <a:effectLst/>
                <a:latin typeface="+mn-lt"/>
                <a:ea typeface="+mn-ea"/>
                <a:cs typeface="+mn-cs"/>
              </a:rPr>
              <a:t>để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thích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nghi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tốt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với</a:t>
            </a:r>
            <a:r>
              <a:rPr lang="en-US" sz="1200" b="0" i="0" kern="1200" dirty="0">
                <a:solidFill>
                  <a:schemeClr val="tx1"/>
                </a:solidFill>
                <a:effectLst/>
                <a:latin typeface="+mn-lt"/>
                <a:ea typeface="+mn-ea"/>
                <a:cs typeface="+mn-cs"/>
              </a:rPr>
              <a:t> VQA-RAD.</a:t>
            </a:r>
          </a:p>
          <a:p>
            <a:pPr lvl="0"/>
            <a:r>
              <a:rPr lang="en-US" sz="1200" b="1" i="0" kern="1200" dirty="0">
                <a:solidFill>
                  <a:schemeClr val="tx1"/>
                </a:solidFill>
                <a:effectLst/>
                <a:latin typeface="+mn-lt"/>
                <a:ea typeface="+mn-ea"/>
                <a:cs typeface="+mn-cs"/>
              </a:rPr>
              <a:t>Trường </a:t>
            </a:r>
            <a:r>
              <a:rPr lang="en-US" sz="1200" b="1" i="0" kern="1200" dirty="0" err="1">
                <a:solidFill>
                  <a:schemeClr val="tx1"/>
                </a:solidFill>
                <a:effectLst/>
                <a:latin typeface="+mn-lt"/>
                <a:ea typeface="+mn-ea"/>
                <a:cs typeface="+mn-cs"/>
              </a:rPr>
              <a:t>hợp</a:t>
            </a:r>
            <a:r>
              <a:rPr lang="en-US" sz="1200" b="1" i="0" kern="1200" dirty="0">
                <a:solidFill>
                  <a:schemeClr val="tx1"/>
                </a:solidFill>
                <a:effectLst/>
                <a:latin typeface="+mn-lt"/>
                <a:ea typeface="+mn-ea"/>
                <a:cs typeface="+mn-cs"/>
              </a:rPr>
              <a:t> Encoder </a:t>
            </a:r>
            <a:r>
              <a:rPr lang="en-US" sz="1200" b="1" i="0" kern="1200" dirty="0" err="1">
                <a:solidFill>
                  <a:schemeClr val="tx1"/>
                </a:solidFill>
                <a:effectLst/>
                <a:latin typeface="+mn-lt"/>
                <a:ea typeface="+mn-ea"/>
                <a:cs typeface="+mn-cs"/>
              </a:rPr>
              <a:t>bỏ</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sót</a:t>
            </a:r>
            <a:r>
              <a:rPr lang="en-US" sz="1200" b="1" i="0" kern="1200" dirty="0">
                <a:solidFill>
                  <a:schemeClr val="tx1"/>
                </a:solidFill>
                <a:effectLst/>
                <a:latin typeface="+mn-lt"/>
                <a:ea typeface="+mn-ea"/>
                <a:cs typeface="+mn-cs"/>
              </a:rPr>
              <a:t> chi </a:t>
            </a:r>
            <a:r>
              <a:rPr lang="en-US" sz="1200" b="1" i="0" kern="1200" dirty="0" err="1">
                <a:solidFill>
                  <a:schemeClr val="tx1"/>
                </a:solidFill>
                <a:effectLst/>
                <a:latin typeface="+mn-lt"/>
                <a:ea typeface="+mn-ea"/>
                <a:cs typeface="+mn-cs"/>
              </a:rPr>
              <a:t>tiết</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Nếu</a:t>
            </a:r>
            <a:r>
              <a:rPr lang="en-US" sz="1200" b="0" i="0" kern="1200" dirty="0">
                <a:solidFill>
                  <a:schemeClr val="tx1"/>
                </a:solidFill>
                <a:effectLst/>
                <a:latin typeface="+mn-lt"/>
                <a:ea typeface="+mn-ea"/>
                <a:cs typeface="+mn-cs"/>
              </a:rPr>
              <a:t> Encoder </a:t>
            </a:r>
            <a:r>
              <a:rPr lang="en-US" sz="1200" b="0" i="0" kern="1200" dirty="0" err="1">
                <a:solidFill>
                  <a:schemeClr val="tx1"/>
                </a:solidFill>
                <a:effectLst/>
                <a:latin typeface="+mn-lt"/>
                <a:ea typeface="+mn-ea"/>
                <a:cs typeface="+mn-cs"/>
              </a:rPr>
              <a:t>bị</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đóng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băng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xuất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một</a:t>
            </a:r>
            <a:r>
              <a:rPr lang="en-US" sz="1200" b="0" i="0" kern="1200" dirty="0">
                <a:solidFill>
                  <a:schemeClr val="tx1"/>
                </a:solidFill>
                <a:effectLst/>
                <a:latin typeface="+mn-lt"/>
                <a:ea typeface="+mn-ea"/>
                <a:cs typeface="+mn-cs"/>
              </a:rPr>
              <a:t> vector $v_{</a:t>
            </a:r>
            <a:r>
              <a:rPr lang="en-US" sz="1200" b="0" i="0" kern="1200" dirty="0" err="1">
                <a:solidFill>
                  <a:schemeClr val="tx1"/>
                </a:solidFill>
                <a:effectLst/>
                <a:latin typeface="+mn-lt"/>
                <a:ea typeface="+mn-ea"/>
                <a:cs typeface="+mn-cs"/>
              </a:rPr>
              <a:t>img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bị</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thiếu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thông</a:t>
            </a:r>
            <a:r>
              <a:rPr lang="en-US" sz="1200" b="0" i="0" kern="1200" dirty="0">
                <a:solidFill>
                  <a:schemeClr val="tx1"/>
                </a:solidFill>
                <a:effectLst/>
                <a:latin typeface="+mn-lt"/>
                <a:ea typeface="+mn-ea"/>
                <a:cs typeface="+mn-cs"/>
              </a:rPr>
              <a:t> tin </a:t>
            </a:r>
            <a:r>
              <a:rPr lang="en-US" sz="1200" b="0" i="0" kern="1200" dirty="0" err="1">
                <a:solidFill>
                  <a:schemeClr val="tx1"/>
                </a:solidFill>
                <a:effectLst/>
                <a:latin typeface="+mn-lt"/>
                <a:ea typeface="+mn-ea"/>
                <a:cs typeface="+mn-cs"/>
              </a:rPr>
              <a:t>của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một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vùng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tổn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thương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đặc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thù</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thì</a:t>
            </a:r>
            <a:r>
              <a:rPr lang="en-US" sz="1200" b="0" i="0" kern="1200" dirty="0">
                <a:solidFill>
                  <a:schemeClr val="tx1"/>
                </a:solidFill>
                <a:effectLst/>
                <a:latin typeface="+mn-lt"/>
                <a:ea typeface="+mn-ea"/>
                <a:cs typeface="+mn-cs"/>
              </a:rPr>
              <a:t> Projector hay Decoder </a:t>
            </a:r>
            <a:r>
              <a:rPr lang="en-US" sz="1200" b="0" i="0" kern="1200" dirty="0" err="1">
                <a:solidFill>
                  <a:schemeClr val="tx1"/>
                </a:solidFill>
                <a:effectLst/>
                <a:latin typeface="+mn-lt"/>
                <a:ea typeface="+mn-ea"/>
                <a:cs typeface="+mn-cs"/>
              </a:rPr>
              <a:t>phía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sau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dù</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giỏi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đến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mấy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cũng</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KHÔNG THỂ </a:t>
            </a:r>
            <a:r>
              <a:rPr lang="en-US" sz="1200" b="1" i="0" kern="1200" dirty="0" err="1">
                <a:solidFill>
                  <a:schemeClr val="tx1"/>
                </a:solidFill>
                <a:effectLst/>
                <a:latin typeface="+mn-lt"/>
                <a:ea typeface="+mn-ea"/>
                <a:cs typeface="+mn-cs"/>
              </a:rPr>
              <a:t>khôi</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phục</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lại</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thông</a:t>
            </a:r>
            <a:r>
              <a:rPr lang="en-US" sz="1200" b="1" i="0" kern="1200" dirty="0">
                <a:solidFill>
                  <a:schemeClr val="tx1"/>
                </a:solidFill>
                <a:effectLst/>
                <a:latin typeface="+mn-lt"/>
                <a:ea typeface="+mn-ea"/>
                <a:cs typeface="+mn-cs"/>
              </a:rPr>
              <a:t> tin </a:t>
            </a:r>
            <a:r>
              <a:rPr lang="en-US" sz="1200" b="1" i="0" kern="1200" dirty="0" err="1">
                <a:solidFill>
                  <a:schemeClr val="tx1"/>
                </a:solidFill>
                <a:effectLst/>
                <a:latin typeface="+mn-lt"/>
                <a:ea typeface="+mn-ea"/>
                <a:cs typeface="+mn-cs"/>
              </a:rPr>
              <a:t>đã</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bị</a:t>
            </a:r>
            <a:r>
              <a:rPr lang="en-US" sz="1200" b="1" i="0" kern="1200" dirty="0">
                <a:solidFill>
                  <a:schemeClr val="tx1"/>
                </a:solidFill>
                <a:effectLst/>
                <a:latin typeface="+mn-lt"/>
                <a:ea typeface="+mn-ea"/>
                <a:cs typeface="+mn-cs"/>
              </a:rPr>
              <a:t> Encoder </a:t>
            </a:r>
            <a:r>
              <a:rPr lang="en-US" sz="1200" b="1" i="0" kern="1200" dirty="0" err="1">
                <a:solidFill>
                  <a:schemeClr val="tx1"/>
                </a:solidFill>
                <a:effectLst/>
                <a:latin typeface="+mn-lt"/>
                <a:ea typeface="+mn-ea"/>
                <a:cs typeface="+mn-cs"/>
              </a:rPr>
              <a:t>bỏ</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sót</a:t>
            </a:r>
            <a:r>
              <a:rPr lang="en-US" sz="1200" b="1"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ablation transfer-learning: đóng băng lần lượt từng thành phần để xem thành phần nào thật sự đóng góp.</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hai encoder đều đóng băng. Chỉ projector và GPT-2 được cập nhật. Cổ chai 1 prefix token là điểm sửa số ① ở phần sau.</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khối: ①②③ ảnh, ④⑤⑥ chữ, ⑦⑧⑨ hợp nhất, ⑩ decoder sinh, ⑪ RL. Mỗi khối kèm paper nguồn.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bước tiến hóa: generative → lõi CLIP+GPT2 → tuned → Q-Former → RL → Gemma LoRA. Mỗi bước sửa một nút thắt.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1793 mẫu train là rất nhỏ so với chuẩn huấn luyện mô hình lớn — đây là gốc rễ của hiện tượng quá khớp về sau.</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quan trọng nhất phần dữ liệu. Không tách được split test image-disjoint từ VQA-RAD vì cả corpus chỉ có 314 ảnh riêng biệt.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tập đo khả năng tổng quát hóa thật. Điểm trên tập này mới là căn cứ để chọn mô hình triển khai.</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bảo vệ tính trung thực của báo cáo: nêu rõ sàn tham chiếu và độ phân giải thống kê trước khi trình bày bất kỳ bảng kết quả nào.</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chấm chung src/train/metrics.py. Chuẩn hóa trước khi so sánh. Bốn nhóm cột: accuracy, generation, lâm sàng, meta.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khớp từng ký tự, quá khắt khe cho câu mở. Token-F1: trùng cấp từ, thấy đúng một phần. Cả hai cài Python thuần.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BLEU-1 phụ, nhiễu với câu ngắn. Semantic Similarity là điểm nhấn: hiểu đồng nghĩa, giúp tách hạng các mô hình ở câu mở.</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chỉ số lâm sàng từ ma trận nhầm lẫn. p_yes: MLP softmax / GPT-2 &amp; Gemma logit yes-no / CSV </a:t>
            </a:r>
            <a:r>
              <a:rPr lang="en-US" dirty="0" err="1"/>
              <a:t>thô</a:t>
            </a:r>
            <a:r>
              <a:rPr lang="en-US" dirty="0"/>
              <a:t>. AUC&lt;0.5 = thứ tự </a:t>
            </a:r>
            <a:r>
              <a:rPr lang="en-US" dirty="0" err="1"/>
              <a:t>đảo</a:t>
            </a:r>
            <a:r>
              <a:rPr lang="en-US" dirty="0"/>
              <a:t>.</a:t>
            </a:r>
          </a:p>
          <a:p>
            <a:endParaRPr lang="en-US" dirty="0"/>
          </a:p>
          <a:p>
            <a:r>
              <a:rPr lang="en-US" sz="1200" b="0" i="0" kern="1200" dirty="0" err="1">
                <a:solidFill>
                  <a:schemeClr val="tx1"/>
                </a:solidFill>
                <a:effectLst/>
                <a:latin typeface="+mn-lt"/>
                <a:ea typeface="+mn-ea"/>
                <a:cs typeface="+mn-cs"/>
              </a:rPr>
              <a:t>Thực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nghiệm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này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mang</a:t>
            </a:r>
            <a:r>
              <a:rPr lang="en-US" sz="1200" b="0" i="0" kern="1200" dirty="0">
                <a:solidFill>
                  <a:schemeClr val="tx1"/>
                </a:solidFill>
                <a:effectLst/>
                <a:latin typeface="+mn-lt"/>
                <a:ea typeface="+mn-ea"/>
                <a:cs typeface="+mn-cs"/>
              </a:rPr>
              <a:t> Ý NGHĨA GÌ </a:t>
            </a:r>
            <a:r>
              <a:rPr lang="en-US" sz="1200" b="0" i="0" kern="1200" dirty="0" err="1">
                <a:solidFill>
                  <a:schemeClr val="tx1"/>
                </a:solidFill>
                <a:effectLst/>
                <a:latin typeface="+mn-lt"/>
                <a:ea typeface="+mn-ea"/>
                <a:cs typeface="+mn-cs"/>
              </a:rPr>
              <a:t>trong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tài</a:t>
            </a:r>
            <a:r>
              <a:rPr lang="en-US" sz="1200" b="0" i="0" kern="1200" dirty="0">
                <a:solidFill>
                  <a:schemeClr val="tx1"/>
                </a:solidFill>
                <a:effectLst/>
                <a:latin typeface="+mn-lt"/>
                <a:ea typeface="+mn-ea"/>
                <a:cs typeface="+mn-cs"/>
              </a:rPr>
              <a:t> Y khoa?</a:t>
            </a:r>
          </a:p>
          <a:p>
            <a:r>
              <a:rPr lang="en-US" sz="1200" b="0" i="0" kern="1200" dirty="0">
                <a:solidFill>
                  <a:schemeClr val="tx1"/>
                </a:solidFill>
                <a:effectLst/>
                <a:latin typeface="+mn-lt"/>
                <a:ea typeface="+mn-ea"/>
                <a:cs typeface="+mn-cs"/>
              </a:rPr>
              <a:t>🎯 Ý </a:t>
            </a:r>
            <a:r>
              <a:rPr lang="en-US" sz="1200" b="0" i="0" kern="1200" dirty="0" err="1">
                <a:solidFill>
                  <a:schemeClr val="tx1"/>
                </a:solidFill>
                <a:effectLst/>
                <a:latin typeface="+mn-lt"/>
                <a:ea typeface="+mn-ea"/>
                <a:cs typeface="+mn-cs"/>
              </a:rPr>
              <a:t>nghĩa</a:t>
            </a:r>
            <a:r>
              <a:rPr lang="en-US" sz="1200" b="0" i="0" kern="1200" dirty="0">
                <a:solidFill>
                  <a:schemeClr val="tx1"/>
                </a:solidFill>
                <a:effectLst/>
                <a:latin typeface="+mn-lt"/>
                <a:ea typeface="+mn-ea"/>
                <a:cs typeface="+mn-cs"/>
              </a:rPr>
              <a:t> 1: </a:t>
            </a:r>
            <a:r>
              <a:rPr lang="en-US" sz="1200" b="0" i="0" kern="1200" dirty="0" err="1">
                <a:solidFill>
                  <a:schemeClr val="tx1"/>
                </a:solidFill>
                <a:effectLst/>
                <a:latin typeface="+mn-lt"/>
                <a:ea typeface="+mn-ea"/>
                <a:cs typeface="+mn-cs"/>
              </a:rPr>
              <a:t>Đánh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giá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tự</a:t>
            </a:r>
            <a:r>
              <a:rPr lang="en-US" sz="1200" b="0" i="0" kern="1200" dirty="0">
                <a:solidFill>
                  <a:schemeClr val="tx1"/>
                </a:solidFill>
                <a:effectLst/>
                <a:latin typeface="+mn-lt"/>
                <a:ea typeface="+mn-ea"/>
                <a:cs typeface="+mn-cs"/>
              </a:rPr>
              <a:t> tin </a:t>
            </a:r>
            <a:r>
              <a:rPr lang="en-US" sz="1200" b="0" i="0" kern="1200" dirty="0" err="1">
                <a:solidFill>
                  <a:schemeClr val="tx1"/>
                </a:solidFill>
                <a:effectLst/>
                <a:latin typeface="+mn-lt"/>
                <a:ea typeface="+mn-ea"/>
                <a:cs typeface="+mn-cs"/>
              </a:rPr>
              <a:t>chẩn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đoán</a:t>
            </a:r>
            <a:r>
              <a:rPr lang="en-US" sz="1200" b="0" i="0" kern="1200" dirty="0">
                <a:solidFill>
                  <a:schemeClr val="tx1"/>
                </a:solidFill>
                <a:effectLst/>
                <a:latin typeface="+mn-lt"/>
                <a:ea typeface="+mn-ea"/>
                <a:cs typeface="+mn-cs"/>
              </a:rPr>
              <a:t> (Confidence Calibration)</a:t>
            </a:r>
          </a:p>
          <a:p>
            <a:r>
              <a:rPr lang="en-US" sz="1200" b="0" i="0" kern="1200" dirty="0">
                <a:solidFill>
                  <a:schemeClr val="tx1"/>
                </a:solidFill>
                <a:effectLst/>
                <a:latin typeface="+mn-lt"/>
                <a:ea typeface="+mn-ea"/>
                <a:cs typeface="+mn-cs"/>
              </a:rPr>
              <a:t>Trong y </a:t>
            </a:r>
            <a:r>
              <a:rPr lang="en-US" sz="1200" b="0" i="0" kern="1200" dirty="0" err="1">
                <a:solidFill>
                  <a:schemeClr val="tx1"/>
                </a:solidFill>
                <a:effectLst/>
                <a:latin typeface="+mn-lt"/>
                <a:ea typeface="+mn-ea"/>
                <a:cs typeface="+mn-cs"/>
              </a:rPr>
              <a:t>học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sĩ</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chỉ</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muốn</a:t>
            </a:r>
            <a:r>
              <a:rPr lang="en-US" sz="1200" b="0" i="0" kern="1200" dirty="0">
                <a:solidFill>
                  <a:schemeClr val="tx1"/>
                </a:solidFill>
                <a:effectLst/>
                <a:latin typeface="+mn-lt"/>
                <a:ea typeface="+mn-ea"/>
                <a:cs typeface="+mn-cs"/>
              </a:rPr>
              <a:t> AI </a:t>
            </a:r>
            <a:r>
              <a:rPr lang="en-US" sz="1200" b="0" i="0" kern="1200" dirty="0" err="1">
                <a:solidFill>
                  <a:schemeClr val="tx1"/>
                </a:solidFill>
                <a:effectLst/>
                <a:latin typeface="+mn-lt"/>
                <a:ea typeface="+mn-ea"/>
                <a:cs typeface="+mn-cs"/>
              </a:rPr>
              <a:t>phán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đoán</a:t>
            </a:r>
            <a:r>
              <a:rPr lang="en-US" sz="1200" b="0" i="0" kern="1200" dirty="0">
                <a:solidFill>
                  <a:schemeClr val="tx1"/>
                </a:solidFill>
                <a:effectLst/>
                <a:latin typeface="+mn-lt"/>
                <a:ea typeface="+mn-ea"/>
                <a:cs typeface="+mn-cs"/>
              </a:rPr>
              <a:t> Yes hay No </a:t>
            </a:r>
            <a:r>
              <a:rPr lang="en-US" sz="1200" b="0" i="0" kern="1200" dirty="0" err="1">
                <a:solidFill>
                  <a:schemeClr val="tx1"/>
                </a:solidFill>
                <a:effectLst/>
                <a:latin typeface="+mn-lt"/>
                <a:ea typeface="+mn-ea"/>
                <a:cs typeface="+mn-cs"/>
              </a:rPr>
              <a:t>cứng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nhắc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cần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biết</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AI </a:t>
            </a:r>
            <a:r>
              <a:rPr lang="en-US" sz="1200" b="1" i="0" kern="1200" dirty="0" err="1">
                <a:solidFill>
                  <a:schemeClr val="tx1"/>
                </a:solidFill>
                <a:effectLst/>
                <a:latin typeface="+mn-lt"/>
                <a:ea typeface="+mn-ea"/>
                <a:cs typeface="+mn-cs"/>
              </a:rPr>
              <a:t>tự</a:t>
            </a:r>
            <a:r>
              <a:rPr lang="en-US" sz="1200" b="1" i="0" kern="1200" dirty="0">
                <a:solidFill>
                  <a:schemeClr val="tx1"/>
                </a:solidFill>
                <a:effectLst/>
                <a:latin typeface="+mn-lt"/>
                <a:ea typeface="+mn-ea"/>
                <a:cs typeface="+mn-cs"/>
              </a:rPr>
              <a:t> tin bao </a:t>
            </a:r>
            <a:r>
              <a:rPr lang="en-US" sz="1200" b="1" i="0" kern="1200" dirty="0" err="1">
                <a:solidFill>
                  <a:schemeClr val="tx1"/>
                </a:solidFill>
                <a:effectLst/>
                <a:latin typeface="+mn-lt"/>
                <a:ea typeface="+mn-ea"/>
                <a:cs typeface="+mn-cs"/>
              </a:rPr>
              <a:t>nhiêu</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 AUC </a:t>
            </a:r>
            <a:r>
              <a:rPr lang="en-US" sz="1200" b="0" i="0" kern="1200" dirty="0" err="1">
                <a:solidFill>
                  <a:schemeClr val="tx1"/>
                </a:solidFill>
                <a:effectLst/>
                <a:latin typeface="+mn-lt"/>
                <a:ea typeface="+mn-ea"/>
                <a:cs typeface="+mn-cs"/>
              </a:rPr>
              <a:t>kiểm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xem</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Liệu </a:t>
            </a:r>
            <a:r>
              <a:rPr lang="en-US" sz="1200" b="0" i="1" kern="1200" dirty="0" err="1">
                <a:solidFill>
                  <a:schemeClr val="tx1"/>
                </a:solidFill>
                <a:effectLst/>
                <a:latin typeface="+mn-lt"/>
                <a:ea typeface="+mn-ea"/>
                <a:cs typeface="+mn-cs"/>
              </a:rPr>
              <a:t>các</a:t>
            </a:r>
            <a:r>
              <a:rPr lang="en-US" sz="1200" b="0" i="1" kern="1200" dirty="0">
                <a:solidFill>
                  <a:schemeClr val="tx1"/>
                </a:solidFill>
                <a:effectLst/>
                <a:latin typeface="+mn-lt"/>
                <a:ea typeface="+mn-ea"/>
                <a:cs typeface="+mn-cs"/>
              </a:rPr>
              <a:t> ca </a:t>
            </a:r>
            <a:r>
              <a:rPr lang="en-US" sz="1200" b="0" i="1" kern="1200" dirty="0" err="1">
                <a:solidFill>
                  <a:schemeClr val="tx1"/>
                </a:solidFill>
                <a:effectLst/>
                <a:latin typeface="+mn-lt"/>
                <a:ea typeface="+mn-ea"/>
                <a:cs typeface="+mn-cs"/>
              </a:rPr>
              <a:t>thật</a:t>
            </a:r>
            <a:r>
              <a:rPr lang="en-US" sz="1200" b="0" i="1" kern="1200" dirty="0">
                <a:solidFill>
                  <a:schemeClr val="tx1"/>
                </a:solidFill>
                <a:effectLst/>
                <a:latin typeface="+mn-lt"/>
                <a:ea typeface="+mn-ea"/>
                <a:cs typeface="+mn-cs"/>
              </a:rPr>
              <a:t> </a:t>
            </a:r>
            <a:r>
              <a:rPr lang="en-US" sz="1200" b="0" i="1" kern="1200" dirty="0" err="1">
                <a:solidFill>
                  <a:schemeClr val="tx1"/>
                </a:solidFill>
                <a:effectLst/>
                <a:latin typeface="+mn-lt"/>
                <a:ea typeface="+mn-ea"/>
                <a:cs typeface="+mn-cs"/>
              </a:rPr>
              <a:t>sự</a:t>
            </a:r>
            <a:r>
              <a:rPr lang="en-US" sz="1200" b="0" i="1" kern="1200" dirty="0">
                <a:solidFill>
                  <a:schemeClr val="tx1"/>
                </a:solidFill>
                <a:effectLst/>
                <a:latin typeface="+mn-lt"/>
                <a:ea typeface="+mn-ea"/>
                <a:cs typeface="+mn-cs"/>
              </a:rPr>
              <a:t> CÓ BỆNH </a:t>
            </a:r>
            <a:r>
              <a:rPr lang="en-US" sz="1200" b="0" i="1" kern="1200" dirty="0" err="1">
                <a:solidFill>
                  <a:schemeClr val="tx1"/>
                </a:solidFill>
                <a:effectLst/>
                <a:latin typeface="+mn-lt"/>
                <a:ea typeface="+mn-ea"/>
                <a:cs typeface="+mn-cs"/>
              </a:rPr>
              <a:t>có</a:t>
            </a:r>
            <a:r>
              <a:rPr lang="en-US" sz="1200" b="0" i="1" kern="1200" dirty="0">
                <a:solidFill>
                  <a:schemeClr val="tx1"/>
                </a:solidFill>
                <a:effectLst/>
                <a:latin typeface="+mn-lt"/>
                <a:ea typeface="+mn-ea"/>
                <a:cs typeface="+mn-cs"/>
              </a:rPr>
              <a:t> </a:t>
            </a:r>
            <a:r>
              <a:rPr lang="en-US" sz="1200" b="0" i="1" kern="1200" dirty="0" err="1">
                <a:solidFill>
                  <a:schemeClr val="tx1"/>
                </a:solidFill>
                <a:effectLst/>
                <a:latin typeface="+mn-lt"/>
                <a:ea typeface="+mn-ea"/>
                <a:cs typeface="+mn-cs"/>
              </a:rPr>
              <a:t>luôn</a:t>
            </a:r>
            <a:r>
              <a:rPr lang="en-US" sz="1200" b="0" i="1" kern="1200" dirty="0">
                <a:solidFill>
                  <a:schemeClr val="tx1"/>
                </a:solidFill>
                <a:effectLst/>
                <a:latin typeface="+mn-lt"/>
                <a:ea typeface="+mn-ea"/>
                <a:cs typeface="+mn-cs"/>
              </a:rPr>
              <a:t> </a:t>
            </a:r>
            <a:r>
              <a:rPr lang="en-US" sz="1200" b="0" i="1" kern="1200" dirty="0" err="1">
                <a:solidFill>
                  <a:schemeClr val="tx1"/>
                </a:solidFill>
                <a:effectLst/>
                <a:latin typeface="+mn-lt"/>
                <a:ea typeface="+mn-ea"/>
                <a:cs typeface="+mn-cs"/>
              </a:rPr>
              <a:t>nhận</a:t>
            </a:r>
            <a:r>
              <a:rPr lang="en-US" sz="1200" b="0" i="1" kern="1200" dirty="0">
                <a:solidFill>
                  <a:schemeClr val="tx1"/>
                </a:solidFill>
                <a:effectLst/>
                <a:latin typeface="+mn-lt"/>
                <a:ea typeface="+mn-ea"/>
                <a:cs typeface="+mn-cs"/>
              </a:rPr>
              <a:t> </a:t>
            </a:r>
            <a:r>
              <a:rPr lang="en-US" sz="1200" b="0" i="1" kern="1200" dirty="0" err="1">
                <a:solidFill>
                  <a:schemeClr val="tx1"/>
                </a:solidFill>
                <a:effectLst/>
                <a:latin typeface="+mn-lt"/>
                <a:ea typeface="+mn-ea"/>
                <a:cs typeface="+mn-cs"/>
              </a:rPr>
              <a:t>được</a:t>
            </a:r>
            <a:r>
              <a:rPr lang="en-US" sz="1200" b="0" i="1" kern="1200" dirty="0">
                <a:solidFill>
                  <a:schemeClr val="tx1"/>
                </a:solidFill>
                <a:effectLst/>
                <a:latin typeface="+mn-lt"/>
                <a:ea typeface="+mn-ea"/>
                <a:cs typeface="+mn-cs"/>
              </a:rPr>
              <a:t> </a:t>
            </a:r>
            <a:r>
              <a:rPr lang="en-US" sz="1200" b="0" i="1" kern="1200" dirty="0" err="1">
                <a:solidFill>
                  <a:schemeClr val="tx1"/>
                </a:solidFill>
                <a:effectLst/>
                <a:latin typeface="+mn-lt"/>
                <a:ea typeface="+mn-ea"/>
                <a:cs typeface="+mn-cs"/>
              </a:rPr>
              <a:t>mức</a:t>
            </a:r>
            <a:r>
              <a:rPr lang="en-US" sz="1200" b="0" i="1" kern="1200" dirty="0">
                <a:solidFill>
                  <a:schemeClr val="tx1"/>
                </a:solidFill>
                <a:effectLst/>
                <a:latin typeface="+mn-lt"/>
                <a:ea typeface="+mn-ea"/>
                <a:cs typeface="+mn-cs"/>
              </a:rPr>
              <a:t> </a:t>
            </a:r>
            <a:r>
              <a:rPr lang="en-US" sz="1200" b="0" i="1" kern="1200" dirty="0" err="1">
                <a:solidFill>
                  <a:schemeClr val="tx1"/>
                </a:solidFill>
                <a:effectLst/>
                <a:latin typeface="+mn-lt"/>
                <a:ea typeface="+mn-ea"/>
                <a:cs typeface="+mn-cs"/>
              </a:rPr>
              <a:t>xác</a:t>
            </a:r>
            <a:r>
              <a:rPr lang="en-US" sz="1200" b="0" i="1" kern="1200" dirty="0">
                <a:solidFill>
                  <a:schemeClr val="tx1"/>
                </a:solidFill>
                <a:effectLst/>
                <a:latin typeface="+mn-lt"/>
                <a:ea typeface="+mn-ea"/>
                <a:cs typeface="+mn-cs"/>
              </a:rPr>
              <a:t> </a:t>
            </a:r>
            <a:r>
              <a:rPr lang="en-US" sz="1200" b="0" i="1" kern="1200" dirty="0" err="1">
                <a:solidFill>
                  <a:schemeClr val="tx1"/>
                </a:solidFill>
                <a:effectLst/>
                <a:latin typeface="+mn-lt"/>
                <a:ea typeface="+mn-ea"/>
                <a:cs typeface="+mn-cs"/>
              </a:rPr>
              <a:t>suất</a:t>
            </a:r>
            <a:r>
              <a:rPr lang="en-US" sz="1200" b="0" i="1" kern="1200" dirty="0">
                <a:solidFill>
                  <a:schemeClr val="tx1"/>
                </a:solidFill>
                <a:effectLst/>
                <a:latin typeface="+mn-lt"/>
                <a:ea typeface="+mn-ea"/>
                <a:cs typeface="+mn-cs"/>
              </a:rPr>
              <a:t> $p_{yes}$ CAO HƠN </a:t>
            </a:r>
            <a:r>
              <a:rPr lang="en-US" sz="1200" b="0" i="1" kern="1200" dirty="0" err="1">
                <a:solidFill>
                  <a:schemeClr val="tx1"/>
                </a:solidFill>
                <a:effectLst/>
                <a:latin typeface="+mn-lt"/>
                <a:ea typeface="+mn-ea"/>
                <a:cs typeface="+mn-cs"/>
              </a:rPr>
              <a:t>các</a:t>
            </a:r>
            <a:r>
              <a:rPr lang="en-US" sz="1200" b="0" i="1" kern="1200" dirty="0">
                <a:solidFill>
                  <a:schemeClr val="tx1"/>
                </a:solidFill>
                <a:effectLst/>
                <a:latin typeface="+mn-lt"/>
                <a:ea typeface="+mn-ea"/>
                <a:cs typeface="+mn-cs"/>
              </a:rPr>
              <a:t> ca KHÔNG BỆNH hay </a:t>
            </a:r>
            <a:r>
              <a:rPr lang="en-US" sz="1200" b="0" i="1" kern="1200" dirty="0" err="1">
                <a:solidFill>
                  <a:schemeClr val="tx1"/>
                </a:solidFill>
                <a:effectLst/>
                <a:latin typeface="+mn-lt"/>
                <a:ea typeface="+mn-ea"/>
                <a:cs typeface="+mn-cs"/>
              </a:rPr>
              <a:t>không</a:t>
            </a:r>
            <a:r>
              <a:rPr lang="en-US" sz="1200" b="0" i="1"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Ý </a:t>
            </a:r>
            <a:r>
              <a:rPr lang="en-US" sz="1200" b="0" i="0" kern="1200" dirty="0" err="1">
                <a:solidFill>
                  <a:schemeClr val="tx1"/>
                </a:solidFill>
                <a:effectLst/>
                <a:latin typeface="+mn-lt"/>
                <a:ea typeface="+mn-ea"/>
                <a:cs typeface="+mn-cs"/>
              </a:rPr>
              <a:t>nghĩa</a:t>
            </a:r>
            <a:r>
              <a:rPr lang="en-US" sz="1200" b="0" i="0" kern="1200" dirty="0">
                <a:solidFill>
                  <a:schemeClr val="tx1"/>
                </a:solidFill>
                <a:effectLst/>
                <a:latin typeface="+mn-lt"/>
                <a:ea typeface="+mn-ea"/>
                <a:cs typeface="+mn-cs"/>
              </a:rPr>
              <a:t> 2: </a:t>
            </a:r>
            <a:r>
              <a:rPr lang="en-US" sz="1200" b="0" i="0" kern="1200" dirty="0" err="1">
                <a:solidFill>
                  <a:schemeClr val="tx1"/>
                </a:solidFill>
                <a:effectLst/>
                <a:latin typeface="+mn-lt"/>
                <a:ea typeface="+mn-ea"/>
                <a:cs typeface="+mn-cs"/>
              </a:rPr>
              <a:t>Đánh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giá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độc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lập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với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Ngưỡng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cắt</a:t>
            </a:r>
            <a:r>
              <a:rPr lang="en-US" sz="1200" b="0" i="0" kern="1200" dirty="0">
                <a:solidFill>
                  <a:schemeClr val="tx1"/>
                </a:solidFill>
                <a:effectLst/>
                <a:latin typeface="+mn-lt"/>
                <a:ea typeface="+mn-ea"/>
                <a:cs typeface="+mn-cs"/>
              </a:rPr>
              <a:t> (Threshold-Independent)</a:t>
            </a:r>
          </a:p>
          <a:p>
            <a:pPr lvl="0"/>
            <a:r>
              <a:rPr lang="en-US" sz="1200" b="0" i="0" kern="1200" dirty="0" err="1">
                <a:solidFill>
                  <a:schemeClr val="tx1"/>
                </a:solidFill>
                <a:effectLst/>
                <a:latin typeface="+mn-lt"/>
                <a:ea typeface="+mn-ea"/>
                <a:cs typeface="+mn-cs"/>
              </a:rPr>
              <a:t>Điểm</a:t>
            </a:r>
            <a:r>
              <a:rPr lang="en-US" sz="1200" b="0" i="0" kern="1200" dirty="0">
                <a:solidFill>
                  <a:schemeClr val="tx1"/>
                </a:solidFill>
                <a:effectLst/>
                <a:latin typeface="+mn-lt"/>
                <a:ea typeface="+mn-ea"/>
                <a:cs typeface="+mn-cs"/>
              </a:rPr>
              <a:t> Accuracy/EM </a:t>
            </a:r>
            <a:r>
              <a:rPr lang="en-US" sz="1200" b="0" i="0" kern="1200" dirty="0" err="1">
                <a:solidFill>
                  <a:schemeClr val="tx1"/>
                </a:solidFill>
                <a:effectLst/>
                <a:latin typeface="+mn-lt"/>
                <a:ea typeface="+mn-ea"/>
                <a:cs typeface="+mn-cs"/>
              </a:rPr>
              <a:t>bắt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buộc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mô</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hình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dùng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ngưỡng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cố</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định</a:t>
            </a:r>
            <a:r>
              <a:rPr lang="en-US" sz="1200" b="0" i="0" kern="1200" dirty="0">
                <a:solidFill>
                  <a:schemeClr val="tx1"/>
                </a:solidFill>
                <a:effectLst/>
                <a:latin typeface="+mn-lt"/>
                <a:ea typeface="+mn-ea"/>
                <a:cs typeface="+mn-cs"/>
              </a:rPr>
              <a:t> $50%$ ($p_{yes} \</a:t>
            </a:r>
            <a:r>
              <a:rPr lang="en-US" sz="1200" b="0" i="0" kern="1200" dirty="0" err="1">
                <a:solidFill>
                  <a:schemeClr val="tx1"/>
                </a:solidFill>
                <a:effectLst/>
                <a:latin typeface="+mn-lt"/>
                <a:ea typeface="+mn-ea"/>
                <a:cs typeface="+mn-cs"/>
              </a:rPr>
              <a:t>ge</a:t>
            </a:r>
            <a:r>
              <a:rPr lang="en-US" sz="1200" b="0" i="0" kern="1200" dirty="0">
                <a:solidFill>
                  <a:schemeClr val="tx1"/>
                </a:solidFill>
                <a:effectLst/>
                <a:latin typeface="+mn-lt"/>
                <a:ea typeface="+mn-ea"/>
                <a:cs typeface="+mn-cs"/>
              </a:rPr>
              <a:t> 0.5 \to Yes$).</a:t>
            </a:r>
          </a:p>
          <a:p>
            <a:pPr lvl="0"/>
            <a:r>
              <a:rPr lang="en-US" sz="1200" b="0" i="0" kern="1200" dirty="0">
                <a:solidFill>
                  <a:schemeClr val="tx1"/>
                </a:solidFill>
                <a:effectLst/>
                <a:latin typeface="+mn-lt"/>
                <a:ea typeface="+mn-ea"/>
                <a:cs typeface="+mn-cs"/>
              </a:rPr>
              <a:t>Tuy </a:t>
            </a:r>
            <a:r>
              <a:rPr lang="en-US" sz="1200" b="0" i="0" kern="1200" dirty="0" err="1">
                <a:solidFill>
                  <a:schemeClr val="tx1"/>
                </a:solidFill>
                <a:effectLst/>
                <a:latin typeface="+mn-lt"/>
                <a:ea typeface="+mn-ea"/>
                <a:cs typeface="+mn-cs"/>
              </a:rPr>
              <a:t>nhiên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trong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lâm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sàng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với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bệnh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nguy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hiểm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tràn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khí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màng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phổi</a:t>
            </a:r>
            <a:r>
              <a:rPr lang="en-US" sz="1200" b="0" i="0" kern="1200" dirty="0">
                <a:solidFill>
                  <a:schemeClr val="tx1"/>
                </a:solidFill>
                <a:effectLst/>
                <a:latin typeface="+mn-lt"/>
                <a:ea typeface="+mn-ea"/>
                <a:cs typeface="+mn-cs"/>
              </a:rPr>
              <a:t>, u </a:t>
            </a:r>
            <a:r>
              <a:rPr lang="en-US" sz="1200" b="0" i="0" kern="1200" dirty="0" err="1">
                <a:solidFill>
                  <a:schemeClr val="tx1"/>
                </a:solidFill>
                <a:effectLst/>
                <a:latin typeface="+mn-lt"/>
                <a:ea typeface="+mn-ea"/>
                <a:cs typeface="+mn-cs"/>
              </a:rPr>
              <a:t>não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sĩ</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muốn</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hạ</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ngưỡng</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xuống</a:t>
            </a:r>
            <a:r>
              <a:rPr lang="en-US" sz="1200" b="1" i="0" kern="1200" dirty="0">
                <a:solidFill>
                  <a:schemeClr val="tx1"/>
                </a:solidFill>
                <a:effectLst/>
                <a:latin typeface="+mn-lt"/>
                <a:ea typeface="+mn-ea"/>
                <a:cs typeface="+mn-cs"/>
              </a:rPr>
              <a:t> $20%$ ($0.2$)</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tăng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tối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nhạy</a:t>
            </a:r>
            <a:r>
              <a:rPr lang="en-US" sz="1200" b="0" i="0" kern="1200" dirty="0">
                <a:solidFill>
                  <a:schemeClr val="tx1"/>
                </a:solidFill>
                <a:effectLst/>
                <a:latin typeface="+mn-lt"/>
                <a:ea typeface="+mn-ea"/>
                <a:cs typeface="+mn-cs"/>
              </a:rPr>
              <a:t> (Sensitivity), </a:t>
            </a:r>
            <a:r>
              <a:rPr lang="en-US" sz="1200" b="0" i="0" kern="1200" dirty="0" err="1">
                <a:solidFill>
                  <a:schemeClr val="tx1"/>
                </a:solidFill>
                <a:effectLst/>
                <a:latin typeface="+mn-lt"/>
                <a:ea typeface="+mn-ea"/>
                <a:cs typeface="+mn-cs"/>
              </a:rPr>
              <a:t>chấp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nhận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báo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động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nhầm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còn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hơn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bỏ</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sót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bệnh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nhân</a:t>
            </a:r>
            <a:r>
              <a:rPr lang="en-US" sz="1200" b="0" i="0" kern="1200" dirty="0">
                <a:solidFill>
                  <a:schemeClr val="tx1"/>
                </a:solidFill>
                <a:effectLst/>
                <a:latin typeface="+mn-lt"/>
                <a:ea typeface="+mn-ea"/>
                <a:cs typeface="+mn-cs"/>
              </a:rPr>
              <a:t>.</a:t>
            </a:r>
          </a:p>
          <a:p>
            <a:pPr lvl="0"/>
            <a:r>
              <a:rPr lang="en-US" sz="1200" b="1" i="0" kern="1200" dirty="0">
                <a:solidFill>
                  <a:schemeClr val="tx1"/>
                </a:solidFill>
                <a:effectLst/>
                <a:latin typeface="+mn-lt"/>
                <a:ea typeface="+mn-ea"/>
                <a:cs typeface="+mn-cs"/>
              </a:rPr>
              <a:t>AUC </a:t>
            </a:r>
            <a:r>
              <a:rPr lang="en-US" sz="1200" b="1" i="0" kern="1200" dirty="0" err="1">
                <a:solidFill>
                  <a:schemeClr val="tx1"/>
                </a:solidFill>
                <a:effectLst/>
                <a:latin typeface="+mn-lt"/>
                <a:ea typeface="+mn-ea"/>
                <a:cs typeface="+mn-cs"/>
              </a:rPr>
              <a:t>có</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giá</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trị</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cực</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lớn</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vì</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nó</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quét</a:t>
            </a:r>
            <a:r>
              <a:rPr lang="en-US" sz="1200" b="1" i="0" kern="1200" dirty="0">
                <a:solidFill>
                  <a:schemeClr val="tx1"/>
                </a:solidFill>
                <a:effectLst/>
                <a:latin typeface="+mn-lt"/>
                <a:ea typeface="+mn-ea"/>
                <a:cs typeface="+mn-cs"/>
              </a:rPr>
              <a:t> qua TẤT CẢ CÁC NGƯỠNG </a:t>
            </a:r>
            <a:r>
              <a:rPr lang="en-US" sz="1200" b="1" i="0" kern="1200" dirty="0" err="1">
                <a:solidFill>
                  <a:schemeClr val="tx1"/>
                </a:solidFill>
                <a:effectLst/>
                <a:latin typeface="+mn-lt"/>
                <a:ea typeface="+mn-ea"/>
                <a:cs typeface="+mn-cs"/>
              </a:rPr>
              <a:t>từ</a:t>
            </a:r>
            <a:r>
              <a:rPr lang="en-US" sz="1200" b="1" i="0" kern="1200" dirty="0">
                <a:solidFill>
                  <a:schemeClr val="tx1"/>
                </a:solidFill>
                <a:effectLst/>
                <a:latin typeface="+mn-lt"/>
                <a:ea typeface="+mn-ea"/>
                <a:cs typeface="+mn-cs"/>
              </a:rPr>
              <a:t> $0.0 \to 1.0$</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chứng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minh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mô</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hình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hoạt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động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ổn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định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sĩ</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chọn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ngưỡng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nhạy</a:t>
            </a:r>
            <a:r>
              <a:rPr lang="en-US" sz="1200" b="0" i="0" kern="1200" dirty="0">
                <a:solidFill>
                  <a:schemeClr val="tx1"/>
                </a:solidFill>
                <a:effectLst/>
                <a:latin typeface="+mn-lt"/>
                <a:ea typeface="+mn-ea"/>
                <a:cs typeface="+mn-cs"/>
              </a:rPr>
              <a:t> bao </a:t>
            </a:r>
            <a:r>
              <a:rPr lang="en-US" sz="1200" b="0" i="0" kern="1200" dirty="0" err="1">
                <a:solidFill>
                  <a:schemeClr val="tx1"/>
                </a:solidFill>
                <a:effectLst/>
                <a:latin typeface="+mn-lt"/>
                <a:ea typeface="+mn-ea"/>
                <a:cs typeface="+mn-cs"/>
              </a:rPr>
              <a:t>nhiêu</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 Ý </a:t>
            </a:r>
            <a:r>
              <a:rPr lang="en-US" sz="1200" b="0" i="0" kern="1200" dirty="0" err="1">
                <a:solidFill>
                  <a:schemeClr val="tx1"/>
                </a:solidFill>
                <a:effectLst/>
                <a:latin typeface="+mn-lt"/>
                <a:ea typeface="+mn-ea"/>
                <a:cs typeface="+mn-cs"/>
              </a:rPr>
              <a:t>nghĩa</a:t>
            </a:r>
            <a:r>
              <a:rPr lang="en-US" sz="1200" b="0" i="0" kern="1200" dirty="0">
                <a:solidFill>
                  <a:schemeClr val="tx1"/>
                </a:solidFill>
                <a:effectLst/>
                <a:latin typeface="+mn-lt"/>
                <a:ea typeface="+mn-ea"/>
                <a:cs typeface="+mn-cs"/>
              </a:rPr>
              <a:t> 3: </a:t>
            </a:r>
            <a:r>
              <a:rPr lang="en-US" sz="1200" b="0" i="0" kern="1200" dirty="0" err="1">
                <a:solidFill>
                  <a:schemeClr val="tx1"/>
                </a:solidFill>
                <a:effectLst/>
                <a:latin typeface="+mn-lt"/>
                <a:ea typeface="+mn-ea"/>
                <a:cs typeface="+mn-cs"/>
              </a:rPr>
              <a:t>Mốc</a:t>
            </a:r>
            <a:r>
              <a:rPr lang="en-US" sz="1200" b="0" i="0" kern="1200" dirty="0">
                <a:solidFill>
                  <a:schemeClr val="tx1"/>
                </a:solidFill>
                <a:effectLst/>
                <a:latin typeface="+mn-lt"/>
                <a:ea typeface="+mn-ea"/>
                <a:cs typeface="+mn-cs"/>
              </a:rPr>
              <a:t> 0.5 = </a:t>
            </a:r>
            <a:r>
              <a:rPr lang="en-US" sz="1200" b="0" i="0" kern="1200" dirty="0" err="1">
                <a:solidFill>
                  <a:schemeClr val="tx1"/>
                </a:solidFill>
                <a:effectLst/>
                <a:latin typeface="+mn-lt"/>
                <a:ea typeface="+mn-ea"/>
                <a:cs typeface="+mn-cs"/>
              </a:rPr>
              <a:t>Đánh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giá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ngẫu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nhiên</a:t>
            </a:r>
            <a:r>
              <a:rPr lang="en-US" sz="1200" b="0" i="0" kern="1200" dirty="0">
                <a:solidFill>
                  <a:schemeClr val="tx1"/>
                </a:solidFill>
                <a:effectLst/>
                <a:latin typeface="+mn-lt"/>
                <a:ea typeface="+mn-ea"/>
                <a:cs typeface="+mn-cs"/>
              </a:rPr>
              <a:t> (Random Guessing)</a:t>
            </a:r>
          </a:p>
          <a:p>
            <a:pPr lvl="0"/>
            <a:r>
              <a:rPr lang="en-US" sz="1200" b="0" i="0" kern="1200" dirty="0">
                <a:solidFill>
                  <a:schemeClr val="tx1"/>
                </a:solidFill>
                <a:effectLst/>
                <a:latin typeface="+mn-lt"/>
                <a:ea typeface="+mn-ea"/>
                <a:cs typeface="+mn-cs"/>
              </a:rPr>
              <a:t>$\text{AUC} = 0.5$: </a:t>
            </a:r>
            <a:r>
              <a:rPr lang="en-US" sz="1200" b="0" i="0" kern="1200" dirty="0" err="1">
                <a:solidFill>
                  <a:schemeClr val="tx1"/>
                </a:solidFill>
                <a:effectLst/>
                <a:latin typeface="+mn-lt"/>
                <a:ea typeface="+mn-ea"/>
                <a:cs typeface="+mn-cs"/>
              </a:rPr>
              <a:t>Mô</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hình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hoàn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toàn</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đoán</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mò</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ngẫu</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nhiên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như</a:t>
            </a:r>
            <a:r>
              <a:rPr lang="en-US" sz="1200" b="0" i="0" kern="1200" dirty="0">
                <a:solidFill>
                  <a:schemeClr val="tx1"/>
                </a:solidFill>
                <a:effectLst/>
                <a:latin typeface="+mn-lt"/>
                <a:ea typeface="+mn-ea"/>
                <a:cs typeface="+mn-cs"/>
              </a:rPr>
              <a:t> tung </a:t>
            </a:r>
            <a:r>
              <a:rPr lang="en-US" sz="1200" b="0" i="0" kern="1200" dirty="0" err="1">
                <a:solidFill>
                  <a:schemeClr val="tx1"/>
                </a:solidFill>
                <a:effectLst/>
                <a:latin typeface="+mn-lt"/>
                <a:ea typeface="+mn-ea"/>
                <a:cs typeface="+mn-cs"/>
              </a:rPr>
              <a:t>đồng</a:t>
            </a:r>
            <a:r>
              <a:rPr lang="en-US" sz="1200" b="0" i="0" kern="1200" dirty="0">
                <a:solidFill>
                  <a:schemeClr val="tx1"/>
                </a:solidFill>
                <a:effectLst/>
                <a:latin typeface="+mn-lt"/>
                <a:ea typeface="+mn-ea"/>
                <a:cs typeface="+mn-cs"/>
              </a:rPr>
              <a:t> xu).</a:t>
            </a:r>
          </a:p>
          <a:p>
            <a:pPr lvl="0"/>
            <a:r>
              <a:rPr lang="en-US" sz="1200" b="0" i="0" kern="1200" dirty="0">
                <a:solidFill>
                  <a:schemeClr val="tx1"/>
                </a:solidFill>
                <a:effectLst/>
                <a:latin typeface="+mn-lt"/>
                <a:ea typeface="+mn-ea"/>
                <a:cs typeface="+mn-cs"/>
              </a:rPr>
              <a:t>$\text{AUC} = 0.6 \to 0.7+$: </a:t>
            </a:r>
            <a:r>
              <a:rPr lang="en-US" sz="1200" b="0" i="0" kern="1200" dirty="0" err="1">
                <a:solidFill>
                  <a:schemeClr val="tx1"/>
                </a:solidFill>
                <a:effectLst/>
                <a:latin typeface="+mn-lt"/>
                <a:ea typeface="+mn-ea"/>
                <a:cs typeface="+mn-cs"/>
              </a:rPr>
              <a:t>Chứng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minh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mô</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hình</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thực</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sự</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đã</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học</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được</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đặc</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trưng</a:t>
            </a:r>
            <a:r>
              <a:rPr lang="en-US" sz="1200" b="1" i="0" kern="1200" dirty="0">
                <a:solidFill>
                  <a:schemeClr val="tx1"/>
                </a:solidFill>
                <a:effectLst/>
                <a:latin typeface="+mn-lt"/>
                <a:ea typeface="+mn-ea"/>
                <a:cs typeface="+mn-cs"/>
              </a:rPr>
              <a:t> y khoa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từ</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ảnh</a:t>
            </a:r>
            <a:r>
              <a:rPr lang="en-US" sz="1200" b="0" i="0" kern="1200" dirty="0">
                <a:solidFill>
                  <a:schemeClr val="tx1"/>
                </a:solidFill>
                <a:effectLst/>
                <a:latin typeface="+mn-lt"/>
                <a:ea typeface="+mn-ea"/>
                <a:cs typeface="+mn-cs"/>
              </a:rPr>
              <a:t> X-</a:t>
            </a:r>
            <a:r>
              <a:rPr lang="en-US" sz="1200" b="0" i="0" kern="1200" dirty="0" err="1">
                <a:solidFill>
                  <a:schemeClr val="tx1"/>
                </a:solidFill>
                <a:effectLst/>
                <a:latin typeface="+mn-lt"/>
                <a:ea typeface="+mn-ea"/>
                <a:cs typeface="+mn-cs"/>
              </a:rPr>
              <a:t>quang</a:t>
            </a:r>
            <a:r>
              <a:rPr lang="en-US" sz="1200" b="0" i="0" kern="1200" dirty="0">
                <a:solidFill>
                  <a:schemeClr val="tx1"/>
                </a:solidFill>
                <a:effectLst/>
                <a:latin typeface="+mn-lt"/>
                <a:ea typeface="+mn-ea"/>
                <a:cs typeface="+mn-cs"/>
              </a:rPr>
              <a:t>/CT </a:t>
            </a:r>
            <a:r>
              <a:rPr lang="en-US" sz="1200" b="0" i="0" kern="1200" dirty="0" err="1">
                <a:solidFill>
                  <a:schemeClr val="tx1"/>
                </a:solidFill>
                <a:effectLst/>
                <a:latin typeface="+mn-lt"/>
                <a:ea typeface="+mn-ea"/>
                <a:cs typeface="+mn-cs"/>
              </a:rPr>
              <a:t>để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phân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biệt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bệnh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nhân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bệnh</a:t>
            </a:r>
            <a:r>
              <a:rPr lang="en-US" sz="1200" b="0" i="0" kern="1200" dirty="0">
                <a:solidFill>
                  <a:schemeClr val="tx1"/>
                </a:solidFill>
                <a:effectLst/>
                <a:latin typeface="+mn-lt"/>
                <a:ea typeface="+mn-ea"/>
                <a:cs typeface="+mn-cs"/>
              </a:rPr>
              <a:t> vs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bệnh</a:t>
            </a:r>
            <a:r>
              <a:rPr lang="en-US" sz="1200" b="0" i="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trục này giải thích vì sao có nhiều tên run: mỗi tên là một tổ hợp lựa chọn trên bốn trục.</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7 nhóm, đi từ pipeline tự ghép nhẹ đến LLM. Nhóm G không train lại, chỉ rescore.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để hội đồng đọc được các bảng kết quả phía sau mà không phải hỏi lại tên run nghĩa là gì.</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hay gặp: Tuned là gì? Trả lời gọn: chỉ LR và WD riêng cho GPT-2, không đụng kiến trúc.</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Thông điệp: attention trên kiến trúc quá nhẹ không cứu được gì. Cần encoder pretrained và decoder mạnh.</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sz="1200" b="0" i="0" kern="1200" dirty="0" err="1">
                <a:solidFill>
                  <a:schemeClr val="tx1"/>
                </a:solidFill>
                <a:effectLst/>
                <a:latin typeface="+mn-lt"/>
                <a:ea typeface="+mn-ea"/>
                <a:cs typeface="+mn-cs"/>
              </a:rPr>
              <a:t>Nhóm</a:t>
            </a:r>
            <a:r>
              <a:rPr lang="en-US" sz="1200" b="0" i="0" kern="1200" dirty="0">
                <a:solidFill>
                  <a:schemeClr val="tx1"/>
                </a:solidFill>
                <a:effectLst/>
                <a:latin typeface="+mn-lt"/>
                <a:ea typeface="+mn-ea"/>
                <a:cs typeface="+mn-cs"/>
              </a:rPr>
              <a:t> A1 (KHÔNG </a:t>
            </a:r>
            <a:r>
              <a:rPr lang="en-US" sz="1200" b="0" i="0" kern="1200" dirty="0" err="1">
                <a:solidFill>
                  <a:schemeClr val="tx1"/>
                </a:solidFill>
                <a:effectLst/>
                <a:latin typeface="+mn-lt"/>
                <a:ea typeface="+mn-ea"/>
                <a:cs typeface="+mn-cs"/>
              </a:rPr>
              <a:t>dùng</a:t>
            </a:r>
            <a:r>
              <a:rPr lang="en-US" sz="1200" b="0" i="0" kern="1200" dirty="0">
                <a:solidFill>
                  <a:schemeClr val="tx1"/>
                </a:solidFill>
                <a:effectLst/>
                <a:latin typeface="+mn-lt"/>
                <a:ea typeface="+mn-ea"/>
                <a:cs typeface="+mn-cs"/>
              </a:rPr>
              <a:t> Attention):</a:t>
            </a:r>
          </a:p>
          <a:p>
            <a:pPr lvl="0"/>
            <a:r>
              <a:rPr lang="en-US" sz="1200" b="1" i="0" kern="1200" dirty="0">
                <a:solidFill>
                  <a:schemeClr val="tx1"/>
                </a:solidFill>
                <a:effectLst/>
                <a:latin typeface="+mn-lt"/>
                <a:ea typeface="+mn-ea"/>
                <a:cs typeface="+mn-cs"/>
              </a:rPr>
              <a:t>A1_lstm_all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chú</a:t>
            </a:r>
            <a:r>
              <a:rPr lang="en-US" sz="1200" b="0" i="0" kern="1200" dirty="0">
                <a:solidFill>
                  <a:schemeClr val="tx1"/>
                </a:solidFill>
                <a:effectLst/>
                <a:latin typeface="+mn-lt"/>
                <a:ea typeface="+mn-ea"/>
                <a:cs typeface="+mn-cs"/>
              </a:rPr>
              <a:t> ý, Text = </a:t>
            </a:r>
            <a:r>
              <a:rPr lang="en-US" sz="1200" b="0" i="0" kern="1200" dirty="0" err="1">
                <a:solidFill>
                  <a:schemeClr val="tx1"/>
                </a:solidFill>
                <a:effectLst/>
                <a:latin typeface="+mn-lt"/>
                <a:ea typeface="+mn-ea"/>
                <a:cs typeface="+mn-cs"/>
              </a:rPr>
              <a:t>BiLSTM</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Cả</a:t>
            </a:r>
            <a:r>
              <a:rPr lang="en-US" sz="1200" b="1" i="0" kern="1200" dirty="0">
                <a:solidFill>
                  <a:schemeClr val="tx1"/>
                </a:solidFill>
                <a:effectLst/>
                <a:latin typeface="+mn-lt"/>
                <a:ea typeface="+mn-ea"/>
                <a:cs typeface="+mn-cs"/>
              </a:rPr>
              <a:t> 3 </a:t>
            </a:r>
            <a:r>
              <a:rPr lang="en-US" sz="1200" b="1" i="0" kern="1200" dirty="0" err="1">
                <a:solidFill>
                  <a:schemeClr val="tx1"/>
                </a:solidFill>
                <a:effectLst/>
                <a:latin typeface="+mn-lt"/>
                <a:ea typeface="+mn-ea"/>
                <a:cs typeface="+mn-cs"/>
              </a:rPr>
              <a:t>khối</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cùng</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học</a:t>
            </a:r>
            <a:r>
              <a:rPr lang="en-US" sz="1200" b="0" i="0" kern="1200" dirty="0">
                <a:solidFill>
                  <a:schemeClr val="tx1"/>
                </a:solidFill>
                <a:effectLst/>
                <a:latin typeface="+mn-lt"/>
                <a:ea typeface="+mn-ea"/>
                <a:cs typeface="+mn-cs"/>
              </a:rPr>
              <a:t>.</a:t>
            </a:r>
          </a:p>
          <a:p>
            <a:pPr lvl="0"/>
            <a:r>
              <a:rPr lang="en-US" sz="1200" b="1" i="0" kern="1200" dirty="0">
                <a:solidFill>
                  <a:schemeClr val="tx1"/>
                </a:solidFill>
                <a:effectLst/>
                <a:latin typeface="+mn-lt"/>
                <a:ea typeface="+mn-ea"/>
                <a:cs typeface="+mn-cs"/>
              </a:rPr>
              <a:t>A1_lstm_img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chú</a:t>
            </a:r>
            <a:r>
              <a:rPr lang="en-US" sz="1200" b="0" i="0" kern="1200" dirty="0">
                <a:solidFill>
                  <a:schemeClr val="tx1"/>
                </a:solidFill>
                <a:effectLst/>
                <a:latin typeface="+mn-lt"/>
                <a:ea typeface="+mn-ea"/>
                <a:cs typeface="+mn-cs"/>
              </a:rPr>
              <a:t> ý, Text = </a:t>
            </a:r>
            <a:r>
              <a:rPr lang="en-US" sz="1200" b="0" i="0" kern="1200" dirty="0" err="1">
                <a:solidFill>
                  <a:schemeClr val="tx1"/>
                </a:solidFill>
                <a:effectLst/>
                <a:latin typeface="+mn-lt"/>
                <a:ea typeface="+mn-ea"/>
                <a:cs typeface="+mn-cs"/>
              </a:rPr>
              <a:t>BiLSTM</a:t>
            </a:r>
            <a:r>
              <a:rPr lang="en-US" sz="1200" b="0"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Khóa</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ảnh</a:t>
            </a:r>
            <a:r>
              <a:rPr lang="en-US" sz="1200" b="0" i="0" kern="1200" dirty="0">
                <a:solidFill>
                  <a:schemeClr val="tx1"/>
                </a:solidFill>
                <a:effectLst/>
                <a:latin typeface="+mn-lt"/>
                <a:ea typeface="+mn-ea"/>
                <a:cs typeface="+mn-cs"/>
              </a:rPr>
              <a:t>, ✏️ Học </a:t>
            </a:r>
            <a:r>
              <a:rPr lang="en-US" sz="1200" b="0" i="0" kern="1200" dirty="0" err="1">
                <a:solidFill>
                  <a:schemeClr val="tx1"/>
                </a:solidFill>
                <a:effectLst/>
                <a:latin typeface="+mn-lt"/>
                <a:ea typeface="+mn-ea"/>
                <a:cs typeface="+mn-cs"/>
              </a:rPr>
              <a:t>Chữ</a:t>
            </a:r>
            <a:r>
              <a:rPr lang="en-US" sz="1200" b="0" i="0" kern="1200" dirty="0">
                <a:solidFill>
                  <a:schemeClr val="tx1"/>
                </a:solidFill>
                <a:effectLst/>
                <a:latin typeface="+mn-lt"/>
                <a:ea typeface="+mn-ea"/>
                <a:cs typeface="+mn-cs"/>
              </a:rPr>
              <a:t> + Decoder.</a:t>
            </a:r>
          </a:p>
          <a:p>
            <a:pPr lvl="0"/>
            <a:r>
              <a:rPr lang="en-US" sz="1200" b="1" i="0" kern="1200" dirty="0">
                <a:solidFill>
                  <a:schemeClr val="tx1"/>
                </a:solidFill>
                <a:effectLst/>
                <a:latin typeface="+mn-lt"/>
                <a:ea typeface="+mn-ea"/>
                <a:cs typeface="+mn-cs"/>
              </a:rPr>
              <a:t>A1_lstm_txt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chú</a:t>
            </a:r>
            <a:r>
              <a:rPr lang="en-US" sz="1200" b="0" i="0" kern="1200" dirty="0">
                <a:solidFill>
                  <a:schemeClr val="tx1"/>
                </a:solidFill>
                <a:effectLst/>
                <a:latin typeface="+mn-lt"/>
                <a:ea typeface="+mn-ea"/>
                <a:cs typeface="+mn-cs"/>
              </a:rPr>
              <a:t> ý, Text = </a:t>
            </a:r>
            <a:r>
              <a:rPr lang="en-US" sz="1200" b="0" i="0" kern="1200" dirty="0" err="1">
                <a:solidFill>
                  <a:schemeClr val="tx1"/>
                </a:solidFill>
                <a:effectLst/>
                <a:latin typeface="+mn-lt"/>
                <a:ea typeface="+mn-ea"/>
                <a:cs typeface="+mn-cs"/>
              </a:rPr>
              <a:t>BiLSTM</a:t>
            </a:r>
            <a:r>
              <a:rPr lang="en-US" sz="1200" b="0"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Khóa</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chữ</a:t>
            </a:r>
            <a:r>
              <a:rPr lang="en-US" sz="1200" b="0" i="0" kern="1200" dirty="0">
                <a:solidFill>
                  <a:schemeClr val="tx1"/>
                </a:solidFill>
                <a:effectLst/>
                <a:latin typeface="+mn-lt"/>
                <a:ea typeface="+mn-ea"/>
                <a:cs typeface="+mn-cs"/>
              </a:rPr>
              <a:t>, ✏️ Học </a:t>
            </a:r>
            <a:r>
              <a:rPr lang="en-US" sz="1200" b="0" i="0" kern="1200" dirty="0" err="1">
                <a:solidFill>
                  <a:schemeClr val="tx1"/>
                </a:solidFill>
                <a:effectLst/>
                <a:latin typeface="+mn-lt"/>
                <a:ea typeface="+mn-ea"/>
                <a:cs typeface="+mn-cs"/>
              </a:rPr>
              <a:t>Ảnh</a:t>
            </a:r>
            <a:r>
              <a:rPr lang="en-US" sz="1200" b="0" i="0" kern="1200" dirty="0">
                <a:solidFill>
                  <a:schemeClr val="tx1"/>
                </a:solidFill>
                <a:effectLst/>
                <a:latin typeface="+mn-lt"/>
                <a:ea typeface="+mn-ea"/>
                <a:cs typeface="+mn-cs"/>
              </a:rPr>
              <a:t> + Decoder.</a:t>
            </a:r>
          </a:p>
          <a:p>
            <a:pPr lvl="0"/>
            <a:r>
              <a:rPr lang="en-US" sz="1200" b="1" i="0" kern="1200" dirty="0">
                <a:solidFill>
                  <a:schemeClr val="tx1"/>
                </a:solidFill>
                <a:effectLst/>
                <a:latin typeface="+mn-lt"/>
                <a:ea typeface="+mn-ea"/>
                <a:cs typeface="+mn-cs"/>
              </a:rPr>
              <a:t>A1_lstm_dec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chú</a:t>
            </a:r>
            <a:r>
              <a:rPr lang="en-US" sz="1200" b="0" i="0" kern="1200" dirty="0">
                <a:solidFill>
                  <a:schemeClr val="tx1"/>
                </a:solidFill>
                <a:effectLst/>
                <a:latin typeface="+mn-lt"/>
                <a:ea typeface="+mn-ea"/>
                <a:cs typeface="+mn-cs"/>
              </a:rPr>
              <a:t> ý, Text = </a:t>
            </a:r>
            <a:r>
              <a:rPr lang="en-US" sz="1200" b="0" i="0" kern="1200" dirty="0" err="1">
                <a:solidFill>
                  <a:schemeClr val="tx1"/>
                </a:solidFill>
                <a:effectLst/>
                <a:latin typeface="+mn-lt"/>
                <a:ea typeface="+mn-ea"/>
                <a:cs typeface="+mn-cs"/>
              </a:rPr>
              <a:t>BiLSTM</a:t>
            </a:r>
            <a:r>
              <a:rPr lang="en-US" sz="1200" b="0"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Khóa</a:t>
            </a:r>
            <a:r>
              <a:rPr lang="en-US" sz="1200" b="1" i="0" kern="1200" dirty="0">
                <a:solidFill>
                  <a:schemeClr val="tx1"/>
                </a:solidFill>
                <a:effectLst/>
                <a:latin typeface="+mn-lt"/>
                <a:ea typeface="+mn-ea"/>
                <a:cs typeface="+mn-cs"/>
              </a:rPr>
              <a:t> decoder</a:t>
            </a:r>
            <a:r>
              <a:rPr lang="en-US" sz="1200" b="0" i="0" kern="1200" dirty="0">
                <a:solidFill>
                  <a:schemeClr val="tx1"/>
                </a:solidFill>
                <a:effectLst/>
                <a:latin typeface="+mn-lt"/>
                <a:ea typeface="+mn-ea"/>
                <a:cs typeface="+mn-cs"/>
              </a:rPr>
              <a:t>, ✏️ Học </a:t>
            </a:r>
            <a:r>
              <a:rPr lang="en-US" sz="1200" b="0" i="0" kern="1200" dirty="0" err="1">
                <a:solidFill>
                  <a:schemeClr val="tx1"/>
                </a:solidFill>
                <a:effectLst/>
                <a:latin typeface="+mn-lt"/>
                <a:ea typeface="+mn-ea"/>
                <a:cs typeface="+mn-cs"/>
              </a:rPr>
              <a:t>Ảnh</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Chữ</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Nhóm</a:t>
            </a:r>
            <a:r>
              <a:rPr lang="en-US" sz="1200" b="0" i="0" kern="1200" dirty="0">
                <a:solidFill>
                  <a:schemeClr val="tx1"/>
                </a:solidFill>
                <a:effectLst/>
                <a:latin typeface="+mn-lt"/>
                <a:ea typeface="+mn-ea"/>
                <a:cs typeface="+mn-cs"/>
              </a:rPr>
              <a:t> A2 (CÓ </a:t>
            </a:r>
            <a:r>
              <a:rPr lang="en-US" sz="1200" b="0" i="0" kern="1200" dirty="0" err="1">
                <a:solidFill>
                  <a:schemeClr val="tx1"/>
                </a:solidFill>
                <a:effectLst/>
                <a:latin typeface="+mn-lt"/>
                <a:ea typeface="+mn-ea"/>
                <a:cs typeface="+mn-cs"/>
              </a:rPr>
              <a:t>dùng</a:t>
            </a:r>
            <a:r>
              <a:rPr lang="en-US" sz="1200" b="0" i="0" kern="1200" dirty="0">
                <a:solidFill>
                  <a:schemeClr val="tx1"/>
                </a:solidFill>
                <a:effectLst/>
                <a:latin typeface="+mn-lt"/>
                <a:ea typeface="+mn-ea"/>
                <a:cs typeface="+mn-cs"/>
              </a:rPr>
              <a:t> Attention — </a:t>
            </a:r>
            <a:r>
              <a:rPr lang="en-US" sz="1200" b="0" i="0" kern="1200" dirty="0" err="1">
                <a:solidFill>
                  <a:schemeClr val="tx1"/>
                </a:solidFill>
                <a:effectLst/>
                <a:latin typeface="+mn-lt"/>
                <a:ea typeface="+mn-ea"/>
                <a:cs typeface="+mn-cs"/>
              </a:rPr>
              <a:t>Bật</a:t>
            </a:r>
            <a:r>
              <a:rPr lang="en-US" sz="1200" b="0" i="0" kern="1200" dirty="0">
                <a:solidFill>
                  <a:schemeClr val="tx1"/>
                </a:solidFill>
                <a:effectLst/>
                <a:latin typeface="+mn-lt"/>
                <a:ea typeface="+mn-ea"/>
                <a:cs typeface="+mn-cs"/>
              </a:rPr>
              <a:t> SE-Block ở </a:t>
            </a:r>
            <a:r>
              <a:rPr lang="en-US" sz="1200" b="0" i="0" kern="1200" dirty="0" err="1">
                <a:solidFill>
                  <a:schemeClr val="tx1"/>
                </a:solidFill>
                <a:effectLst/>
                <a:latin typeface="+mn-lt"/>
                <a:ea typeface="+mn-ea"/>
                <a:cs typeface="+mn-cs"/>
              </a:rPr>
              <a:t>Ảnh</a:t>
            </a:r>
            <a:r>
              <a:rPr lang="en-US" sz="1200" b="0" i="0" kern="1200" dirty="0">
                <a:solidFill>
                  <a:schemeClr val="tx1"/>
                </a:solidFill>
                <a:effectLst/>
                <a:latin typeface="+mn-lt"/>
                <a:ea typeface="+mn-ea"/>
                <a:cs typeface="+mn-cs"/>
              </a:rPr>
              <a:t> &amp; Temporal-Attn ở </a:t>
            </a:r>
            <a:r>
              <a:rPr lang="en-US" sz="1200" b="0" i="0" kern="1200" dirty="0" err="1">
                <a:solidFill>
                  <a:schemeClr val="tx1"/>
                </a:solidFill>
                <a:effectLst/>
                <a:latin typeface="+mn-lt"/>
                <a:ea typeface="+mn-ea"/>
                <a:cs typeface="+mn-cs"/>
              </a:rPr>
              <a:t>Chữ</a:t>
            </a:r>
            <a:r>
              <a:rPr lang="en-US" sz="1200" b="0" i="0" kern="1200" dirty="0">
                <a:solidFill>
                  <a:schemeClr val="tx1"/>
                </a:solidFill>
                <a:effectLst/>
                <a:latin typeface="+mn-lt"/>
                <a:ea typeface="+mn-ea"/>
                <a:cs typeface="+mn-cs"/>
              </a:rPr>
              <a:t>):</a:t>
            </a:r>
          </a:p>
          <a:p>
            <a:pPr lvl="0"/>
            <a:r>
              <a:rPr lang="en-US" sz="1200" b="1" i="0" kern="1200" dirty="0">
                <a:solidFill>
                  <a:schemeClr val="tx1"/>
                </a:solidFill>
                <a:effectLst/>
                <a:latin typeface="+mn-lt"/>
                <a:ea typeface="+mn-ea"/>
                <a:cs typeface="+mn-cs"/>
              </a:rPr>
              <a:t>A2_trans_all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chú</a:t>
            </a:r>
            <a:r>
              <a:rPr lang="en-US" sz="1200" b="0" i="0" kern="1200" dirty="0">
                <a:solidFill>
                  <a:schemeClr val="tx1"/>
                </a:solidFill>
                <a:effectLst/>
                <a:latin typeface="+mn-lt"/>
                <a:ea typeface="+mn-ea"/>
                <a:cs typeface="+mn-cs"/>
              </a:rPr>
              <a:t> ý, Text = Transformer, </a:t>
            </a:r>
            <a:r>
              <a:rPr lang="en-US" sz="1200" b="1" i="0" kern="1200" dirty="0" err="1">
                <a:solidFill>
                  <a:schemeClr val="tx1"/>
                </a:solidFill>
                <a:effectLst/>
                <a:latin typeface="+mn-lt"/>
                <a:ea typeface="+mn-ea"/>
                <a:cs typeface="+mn-cs"/>
              </a:rPr>
              <a:t>Cả</a:t>
            </a:r>
            <a:r>
              <a:rPr lang="en-US" sz="1200" b="1" i="0" kern="1200" dirty="0">
                <a:solidFill>
                  <a:schemeClr val="tx1"/>
                </a:solidFill>
                <a:effectLst/>
                <a:latin typeface="+mn-lt"/>
                <a:ea typeface="+mn-ea"/>
                <a:cs typeface="+mn-cs"/>
              </a:rPr>
              <a:t> 3 </a:t>
            </a:r>
            <a:r>
              <a:rPr lang="en-US" sz="1200" b="1" i="0" kern="1200" dirty="0" err="1">
                <a:solidFill>
                  <a:schemeClr val="tx1"/>
                </a:solidFill>
                <a:effectLst/>
                <a:latin typeface="+mn-lt"/>
                <a:ea typeface="+mn-ea"/>
                <a:cs typeface="+mn-cs"/>
              </a:rPr>
              <a:t>khối</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cùng</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học</a:t>
            </a:r>
            <a:r>
              <a:rPr lang="en-US" sz="1200" b="0" i="0" kern="1200" dirty="0">
                <a:solidFill>
                  <a:schemeClr val="tx1"/>
                </a:solidFill>
                <a:effectLst/>
                <a:latin typeface="+mn-lt"/>
                <a:ea typeface="+mn-ea"/>
                <a:cs typeface="+mn-cs"/>
              </a:rPr>
              <a:t>.</a:t>
            </a:r>
          </a:p>
          <a:p>
            <a:pPr lvl="0"/>
            <a:r>
              <a:rPr lang="en-US" sz="1200" b="1" i="0" kern="1200" dirty="0">
                <a:solidFill>
                  <a:schemeClr val="tx1"/>
                </a:solidFill>
                <a:effectLst/>
                <a:latin typeface="+mn-lt"/>
                <a:ea typeface="+mn-ea"/>
                <a:cs typeface="+mn-cs"/>
              </a:rPr>
              <a:t>A2_trans_img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chú</a:t>
            </a:r>
            <a:r>
              <a:rPr lang="en-US" sz="1200" b="0" i="0" kern="1200" dirty="0">
                <a:solidFill>
                  <a:schemeClr val="tx1"/>
                </a:solidFill>
                <a:effectLst/>
                <a:latin typeface="+mn-lt"/>
                <a:ea typeface="+mn-ea"/>
                <a:cs typeface="+mn-cs"/>
              </a:rPr>
              <a:t> ý, Text = Transformer, ❄️ </a:t>
            </a:r>
            <a:r>
              <a:rPr lang="en-US" sz="1200" b="1" i="0" kern="1200" dirty="0" err="1">
                <a:solidFill>
                  <a:schemeClr val="tx1"/>
                </a:solidFill>
                <a:effectLst/>
                <a:latin typeface="+mn-lt"/>
                <a:ea typeface="+mn-ea"/>
                <a:cs typeface="+mn-cs"/>
              </a:rPr>
              <a:t>Khóa</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ảnh</a:t>
            </a:r>
            <a:r>
              <a:rPr lang="en-US" sz="1200" b="0" i="0" kern="1200" dirty="0">
                <a:solidFill>
                  <a:schemeClr val="tx1"/>
                </a:solidFill>
                <a:effectLst/>
                <a:latin typeface="+mn-lt"/>
                <a:ea typeface="+mn-ea"/>
                <a:cs typeface="+mn-cs"/>
              </a:rPr>
              <a:t>, ✏️ Học </a:t>
            </a:r>
            <a:r>
              <a:rPr lang="en-US" sz="1200" b="0" i="0" kern="1200" dirty="0" err="1">
                <a:solidFill>
                  <a:schemeClr val="tx1"/>
                </a:solidFill>
                <a:effectLst/>
                <a:latin typeface="+mn-lt"/>
                <a:ea typeface="+mn-ea"/>
                <a:cs typeface="+mn-cs"/>
              </a:rPr>
              <a:t>Chữ</a:t>
            </a:r>
            <a:r>
              <a:rPr lang="en-US" sz="1200" b="0" i="0" kern="1200" dirty="0">
                <a:solidFill>
                  <a:schemeClr val="tx1"/>
                </a:solidFill>
                <a:effectLst/>
                <a:latin typeface="+mn-lt"/>
                <a:ea typeface="+mn-ea"/>
                <a:cs typeface="+mn-cs"/>
              </a:rPr>
              <a:t> + Decoder.</a:t>
            </a:r>
          </a:p>
          <a:p>
            <a:pPr lvl="0"/>
            <a:r>
              <a:rPr lang="en-US" sz="1200" b="1" i="0" kern="1200" dirty="0">
                <a:solidFill>
                  <a:schemeClr val="tx1"/>
                </a:solidFill>
                <a:effectLst/>
                <a:latin typeface="+mn-lt"/>
                <a:ea typeface="+mn-ea"/>
                <a:cs typeface="+mn-cs"/>
              </a:rPr>
              <a:t>A2_trans_txt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chú</a:t>
            </a:r>
            <a:r>
              <a:rPr lang="en-US" sz="1200" b="0" i="0" kern="1200" dirty="0">
                <a:solidFill>
                  <a:schemeClr val="tx1"/>
                </a:solidFill>
                <a:effectLst/>
                <a:latin typeface="+mn-lt"/>
                <a:ea typeface="+mn-ea"/>
                <a:cs typeface="+mn-cs"/>
              </a:rPr>
              <a:t> ý, Text = Transformer, ❄️ </a:t>
            </a:r>
            <a:r>
              <a:rPr lang="en-US" sz="1200" b="1" i="0" kern="1200" dirty="0" err="1">
                <a:solidFill>
                  <a:schemeClr val="tx1"/>
                </a:solidFill>
                <a:effectLst/>
                <a:latin typeface="+mn-lt"/>
                <a:ea typeface="+mn-ea"/>
                <a:cs typeface="+mn-cs"/>
              </a:rPr>
              <a:t>Khóa</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chữ</a:t>
            </a:r>
            <a:r>
              <a:rPr lang="en-US" sz="1200" b="0" i="0" kern="1200" dirty="0">
                <a:solidFill>
                  <a:schemeClr val="tx1"/>
                </a:solidFill>
                <a:effectLst/>
                <a:latin typeface="+mn-lt"/>
                <a:ea typeface="+mn-ea"/>
                <a:cs typeface="+mn-cs"/>
              </a:rPr>
              <a:t>, ✏️ Học </a:t>
            </a:r>
            <a:r>
              <a:rPr lang="en-US" sz="1200" b="0" i="0" kern="1200" dirty="0" err="1">
                <a:solidFill>
                  <a:schemeClr val="tx1"/>
                </a:solidFill>
                <a:effectLst/>
                <a:latin typeface="+mn-lt"/>
                <a:ea typeface="+mn-ea"/>
                <a:cs typeface="+mn-cs"/>
              </a:rPr>
              <a:t>Ảnh</a:t>
            </a:r>
            <a:r>
              <a:rPr lang="en-US" sz="1200" b="0" i="0" kern="1200" dirty="0">
                <a:solidFill>
                  <a:schemeClr val="tx1"/>
                </a:solidFill>
                <a:effectLst/>
                <a:latin typeface="+mn-lt"/>
                <a:ea typeface="+mn-ea"/>
                <a:cs typeface="+mn-cs"/>
              </a:rPr>
              <a:t> + Decoder.</a:t>
            </a:r>
          </a:p>
          <a:p>
            <a:pPr lvl="0"/>
            <a:r>
              <a:rPr lang="en-US" sz="1200" b="1" i="0" kern="1200" dirty="0">
                <a:solidFill>
                  <a:schemeClr val="tx1"/>
                </a:solidFill>
                <a:effectLst/>
                <a:latin typeface="+mn-lt"/>
                <a:ea typeface="+mn-ea"/>
                <a:cs typeface="+mn-cs"/>
              </a:rPr>
              <a:t>A2_trans_dec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chú</a:t>
            </a:r>
            <a:r>
              <a:rPr lang="en-US" sz="1200" b="0" i="0" kern="1200" dirty="0">
                <a:solidFill>
                  <a:schemeClr val="tx1"/>
                </a:solidFill>
                <a:effectLst/>
                <a:latin typeface="+mn-lt"/>
                <a:ea typeface="+mn-ea"/>
                <a:cs typeface="+mn-cs"/>
              </a:rPr>
              <a:t> ý, Text = Transformer, ❄️ </a:t>
            </a:r>
            <a:r>
              <a:rPr lang="en-US" sz="1200" b="1" i="0" kern="1200" dirty="0" err="1">
                <a:solidFill>
                  <a:schemeClr val="tx1"/>
                </a:solidFill>
                <a:effectLst/>
                <a:latin typeface="+mn-lt"/>
                <a:ea typeface="+mn-ea"/>
                <a:cs typeface="+mn-cs"/>
              </a:rPr>
              <a:t>Khóa</a:t>
            </a:r>
            <a:r>
              <a:rPr lang="en-US" sz="1200" b="1" i="0" kern="1200" dirty="0">
                <a:solidFill>
                  <a:schemeClr val="tx1"/>
                </a:solidFill>
                <a:effectLst/>
                <a:latin typeface="+mn-lt"/>
                <a:ea typeface="+mn-ea"/>
                <a:cs typeface="+mn-cs"/>
              </a:rPr>
              <a:t> decoder</a:t>
            </a:r>
            <a:r>
              <a:rPr lang="en-US" sz="1200" b="0" i="0" kern="1200" dirty="0">
                <a:solidFill>
                  <a:schemeClr val="tx1"/>
                </a:solidFill>
                <a:effectLst/>
                <a:latin typeface="+mn-lt"/>
                <a:ea typeface="+mn-ea"/>
                <a:cs typeface="+mn-cs"/>
              </a:rPr>
              <a:t>, ✏️ Học </a:t>
            </a:r>
            <a:r>
              <a:rPr lang="en-US" sz="1200" b="0" i="0" kern="1200" dirty="0" err="1">
                <a:solidFill>
                  <a:schemeClr val="tx1"/>
                </a:solidFill>
                <a:effectLst/>
                <a:latin typeface="+mn-lt"/>
                <a:ea typeface="+mn-ea"/>
                <a:cs typeface="+mn-cs"/>
              </a:rPr>
              <a:t>Ảnh</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Chữ</a:t>
            </a:r>
            <a:r>
              <a:rPr lang="en-US" sz="1200" b="0" i="0" kern="1200" dirty="0">
                <a:solidFill>
                  <a:schemeClr val="tx1"/>
                </a:solidFill>
                <a:effectLst/>
                <a:latin typeface="+mn-lt"/>
                <a:ea typeface="+mn-ea"/>
                <a:cs typeface="+mn-cs"/>
              </a:rPr>
              <a:t>.</a:t>
            </a:r>
          </a:p>
          <a:p>
            <a:endParaRPr lang="en-US" dirty="0"/>
          </a:p>
        </p:txBody>
      </p:sp>
    </p:spTree>
    <p:extLst>
      <p:ext uri="{BB962C8B-B14F-4D97-AF65-F5344CB8AC3E}">
        <p14:creationId xmlns:p14="http://schemas.microsoft.com/office/powerpoint/2010/main" val="17242909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cần nói rõ: đây là finding phủ định hợp lệ, không phải lỗi cài đặt.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Q-Former chính là hiện thực của giải pháp ① — sửa cổ chai bộ chiếu. Đây là ablation sạch: chỉ đổi đúng một khối.</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82560-0116-5229-1B90-E8D71A816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34177C-DFF9-0152-F9FA-D8FC081B14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A7BF8E-76BD-8D67-E47A-01C53E39E81A}"/>
              </a:ext>
            </a:extLst>
          </p:cNvPr>
          <p:cNvSpPr>
            <a:spLocks noGrp="1"/>
          </p:cNvSpPr>
          <p:nvPr>
            <p:ph type="body" idx="1"/>
          </p:nvPr>
        </p:nvSpPr>
        <p:spPr/>
        <p:txBody>
          <a:bodyPr/>
          <a:lstStyle/>
          <a:p>
            <a:r>
              <a:rPr lang="en-US" dirty="0"/>
              <a:t>Q-Former chính là hiện thực của giải pháp ① — sửa cổ chai bộ chiếu. Đây là ablation sạch: chỉ đổi đúng một khối.</a:t>
            </a:r>
          </a:p>
        </p:txBody>
      </p:sp>
      <p:sp>
        <p:nvSpPr>
          <p:cNvPr id="4" name="Slide Number Placeholder 3">
            <a:extLst>
              <a:ext uri="{FF2B5EF4-FFF2-40B4-BE49-F238E27FC236}">
                <a16:creationId xmlns:a16="http://schemas.microsoft.com/office/drawing/2014/main" id="{17E03167-EBEE-E4BB-BB3A-F2E4A055B13C}"/>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23963364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Lưu ý trung thực: +2 điểm EM Overall nằm trong nhiễu, nhưng +5 điểm EM Open thì vượt ngưỡng đáng chú ý.</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ví dụ sạch nhất trong báo cáo về đánh đổi dung lượng mô hình và tổng quát hóa.</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finding phủ định. Nêu thẳng thay vì giấu — đó là điểm mạnh về tính trung thực của báo cáo.</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LoRA cho phép chạm tới mô hình tỷ tham số trên phần cứng hạn chế. Chỉ ~30-41M tham số được cập nhật.</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chốt của phần Gemma: chọn mô hình triển khai phải dựa trên tập sạch, không dựa trên VQA-RAD.</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đừng nhìn cột EM Overall để chọn mô hình. sem_open 0.51 của Gemma so với 0.34 tối đa của GPT-2 mới là khác biệt thật.</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Trên tập sạch, mọi mô hình GPT-2 đều rơi về sát sàn 25%. Chỉ Gemma 2B tách hẳn khỏi nhóm.</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đóng góp khoa học chính của báo cáo. Nêu rõ: kết luận này lặp lại độc lập ở cả ba giai đoạn.</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phần nội dung. Nhấn mạnh việc còn lại đáng làm nhất là RAG và kiểm định thống kê.</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đóng. Ba con số này là thông điệp muốn hội đồng nhớ lại sau buổi báo cáo.</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3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4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4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4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4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5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932688"/>
            <a:ext cx="6400800" cy="274320"/>
          </a:xfrm>
          <a:prstGeom prst="rect">
            <a:avLst/>
          </a:prstGeom>
          <a:noFill/>
          <a:ln/>
        </p:spPr>
        <p:txBody>
          <a:bodyPr wrap="square" lIns="0" tIns="0" rIns="0" bIns="0" rtlCol="0" anchor="ctr"/>
          <a:lstStyle/>
          <a:p>
            <a:pPr marL="0" indent="0">
              <a:buNone/>
            </a:pPr>
            <a:r>
              <a:rPr lang="en-US" sz="1100" b="1" kern="0" spc="160" dirty="0">
                <a:solidFill>
                  <a:srgbClr val="1466C0"/>
                </a:solidFill>
                <a:latin typeface="Calibri" pitchFamily="34" charset="0"/>
                <a:ea typeface="Calibri" pitchFamily="34" charset="-122"/>
                <a:cs typeface="Calibri" pitchFamily="34" charset="-120"/>
              </a:rPr>
              <a:t>ĐẠI HỌC TÔN ĐỨC THẮNG  ·  ĐỒ ÁN CUỐI KỲ MÔN HỌC SÂU</a:t>
            </a:r>
            <a:endParaRPr lang="en-US" sz="1100" dirty="0"/>
          </a:p>
        </p:txBody>
      </p:sp>
      <p:sp>
        <p:nvSpPr>
          <p:cNvPr id="4" name="Text 1"/>
          <p:cNvSpPr/>
          <p:nvPr/>
        </p:nvSpPr>
        <p:spPr>
          <a:xfrm>
            <a:off x="566928" y="1298448"/>
            <a:ext cx="6492240" cy="1481328"/>
          </a:xfrm>
          <a:prstGeom prst="rect">
            <a:avLst/>
          </a:prstGeom>
          <a:noFill/>
          <a:ln/>
        </p:spPr>
        <p:txBody>
          <a:bodyPr wrap="square" lIns="0" tIns="0" rIns="0" bIns="0" rtlCol="0" anchor="ctr"/>
          <a:lstStyle/>
          <a:p>
            <a:pPr marL="0" indent="0">
              <a:lnSpc>
                <a:spcPct val="106000"/>
              </a:lnSpc>
              <a:buNone/>
            </a:pPr>
            <a:r>
              <a:rPr lang="en-US" sz="3300" b="1" dirty="0">
                <a:solidFill>
                  <a:srgbClr val="14243A"/>
                </a:solidFill>
                <a:latin typeface="Cambria" pitchFamily="34" charset="0"/>
                <a:ea typeface="Cambria" pitchFamily="34" charset="-122"/>
                <a:cs typeface="Cambria" pitchFamily="34" charset="-120"/>
              </a:rPr>
              <a:t>Hỏi đáp Ảnh Y khoa</a:t>
            </a:r>
            <a:endParaRPr lang="en-US" sz="3300" dirty="0"/>
          </a:p>
          <a:p>
            <a:pPr marL="0" indent="0">
              <a:lnSpc>
                <a:spcPct val="106000"/>
              </a:lnSpc>
              <a:buNone/>
            </a:pPr>
            <a:r>
              <a:rPr lang="en-US" sz="3300" b="1" dirty="0">
                <a:solidFill>
                  <a:srgbClr val="14243A"/>
                </a:solidFill>
                <a:latin typeface="Cambria" pitchFamily="34" charset="0"/>
                <a:ea typeface="Cambria" pitchFamily="34" charset="-122"/>
                <a:cs typeface="Cambria" pitchFamily="34" charset="-120"/>
              </a:rPr>
              <a:t>bằng Học sâu Đa phương thức</a:t>
            </a:r>
            <a:endParaRPr lang="en-US" sz="3300" dirty="0"/>
          </a:p>
        </p:txBody>
      </p:sp>
      <p:sp>
        <p:nvSpPr>
          <p:cNvPr id="5" name="Text 2"/>
          <p:cNvSpPr/>
          <p:nvPr/>
        </p:nvSpPr>
        <p:spPr>
          <a:xfrm>
            <a:off x="566928" y="2852928"/>
            <a:ext cx="6309360" cy="749808"/>
          </a:xfrm>
          <a:prstGeom prst="rect">
            <a:avLst/>
          </a:prstGeom>
          <a:noFill/>
          <a:ln/>
        </p:spPr>
        <p:txBody>
          <a:bodyPr wrap="square" lIns="0" tIns="0" rIns="0" bIns="0" rtlCol="0" anchor="ctr"/>
          <a:lstStyle/>
          <a:p>
            <a:pPr marL="0" indent="0">
              <a:lnSpc>
                <a:spcPct val="118000"/>
              </a:lnSpc>
              <a:buNone/>
            </a:pPr>
            <a:r>
              <a:rPr lang="en-US" sz="1350" dirty="0">
                <a:solidFill>
                  <a:srgbClr val="4F637B"/>
                </a:solidFill>
                <a:latin typeface="Calibri" pitchFamily="34" charset="0"/>
                <a:ea typeface="Calibri" pitchFamily="34" charset="-122"/>
                <a:cs typeface="Calibri" pitchFamily="34" charset="-120"/>
              </a:rPr>
              <a:t>Từ pipeline tự ghép nhẹ đến Mô hình Ngôn ngữ lớn y khoa — đánh giá đối chiếu 30+ cấu hình trên hai tập kiểm thử có và không rò rỉ ảnh.</a:t>
            </a:r>
            <a:endParaRPr lang="en-US" sz="1350" dirty="0"/>
          </a:p>
        </p:txBody>
      </p:sp>
      <p:sp>
        <p:nvSpPr>
          <p:cNvPr id="6" name="Shape 3"/>
          <p:cNvSpPr/>
          <p:nvPr/>
        </p:nvSpPr>
        <p:spPr>
          <a:xfrm>
            <a:off x="566928" y="3767328"/>
            <a:ext cx="6309360" cy="0"/>
          </a:xfrm>
          <a:prstGeom prst="line">
            <a:avLst/>
          </a:prstGeom>
          <a:noFill/>
          <a:ln w="12700">
            <a:solidFill>
              <a:srgbClr val="D3DEEA"/>
            </a:solidFill>
            <a:prstDash val="solid"/>
          </a:ln>
        </p:spPr>
        <p:txBody>
          <a:bodyPr/>
          <a:lstStyle/>
          <a:p>
            <a:endParaRPr lang="en-US"/>
          </a:p>
        </p:txBody>
      </p:sp>
      <p:sp>
        <p:nvSpPr>
          <p:cNvPr id="7" name="Text 4"/>
          <p:cNvSpPr/>
          <p:nvPr/>
        </p:nvSpPr>
        <p:spPr>
          <a:xfrm>
            <a:off x="566928" y="3931920"/>
            <a:ext cx="6309360" cy="822960"/>
          </a:xfrm>
          <a:prstGeom prst="rect">
            <a:avLst/>
          </a:prstGeom>
          <a:noFill/>
          <a:ln/>
        </p:spPr>
        <p:txBody>
          <a:bodyPr wrap="square" lIns="0" tIns="0" rIns="0" bIns="0" rtlCol="0" anchor="ctr"/>
          <a:lstStyle/>
          <a:p>
            <a:pPr marL="0" indent="0">
              <a:lnSpc>
                <a:spcPct val="116000"/>
              </a:lnSpc>
              <a:buNone/>
            </a:pPr>
            <a:r>
              <a:rPr lang="en-US" sz="1300" b="1" dirty="0">
                <a:solidFill>
                  <a:srgbClr val="14243A"/>
                </a:solidFill>
                <a:latin typeface="Calibri" pitchFamily="34" charset="0"/>
                <a:ea typeface="Calibri" pitchFamily="34" charset="-122"/>
                <a:cs typeface="Calibri" pitchFamily="34" charset="-120"/>
              </a:rPr>
              <a:t>Sinh viên thực hiện:  </a:t>
            </a:r>
            <a:r>
              <a:rPr lang="en-US" sz="1300" dirty="0">
                <a:solidFill>
                  <a:srgbClr val="4F637B"/>
                </a:solidFill>
                <a:latin typeface="Calibri" pitchFamily="34" charset="0"/>
                <a:ea typeface="Calibri" pitchFamily="34" charset="-122"/>
                <a:cs typeface="Calibri" pitchFamily="34" charset="-120"/>
              </a:rPr>
              <a:t>Hoàng Đình Quý Vũ</a:t>
            </a:r>
            <a:endParaRPr lang="en-US" sz="1300" dirty="0"/>
          </a:p>
          <a:p>
            <a:pPr marL="0" indent="0">
              <a:lnSpc>
                <a:spcPct val="116000"/>
              </a:lnSpc>
              <a:buNone/>
            </a:pPr>
            <a:r>
              <a:rPr lang="en-US" sz="1300" b="1" dirty="0">
                <a:solidFill>
                  <a:srgbClr val="14243A"/>
                </a:solidFill>
                <a:latin typeface="Calibri" pitchFamily="34" charset="0"/>
                <a:ea typeface="Calibri" pitchFamily="34" charset="-122"/>
                <a:cs typeface="Calibri" pitchFamily="34" charset="-120"/>
              </a:rPr>
              <a:t>Giảng viên hướng dẫn:  </a:t>
            </a:r>
            <a:r>
              <a:rPr lang="en-US" sz="1300" dirty="0">
                <a:solidFill>
                  <a:srgbClr val="4F637B"/>
                </a:solidFill>
                <a:latin typeface="Calibri" pitchFamily="34" charset="0"/>
                <a:ea typeface="Calibri" pitchFamily="34" charset="-122"/>
                <a:cs typeface="Calibri" pitchFamily="34" charset="-120"/>
              </a:rPr>
              <a:t>PGS.TS Lê Anh Cường</a:t>
            </a:r>
            <a:endParaRPr lang="en-US" sz="1300" dirty="0"/>
          </a:p>
        </p:txBody>
      </p:sp>
      <p:sp>
        <p:nvSpPr>
          <p:cNvPr id="8" name="Shape 5"/>
          <p:cNvSpPr/>
          <p:nvPr/>
        </p:nvSpPr>
        <p:spPr>
          <a:xfrm>
            <a:off x="566928" y="5029200"/>
            <a:ext cx="402336" cy="402336"/>
          </a:xfrm>
          <a:prstGeom prst="ellipse">
            <a:avLst/>
          </a:prstGeom>
          <a:solidFill>
            <a:srgbClr val="1466C0"/>
          </a:solidFill>
          <a:ln/>
        </p:spPr>
        <p:txBody>
          <a:bodyPr/>
          <a:lstStyle/>
          <a:p>
            <a:endParaRPr lang="en-US"/>
          </a:p>
        </p:txBody>
      </p:sp>
      <p:sp>
        <p:nvSpPr>
          <p:cNvPr id="9" name="Text 6"/>
          <p:cNvSpPr/>
          <p:nvPr/>
        </p:nvSpPr>
        <p:spPr>
          <a:xfrm>
            <a:off x="566928" y="502920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10" name="Text 7"/>
          <p:cNvSpPr/>
          <p:nvPr/>
        </p:nvSpPr>
        <p:spPr>
          <a:xfrm>
            <a:off x="1078992" y="5029200"/>
            <a:ext cx="1554480" cy="402336"/>
          </a:xfrm>
          <a:prstGeom prst="rect">
            <a:avLst/>
          </a:prstGeom>
          <a:noFill/>
          <a:ln/>
        </p:spPr>
        <p:txBody>
          <a:bodyPr wrap="square" lIns="0" tIns="0" rIns="0" bIns="0" rtlCol="0" anchor="ctr"/>
          <a:lstStyle/>
          <a:p>
            <a:pPr marL="0" indent="0">
              <a:buNone/>
            </a:pPr>
            <a:r>
              <a:rPr lang="en-US" sz="1150" dirty="0">
                <a:solidFill>
                  <a:srgbClr val="4F637B"/>
                </a:solidFill>
                <a:latin typeface="Calibri" pitchFamily="34" charset="0"/>
                <a:ea typeface="Calibri" pitchFamily="34" charset="-122"/>
                <a:cs typeface="Calibri" pitchFamily="34" charset="-120"/>
              </a:rPr>
              <a:t>nhóm thí nghiệm</a:t>
            </a:r>
            <a:endParaRPr lang="en-US" sz="1150" dirty="0"/>
          </a:p>
        </p:txBody>
      </p:sp>
      <p:sp>
        <p:nvSpPr>
          <p:cNvPr id="11" name="Shape 8"/>
          <p:cNvSpPr/>
          <p:nvPr/>
        </p:nvSpPr>
        <p:spPr>
          <a:xfrm>
            <a:off x="2670048" y="5029200"/>
            <a:ext cx="402336" cy="402336"/>
          </a:xfrm>
          <a:prstGeom prst="ellipse">
            <a:avLst/>
          </a:prstGeom>
          <a:solidFill>
            <a:srgbClr val="C62828"/>
          </a:solidFill>
          <a:ln/>
        </p:spPr>
        <p:txBody>
          <a:bodyPr/>
          <a:lstStyle/>
          <a:p>
            <a:endParaRPr lang="en-US"/>
          </a:p>
        </p:txBody>
      </p:sp>
      <p:sp>
        <p:nvSpPr>
          <p:cNvPr id="12" name="Text 9"/>
          <p:cNvSpPr/>
          <p:nvPr/>
        </p:nvSpPr>
        <p:spPr>
          <a:xfrm>
            <a:off x="2670048" y="502920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3182112" y="5029200"/>
            <a:ext cx="1554480" cy="402336"/>
          </a:xfrm>
          <a:prstGeom prst="rect">
            <a:avLst/>
          </a:prstGeom>
          <a:noFill/>
          <a:ln/>
        </p:spPr>
        <p:txBody>
          <a:bodyPr wrap="square" lIns="0" tIns="0" rIns="0" bIns="0" rtlCol="0" anchor="ctr"/>
          <a:lstStyle/>
          <a:p>
            <a:pPr marL="0" indent="0">
              <a:buNone/>
            </a:pPr>
            <a:r>
              <a:rPr lang="en-US" sz="1150" dirty="0">
                <a:solidFill>
                  <a:srgbClr val="4F637B"/>
                </a:solidFill>
                <a:latin typeface="Calibri" pitchFamily="34" charset="0"/>
                <a:ea typeface="Calibri" pitchFamily="34" charset="-122"/>
                <a:cs typeface="Calibri" pitchFamily="34" charset="-120"/>
              </a:rPr>
              <a:t>tập kiểm thử</a:t>
            </a:r>
            <a:endParaRPr lang="en-US" sz="1150" dirty="0"/>
          </a:p>
        </p:txBody>
      </p:sp>
      <p:sp>
        <p:nvSpPr>
          <p:cNvPr id="14" name="Shape 11"/>
          <p:cNvSpPr/>
          <p:nvPr/>
        </p:nvSpPr>
        <p:spPr>
          <a:xfrm>
            <a:off x="4773168" y="5029200"/>
            <a:ext cx="402336" cy="402336"/>
          </a:xfrm>
          <a:prstGeom prst="ellipse">
            <a:avLst/>
          </a:prstGeom>
          <a:solidFill>
            <a:srgbClr val="0B8457"/>
          </a:solidFill>
          <a:ln/>
        </p:spPr>
        <p:txBody>
          <a:bodyPr/>
          <a:lstStyle/>
          <a:p>
            <a:endParaRPr lang="en-US"/>
          </a:p>
        </p:txBody>
      </p:sp>
      <p:sp>
        <p:nvSpPr>
          <p:cNvPr id="15" name="Text 12"/>
          <p:cNvSpPr/>
          <p:nvPr/>
        </p:nvSpPr>
        <p:spPr>
          <a:xfrm>
            <a:off x="4773168" y="502920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p:nvPr/>
        </p:nvSpPr>
        <p:spPr>
          <a:xfrm>
            <a:off x="5285232" y="5029200"/>
            <a:ext cx="1554480" cy="402336"/>
          </a:xfrm>
          <a:prstGeom prst="rect">
            <a:avLst/>
          </a:prstGeom>
          <a:noFill/>
          <a:ln/>
        </p:spPr>
        <p:txBody>
          <a:bodyPr wrap="square" lIns="0" tIns="0" rIns="0" bIns="0" rtlCol="0" anchor="ctr"/>
          <a:lstStyle/>
          <a:p>
            <a:pPr marL="0" indent="0">
              <a:buNone/>
            </a:pPr>
            <a:r>
              <a:rPr lang="en-US" sz="1150" dirty="0">
                <a:solidFill>
                  <a:srgbClr val="4F637B"/>
                </a:solidFill>
                <a:latin typeface="Calibri" pitchFamily="34" charset="0"/>
                <a:ea typeface="Calibri" pitchFamily="34" charset="-122"/>
                <a:cs typeface="Calibri" pitchFamily="34" charset="-120"/>
              </a:rPr>
              <a:t>giai đoạn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NỘI DUNG</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Báo cáo đi theo bảy phần</a:t>
            </a:r>
            <a:endParaRPr lang="en-US" sz="2900" dirty="0"/>
          </a:p>
        </p:txBody>
      </p:sp>
      <p:sp>
        <p:nvSpPr>
          <p:cNvPr id="5" name="Shape 2"/>
          <p:cNvSpPr/>
          <p:nvPr/>
        </p:nvSpPr>
        <p:spPr>
          <a:xfrm>
            <a:off x="566928" y="1371600"/>
            <a:ext cx="11057839" cy="566928"/>
          </a:xfrm>
          <a:prstGeom prst="roundRect">
            <a:avLst>
              <a:gd name="adj" fmla="val 14516"/>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6" name="Shape 3"/>
          <p:cNvSpPr/>
          <p:nvPr/>
        </p:nvSpPr>
        <p:spPr>
          <a:xfrm>
            <a:off x="786384" y="1490472"/>
            <a:ext cx="329184" cy="329184"/>
          </a:xfrm>
          <a:prstGeom prst="ellipse">
            <a:avLst/>
          </a:prstGeom>
          <a:solidFill>
            <a:srgbClr val="1466C0"/>
          </a:solidFill>
          <a:ln/>
        </p:spPr>
        <p:txBody>
          <a:bodyPr/>
          <a:lstStyle/>
          <a:p>
            <a:endParaRPr lang="en-US"/>
          </a:p>
        </p:txBody>
      </p:sp>
      <p:sp>
        <p:nvSpPr>
          <p:cNvPr id="7" name="Text 4"/>
          <p:cNvSpPr/>
          <p:nvPr/>
        </p:nvSpPr>
        <p:spPr>
          <a:xfrm>
            <a:off x="786384" y="149047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1280160" y="1371600"/>
            <a:ext cx="3657600" cy="566928"/>
          </a:xfrm>
          <a:prstGeom prst="rect">
            <a:avLst/>
          </a:prstGeom>
          <a:noFill/>
          <a:ln/>
        </p:spPr>
        <p:txBody>
          <a:bodyPr wrap="square" lIns="0" tIns="0" rIns="0" bIns="0" rtlCol="0" anchor="ctr"/>
          <a:lstStyle/>
          <a:p>
            <a:pPr marL="0" indent="0">
              <a:buNone/>
            </a:pPr>
            <a:r>
              <a:rPr lang="en-US" sz="1400" b="1" dirty="0">
                <a:solidFill>
                  <a:srgbClr val="14243A"/>
                </a:solidFill>
                <a:latin typeface="Calibri" pitchFamily="34" charset="0"/>
                <a:ea typeface="Calibri" pitchFamily="34" charset="-122"/>
                <a:cs typeface="Calibri" pitchFamily="34" charset="-120"/>
              </a:rPr>
              <a:t>Bài toán</a:t>
            </a:r>
            <a:endParaRPr lang="en-US" sz="1400" dirty="0"/>
          </a:p>
        </p:txBody>
      </p:sp>
      <p:sp>
        <p:nvSpPr>
          <p:cNvPr id="9" name="Text 6"/>
          <p:cNvSpPr/>
          <p:nvPr/>
        </p:nvSpPr>
        <p:spPr>
          <a:xfrm>
            <a:off x="5065776" y="1371600"/>
            <a:ext cx="6376111" cy="566928"/>
          </a:xfrm>
          <a:prstGeom prst="rect">
            <a:avLst/>
          </a:prstGeom>
          <a:noFill/>
          <a:ln/>
        </p:spPr>
        <p:txBody>
          <a:bodyPr wrap="square" lIns="0" tIns="0" rIns="0" bIns="0" rtlCol="0" anchor="ctr"/>
          <a:lstStyle/>
          <a:p>
            <a:pPr marL="0" indent="0">
              <a:lnSpc>
                <a:spcPct val="108000"/>
              </a:lnSpc>
              <a:buNone/>
            </a:pPr>
            <a:r>
              <a:rPr lang="en-US" sz="1200" dirty="0">
                <a:solidFill>
                  <a:srgbClr val="4F637B"/>
                </a:solidFill>
                <a:latin typeface="Calibri" pitchFamily="34" charset="0"/>
                <a:ea typeface="Calibri" pitchFamily="34" charset="-122"/>
                <a:cs typeface="Calibri" pitchFamily="34" charset="-120"/>
              </a:rPr>
              <a:t>Medical VQA là gì, câu đóng và câu mở, vì sao điểm câu mở luôn thấp.</a:t>
            </a:r>
            <a:endParaRPr lang="en-US" sz="1200" dirty="0"/>
          </a:p>
        </p:txBody>
      </p:sp>
      <p:sp>
        <p:nvSpPr>
          <p:cNvPr id="10" name="Shape 7"/>
          <p:cNvSpPr/>
          <p:nvPr/>
        </p:nvSpPr>
        <p:spPr>
          <a:xfrm>
            <a:off x="566928" y="2029968"/>
            <a:ext cx="11057839" cy="566928"/>
          </a:xfrm>
          <a:prstGeom prst="roundRect">
            <a:avLst>
              <a:gd name="adj" fmla="val 14516"/>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1" name="Shape 8"/>
          <p:cNvSpPr/>
          <p:nvPr/>
        </p:nvSpPr>
        <p:spPr>
          <a:xfrm>
            <a:off x="786384" y="2148840"/>
            <a:ext cx="329184" cy="329184"/>
          </a:xfrm>
          <a:prstGeom prst="ellipse">
            <a:avLst/>
          </a:prstGeom>
          <a:solidFill>
            <a:srgbClr val="1466C0"/>
          </a:solidFill>
          <a:ln/>
        </p:spPr>
        <p:txBody>
          <a:bodyPr/>
          <a:lstStyle/>
          <a:p>
            <a:endParaRPr lang="en-US"/>
          </a:p>
        </p:txBody>
      </p:sp>
      <p:sp>
        <p:nvSpPr>
          <p:cNvPr id="12" name="Text 9"/>
          <p:cNvSpPr/>
          <p:nvPr/>
        </p:nvSpPr>
        <p:spPr>
          <a:xfrm>
            <a:off x="786384" y="214884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280160" y="2029968"/>
            <a:ext cx="3657600" cy="566928"/>
          </a:xfrm>
          <a:prstGeom prst="rect">
            <a:avLst/>
          </a:prstGeom>
          <a:noFill/>
          <a:ln/>
        </p:spPr>
        <p:txBody>
          <a:bodyPr wrap="square" lIns="0" tIns="0" rIns="0" bIns="0" rtlCol="0" anchor="ctr"/>
          <a:lstStyle/>
          <a:p>
            <a:pPr marL="0" indent="0">
              <a:buNone/>
            </a:pPr>
            <a:r>
              <a:rPr lang="en-US" sz="1400" b="1" dirty="0">
                <a:solidFill>
                  <a:srgbClr val="14243A"/>
                </a:solidFill>
                <a:latin typeface="Calibri" pitchFamily="34" charset="0"/>
                <a:ea typeface="Calibri" pitchFamily="34" charset="-122"/>
                <a:cs typeface="Calibri" pitchFamily="34" charset="-120"/>
              </a:rPr>
              <a:t>Nền tảng lý thuyết</a:t>
            </a:r>
            <a:endParaRPr lang="en-US" sz="1400" dirty="0"/>
          </a:p>
        </p:txBody>
      </p:sp>
      <p:sp>
        <p:nvSpPr>
          <p:cNvPr id="14" name="Text 11"/>
          <p:cNvSpPr/>
          <p:nvPr/>
        </p:nvSpPr>
        <p:spPr>
          <a:xfrm>
            <a:off x="5065776" y="2029968"/>
            <a:ext cx="6376111" cy="566928"/>
          </a:xfrm>
          <a:prstGeom prst="rect">
            <a:avLst/>
          </a:prstGeom>
          <a:noFill/>
          <a:ln/>
        </p:spPr>
        <p:txBody>
          <a:bodyPr wrap="square" lIns="0" tIns="0" rIns="0" bIns="0" rtlCol="0" anchor="ctr"/>
          <a:lstStyle/>
          <a:p>
            <a:pPr marL="0" indent="0">
              <a:lnSpc>
                <a:spcPct val="108000"/>
              </a:lnSpc>
              <a:buNone/>
            </a:pPr>
            <a:r>
              <a:rPr lang="en-US" sz="1200" dirty="0">
                <a:solidFill>
                  <a:srgbClr val="4F637B"/>
                </a:solidFill>
                <a:latin typeface="Calibri" pitchFamily="34" charset="0"/>
                <a:ea typeface="Calibri" pitchFamily="34" charset="-122"/>
                <a:cs typeface="Calibri" pitchFamily="34" charset="-120"/>
              </a:rPr>
              <a:t>Đa phương thức, multimodal fusion, attention, CNN, LSTM, Transformer, SFT &amp; RL.</a:t>
            </a:r>
            <a:endParaRPr lang="en-US" sz="1200" dirty="0"/>
          </a:p>
        </p:txBody>
      </p:sp>
      <p:sp>
        <p:nvSpPr>
          <p:cNvPr id="15" name="Shape 12"/>
          <p:cNvSpPr/>
          <p:nvPr/>
        </p:nvSpPr>
        <p:spPr>
          <a:xfrm>
            <a:off x="566928" y="2688336"/>
            <a:ext cx="11057839" cy="566928"/>
          </a:xfrm>
          <a:prstGeom prst="roundRect">
            <a:avLst>
              <a:gd name="adj" fmla="val 14516"/>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6" name="Shape 13"/>
          <p:cNvSpPr/>
          <p:nvPr/>
        </p:nvSpPr>
        <p:spPr>
          <a:xfrm>
            <a:off x="786384" y="2807208"/>
            <a:ext cx="329184" cy="329184"/>
          </a:xfrm>
          <a:prstGeom prst="ellipse">
            <a:avLst/>
          </a:prstGeom>
          <a:solidFill>
            <a:srgbClr val="6B33C7"/>
          </a:solidFill>
          <a:ln/>
        </p:spPr>
        <p:txBody>
          <a:bodyPr/>
          <a:lstStyle/>
          <a:p>
            <a:endParaRPr lang="en-US"/>
          </a:p>
        </p:txBody>
      </p:sp>
      <p:sp>
        <p:nvSpPr>
          <p:cNvPr id="17" name="Text 14"/>
          <p:cNvSpPr/>
          <p:nvPr/>
        </p:nvSpPr>
        <p:spPr>
          <a:xfrm>
            <a:off x="786384" y="280720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p:nvPr/>
        </p:nvSpPr>
        <p:spPr>
          <a:xfrm>
            <a:off x="1280160" y="2688336"/>
            <a:ext cx="3657600" cy="566928"/>
          </a:xfrm>
          <a:prstGeom prst="rect">
            <a:avLst/>
          </a:prstGeom>
          <a:noFill/>
          <a:ln/>
        </p:spPr>
        <p:txBody>
          <a:bodyPr wrap="square" lIns="0" tIns="0" rIns="0" bIns="0" rtlCol="0" anchor="ctr"/>
          <a:lstStyle/>
          <a:p>
            <a:pPr marL="0" indent="0">
              <a:buNone/>
            </a:pPr>
            <a:r>
              <a:rPr lang="en-US" sz="1400" b="1" dirty="0">
                <a:solidFill>
                  <a:srgbClr val="14243A"/>
                </a:solidFill>
                <a:latin typeface="Calibri" pitchFamily="34" charset="0"/>
                <a:ea typeface="Calibri" pitchFamily="34" charset="-122"/>
                <a:cs typeface="Calibri" pitchFamily="34" charset="-120"/>
              </a:rPr>
              <a:t>Kiến trúc mô hình</a:t>
            </a:r>
            <a:endParaRPr lang="en-US" sz="1400" dirty="0"/>
          </a:p>
        </p:txBody>
      </p:sp>
      <p:sp>
        <p:nvSpPr>
          <p:cNvPr id="19" name="Text 16"/>
          <p:cNvSpPr/>
          <p:nvPr/>
        </p:nvSpPr>
        <p:spPr>
          <a:xfrm>
            <a:off x="5065776" y="2688336"/>
            <a:ext cx="6376111" cy="566928"/>
          </a:xfrm>
          <a:prstGeom prst="rect">
            <a:avLst/>
          </a:prstGeom>
          <a:noFill/>
          <a:ln/>
        </p:spPr>
        <p:txBody>
          <a:bodyPr wrap="square" lIns="0" tIns="0" rIns="0" bIns="0" rtlCol="0" anchor="ctr"/>
          <a:lstStyle/>
          <a:p>
            <a:pPr marL="0" indent="0">
              <a:lnSpc>
                <a:spcPct val="108000"/>
              </a:lnSpc>
              <a:buNone/>
            </a:pPr>
            <a:r>
              <a:rPr lang="en-US" sz="1200" dirty="0">
                <a:solidFill>
                  <a:srgbClr val="4F637B"/>
                </a:solidFill>
                <a:latin typeface="Calibri" pitchFamily="34" charset="0"/>
                <a:ea typeface="Calibri" pitchFamily="34" charset="-122"/>
                <a:cs typeface="Calibri" pitchFamily="34" charset="-120"/>
              </a:rPr>
              <a:t>Model đang có gì, pretrained vs tự huấn luyện, baseline, 11 khối, tiến hóa, Gemma.</a:t>
            </a:r>
            <a:endParaRPr lang="en-US" sz="1200" dirty="0"/>
          </a:p>
        </p:txBody>
      </p:sp>
      <p:sp>
        <p:nvSpPr>
          <p:cNvPr id="20" name="Shape 17"/>
          <p:cNvSpPr/>
          <p:nvPr/>
        </p:nvSpPr>
        <p:spPr>
          <a:xfrm>
            <a:off x="566928" y="3346704"/>
            <a:ext cx="11057839" cy="566928"/>
          </a:xfrm>
          <a:prstGeom prst="roundRect">
            <a:avLst>
              <a:gd name="adj" fmla="val 14516"/>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21" name="Shape 18"/>
          <p:cNvSpPr/>
          <p:nvPr/>
        </p:nvSpPr>
        <p:spPr>
          <a:xfrm>
            <a:off x="786384" y="3465576"/>
            <a:ext cx="329184" cy="329184"/>
          </a:xfrm>
          <a:prstGeom prst="ellipse">
            <a:avLst/>
          </a:prstGeom>
          <a:solidFill>
            <a:srgbClr val="6B33C7"/>
          </a:solidFill>
          <a:ln/>
        </p:spPr>
        <p:txBody>
          <a:bodyPr/>
          <a:lstStyle/>
          <a:p>
            <a:endParaRPr lang="en-US"/>
          </a:p>
        </p:txBody>
      </p:sp>
      <p:sp>
        <p:nvSpPr>
          <p:cNvPr id="22" name="Text 19"/>
          <p:cNvSpPr/>
          <p:nvPr/>
        </p:nvSpPr>
        <p:spPr>
          <a:xfrm>
            <a:off x="786384" y="346557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0"/>
          <p:cNvSpPr/>
          <p:nvPr/>
        </p:nvSpPr>
        <p:spPr>
          <a:xfrm>
            <a:off x="1280160" y="3346704"/>
            <a:ext cx="3657600" cy="566928"/>
          </a:xfrm>
          <a:prstGeom prst="rect">
            <a:avLst/>
          </a:prstGeom>
          <a:noFill/>
          <a:ln/>
        </p:spPr>
        <p:txBody>
          <a:bodyPr wrap="square" lIns="0" tIns="0" rIns="0" bIns="0" rtlCol="0" anchor="ctr"/>
          <a:lstStyle/>
          <a:p>
            <a:pPr marL="0" indent="0">
              <a:buNone/>
            </a:pPr>
            <a:r>
              <a:rPr lang="en-US" sz="1400" b="1" dirty="0">
                <a:solidFill>
                  <a:srgbClr val="14243A"/>
                </a:solidFill>
                <a:latin typeface="Calibri" pitchFamily="34" charset="0"/>
                <a:ea typeface="Calibri" pitchFamily="34" charset="-122"/>
                <a:cs typeface="Calibri" pitchFamily="34" charset="-120"/>
              </a:rPr>
              <a:t>Dữ liệu &amp; kiểm toán</a:t>
            </a:r>
            <a:endParaRPr lang="en-US" sz="1400" dirty="0"/>
          </a:p>
        </p:txBody>
      </p:sp>
      <p:sp>
        <p:nvSpPr>
          <p:cNvPr id="24" name="Text 21"/>
          <p:cNvSpPr/>
          <p:nvPr/>
        </p:nvSpPr>
        <p:spPr>
          <a:xfrm>
            <a:off x="5065776" y="3346704"/>
            <a:ext cx="6376111" cy="566928"/>
          </a:xfrm>
          <a:prstGeom prst="rect">
            <a:avLst/>
          </a:prstGeom>
          <a:noFill/>
          <a:ln/>
        </p:spPr>
        <p:txBody>
          <a:bodyPr wrap="square" lIns="0" tIns="0" rIns="0" bIns="0" rtlCol="0" anchor="ctr"/>
          <a:lstStyle/>
          <a:p>
            <a:pPr marL="0" indent="0">
              <a:lnSpc>
                <a:spcPct val="108000"/>
              </a:lnSpc>
              <a:buNone/>
            </a:pPr>
            <a:r>
              <a:rPr lang="en-US" sz="1200" dirty="0">
                <a:solidFill>
                  <a:srgbClr val="4F637B"/>
                </a:solidFill>
                <a:latin typeface="Calibri" pitchFamily="34" charset="0"/>
                <a:ea typeface="Calibri" pitchFamily="34" charset="-122"/>
                <a:cs typeface="Calibri" pitchFamily="34" charset="-120"/>
              </a:rPr>
              <a:t>VQA-RAD, rò rỉ ảnh 99,51%, RadImageNet-VQA sạch, sàn tham chiếu.</a:t>
            </a:r>
            <a:endParaRPr lang="en-US" sz="1200" dirty="0"/>
          </a:p>
        </p:txBody>
      </p:sp>
      <p:sp>
        <p:nvSpPr>
          <p:cNvPr id="25" name="Shape 22"/>
          <p:cNvSpPr/>
          <p:nvPr/>
        </p:nvSpPr>
        <p:spPr>
          <a:xfrm>
            <a:off x="566928" y="4005072"/>
            <a:ext cx="11057839" cy="566928"/>
          </a:xfrm>
          <a:prstGeom prst="roundRect">
            <a:avLst>
              <a:gd name="adj" fmla="val 14516"/>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26" name="Shape 23"/>
          <p:cNvSpPr/>
          <p:nvPr/>
        </p:nvSpPr>
        <p:spPr>
          <a:xfrm>
            <a:off x="786384" y="4123944"/>
            <a:ext cx="329184" cy="329184"/>
          </a:xfrm>
          <a:prstGeom prst="ellipse">
            <a:avLst/>
          </a:prstGeom>
          <a:solidFill>
            <a:srgbClr val="0B8457"/>
          </a:solidFill>
          <a:ln/>
        </p:spPr>
        <p:txBody>
          <a:bodyPr/>
          <a:lstStyle/>
          <a:p>
            <a:endParaRPr lang="en-US"/>
          </a:p>
        </p:txBody>
      </p:sp>
      <p:sp>
        <p:nvSpPr>
          <p:cNvPr id="27" name="Text 24"/>
          <p:cNvSpPr/>
          <p:nvPr/>
        </p:nvSpPr>
        <p:spPr>
          <a:xfrm>
            <a:off x="786384" y="412394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5"/>
          <p:cNvSpPr/>
          <p:nvPr/>
        </p:nvSpPr>
        <p:spPr>
          <a:xfrm>
            <a:off x="1280160" y="4005072"/>
            <a:ext cx="3657600" cy="566928"/>
          </a:xfrm>
          <a:prstGeom prst="rect">
            <a:avLst/>
          </a:prstGeom>
          <a:noFill/>
          <a:ln/>
        </p:spPr>
        <p:txBody>
          <a:bodyPr wrap="square" lIns="0" tIns="0" rIns="0" bIns="0" rtlCol="0" anchor="ctr"/>
          <a:lstStyle/>
          <a:p>
            <a:pPr marL="0" indent="0">
              <a:buNone/>
            </a:pPr>
            <a:r>
              <a:rPr lang="en-US" sz="1400" b="1" dirty="0">
                <a:solidFill>
                  <a:srgbClr val="14243A"/>
                </a:solidFill>
                <a:latin typeface="Calibri" pitchFamily="34" charset="0"/>
                <a:ea typeface="Calibri" pitchFamily="34" charset="-122"/>
                <a:cs typeface="Calibri" pitchFamily="34" charset="-120"/>
              </a:rPr>
              <a:t>Bộ chỉ số &amp; cấu hình</a:t>
            </a:r>
            <a:endParaRPr lang="en-US" sz="1400" dirty="0"/>
          </a:p>
        </p:txBody>
      </p:sp>
      <p:sp>
        <p:nvSpPr>
          <p:cNvPr id="29" name="Text 26"/>
          <p:cNvSpPr/>
          <p:nvPr/>
        </p:nvSpPr>
        <p:spPr>
          <a:xfrm>
            <a:off x="5065776" y="4005072"/>
            <a:ext cx="6376111" cy="566928"/>
          </a:xfrm>
          <a:prstGeom prst="rect">
            <a:avLst/>
          </a:prstGeom>
          <a:noFill/>
          <a:ln/>
        </p:spPr>
        <p:txBody>
          <a:bodyPr wrap="square" lIns="0" tIns="0" rIns="0" bIns="0" rtlCol="0" anchor="ctr"/>
          <a:lstStyle/>
          <a:p>
            <a:pPr marL="0" indent="0">
              <a:lnSpc>
                <a:spcPct val="108000"/>
              </a:lnSpc>
              <a:buNone/>
            </a:pPr>
            <a:r>
              <a:rPr lang="en-US" sz="1200" dirty="0">
                <a:solidFill>
                  <a:srgbClr val="4F637B"/>
                </a:solidFill>
                <a:latin typeface="Calibri" pitchFamily="34" charset="0"/>
                <a:ea typeface="Calibri" pitchFamily="34" charset="-122"/>
                <a:cs typeface="Calibri" pitchFamily="34" charset="-120"/>
              </a:rPr>
              <a:t>EM, Token-F1, BLEU-1, Semantic, chỉ số lâm sàng; 7 nhóm và siêu tham số.</a:t>
            </a:r>
            <a:endParaRPr lang="en-US" sz="1200" dirty="0"/>
          </a:p>
        </p:txBody>
      </p:sp>
      <p:sp>
        <p:nvSpPr>
          <p:cNvPr id="30" name="Shape 27"/>
          <p:cNvSpPr/>
          <p:nvPr/>
        </p:nvSpPr>
        <p:spPr>
          <a:xfrm>
            <a:off x="566928" y="4663440"/>
            <a:ext cx="11057839" cy="566928"/>
          </a:xfrm>
          <a:prstGeom prst="roundRect">
            <a:avLst>
              <a:gd name="adj" fmla="val 14516"/>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31" name="Shape 28"/>
          <p:cNvSpPr/>
          <p:nvPr/>
        </p:nvSpPr>
        <p:spPr>
          <a:xfrm>
            <a:off x="786384" y="4782312"/>
            <a:ext cx="329184" cy="329184"/>
          </a:xfrm>
          <a:prstGeom prst="ellipse">
            <a:avLst/>
          </a:prstGeom>
          <a:solidFill>
            <a:srgbClr val="0B8457"/>
          </a:solidFill>
          <a:ln/>
        </p:spPr>
        <p:txBody>
          <a:bodyPr/>
          <a:lstStyle/>
          <a:p>
            <a:endParaRPr lang="en-US"/>
          </a:p>
        </p:txBody>
      </p:sp>
      <p:sp>
        <p:nvSpPr>
          <p:cNvPr id="32" name="Text 29"/>
          <p:cNvSpPr/>
          <p:nvPr/>
        </p:nvSpPr>
        <p:spPr>
          <a:xfrm>
            <a:off x="786384" y="478231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0"/>
          <p:cNvSpPr/>
          <p:nvPr/>
        </p:nvSpPr>
        <p:spPr>
          <a:xfrm>
            <a:off x="1280160" y="4663440"/>
            <a:ext cx="3657600" cy="566928"/>
          </a:xfrm>
          <a:prstGeom prst="rect">
            <a:avLst/>
          </a:prstGeom>
          <a:noFill/>
          <a:ln/>
        </p:spPr>
        <p:txBody>
          <a:bodyPr wrap="square" lIns="0" tIns="0" rIns="0" bIns="0" rtlCol="0" anchor="ctr"/>
          <a:lstStyle/>
          <a:p>
            <a:pPr marL="0" indent="0">
              <a:buNone/>
            </a:pPr>
            <a:r>
              <a:rPr lang="en-US" sz="1400" b="1" dirty="0">
                <a:solidFill>
                  <a:srgbClr val="14243A"/>
                </a:solidFill>
                <a:latin typeface="Calibri" pitchFamily="34" charset="0"/>
                <a:ea typeface="Calibri" pitchFamily="34" charset="-122"/>
                <a:cs typeface="Calibri" pitchFamily="34" charset="-120"/>
              </a:rPr>
              <a:t>Kết quả thí nghiệm</a:t>
            </a:r>
            <a:endParaRPr lang="en-US" sz="1400" dirty="0"/>
          </a:p>
        </p:txBody>
      </p:sp>
      <p:sp>
        <p:nvSpPr>
          <p:cNvPr id="34" name="Text 31"/>
          <p:cNvSpPr/>
          <p:nvPr/>
        </p:nvSpPr>
        <p:spPr>
          <a:xfrm>
            <a:off x="5065776" y="4663440"/>
            <a:ext cx="6376111" cy="566928"/>
          </a:xfrm>
          <a:prstGeom prst="rect">
            <a:avLst/>
          </a:prstGeom>
          <a:noFill/>
          <a:ln/>
        </p:spPr>
        <p:txBody>
          <a:bodyPr wrap="square" lIns="0" tIns="0" rIns="0" bIns="0" rtlCol="0" anchor="ctr"/>
          <a:lstStyle/>
          <a:p>
            <a:pPr marL="0" indent="0">
              <a:lnSpc>
                <a:spcPct val="108000"/>
              </a:lnSpc>
              <a:buNone/>
            </a:pPr>
            <a:r>
              <a:rPr lang="en-US" sz="1200" dirty="0">
                <a:solidFill>
                  <a:srgbClr val="4F637B"/>
                </a:solidFill>
                <a:latin typeface="Calibri" pitchFamily="34" charset="0"/>
                <a:ea typeface="Calibri" pitchFamily="34" charset="-122"/>
                <a:cs typeface="Calibri" pitchFamily="34" charset="-120"/>
              </a:rPr>
              <a:t>A1/A2, nhóm P/R/D, ablation Q-Former, và Gemma LoRA 2B/4B.</a:t>
            </a:r>
            <a:endParaRPr lang="en-US" sz="1200" dirty="0"/>
          </a:p>
        </p:txBody>
      </p:sp>
      <p:sp>
        <p:nvSpPr>
          <p:cNvPr id="35" name="Shape 32"/>
          <p:cNvSpPr/>
          <p:nvPr/>
        </p:nvSpPr>
        <p:spPr>
          <a:xfrm>
            <a:off x="566928" y="5321808"/>
            <a:ext cx="11057839" cy="566928"/>
          </a:xfrm>
          <a:prstGeom prst="roundRect">
            <a:avLst>
              <a:gd name="adj" fmla="val 14516"/>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36" name="Shape 33"/>
          <p:cNvSpPr/>
          <p:nvPr/>
        </p:nvSpPr>
        <p:spPr>
          <a:xfrm>
            <a:off x="786384" y="5440680"/>
            <a:ext cx="329184" cy="329184"/>
          </a:xfrm>
          <a:prstGeom prst="ellipse">
            <a:avLst/>
          </a:prstGeom>
          <a:solidFill>
            <a:srgbClr val="B26A00"/>
          </a:solidFill>
          <a:ln/>
        </p:spPr>
        <p:txBody>
          <a:bodyPr/>
          <a:lstStyle/>
          <a:p>
            <a:endParaRPr lang="en-US"/>
          </a:p>
        </p:txBody>
      </p:sp>
      <p:sp>
        <p:nvSpPr>
          <p:cNvPr id="37" name="Text 34"/>
          <p:cNvSpPr/>
          <p:nvPr/>
        </p:nvSpPr>
        <p:spPr>
          <a:xfrm>
            <a:off x="786384" y="544068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8" name="Text 35"/>
          <p:cNvSpPr/>
          <p:nvPr/>
        </p:nvSpPr>
        <p:spPr>
          <a:xfrm>
            <a:off x="1280160" y="5321808"/>
            <a:ext cx="3657600" cy="566928"/>
          </a:xfrm>
          <a:prstGeom prst="rect">
            <a:avLst/>
          </a:prstGeom>
          <a:noFill/>
          <a:ln/>
        </p:spPr>
        <p:txBody>
          <a:bodyPr wrap="square" lIns="0" tIns="0" rIns="0" bIns="0" rtlCol="0" anchor="ctr"/>
          <a:lstStyle/>
          <a:p>
            <a:pPr marL="0" indent="0">
              <a:buNone/>
            </a:pPr>
            <a:r>
              <a:rPr lang="en-US" sz="1400" b="1" dirty="0">
                <a:solidFill>
                  <a:srgbClr val="14243A"/>
                </a:solidFill>
                <a:latin typeface="Calibri" pitchFamily="34" charset="0"/>
                <a:ea typeface="Calibri" pitchFamily="34" charset="-122"/>
                <a:cs typeface="Calibri" pitchFamily="34" charset="-120"/>
              </a:rPr>
              <a:t>Tổng hợp &amp; hướng đi</a:t>
            </a:r>
            <a:endParaRPr lang="en-US" sz="1400" dirty="0"/>
          </a:p>
        </p:txBody>
      </p:sp>
      <p:sp>
        <p:nvSpPr>
          <p:cNvPr id="39" name="Text 36"/>
          <p:cNvSpPr/>
          <p:nvPr/>
        </p:nvSpPr>
        <p:spPr>
          <a:xfrm>
            <a:off x="5065776" y="5321808"/>
            <a:ext cx="6376111" cy="566928"/>
          </a:xfrm>
          <a:prstGeom prst="rect">
            <a:avLst/>
          </a:prstGeom>
          <a:noFill/>
          <a:ln/>
        </p:spPr>
        <p:txBody>
          <a:bodyPr wrap="square" lIns="0" tIns="0" rIns="0" bIns="0" rtlCol="0" anchor="ctr"/>
          <a:lstStyle/>
          <a:p>
            <a:pPr marL="0" indent="0">
              <a:lnSpc>
                <a:spcPct val="108000"/>
              </a:lnSpc>
              <a:buNone/>
            </a:pPr>
            <a:r>
              <a:rPr lang="en-US" sz="1200" dirty="0">
                <a:solidFill>
                  <a:srgbClr val="4F637B"/>
                </a:solidFill>
                <a:latin typeface="Calibri" pitchFamily="34" charset="0"/>
                <a:ea typeface="Calibri" pitchFamily="34" charset="-122"/>
                <a:cs typeface="Calibri" pitchFamily="34" charset="-120"/>
              </a:rPr>
              <a:t>Đánh đổi quá khớp/tổng quát hóa, trạng thái 5 giải pháp, kết luận và việc còn lại.</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1 · BÀI TOÁN</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Medical VQA là gì?</a:t>
            </a:r>
            <a:endParaRPr lang="en-US" sz="2900" dirty="0"/>
          </a:p>
        </p:txBody>
      </p:sp>
      <p:sp>
        <p:nvSpPr>
          <p:cNvPr id="5" name="Text 2"/>
          <p:cNvSpPr/>
          <p:nvPr/>
        </p:nvSpPr>
        <p:spPr>
          <a:xfrm>
            <a:off x="566928" y="1371600"/>
            <a:ext cx="11057839" cy="658368"/>
          </a:xfrm>
          <a:prstGeom prst="rect">
            <a:avLst/>
          </a:prstGeom>
          <a:noFill/>
          <a:ln/>
        </p:spPr>
        <p:txBody>
          <a:bodyPr wrap="square" lIns="0" tIns="0" rIns="0" bIns="0" rtlCol="0" anchor="ctr"/>
          <a:lstStyle/>
          <a:p>
            <a:pPr marL="0" indent="0">
              <a:lnSpc>
                <a:spcPct val="118000"/>
              </a:lnSpc>
              <a:buNone/>
            </a:pPr>
            <a:r>
              <a:rPr lang="en-US" sz="1300" dirty="0">
                <a:solidFill>
                  <a:srgbClr val="4F637B"/>
                </a:solidFill>
                <a:latin typeface="Calibri" pitchFamily="34" charset="0"/>
                <a:ea typeface="Calibri" pitchFamily="34" charset="-122"/>
                <a:cs typeface="Calibri" pitchFamily="34" charset="-120"/>
              </a:rPr>
              <a:t>Cho một ảnh y khoa và một câu hỏi bằng ngôn ngữ tự nhiên về ảnh đó, hệ thống phải sinh ra câu trả lời dạng văn bản tự do. Đây là bài toán đa phương thức: mô hình phải đọc được cả điểm ảnh lẫn chữ rồi hợp nhất hai nguồn thông tin.</a:t>
            </a:r>
            <a:endParaRPr lang="en-US" sz="1300" dirty="0"/>
          </a:p>
        </p:txBody>
      </p:sp>
      <p:sp>
        <p:nvSpPr>
          <p:cNvPr id="6" name="Shape 3"/>
          <p:cNvSpPr/>
          <p:nvPr/>
        </p:nvSpPr>
        <p:spPr>
          <a:xfrm>
            <a:off x="566928" y="2148840"/>
            <a:ext cx="2788920" cy="1417320"/>
          </a:xfrm>
          <a:prstGeom prst="roundRect">
            <a:avLst>
              <a:gd name="adj" fmla="val 5806"/>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7" name="Text 4"/>
          <p:cNvSpPr/>
          <p:nvPr/>
        </p:nvSpPr>
        <p:spPr>
          <a:xfrm>
            <a:off x="768096" y="2368296"/>
            <a:ext cx="2377440" cy="274320"/>
          </a:xfrm>
          <a:prstGeom prst="rect">
            <a:avLst/>
          </a:prstGeom>
          <a:noFill/>
          <a:ln/>
        </p:spPr>
        <p:txBody>
          <a:bodyPr wrap="square" lIns="0" tIns="0" rIns="0" bIns="0" rtlCol="0" anchor="ctr"/>
          <a:lstStyle/>
          <a:p>
            <a:pPr marL="0" indent="0">
              <a:buNone/>
            </a:pPr>
            <a:r>
              <a:rPr lang="en-US" sz="1350" b="1" dirty="0">
                <a:solidFill>
                  <a:srgbClr val="1466C0"/>
                </a:solidFill>
                <a:latin typeface="Calibri" pitchFamily="34" charset="0"/>
                <a:ea typeface="Calibri" pitchFamily="34" charset="-122"/>
                <a:cs typeface="Calibri" pitchFamily="34" charset="-120"/>
              </a:rPr>
              <a:t>Ảnh y khoa</a:t>
            </a:r>
            <a:endParaRPr lang="en-US" sz="1350" dirty="0"/>
          </a:p>
        </p:txBody>
      </p:sp>
      <p:sp>
        <p:nvSpPr>
          <p:cNvPr id="8" name="Text 5"/>
          <p:cNvSpPr/>
          <p:nvPr/>
        </p:nvSpPr>
        <p:spPr>
          <a:xfrm>
            <a:off x="768096" y="2715768"/>
            <a:ext cx="2395728" cy="694944"/>
          </a:xfrm>
          <a:prstGeom prst="rect">
            <a:avLst/>
          </a:prstGeom>
          <a:noFill/>
          <a:ln/>
        </p:spPr>
        <p:txBody>
          <a:bodyPr wrap="square" lIns="0" tIns="0" rIns="0" bIns="0" rtlCol="0" anchor="ctr"/>
          <a:lstStyle/>
          <a:p>
            <a:pPr marL="0" indent="0">
              <a:lnSpc>
                <a:spcPct val="114000"/>
              </a:lnSpc>
              <a:buNone/>
            </a:pPr>
            <a:r>
              <a:rPr lang="en-US" sz="1100" dirty="0">
                <a:solidFill>
                  <a:srgbClr val="4F637B"/>
                </a:solidFill>
                <a:latin typeface="Calibri" pitchFamily="34" charset="0"/>
                <a:ea typeface="Calibri" pitchFamily="34" charset="-122"/>
                <a:cs typeface="Calibri" pitchFamily="34" charset="-120"/>
              </a:rPr>
              <a:t>X-quang / CT / MRI, chuẩn hóa về 224 × 224 điểm ảnh trước khi đưa vào bộ mã hóa.</a:t>
            </a:r>
            <a:endParaRPr lang="en-US" sz="1100" dirty="0"/>
          </a:p>
        </p:txBody>
      </p:sp>
      <p:sp>
        <p:nvSpPr>
          <p:cNvPr id="9" name="Shape 6"/>
          <p:cNvSpPr/>
          <p:nvPr/>
        </p:nvSpPr>
        <p:spPr>
          <a:xfrm>
            <a:off x="566928" y="3794760"/>
            <a:ext cx="2788920" cy="1417320"/>
          </a:xfrm>
          <a:prstGeom prst="roundRect">
            <a:avLst>
              <a:gd name="adj" fmla="val 5806"/>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0" name="Text 7"/>
          <p:cNvSpPr/>
          <p:nvPr/>
        </p:nvSpPr>
        <p:spPr>
          <a:xfrm>
            <a:off x="768096" y="4014216"/>
            <a:ext cx="2377440" cy="274320"/>
          </a:xfrm>
          <a:prstGeom prst="rect">
            <a:avLst/>
          </a:prstGeom>
          <a:noFill/>
          <a:ln/>
        </p:spPr>
        <p:txBody>
          <a:bodyPr wrap="square" lIns="0" tIns="0" rIns="0" bIns="0" rtlCol="0" anchor="ctr"/>
          <a:lstStyle/>
          <a:p>
            <a:pPr marL="0" indent="0">
              <a:buNone/>
            </a:pPr>
            <a:r>
              <a:rPr lang="en-US" sz="1350" b="1" dirty="0">
                <a:solidFill>
                  <a:srgbClr val="1466C0"/>
                </a:solidFill>
                <a:latin typeface="Calibri" pitchFamily="34" charset="0"/>
                <a:ea typeface="Calibri" pitchFamily="34" charset="-122"/>
                <a:cs typeface="Calibri" pitchFamily="34" charset="-120"/>
              </a:rPr>
              <a:t>Câu hỏi</a:t>
            </a:r>
            <a:endParaRPr lang="en-US" sz="1350" dirty="0"/>
          </a:p>
        </p:txBody>
      </p:sp>
      <p:sp>
        <p:nvSpPr>
          <p:cNvPr id="11" name="Text 8"/>
          <p:cNvSpPr/>
          <p:nvPr/>
        </p:nvSpPr>
        <p:spPr>
          <a:xfrm>
            <a:off x="768096" y="4361688"/>
            <a:ext cx="2395728" cy="694944"/>
          </a:xfrm>
          <a:prstGeom prst="rect">
            <a:avLst/>
          </a:prstGeom>
          <a:noFill/>
          <a:ln/>
        </p:spPr>
        <p:txBody>
          <a:bodyPr wrap="square" lIns="0" tIns="0" rIns="0" bIns="0" rtlCol="0" anchor="ctr"/>
          <a:lstStyle/>
          <a:p>
            <a:pPr marL="0" indent="0">
              <a:lnSpc>
                <a:spcPct val="116000"/>
              </a:lnSpc>
              <a:buNone/>
            </a:pPr>
            <a:r>
              <a:rPr lang="en-US" sz="1100" i="1" dirty="0">
                <a:solidFill>
                  <a:srgbClr val="4F637B"/>
                </a:solidFill>
                <a:latin typeface="Calibri" pitchFamily="34" charset="0"/>
                <a:ea typeface="Calibri" pitchFamily="34" charset="-122"/>
                <a:cs typeface="Calibri" pitchFamily="34" charset="-120"/>
              </a:rPr>
              <a:t>“Is there a fracture?”</a:t>
            </a:r>
            <a:endParaRPr lang="en-US" sz="1100" dirty="0"/>
          </a:p>
          <a:p>
            <a:pPr marL="0" indent="0">
              <a:lnSpc>
                <a:spcPct val="116000"/>
              </a:lnSpc>
              <a:buNone/>
            </a:pPr>
            <a:r>
              <a:rPr lang="en-US" sz="1100" i="1" dirty="0">
                <a:solidFill>
                  <a:srgbClr val="4F637B"/>
                </a:solidFill>
                <a:latin typeface="Calibri" pitchFamily="34" charset="0"/>
                <a:ea typeface="Calibri" pitchFamily="34" charset="-122"/>
                <a:cs typeface="Calibri" pitchFamily="34" charset="-120"/>
              </a:rPr>
              <a:t>“What organ is shown?”</a:t>
            </a:r>
            <a:endParaRPr lang="en-US" sz="1100" dirty="0"/>
          </a:p>
          <a:p>
            <a:pPr marL="0" indent="0">
              <a:lnSpc>
                <a:spcPct val="116000"/>
              </a:lnSpc>
              <a:buNone/>
            </a:pPr>
            <a:r>
              <a:rPr lang="en-US" sz="1100" i="1" dirty="0">
                <a:solidFill>
                  <a:srgbClr val="4F637B"/>
                </a:solidFill>
                <a:latin typeface="Calibri" pitchFamily="34" charset="0"/>
                <a:ea typeface="Calibri" pitchFamily="34" charset="-122"/>
                <a:cs typeface="Calibri" pitchFamily="34" charset="-120"/>
              </a:rPr>
              <a:t>“Is this axial or coronal?”</a:t>
            </a:r>
            <a:endParaRPr lang="en-US" sz="1100" dirty="0"/>
          </a:p>
        </p:txBody>
      </p:sp>
      <p:sp>
        <p:nvSpPr>
          <p:cNvPr id="12" name="Shape 9"/>
          <p:cNvSpPr/>
          <p:nvPr/>
        </p:nvSpPr>
        <p:spPr>
          <a:xfrm>
            <a:off x="3401568" y="2852928"/>
            <a:ext cx="566928" cy="0"/>
          </a:xfrm>
          <a:prstGeom prst="line">
            <a:avLst/>
          </a:prstGeom>
          <a:noFill/>
          <a:ln w="19050">
            <a:solidFill>
              <a:srgbClr val="8494A8"/>
            </a:solidFill>
            <a:prstDash val="solid"/>
            <a:tailEnd type="triangle"/>
          </a:ln>
        </p:spPr>
        <p:txBody>
          <a:bodyPr/>
          <a:lstStyle/>
          <a:p>
            <a:endParaRPr lang="en-US"/>
          </a:p>
        </p:txBody>
      </p:sp>
      <p:sp>
        <p:nvSpPr>
          <p:cNvPr id="13" name="Shape 10"/>
          <p:cNvSpPr/>
          <p:nvPr/>
        </p:nvSpPr>
        <p:spPr>
          <a:xfrm>
            <a:off x="3401568" y="4498848"/>
            <a:ext cx="566928" cy="0"/>
          </a:xfrm>
          <a:prstGeom prst="line">
            <a:avLst/>
          </a:prstGeom>
          <a:noFill/>
          <a:ln w="19050">
            <a:solidFill>
              <a:srgbClr val="8494A8"/>
            </a:solidFill>
            <a:prstDash val="solid"/>
            <a:tailEnd type="triangle"/>
          </a:ln>
        </p:spPr>
        <p:txBody>
          <a:bodyPr/>
          <a:lstStyle/>
          <a:p>
            <a:endParaRPr lang="en-US"/>
          </a:p>
        </p:txBody>
      </p:sp>
      <p:sp>
        <p:nvSpPr>
          <p:cNvPr id="14" name="Shape 11"/>
          <p:cNvSpPr/>
          <p:nvPr/>
        </p:nvSpPr>
        <p:spPr>
          <a:xfrm>
            <a:off x="4041648" y="2331720"/>
            <a:ext cx="2286000" cy="2697480"/>
          </a:xfrm>
          <a:prstGeom prst="roundRect">
            <a:avLst>
              <a:gd name="adj" fmla="val 3600"/>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5" name="Text 12"/>
          <p:cNvSpPr/>
          <p:nvPr/>
        </p:nvSpPr>
        <p:spPr>
          <a:xfrm>
            <a:off x="4206240" y="2935224"/>
            <a:ext cx="1956816" cy="640080"/>
          </a:xfrm>
          <a:prstGeom prst="rect">
            <a:avLst/>
          </a:prstGeom>
          <a:noFill/>
          <a:ln/>
        </p:spPr>
        <p:txBody>
          <a:bodyPr wrap="square" lIns="0" tIns="0" rIns="0" bIns="0" rtlCol="0" anchor="ctr"/>
          <a:lstStyle/>
          <a:p>
            <a:pPr marL="0" indent="0" algn="ctr">
              <a:lnSpc>
                <a:spcPct val="105000"/>
              </a:lnSpc>
              <a:buNone/>
            </a:pPr>
            <a:r>
              <a:rPr lang="en-US" sz="1400" b="1" dirty="0">
                <a:solidFill>
                  <a:srgbClr val="14243A"/>
                </a:solidFill>
                <a:latin typeface="Calibri" pitchFamily="34" charset="0"/>
                <a:ea typeface="Calibri" pitchFamily="34" charset="-122"/>
                <a:cs typeface="Calibri" pitchFamily="34" charset="-120"/>
              </a:rPr>
              <a:t>Mô hình</a:t>
            </a:r>
            <a:endParaRPr lang="en-US" sz="1400" dirty="0"/>
          </a:p>
          <a:p>
            <a:pPr marL="0" indent="0" algn="ctr">
              <a:lnSpc>
                <a:spcPct val="105000"/>
              </a:lnSpc>
              <a:buNone/>
            </a:pPr>
            <a:r>
              <a:rPr lang="en-US" sz="1400" b="1" dirty="0">
                <a:solidFill>
                  <a:srgbClr val="14243A"/>
                </a:solidFill>
                <a:latin typeface="Calibri" pitchFamily="34" charset="0"/>
                <a:ea typeface="Calibri" pitchFamily="34" charset="-122"/>
                <a:cs typeface="Calibri" pitchFamily="34" charset="-120"/>
              </a:rPr>
              <a:t>đa phương thức</a:t>
            </a:r>
            <a:endParaRPr lang="en-US" sz="1400" dirty="0"/>
          </a:p>
        </p:txBody>
      </p:sp>
      <p:sp>
        <p:nvSpPr>
          <p:cNvPr id="16" name="Text 13"/>
          <p:cNvSpPr/>
          <p:nvPr/>
        </p:nvSpPr>
        <p:spPr>
          <a:xfrm>
            <a:off x="4206240" y="3666744"/>
            <a:ext cx="1956816" cy="1005840"/>
          </a:xfrm>
          <a:prstGeom prst="rect">
            <a:avLst/>
          </a:prstGeom>
          <a:noFill/>
          <a:ln/>
        </p:spPr>
        <p:txBody>
          <a:bodyPr wrap="square" lIns="0" tIns="0" rIns="0" bIns="0" rtlCol="0" anchor="ctr"/>
          <a:lstStyle/>
          <a:p>
            <a:pPr marL="0" indent="0" algn="ctr">
              <a:lnSpc>
                <a:spcPct val="124000"/>
              </a:lnSpc>
              <a:buNone/>
            </a:pPr>
            <a:r>
              <a:rPr lang="en-US" sz="1100" dirty="0">
                <a:solidFill>
                  <a:srgbClr val="4F637B"/>
                </a:solidFill>
                <a:latin typeface="Calibri" pitchFamily="34" charset="0"/>
                <a:ea typeface="Calibri" pitchFamily="34" charset="-122"/>
                <a:cs typeface="Calibri" pitchFamily="34" charset="-120"/>
              </a:rPr>
              <a:t>mã hóa ảnh</a:t>
            </a:r>
            <a:endParaRPr lang="en-US" sz="1100" dirty="0"/>
          </a:p>
          <a:p>
            <a:pPr marL="0" indent="0" algn="ctr">
              <a:lnSpc>
                <a:spcPct val="124000"/>
              </a:lnSpc>
              <a:buNone/>
            </a:pPr>
            <a:r>
              <a:rPr lang="en-US" sz="1100" dirty="0">
                <a:solidFill>
                  <a:srgbClr val="4F637B"/>
                </a:solidFill>
                <a:latin typeface="Calibri" pitchFamily="34" charset="0"/>
                <a:ea typeface="Calibri" pitchFamily="34" charset="-122"/>
                <a:cs typeface="Calibri" pitchFamily="34" charset="-120"/>
              </a:rPr>
              <a:t>+ mã hóa chữ</a:t>
            </a:r>
            <a:endParaRPr lang="en-US" sz="1100" dirty="0"/>
          </a:p>
          <a:p>
            <a:pPr marL="0" indent="0" algn="ctr">
              <a:lnSpc>
                <a:spcPct val="124000"/>
              </a:lnSpc>
              <a:buNone/>
            </a:pPr>
            <a:r>
              <a:rPr lang="en-US" sz="1100" dirty="0">
                <a:solidFill>
                  <a:srgbClr val="4F637B"/>
                </a:solidFill>
                <a:latin typeface="Calibri" pitchFamily="34" charset="0"/>
                <a:ea typeface="Calibri" pitchFamily="34" charset="-122"/>
                <a:cs typeface="Calibri" pitchFamily="34" charset="-120"/>
              </a:rPr>
              <a:t>→ hợp nhất</a:t>
            </a:r>
            <a:endParaRPr lang="en-US" sz="1100" dirty="0"/>
          </a:p>
          <a:p>
            <a:pPr marL="0" indent="0" algn="ctr">
              <a:lnSpc>
                <a:spcPct val="124000"/>
              </a:lnSpc>
              <a:buNone/>
            </a:pPr>
            <a:r>
              <a:rPr lang="en-US" sz="1100" dirty="0">
                <a:solidFill>
                  <a:srgbClr val="4F637B"/>
                </a:solidFill>
                <a:latin typeface="Calibri" pitchFamily="34" charset="0"/>
                <a:ea typeface="Calibri" pitchFamily="34" charset="-122"/>
                <a:cs typeface="Calibri" pitchFamily="34" charset="-120"/>
              </a:rPr>
              <a:t>→ sinh câu trả lời</a:t>
            </a:r>
            <a:endParaRPr lang="en-US" sz="1100" dirty="0"/>
          </a:p>
        </p:txBody>
      </p:sp>
      <p:sp>
        <p:nvSpPr>
          <p:cNvPr id="17" name="Shape 14"/>
          <p:cNvSpPr/>
          <p:nvPr/>
        </p:nvSpPr>
        <p:spPr>
          <a:xfrm>
            <a:off x="6400800" y="3675888"/>
            <a:ext cx="566928" cy="0"/>
          </a:xfrm>
          <a:prstGeom prst="line">
            <a:avLst/>
          </a:prstGeom>
          <a:noFill/>
          <a:ln w="19050">
            <a:solidFill>
              <a:srgbClr val="8494A8"/>
            </a:solidFill>
            <a:prstDash val="solid"/>
            <a:tailEnd type="triangle"/>
          </a:ln>
        </p:spPr>
        <p:txBody>
          <a:bodyPr/>
          <a:lstStyle/>
          <a:p>
            <a:endParaRPr lang="en-US"/>
          </a:p>
        </p:txBody>
      </p:sp>
      <p:sp>
        <p:nvSpPr>
          <p:cNvPr id="18" name="Shape 15"/>
          <p:cNvSpPr/>
          <p:nvPr/>
        </p:nvSpPr>
        <p:spPr>
          <a:xfrm>
            <a:off x="7040880" y="2148840"/>
            <a:ext cx="4590288" cy="3063240"/>
          </a:xfrm>
          <a:prstGeom prst="roundRect">
            <a:avLst>
              <a:gd name="adj" fmla="val 2687"/>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9" name="Shape 16"/>
          <p:cNvSpPr/>
          <p:nvPr/>
        </p:nvSpPr>
        <p:spPr>
          <a:xfrm>
            <a:off x="7242048" y="2368296"/>
            <a:ext cx="329184" cy="329184"/>
          </a:xfrm>
          <a:prstGeom prst="ellipse">
            <a:avLst/>
          </a:prstGeom>
          <a:solidFill>
            <a:srgbClr val="6B33C7"/>
          </a:solidFill>
          <a:ln/>
        </p:spPr>
        <p:txBody>
          <a:bodyPr/>
          <a:lstStyle/>
          <a:p>
            <a:endParaRPr lang="en-US"/>
          </a:p>
        </p:txBody>
      </p:sp>
      <p:sp>
        <p:nvSpPr>
          <p:cNvPr id="20" name="Text 17"/>
          <p:cNvSpPr/>
          <p:nvPr/>
        </p:nvSpPr>
        <p:spPr>
          <a:xfrm>
            <a:off x="7242048" y="23682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1" name="Text 18"/>
          <p:cNvSpPr/>
          <p:nvPr/>
        </p:nvSpPr>
        <p:spPr>
          <a:xfrm>
            <a:off x="7699248" y="2350008"/>
            <a:ext cx="374904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Hai loại câu hỏi — đo bằng hai cách khác nhau</a:t>
            </a:r>
            <a:endParaRPr lang="en-US" sz="1450" dirty="0"/>
          </a:p>
        </p:txBody>
      </p:sp>
      <p:sp>
        <p:nvSpPr>
          <p:cNvPr id="22" name="Text 19"/>
          <p:cNvSpPr/>
          <p:nvPr/>
        </p:nvSpPr>
        <p:spPr>
          <a:xfrm>
            <a:off x="7242048" y="2862072"/>
            <a:ext cx="4206240" cy="2194560"/>
          </a:xfrm>
          <a:prstGeom prst="rect">
            <a:avLst/>
          </a:prstGeom>
          <a:noFill/>
          <a:ln/>
        </p:spPr>
        <p:txBody>
          <a:bodyPr wrap="square" lIns="0" tIns="0" rIns="0" bIns="0" rtlCol="0" anchor="ctr"/>
          <a:lstStyle/>
          <a:p>
            <a:pPr marL="0" indent="0">
              <a:lnSpc>
                <a:spcPct val="114000"/>
              </a:lnSpc>
              <a:buNone/>
            </a:pPr>
            <a:r>
              <a:rPr lang="en-US" sz="1200" b="1" dirty="0">
                <a:solidFill>
                  <a:srgbClr val="0B8457"/>
                </a:solidFill>
                <a:latin typeface="Calibri" pitchFamily="34" charset="0"/>
                <a:ea typeface="Calibri" pitchFamily="34" charset="-122"/>
                <a:cs typeface="Calibri" pitchFamily="34" charset="-120"/>
              </a:rPr>
              <a:t>Câu đóng (closed) </a:t>
            </a:r>
            <a:r>
              <a:rPr lang="en-US" sz="1200" dirty="0">
                <a:solidFill>
                  <a:srgbClr val="4F637B"/>
                </a:solidFill>
                <a:latin typeface="Calibri" pitchFamily="34" charset="0"/>
                <a:ea typeface="Calibri" pitchFamily="34" charset="-122"/>
                <a:cs typeface="Calibri" pitchFamily="34" charset="-120"/>
              </a:rPr>
              <a:t>— đáp án là yes / no. Chiếm khoảng một nửa dữ liệu, nên một hệ thống đoán bừa cũng đã được khoảng 50%.</a:t>
            </a:r>
            <a:endParaRPr lang="en-US" sz="1200" dirty="0"/>
          </a:p>
          <a:p>
            <a:pPr marL="0" indent="0">
              <a:lnSpc>
                <a:spcPct val="114000"/>
              </a:lnSpc>
              <a:buNone/>
            </a:pPr>
            <a:r>
              <a:rPr lang="en-US" sz="1200" b="1" dirty="0">
                <a:solidFill>
                  <a:srgbClr val="B26A00"/>
                </a:solidFill>
                <a:latin typeface="Calibri" pitchFamily="34" charset="0"/>
                <a:ea typeface="Calibri" pitchFamily="34" charset="-122"/>
                <a:cs typeface="Calibri" pitchFamily="34" charset="-120"/>
              </a:rPr>
              <a:t>Câu mở (open) </a:t>
            </a:r>
            <a:r>
              <a:rPr lang="en-US" sz="1200" dirty="0">
                <a:solidFill>
                  <a:srgbClr val="4F637B"/>
                </a:solidFill>
                <a:latin typeface="Calibri" pitchFamily="34" charset="0"/>
                <a:ea typeface="Calibri" pitchFamily="34" charset="-122"/>
                <a:cs typeface="Calibri" pitchFamily="34" charset="-120"/>
              </a:rPr>
              <a:t>— đáp án là mô tả tự do: tên cơ quan, vị trí tổn thương, tên bệnh lý. Đây là phần khó và là trọng tâm cải tiến của toàn bộ báo cáo.</a:t>
            </a:r>
            <a:endParaRPr lang="en-US" sz="1200" dirty="0"/>
          </a:p>
          <a:p>
            <a:pPr marL="0" indent="0">
              <a:lnSpc>
                <a:spcPct val="114000"/>
              </a:lnSpc>
              <a:buNone/>
            </a:pPr>
            <a:r>
              <a:rPr lang="en-US" sz="1200" b="1" dirty="0">
                <a:solidFill>
                  <a:srgbClr val="14243A"/>
                </a:solidFill>
                <a:latin typeface="Calibri" pitchFamily="34" charset="0"/>
                <a:ea typeface="Calibri" pitchFamily="34" charset="-122"/>
                <a:cs typeface="Calibri" pitchFamily="34" charset="-120"/>
              </a:rPr>
              <a:t>Vì sao phải tách hai loại: </a:t>
            </a:r>
            <a:r>
              <a:rPr lang="en-US" sz="1200" dirty="0">
                <a:solidFill>
                  <a:srgbClr val="4F637B"/>
                </a:solidFill>
                <a:latin typeface="Calibri" pitchFamily="34" charset="0"/>
                <a:ea typeface="Calibri" pitchFamily="34" charset="-122"/>
                <a:cs typeface="Calibri" pitchFamily="34" charset="-120"/>
              </a:rPr>
              <a:t>nếu chỉ nhìn điểm tổng thể, phần câu đóng dễ đạt sẽ che mất việc mô hình gần như không trả lời được câu mở.</a:t>
            </a:r>
            <a:endParaRPr lang="en-US" sz="1200" dirty="0"/>
          </a:p>
        </p:txBody>
      </p:sp>
      <p:sp>
        <p:nvSpPr>
          <p:cNvPr id="23" name="Text 20"/>
          <p:cNvSpPr/>
          <p:nvPr/>
        </p:nvSpPr>
        <p:spPr>
          <a:xfrm>
            <a:off x="566928" y="6382512"/>
            <a:ext cx="11057839" cy="274320"/>
          </a:xfrm>
          <a:prstGeom prst="rect">
            <a:avLst/>
          </a:prstGeom>
          <a:noFill/>
          <a:ln/>
        </p:spPr>
        <p:txBody>
          <a:bodyPr wrap="square" lIns="0" tIns="0" rIns="0" bIns="0" rtlCol="0" anchor="ctr"/>
          <a:lstStyle/>
          <a:p>
            <a:pPr marL="0" indent="0">
              <a:buNone/>
            </a:pPr>
            <a:r>
              <a:rPr lang="en-US" sz="950" i="1" dirty="0">
                <a:solidFill>
                  <a:srgbClr val="8494A8"/>
                </a:solidFill>
                <a:latin typeface="Calibri" pitchFamily="34" charset="0"/>
                <a:ea typeface="Calibri" pitchFamily="34" charset="-122"/>
                <a:cs typeface="Calibri" pitchFamily="34" charset="-120"/>
              </a:rPr>
              <a:t>Toàn bộ mô hình trong báo cáo đều sinh câu trả lời dạng văn bản tự do, không phải chọn đáp án trắc nghiệm.</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2 · LÝ THUYẾT</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Học sâu đa phương thức là gì?</a:t>
            </a:r>
            <a:endParaRPr lang="en-US" sz="2900" dirty="0"/>
          </a:p>
        </p:txBody>
      </p:sp>
      <p:sp>
        <p:nvSpPr>
          <p:cNvPr id="5" name="Text 2"/>
          <p:cNvSpPr/>
          <p:nvPr/>
        </p:nvSpPr>
        <p:spPr>
          <a:xfrm>
            <a:off x="566928" y="1371600"/>
            <a:ext cx="11057839" cy="457200"/>
          </a:xfrm>
          <a:prstGeom prst="rect">
            <a:avLst/>
          </a:prstGeom>
          <a:noFill/>
          <a:ln/>
        </p:spPr>
        <p:txBody>
          <a:bodyPr wrap="square" lIns="0" tIns="0" rIns="0" bIns="0" rtlCol="0" anchor="ctr"/>
          <a:lstStyle/>
          <a:p>
            <a:pPr marL="0" indent="0">
              <a:lnSpc>
                <a:spcPct val="116000"/>
              </a:lnSpc>
              <a:buNone/>
            </a:pPr>
            <a:r>
              <a:rPr lang="en-US" sz="1300" dirty="0">
                <a:solidFill>
                  <a:srgbClr val="4F637B"/>
                </a:solidFill>
                <a:latin typeface="Calibri" pitchFamily="34" charset="0"/>
                <a:ea typeface="Calibri" pitchFamily="34" charset="-122"/>
                <a:cs typeface="Calibri" pitchFamily="34" charset="-120"/>
              </a:rPr>
              <a:t>Mô hình học sâu đa phương thức (multimodal) học đồng thời từ hai hay nhiều loại dữ liệu khác nhau — ở đây là ẢNH và VĂN BẢN — rồi học ra một biểu diễn chung để suy luận. Hỏi đáp ảnh y khoa (Medical VQA) là ví dụ điển hình của lớp bài toán này.</a:t>
            </a:r>
            <a:endParaRPr lang="en-US" sz="1300" dirty="0"/>
          </a:p>
        </p:txBody>
      </p:sp>
      <p:sp>
        <p:nvSpPr>
          <p:cNvPr id="6" name="Shape 3"/>
          <p:cNvSpPr/>
          <p:nvPr/>
        </p:nvSpPr>
        <p:spPr>
          <a:xfrm>
            <a:off x="566928" y="1975104"/>
            <a:ext cx="3611880" cy="3858768"/>
          </a:xfrm>
          <a:prstGeom prst="roundRect">
            <a:avLst>
              <a:gd name="adj" fmla="val 2278"/>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sz="1300"/>
          </a:p>
        </p:txBody>
      </p:sp>
      <p:sp>
        <p:nvSpPr>
          <p:cNvPr id="7" name="Shape 4"/>
          <p:cNvSpPr/>
          <p:nvPr/>
        </p:nvSpPr>
        <p:spPr>
          <a:xfrm>
            <a:off x="804672" y="2194560"/>
            <a:ext cx="329184" cy="329184"/>
          </a:xfrm>
          <a:prstGeom prst="ellipse">
            <a:avLst/>
          </a:prstGeom>
          <a:solidFill>
            <a:srgbClr val="1466C0"/>
          </a:solidFill>
          <a:ln/>
        </p:spPr>
        <p:txBody>
          <a:bodyPr/>
          <a:lstStyle/>
          <a:p>
            <a:endParaRPr lang="en-US" sz="1300"/>
          </a:p>
        </p:txBody>
      </p:sp>
      <p:sp>
        <p:nvSpPr>
          <p:cNvPr id="8" name="Text 5"/>
          <p:cNvSpPr/>
          <p:nvPr/>
        </p:nvSpPr>
        <p:spPr>
          <a:xfrm>
            <a:off x="804672" y="219456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a:t>
            </a:r>
            <a:endParaRPr lang="en-US" sz="1300" dirty="0"/>
          </a:p>
        </p:txBody>
      </p:sp>
      <p:sp>
        <p:nvSpPr>
          <p:cNvPr id="9" name="Text 6"/>
          <p:cNvSpPr/>
          <p:nvPr/>
        </p:nvSpPr>
        <p:spPr>
          <a:xfrm>
            <a:off x="1261872" y="2176272"/>
            <a:ext cx="2743200" cy="365760"/>
          </a:xfrm>
          <a:prstGeom prst="rect">
            <a:avLst/>
          </a:prstGeom>
          <a:noFill/>
          <a:ln/>
        </p:spPr>
        <p:txBody>
          <a:bodyPr wrap="square" lIns="0" tIns="0" rIns="0" bIns="0" rtlCol="0" anchor="ctr"/>
          <a:lstStyle/>
          <a:p>
            <a:pPr marL="0" indent="0">
              <a:buNone/>
            </a:pPr>
            <a:r>
              <a:rPr lang="en-US" sz="1300" b="1" dirty="0">
                <a:solidFill>
                  <a:srgbClr val="14243A"/>
                </a:solidFill>
                <a:latin typeface="Calibri" pitchFamily="34" charset="0"/>
                <a:ea typeface="Calibri" pitchFamily="34" charset="-122"/>
                <a:cs typeface="Calibri" pitchFamily="34" charset="-120"/>
              </a:rPr>
              <a:t>Định nghĩa</a:t>
            </a:r>
            <a:endParaRPr lang="en-US" sz="1300" dirty="0"/>
          </a:p>
        </p:txBody>
      </p:sp>
      <p:sp>
        <p:nvSpPr>
          <p:cNvPr id="10" name="Text 7"/>
          <p:cNvSpPr/>
          <p:nvPr/>
        </p:nvSpPr>
        <p:spPr>
          <a:xfrm>
            <a:off x="804672" y="2670048"/>
            <a:ext cx="3154680" cy="1463040"/>
          </a:xfrm>
          <a:prstGeom prst="rect">
            <a:avLst/>
          </a:prstGeom>
          <a:noFill/>
          <a:ln/>
        </p:spPr>
        <p:txBody>
          <a:bodyPr wrap="square" lIns="0" tIns="0" rIns="0" bIns="0" rtlCol="0" anchor="ctr"/>
          <a:lstStyle/>
          <a:p>
            <a:pPr marL="0" indent="0">
              <a:lnSpc>
                <a:spcPct val="118000"/>
              </a:lnSpc>
              <a:buNone/>
            </a:pPr>
            <a:r>
              <a:rPr lang="en-US" sz="1300" dirty="0">
                <a:solidFill>
                  <a:srgbClr val="4F637B"/>
                </a:solidFill>
                <a:latin typeface="Calibri" pitchFamily="34" charset="0"/>
                <a:ea typeface="Calibri" pitchFamily="34" charset="-122"/>
                <a:cs typeface="Calibri" pitchFamily="34" charset="-120"/>
              </a:rPr>
              <a:t>Thay vì xử lý mỗi loại dữ liệu riêng lẻ, mô hình học một KHÔNG GIAN BIỂU DIỄN CHUNG, nơi thông tin từ các phương thức được căn chỉnh và hợp nhất để cùng đóng góp vào câu trả lời.</a:t>
            </a:r>
            <a:endParaRPr lang="en-US" sz="1300" dirty="0"/>
          </a:p>
        </p:txBody>
      </p:sp>
      <p:sp>
        <p:nvSpPr>
          <p:cNvPr id="11" name="Shape 8"/>
          <p:cNvSpPr/>
          <p:nvPr/>
        </p:nvSpPr>
        <p:spPr>
          <a:xfrm>
            <a:off x="804672" y="4261104"/>
            <a:ext cx="3154680" cy="0"/>
          </a:xfrm>
          <a:prstGeom prst="line">
            <a:avLst/>
          </a:prstGeom>
          <a:noFill/>
          <a:ln w="12700">
            <a:solidFill>
              <a:srgbClr val="D3DEEA"/>
            </a:solidFill>
            <a:prstDash val="solid"/>
          </a:ln>
        </p:spPr>
        <p:txBody>
          <a:bodyPr/>
          <a:lstStyle/>
          <a:p>
            <a:endParaRPr lang="en-US" sz="1300"/>
          </a:p>
        </p:txBody>
      </p:sp>
      <p:sp>
        <p:nvSpPr>
          <p:cNvPr id="12" name="Text 9"/>
          <p:cNvSpPr/>
          <p:nvPr/>
        </p:nvSpPr>
        <p:spPr>
          <a:xfrm>
            <a:off x="804672" y="4407408"/>
            <a:ext cx="3154680" cy="1280160"/>
          </a:xfrm>
          <a:prstGeom prst="rect">
            <a:avLst/>
          </a:prstGeom>
          <a:noFill/>
          <a:ln/>
        </p:spPr>
        <p:txBody>
          <a:bodyPr wrap="square" lIns="0" tIns="0" rIns="0" bIns="0" rtlCol="0" anchor="ctr"/>
          <a:lstStyle/>
          <a:p>
            <a:pPr marL="0" indent="0">
              <a:lnSpc>
                <a:spcPct val="118000"/>
              </a:lnSpc>
              <a:buNone/>
            </a:pPr>
            <a:r>
              <a:rPr lang="en-US" sz="1300" b="1" dirty="0">
                <a:solidFill>
                  <a:srgbClr val="1466C0"/>
                </a:solidFill>
                <a:latin typeface="Calibri" pitchFamily="34" charset="0"/>
                <a:ea typeface="Calibri" pitchFamily="34" charset="-122"/>
                <a:cs typeface="Calibri" pitchFamily="34" charset="-120"/>
              </a:rPr>
              <a:t>Trong đề tài:  </a:t>
            </a:r>
            <a:r>
              <a:rPr lang="en-US" sz="1300" dirty="0">
                <a:solidFill>
                  <a:srgbClr val="4F637B"/>
                </a:solidFill>
                <a:latin typeface="Calibri" pitchFamily="34" charset="0"/>
                <a:ea typeface="Calibri" pitchFamily="34" charset="-122"/>
                <a:cs typeface="Calibri" pitchFamily="34" charset="-120"/>
              </a:rPr>
              <a:t>ảnh y khoa qua PubMedCLIP + câu hỏi qua PubMedBERT → hệ sinh câu trả lời tự do.</a:t>
            </a:r>
            <a:endParaRPr lang="en-US" sz="1300" dirty="0"/>
          </a:p>
        </p:txBody>
      </p:sp>
      <p:sp>
        <p:nvSpPr>
          <p:cNvPr id="13" name="Shape 10"/>
          <p:cNvSpPr/>
          <p:nvPr/>
        </p:nvSpPr>
        <p:spPr>
          <a:xfrm>
            <a:off x="4370832" y="1975104"/>
            <a:ext cx="3529584" cy="1828800"/>
          </a:xfrm>
          <a:prstGeom prst="roundRect">
            <a:avLst>
              <a:gd name="adj" fmla="val 4500"/>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sz="1300"/>
          </a:p>
        </p:txBody>
      </p:sp>
      <p:sp>
        <p:nvSpPr>
          <p:cNvPr id="14" name="Text 11"/>
          <p:cNvSpPr/>
          <p:nvPr/>
        </p:nvSpPr>
        <p:spPr>
          <a:xfrm>
            <a:off x="4590288" y="2157984"/>
            <a:ext cx="3090672" cy="292608"/>
          </a:xfrm>
          <a:prstGeom prst="rect">
            <a:avLst/>
          </a:prstGeom>
          <a:noFill/>
          <a:ln/>
        </p:spPr>
        <p:txBody>
          <a:bodyPr wrap="square" lIns="0" tIns="0" rIns="0" bIns="0" rtlCol="0" anchor="ctr"/>
          <a:lstStyle/>
          <a:p>
            <a:pPr marL="0" indent="0">
              <a:buNone/>
            </a:pPr>
            <a:r>
              <a:rPr lang="en-US" sz="1300" b="1" dirty="0">
                <a:solidFill>
                  <a:srgbClr val="1466C0"/>
                </a:solidFill>
                <a:latin typeface="Calibri" pitchFamily="34" charset="0"/>
                <a:ea typeface="Calibri" pitchFamily="34" charset="-122"/>
                <a:cs typeface="Calibri" pitchFamily="34" charset="-120"/>
              </a:rPr>
              <a:t>Tính dị thể</a:t>
            </a:r>
            <a:endParaRPr lang="en-US" sz="1300" dirty="0"/>
          </a:p>
        </p:txBody>
      </p:sp>
      <p:sp>
        <p:nvSpPr>
          <p:cNvPr id="15" name="Text 12"/>
          <p:cNvSpPr/>
          <p:nvPr/>
        </p:nvSpPr>
        <p:spPr>
          <a:xfrm>
            <a:off x="4590288" y="2523744"/>
            <a:ext cx="3090672" cy="1133856"/>
          </a:xfrm>
          <a:prstGeom prst="rect">
            <a:avLst/>
          </a:prstGeom>
          <a:noFill/>
          <a:ln/>
        </p:spPr>
        <p:txBody>
          <a:bodyPr wrap="square" lIns="0" tIns="0" rIns="0" bIns="0" rtlCol="0" anchor="ctr"/>
          <a:lstStyle/>
          <a:p>
            <a:pPr marL="0" indent="0">
              <a:lnSpc>
                <a:spcPct val="116000"/>
              </a:lnSpc>
              <a:buNone/>
            </a:pPr>
            <a:r>
              <a:rPr lang="en-US" sz="1300" dirty="0">
                <a:solidFill>
                  <a:srgbClr val="4F637B"/>
                </a:solidFill>
                <a:latin typeface="Calibri" pitchFamily="34" charset="0"/>
                <a:ea typeface="Calibri" pitchFamily="34" charset="-122"/>
                <a:cs typeface="Calibri" pitchFamily="34" charset="-120"/>
              </a:rPr>
              <a:t>Ảnh là lưới điểm ảnh liên tục; văn bản là chuỗi token rời rạc. Hai không gian biểu diễn khác hẳn nhau, phải đưa về cùng một không gian.</a:t>
            </a:r>
            <a:endParaRPr lang="en-US" sz="1300" dirty="0"/>
          </a:p>
        </p:txBody>
      </p:sp>
      <p:sp>
        <p:nvSpPr>
          <p:cNvPr id="16" name="Shape 13"/>
          <p:cNvSpPr/>
          <p:nvPr/>
        </p:nvSpPr>
        <p:spPr>
          <a:xfrm>
            <a:off x="8028432" y="1975104"/>
            <a:ext cx="3529584" cy="1828800"/>
          </a:xfrm>
          <a:prstGeom prst="roundRect">
            <a:avLst>
              <a:gd name="adj" fmla="val 4500"/>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sz="1300"/>
          </a:p>
        </p:txBody>
      </p:sp>
      <p:sp>
        <p:nvSpPr>
          <p:cNvPr id="17" name="Text 14"/>
          <p:cNvSpPr/>
          <p:nvPr/>
        </p:nvSpPr>
        <p:spPr>
          <a:xfrm>
            <a:off x="8247888" y="2157984"/>
            <a:ext cx="3090672" cy="292608"/>
          </a:xfrm>
          <a:prstGeom prst="rect">
            <a:avLst/>
          </a:prstGeom>
          <a:noFill/>
          <a:ln/>
        </p:spPr>
        <p:txBody>
          <a:bodyPr wrap="square" lIns="0" tIns="0" rIns="0" bIns="0" rtlCol="0" anchor="ctr"/>
          <a:lstStyle/>
          <a:p>
            <a:pPr marL="0" indent="0">
              <a:buNone/>
            </a:pPr>
            <a:r>
              <a:rPr lang="en-US" sz="1300" b="1" dirty="0">
                <a:solidFill>
                  <a:srgbClr val="6B33C7"/>
                </a:solidFill>
                <a:latin typeface="Calibri" pitchFamily="34" charset="0"/>
                <a:ea typeface="Calibri" pitchFamily="34" charset="-122"/>
                <a:cs typeface="Calibri" pitchFamily="34" charset="-120"/>
              </a:rPr>
              <a:t>Căn chỉnh (alignment)</a:t>
            </a:r>
            <a:endParaRPr lang="en-US" sz="1300" dirty="0"/>
          </a:p>
        </p:txBody>
      </p:sp>
      <p:sp>
        <p:nvSpPr>
          <p:cNvPr id="18" name="Text 15"/>
          <p:cNvSpPr/>
          <p:nvPr/>
        </p:nvSpPr>
        <p:spPr>
          <a:xfrm>
            <a:off x="8247888" y="2523744"/>
            <a:ext cx="3090672" cy="1133856"/>
          </a:xfrm>
          <a:prstGeom prst="rect">
            <a:avLst/>
          </a:prstGeom>
          <a:noFill/>
          <a:ln/>
        </p:spPr>
        <p:txBody>
          <a:bodyPr wrap="square" lIns="0" tIns="0" rIns="0" bIns="0" rtlCol="0" anchor="ctr"/>
          <a:lstStyle/>
          <a:p>
            <a:pPr marL="0" indent="0">
              <a:lnSpc>
                <a:spcPct val="116000"/>
              </a:lnSpc>
              <a:buNone/>
            </a:pPr>
            <a:r>
              <a:rPr lang="en-US" sz="1300" dirty="0">
                <a:solidFill>
                  <a:srgbClr val="4F637B"/>
                </a:solidFill>
                <a:latin typeface="Calibri" pitchFamily="34" charset="0"/>
                <a:ea typeface="Calibri" pitchFamily="34" charset="-122"/>
                <a:cs typeface="Calibri" pitchFamily="34" charset="-120"/>
              </a:rPr>
              <a:t>Phải liên kết đúng từ hoặc cụm từ trong câu hỏi với vùng, đối tượng tương ứng trong ảnh.</a:t>
            </a:r>
            <a:endParaRPr lang="en-US" sz="1300" dirty="0"/>
          </a:p>
        </p:txBody>
      </p:sp>
      <p:sp>
        <p:nvSpPr>
          <p:cNvPr id="19" name="Shape 16"/>
          <p:cNvSpPr/>
          <p:nvPr/>
        </p:nvSpPr>
        <p:spPr>
          <a:xfrm>
            <a:off x="4370832" y="3913632"/>
            <a:ext cx="3529584" cy="1828800"/>
          </a:xfrm>
          <a:prstGeom prst="roundRect">
            <a:avLst>
              <a:gd name="adj" fmla="val 4500"/>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sz="1300"/>
          </a:p>
        </p:txBody>
      </p:sp>
      <p:sp>
        <p:nvSpPr>
          <p:cNvPr id="20" name="Text 17"/>
          <p:cNvSpPr/>
          <p:nvPr/>
        </p:nvSpPr>
        <p:spPr>
          <a:xfrm>
            <a:off x="4590288" y="4096512"/>
            <a:ext cx="3090672" cy="292608"/>
          </a:xfrm>
          <a:prstGeom prst="rect">
            <a:avLst/>
          </a:prstGeom>
          <a:noFill/>
          <a:ln/>
        </p:spPr>
        <p:txBody>
          <a:bodyPr wrap="square" lIns="0" tIns="0" rIns="0" bIns="0" rtlCol="0" anchor="ctr"/>
          <a:lstStyle/>
          <a:p>
            <a:pPr marL="0" indent="0">
              <a:buNone/>
            </a:pPr>
            <a:r>
              <a:rPr lang="en-US" sz="1300" b="1" dirty="0">
                <a:solidFill>
                  <a:srgbClr val="0B8457"/>
                </a:solidFill>
                <a:latin typeface="Calibri" pitchFamily="34" charset="0"/>
                <a:ea typeface="Calibri" pitchFamily="34" charset="-122"/>
                <a:cs typeface="Calibri" pitchFamily="34" charset="-120"/>
              </a:rPr>
              <a:t>Hợp nhất (fusion)</a:t>
            </a:r>
            <a:endParaRPr lang="en-US" sz="1300" dirty="0"/>
          </a:p>
        </p:txBody>
      </p:sp>
      <p:sp>
        <p:nvSpPr>
          <p:cNvPr id="21" name="Text 18"/>
          <p:cNvSpPr/>
          <p:nvPr/>
        </p:nvSpPr>
        <p:spPr>
          <a:xfrm>
            <a:off x="4590288" y="4462272"/>
            <a:ext cx="3090672" cy="1133856"/>
          </a:xfrm>
          <a:prstGeom prst="rect">
            <a:avLst/>
          </a:prstGeom>
          <a:noFill/>
          <a:ln/>
        </p:spPr>
        <p:txBody>
          <a:bodyPr wrap="square" lIns="0" tIns="0" rIns="0" bIns="0" rtlCol="0" anchor="ctr"/>
          <a:lstStyle/>
          <a:p>
            <a:pPr marL="0" indent="0">
              <a:lnSpc>
                <a:spcPct val="116000"/>
              </a:lnSpc>
              <a:buNone/>
            </a:pPr>
            <a:r>
              <a:rPr lang="en-US" sz="1300" dirty="0">
                <a:solidFill>
                  <a:srgbClr val="4F637B"/>
                </a:solidFill>
                <a:latin typeface="Calibri" pitchFamily="34" charset="0"/>
                <a:ea typeface="Calibri" pitchFamily="34" charset="-122"/>
                <a:cs typeface="Calibri" pitchFamily="34" charset="-120"/>
              </a:rPr>
              <a:t>Kết hợp đặc trưng hai phương thức thành một biểu diễn chung để suy luận ra đáp án.</a:t>
            </a:r>
            <a:endParaRPr lang="en-US" sz="1300" dirty="0"/>
          </a:p>
        </p:txBody>
      </p:sp>
      <p:sp>
        <p:nvSpPr>
          <p:cNvPr id="22" name="Shape 19"/>
          <p:cNvSpPr/>
          <p:nvPr/>
        </p:nvSpPr>
        <p:spPr>
          <a:xfrm>
            <a:off x="8028432" y="3913632"/>
            <a:ext cx="3529584" cy="1828800"/>
          </a:xfrm>
          <a:prstGeom prst="roundRect">
            <a:avLst>
              <a:gd name="adj" fmla="val 4500"/>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sz="1300"/>
          </a:p>
        </p:txBody>
      </p:sp>
      <p:sp>
        <p:nvSpPr>
          <p:cNvPr id="23" name="Text 20"/>
          <p:cNvSpPr/>
          <p:nvPr/>
        </p:nvSpPr>
        <p:spPr>
          <a:xfrm>
            <a:off x="8247888" y="4096512"/>
            <a:ext cx="3090672" cy="292608"/>
          </a:xfrm>
          <a:prstGeom prst="rect">
            <a:avLst/>
          </a:prstGeom>
          <a:noFill/>
          <a:ln/>
        </p:spPr>
        <p:txBody>
          <a:bodyPr wrap="square" lIns="0" tIns="0" rIns="0" bIns="0" rtlCol="0" anchor="ctr"/>
          <a:lstStyle/>
          <a:p>
            <a:pPr marL="0" indent="0">
              <a:buNone/>
            </a:pPr>
            <a:r>
              <a:rPr lang="en-US" sz="1300" b="1" dirty="0">
                <a:solidFill>
                  <a:srgbClr val="B26A00"/>
                </a:solidFill>
                <a:latin typeface="Calibri" pitchFamily="34" charset="0"/>
                <a:ea typeface="Calibri" pitchFamily="34" charset="-122"/>
                <a:cs typeface="Calibri" pitchFamily="34" charset="-120"/>
              </a:rPr>
              <a:t>Bổ sung thông tin</a:t>
            </a:r>
            <a:endParaRPr lang="en-US" sz="1300" dirty="0"/>
          </a:p>
        </p:txBody>
      </p:sp>
      <p:sp>
        <p:nvSpPr>
          <p:cNvPr id="24" name="Text 21"/>
          <p:cNvSpPr/>
          <p:nvPr/>
        </p:nvSpPr>
        <p:spPr>
          <a:xfrm>
            <a:off x="8247888" y="4462272"/>
            <a:ext cx="3090672" cy="1133856"/>
          </a:xfrm>
          <a:prstGeom prst="rect">
            <a:avLst/>
          </a:prstGeom>
          <a:noFill/>
          <a:ln/>
        </p:spPr>
        <p:txBody>
          <a:bodyPr wrap="square" lIns="0" tIns="0" rIns="0" bIns="0" rtlCol="0" anchor="ctr"/>
          <a:lstStyle/>
          <a:p>
            <a:pPr marL="0" indent="0">
              <a:lnSpc>
                <a:spcPct val="116000"/>
              </a:lnSpc>
              <a:buNone/>
            </a:pPr>
            <a:r>
              <a:rPr lang="en-US" sz="1300" dirty="0">
                <a:solidFill>
                  <a:srgbClr val="4F637B"/>
                </a:solidFill>
                <a:latin typeface="Calibri" pitchFamily="34" charset="0"/>
                <a:ea typeface="Calibri" pitchFamily="34" charset="-122"/>
                <a:cs typeface="Calibri" pitchFamily="34" charset="-120"/>
              </a:rPr>
              <a:t>Mỗi phương thức mang thông tin phương thức kia không có; kết hợp lại giàu hơn từng cái riêng lẻ.</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2 · LÝ THUYẾT</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Multimodal Fusion — hợp nhất đặc trưng</a:t>
            </a:r>
            <a:endParaRPr lang="en-US" sz="2900" dirty="0"/>
          </a:p>
        </p:txBody>
      </p:sp>
      <p:sp>
        <p:nvSpPr>
          <p:cNvPr id="5" name="Text 2"/>
          <p:cNvSpPr/>
          <p:nvPr/>
        </p:nvSpPr>
        <p:spPr>
          <a:xfrm>
            <a:off x="566928" y="1122772"/>
            <a:ext cx="11057839" cy="457200"/>
          </a:xfrm>
          <a:prstGeom prst="rect">
            <a:avLst/>
          </a:prstGeom>
          <a:noFill/>
          <a:ln/>
        </p:spPr>
        <p:txBody>
          <a:bodyPr wrap="square" lIns="0" tIns="0" rIns="0" bIns="0" rtlCol="0" anchor="ctr"/>
          <a:lstStyle/>
          <a:p>
            <a:pPr marL="0" indent="0">
              <a:lnSpc>
                <a:spcPct val="116000"/>
              </a:lnSpc>
              <a:buNone/>
            </a:pPr>
            <a:r>
              <a:rPr lang="en-US" sz="1600" dirty="0">
                <a:solidFill>
                  <a:srgbClr val="4F637B"/>
                </a:solidFill>
                <a:latin typeface="Calibri" pitchFamily="34" charset="0"/>
                <a:ea typeface="Calibri" pitchFamily="34" charset="-122"/>
                <a:cs typeface="Calibri" pitchFamily="34" charset="-120"/>
              </a:rPr>
              <a:t>Fusion là quá trình kết hợp đặc trưng từ nhiều phương thức thành một biểu diễn chung để mô hình suy luận. </a:t>
            </a:r>
            <a:endParaRPr lang="en-US" sz="1600" dirty="0"/>
          </a:p>
        </p:txBody>
      </p:sp>
      <p:sp>
        <p:nvSpPr>
          <p:cNvPr id="18" name="Shape 15"/>
          <p:cNvSpPr/>
          <p:nvPr/>
        </p:nvSpPr>
        <p:spPr>
          <a:xfrm>
            <a:off x="8064777" y="2059476"/>
            <a:ext cx="4006454" cy="3107748"/>
          </a:xfrm>
          <a:prstGeom prst="roundRect">
            <a:avLst>
              <a:gd name="adj" fmla="val 6429"/>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9" name="Text 16"/>
          <p:cNvSpPr/>
          <p:nvPr/>
        </p:nvSpPr>
        <p:spPr>
          <a:xfrm>
            <a:off x="8258700" y="3084096"/>
            <a:ext cx="3618608" cy="969264"/>
          </a:xfrm>
          <a:prstGeom prst="rect">
            <a:avLst/>
          </a:prstGeom>
          <a:noFill/>
          <a:ln/>
        </p:spPr>
        <p:txBody>
          <a:bodyPr wrap="square" lIns="0" tIns="0" rIns="0" bIns="0" rtlCol="0" anchor="ctr"/>
          <a:lstStyle/>
          <a:p>
            <a:pPr marL="0" indent="0">
              <a:lnSpc>
                <a:spcPct val="114000"/>
              </a:lnSpc>
              <a:buNone/>
            </a:pPr>
            <a:r>
              <a:rPr lang="en-US" sz="1500" b="1" dirty="0">
                <a:solidFill>
                  <a:srgbClr val="0B8457"/>
                </a:solidFill>
                <a:latin typeface="Calibri" pitchFamily="34" charset="0"/>
                <a:ea typeface="Calibri" pitchFamily="34" charset="-122"/>
                <a:cs typeface="Calibri" pitchFamily="34" charset="-120"/>
              </a:rPr>
              <a:t>Vai trò của fusion:  </a:t>
            </a:r>
            <a:r>
              <a:rPr lang="en-US" sz="1500" dirty="0">
                <a:solidFill>
                  <a:srgbClr val="4F637B"/>
                </a:solidFill>
                <a:latin typeface="Calibri" pitchFamily="34" charset="0"/>
                <a:ea typeface="Calibri" pitchFamily="34" charset="-122"/>
                <a:cs typeface="Calibri" pitchFamily="34" charset="-120"/>
              </a:rPr>
              <a:t>tạo không gian biểu diễn chung; chất lượng của bước này quyết định khả năng suy luận chéo phương thức.  </a:t>
            </a:r>
            <a:endParaRPr lang="en-US" sz="1500" dirty="0"/>
          </a:p>
          <a:p>
            <a:pPr marL="0" indent="0">
              <a:lnSpc>
                <a:spcPct val="114000"/>
              </a:lnSpc>
              <a:buNone/>
            </a:pPr>
            <a:r>
              <a:rPr lang="en-US" sz="1500" b="1" dirty="0">
                <a:solidFill>
                  <a:srgbClr val="1466C0"/>
                </a:solidFill>
                <a:latin typeface="Calibri" pitchFamily="34" charset="0"/>
                <a:ea typeface="Calibri" pitchFamily="34" charset="-122"/>
                <a:cs typeface="Calibri" pitchFamily="34" charset="-120"/>
              </a:rPr>
              <a:t>Trong đề tài:  </a:t>
            </a:r>
            <a:r>
              <a:rPr lang="en-US" sz="1500" dirty="0">
                <a:solidFill>
                  <a:srgbClr val="4F637B"/>
                </a:solidFill>
                <a:latin typeface="Calibri" pitchFamily="34" charset="0"/>
                <a:ea typeface="Calibri" pitchFamily="34" charset="-122"/>
                <a:cs typeface="Calibri" pitchFamily="34" charset="-120"/>
              </a:rPr>
              <a:t>dùng intermediate fusion — nối v_img (128) ⊕ v_txt (64) = 192 chiều rồi chiếu vào decoder. Q-Former nâng cấp chính bước này bằng cross-attention để giữ chi tiết không gian của ảnh.</a:t>
            </a:r>
            <a:endParaRPr lang="en-US" sz="1500" dirty="0"/>
          </a:p>
        </p:txBody>
      </p:sp>
      <p:pic>
        <p:nvPicPr>
          <p:cNvPr id="21" name="Picture 20">
            <a:extLst>
              <a:ext uri="{FF2B5EF4-FFF2-40B4-BE49-F238E27FC236}">
                <a16:creationId xmlns:a16="http://schemas.microsoft.com/office/drawing/2014/main" id="{6490D3E9-FA0F-FC42-416A-589A0B18FC83}"/>
              </a:ext>
            </a:extLst>
          </p:cNvPr>
          <p:cNvPicPr>
            <a:picLocks noChangeAspect="1"/>
          </p:cNvPicPr>
          <p:nvPr/>
        </p:nvPicPr>
        <p:blipFill>
          <a:blip r:embed="rId4"/>
          <a:srcRect l="5803" r="2417"/>
          <a:stretch>
            <a:fillRect/>
          </a:stretch>
        </p:blipFill>
        <p:spPr>
          <a:xfrm>
            <a:off x="120769" y="1644928"/>
            <a:ext cx="7859486" cy="481686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10527487" y="237744"/>
            <a:ext cx="1097280" cy="589788"/>
          </a:xfrm>
          <a:prstGeom prst="rect">
            <a:avLst/>
          </a:prstGeom>
        </p:spPr>
      </p:pic>
      <p:sp>
        <p:nvSpPr>
          <p:cNvPr id="3" name="T3"/>
          <p:cNvSpPr/>
          <p:nvPr/>
        </p:nvSpPr>
        <p:spPr>
          <a:xfrm>
            <a:off x="566928" y="310896"/>
            <a:ext cx="9777679" cy="457200"/>
          </a:xfrm>
          <a:prstGeom prst="rect">
            <a:avLst/>
          </a:prstGeom>
          <a:noFill/>
          <a:ln/>
        </p:spPr>
        <p:txBody>
          <a:bodyPr wrap="square" lIns="0" tIns="0" rIns="0" bIns="0" rtlCol="0" anchor="ctr"/>
          <a:lstStyle/>
          <a:p>
            <a:pPr marL="0" indent="0" algn="l">
              <a:buNone/>
            </a:pPr>
            <a:r>
              <a:rPr lang="en-US" sz="1050" b="1" kern="0" spc="220" dirty="0">
                <a:solidFill>
                  <a:srgbClr val="1466C0"/>
                </a:solidFill>
                <a:latin typeface="Calibri" pitchFamily="34" charset="0"/>
                <a:ea typeface="Calibri" pitchFamily="34" charset="-122"/>
                <a:cs typeface="Calibri" pitchFamily="34" charset="-120"/>
              </a:rPr>
              <a:t>PHẦN 2 · LÝ THUYẾT</a:t>
            </a:r>
            <a:endParaRPr lang="en-US" sz="1050" dirty="0"/>
          </a:p>
        </p:txBody>
      </p:sp>
      <p:sp>
        <p:nvSpPr>
          <p:cNvPr id="4" name="T4"/>
          <p:cNvSpPr/>
          <p:nvPr/>
        </p:nvSpPr>
        <p:spPr>
          <a:xfrm>
            <a:off x="566928" y="548640"/>
            <a:ext cx="9777679" cy="457200"/>
          </a:xfrm>
          <a:prstGeom prst="rect">
            <a:avLst/>
          </a:prstGeom>
          <a:noFill/>
          <a:ln/>
        </p:spPr>
        <p:txBody>
          <a:bodyPr wrap="square" lIns="0" tIns="0" rIns="0" bIns="0" rtlCol="0" anchor="ctr"/>
          <a:lstStyle/>
          <a:p>
            <a:pPr marL="0" indent="0" algn="l">
              <a:buNone/>
            </a:pPr>
            <a:r>
              <a:rPr lang="en-US" sz="2400" b="1" kern="0" spc="0" dirty="0">
                <a:solidFill>
                  <a:srgbClr val="14243A"/>
                </a:solidFill>
                <a:latin typeface="Calibri" pitchFamily="34" charset="0"/>
                <a:ea typeface="Calibri" pitchFamily="34" charset="-122"/>
                <a:cs typeface="Calibri" pitchFamily="34" charset="-120"/>
              </a:rPr>
              <a:t>Bộ chiếu (Projector) — đưa hai modality về một không gian</a:t>
            </a:r>
            <a:endParaRPr lang="en-US" sz="2400" dirty="0"/>
          </a:p>
        </p:txBody>
      </p:sp>
      <p:pic>
        <p:nvPicPr>
          <p:cNvPr id="14" name="Picture 13">
            <a:extLst>
              <a:ext uri="{FF2B5EF4-FFF2-40B4-BE49-F238E27FC236}">
                <a16:creationId xmlns:a16="http://schemas.microsoft.com/office/drawing/2014/main" id="{0B2A09E0-83FC-BECD-3BA6-EBB31868ACA5}"/>
              </a:ext>
            </a:extLst>
          </p:cNvPr>
          <p:cNvPicPr>
            <a:picLocks noChangeAspect="1"/>
          </p:cNvPicPr>
          <p:nvPr/>
        </p:nvPicPr>
        <p:blipFill>
          <a:blip r:embed="rId4"/>
          <a:srcRect t="10080" b="3448"/>
          <a:stretch>
            <a:fillRect/>
          </a:stretch>
        </p:blipFill>
        <p:spPr>
          <a:xfrm>
            <a:off x="566928" y="1138341"/>
            <a:ext cx="11119890" cy="540876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6B33C7"/>
                </a:solidFill>
                <a:latin typeface="Calibri" pitchFamily="34" charset="0"/>
                <a:ea typeface="Calibri" pitchFamily="34" charset="-122"/>
                <a:cs typeface="Calibri" pitchFamily="34" charset="-120"/>
              </a:rPr>
              <a:t>PHẦN 2 · LÝ THUYẾT</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Attention và Cross-attention</a:t>
            </a:r>
            <a:endParaRPr lang="en-US" sz="2900" dirty="0"/>
          </a:p>
        </p:txBody>
      </p:sp>
      <p:sp>
        <p:nvSpPr>
          <p:cNvPr id="5" name="Text 2"/>
          <p:cNvSpPr/>
          <p:nvPr/>
        </p:nvSpPr>
        <p:spPr>
          <a:xfrm>
            <a:off x="566928" y="1371600"/>
            <a:ext cx="11057839" cy="457200"/>
          </a:xfrm>
          <a:prstGeom prst="rect">
            <a:avLst/>
          </a:prstGeom>
          <a:noFill/>
          <a:ln/>
        </p:spPr>
        <p:txBody>
          <a:bodyPr wrap="square" lIns="0" tIns="0" rIns="0" bIns="0" rtlCol="0" anchor="ctr"/>
          <a:lstStyle/>
          <a:p>
            <a:pPr marL="0" indent="0">
              <a:lnSpc>
                <a:spcPct val="116000"/>
              </a:lnSpc>
              <a:buNone/>
            </a:pPr>
            <a:r>
              <a:rPr lang="en-US" sz="1400" dirty="0">
                <a:solidFill>
                  <a:srgbClr val="4F637B"/>
                </a:solidFill>
                <a:latin typeface="Calibri" pitchFamily="34" charset="0"/>
                <a:ea typeface="Calibri" pitchFamily="34" charset="-122"/>
                <a:cs typeface="Calibri" pitchFamily="34" charset="-120"/>
              </a:rPr>
              <a:t>Attention cho phép mô hình tập trung có chọn lọc vào phần liên quan nhất của dữ liệu. Đây là cơ chế căn chỉnh cốt lõi của mô hình đa phương thức.</a:t>
            </a:r>
            <a:endParaRPr lang="en-US" sz="1400" dirty="0"/>
          </a:p>
        </p:txBody>
      </p:sp>
      <p:sp>
        <p:nvSpPr>
          <p:cNvPr id="6" name="Shape 3"/>
          <p:cNvSpPr/>
          <p:nvPr/>
        </p:nvSpPr>
        <p:spPr>
          <a:xfrm>
            <a:off x="566928" y="1956816"/>
            <a:ext cx="5394960" cy="2340864"/>
          </a:xfrm>
          <a:prstGeom prst="roundRect">
            <a:avLst>
              <a:gd name="adj" fmla="val 3516"/>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7" name="Shape 4"/>
          <p:cNvSpPr/>
          <p:nvPr/>
        </p:nvSpPr>
        <p:spPr>
          <a:xfrm>
            <a:off x="822960" y="2176272"/>
            <a:ext cx="329184" cy="329184"/>
          </a:xfrm>
          <a:prstGeom prst="ellipse">
            <a:avLst/>
          </a:prstGeom>
          <a:solidFill>
            <a:srgbClr val="1466C0"/>
          </a:solidFill>
          <a:ln/>
        </p:spPr>
        <p:txBody>
          <a:bodyPr/>
          <a:lstStyle/>
          <a:p>
            <a:endParaRPr lang="en-US" sz="1400"/>
          </a:p>
        </p:txBody>
      </p:sp>
      <p:sp>
        <p:nvSpPr>
          <p:cNvPr id="8" name="Text 5"/>
          <p:cNvSpPr/>
          <p:nvPr/>
        </p:nvSpPr>
        <p:spPr>
          <a:xfrm>
            <a:off x="822960" y="2176272"/>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p:nvPr/>
        </p:nvSpPr>
        <p:spPr>
          <a:xfrm>
            <a:off x="1280160" y="2157984"/>
            <a:ext cx="4480560" cy="365760"/>
          </a:xfrm>
          <a:prstGeom prst="rect">
            <a:avLst/>
          </a:prstGeom>
          <a:noFill/>
          <a:ln/>
        </p:spPr>
        <p:txBody>
          <a:bodyPr wrap="square" lIns="0" tIns="0" rIns="0" bIns="0" rtlCol="0" anchor="ctr"/>
          <a:lstStyle/>
          <a:p>
            <a:pPr marL="0" indent="0">
              <a:buNone/>
            </a:pPr>
            <a:r>
              <a:rPr lang="en-US" sz="1400" b="1" dirty="0">
                <a:solidFill>
                  <a:srgbClr val="14243A"/>
                </a:solidFill>
                <a:latin typeface="Calibri" pitchFamily="34" charset="0"/>
                <a:ea typeface="Calibri" pitchFamily="34" charset="-122"/>
                <a:cs typeface="Calibri" pitchFamily="34" charset="-120"/>
              </a:rPr>
              <a:t>Self-attention</a:t>
            </a:r>
            <a:endParaRPr lang="en-US" sz="1400" dirty="0"/>
          </a:p>
        </p:txBody>
      </p:sp>
      <p:sp>
        <p:nvSpPr>
          <p:cNvPr id="10" name="Text 7"/>
          <p:cNvSpPr/>
          <p:nvPr/>
        </p:nvSpPr>
        <p:spPr>
          <a:xfrm>
            <a:off x="822960" y="2651760"/>
            <a:ext cx="4937760" cy="1554480"/>
          </a:xfrm>
          <a:prstGeom prst="rect">
            <a:avLst/>
          </a:prstGeom>
          <a:noFill/>
          <a:ln/>
        </p:spPr>
        <p:txBody>
          <a:bodyPr wrap="square" lIns="0" tIns="0" rIns="0" bIns="0" rtlCol="0" anchor="ctr"/>
          <a:lstStyle/>
          <a:p>
            <a:pPr marL="0" indent="0">
              <a:lnSpc>
                <a:spcPct val="120000"/>
              </a:lnSpc>
              <a:buNone/>
            </a:pPr>
            <a:r>
              <a:rPr lang="en-US" sz="1400" dirty="0">
                <a:solidFill>
                  <a:srgbClr val="4F637B"/>
                </a:solidFill>
                <a:latin typeface="Calibri" pitchFamily="34" charset="0"/>
                <a:ea typeface="Calibri" pitchFamily="34" charset="-122"/>
                <a:cs typeface="Calibri" pitchFamily="34" charset="-120"/>
              </a:rPr>
              <a:t>Mỗi phần tử trong chuỗi “chú ý” đến mọi phần tử khác. Với mỗi vị trí, mô hình tính Query · Key → softmax → trọng số, rồi lấy tổng có trọng số của Value. Nhờ vậy nắm được quan hệ tầm xa mà không phụ thuộc khoảng cách giữa hai phần tử.</a:t>
            </a:r>
            <a:endParaRPr lang="en-US" sz="1400" dirty="0"/>
          </a:p>
        </p:txBody>
      </p:sp>
      <p:sp>
        <p:nvSpPr>
          <p:cNvPr id="11" name="Shape 8"/>
          <p:cNvSpPr/>
          <p:nvPr/>
        </p:nvSpPr>
        <p:spPr>
          <a:xfrm>
            <a:off x="6236208" y="1956816"/>
            <a:ext cx="5394960" cy="2340864"/>
          </a:xfrm>
          <a:prstGeom prst="roundRect">
            <a:avLst>
              <a:gd name="adj" fmla="val 3516"/>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2" name="Shape 9"/>
          <p:cNvSpPr/>
          <p:nvPr/>
        </p:nvSpPr>
        <p:spPr>
          <a:xfrm>
            <a:off x="6492240" y="2176272"/>
            <a:ext cx="329184" cy="329184"/>
          </a:xfrm>
          <a:prstGeom prst="ellipse">
            <a:avLst/>
          </a:prstGeom>
          <a:solidFill>
            <a:srgbClr val="6B33C7"/>
          </a:solidFill>
          <a:ln/>
        </p:spPr>
        <p:txBody>
          <a:bodyPr/>
          <a:lstStyle/>
          <a:p>
            <a:endParaRPr lang="en-US" sz="1400"/>
          </a:p>
        </p:txBody>
      </p:sp>
      <p:sp>
        <p:nvSpPr>
          <p:cNvPr id="13" name="Text 10"/>
          <p:cNvSpPr/>
          <p:nvPr/>
        </p:nvSpPr>
        <p:spPr>
          <a:xfrm>
            <a:off x="6492240" y="2176272"/>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6949440" y="2157984"/>
            <a:ext cx="4480560" cy="365760"/>
          </a:xfrm>
          <a:prstGeom prst="rect">
            <a:avLst/>
          </a:prstGeom>
          <a:noFill/>
          <a:ln/>
        </p:spPr>
        <p:txBody>
          <a:bodyPr wrap="square" lIns="0" tIns="0" rIns="0" bIns="0" rtlCol="0" anchor="ctr"/>
          <a:lstStyle/>
          <a:p>
            <a:pPr marL="0" indent="0">
              <a:buNone/>
            </a:pPr>
            <a:r>
              <a:rPr lang="en-US" sz="1400" b="1" dirty="0">
                <a:solidFill>
                  <a:srgbClr val="14243A"/>
                </a:solidFill>
                <a:latin typeface="Calibri" pitchFamily="34" charset="0"/>
                <a:ea typeface="Calibri" pitchFamily="34" charset="-122"/>
                <a:cs typeface="Calibri" pitchFamily="34" charset="-120"/>
              </a:rPr>
              <a:t>Cross-attention</a:t>
            </a:r>
            <a:endParaRPr lang="en-US" sz="1400" dirty="0"/>
          </a:p>
        </p:txBody>
      </p:sp>
      <p:sp>
        <p:nvSpPr>
          <p:cNvPr id="15" name="Text 12"/>
          <p:cNvSpPr/>
          <p:nvPr/>
        </p:nvSpPr>
        <p:spPr>
          <a:xfrm>
            <a:off x="6492240" y="2651760"/>
            <a:ext cx="4937760" cy="1554480"/>
          </a:xfrm>
          <a:prstGeom prst="rect">
            <a:avLst/>
          </a:prstGeom>
          <a:noFill/>
          <a:ln/>
        </p:spPr>
        <p:txBody>
          <a:bodyPr wrap="square" lIns="0" tIns="0" rIns="0" bIns="0" rtlCol="0" anchor="ctr"/>
          <a:lstStyle/>
          <a:p>
            <a:pPr marL="0" indent="0">
              <a:lnSpc>
                <a:spcPct val="120000"/>
              </a:lnSpc>
              <a:buNone/>
            </a:pPr>
            <a:r>
              <a:rPr lang="en-US" sz="1400" dirty="0">
                <a:solidFill>
                  <a:srgbClr val="4F637B"/>
                </a:solidFill>
                <a:latin typeface="Calibri" pitchFamily="34" charset="0"/>
                <a:ea typeface="Calibri" pitchFamily="34" charset="-122"/>
                <a:cs typeface="Calibri" pitchFamily="34" charset="-120"/>
              </a:rPr>
              <a:t>Query đến từ một phương thức, Key và Value đến từ phương thức khác. Trong VQA: token câu hỏi làm query “hỏi” các vùng ảnh (key/value) — liên kết chữ “fracture?” với đúng vùng xương gãy trong ảnh.</a:t>
            </a:r>
            <a:endParaRPr lang="en-US" sz="1400" dirty="0"/>
          </a:p>
        </p:txBody>
      </p:sp>
      <p:sp>
        <p:nvSpPr>
          <p:cNvPr id="16" name="Shape 13"/>
          <p:cNvSpPr/>
          <p:nvPr/>
        </p:nvSpPr>
        <p:spPr>
          <a:xfrm>
            <a:off x="566928" y="4462272"/>
            <a:ext cx="11057839" cy="1389888"/>
          </a:xfrm>
          <a:prstGeom prst="roundRect">
            <a:avLst>
              <a:gd name="adj" fmla="val 5921"/>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sz="1400"/>
          </a:p>
        </p:txBody>
      </p:sp>
      <p:sp>
        <p:nvSpPr>
          <p:cNvPr id="17" name="Text 14"/>
          <p:cNvSpPr/>
          <p:nvPr/>
        </p:nvSpPr>
        <p:spPr>
          <a:xfrm>
            <a:off x="841248" y="4645152"/>
            <a:ext cx="10509199" cy="1097280"/>
          </a:xfrm>
          <a:prstGeom prst="rect">
            <a:avLst/>
          </a:prstGeom>
          <a:noFill/>
          <a:ln/>
        </p:spPr>
        <p:txBody>
          <a:bodyPr wrap="square" lIns="0" tIns="0" rIns="0" bIns="0" rtlCol="0" anchor="ctr"/>
          <a:lstStyle/>
          <a:p>
            <a:pPr marL="0" indent="0">
              <a:lnSpc>
                <a:spcPct val="114000"/>
              </a:lnSpc>
              <a:buNone/>
            </a:pPr>
            <a:r>
              <a:rPr lang="en-US" sz="1400" b="1" dirty="0">
                <a:solidFill>
                  <a:srgbClr val="6B33C7"/>
                </a:solidFill>
                <a:latin typeface="Calibri" pitchFamily="34" charset="0"/>
                <a:ea typeface="Calibri" pitchFamily="34" charset="-122"/>
                <a:cs typeface="Calibri" pitchFamily="34" charset="-120"/>
              </a:rPr>
              <a:t>Vai trò trong bài toán ảnh–chữ:  </a:t>
            </a:r>
            <a:r>
              <a:rPr lang="en-US" sz="1400" dirty="0">
                <a:solidFill>
                  <a:srgbClr val="4F637B"/>
                </a:solidFill>
                <a:latin typeface="Calibri" pitchFamily="34" charset="0"/>
                <a:ea typeface="Calibri" pitchFamily="34" charset="-122"/>
                <a:cs typeface="Calibri" pitchFamily="34" charset="-120"/>
              </a:rPr>
              <a:t>attention và cross-attention nối từng thành phần của câu hỏi với vùng hoặc đối tượng liên quan trong ảnh — chính là bước “căn chỉnh” mà mô hình đa phương thức cần.  </a:t>
            </a:r>
            <a:endParaRPr lang="en-US" sz="1400" dirty="0"/>
          </a:p>
          <a:p>
            <a:pPr marL="0" indent="0">
              <a:lnSpc>
                <a:spcPct val="114000"/>
              </a:lnSpc>
              <a:buNone/>
            </a:pPr>
            <a:r>
              <a:rPr lang="en-US" sz="1400" b="1" dirty="0">
                <a:solidFill>
                  <a:srgbClr val="1466C0"/>
                </a:solidFill>
                <a:latin typeface="Calibri" pitchFamily="34" charset="0"/>
                <a:ea typeface="Calibri" pitchFamily="34" charset="-122"/>
                <a:cs typeface="Calibri" pitchFamily="34" charset="-120"/>
              </a:rPr>
              <a:t>Trong đề tài:  </a:t>
            </a:r>
            <a:r>
              <a:rPr lang="en-US" sz="1400" dirty="0">
                <a:solidFill>
                  <a:srgbClr val="4F637B"/>
                </a:solidFill>
                <a:latin typeface="Calibri" pitchFamily="34" charset="0"/>
                <a:ea typeface="Calibri" pitchFamily="34" charset="-122"/>
                <a:cs typeface="Calibri" pitchFamily="34" charset="-120"/>
              </a:rPr>
              <a:t>Q-Former dùng 16 learnable query + cross-attention rút 17 visual token giàu chi tiết từ bản đồ patch của CLIP, thay cho việc gộp cả ảnh thành một vector duy nhất.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10527487" y="237744"/>
            <a:ext cx="1097280" cy="589788"/>
          </a:xfrm>
          <a:prstGeom prst="rect">
            <a:avLst/>
          </a:prstGeom>
        </p:spPr>
      </p:pic>
      <p:sp>
        <p:nvSpPr>
          <p:cNvPr id="3" name="T3"/>
          <p:cNvSpPr/>
          <p:nvPr/>
        </p:nvSpPr>
        <p:spPr>
          <a:xfrm>
            <a:off x="566928" y="310896"/>
            <a:ext cx="9777679" cy="457200"/>
          </a:xfrm>
          <a:prstGeom prst="rect">
            <a:avLst/>
          </a:prstGeom>
          <a:noFill/>
          <a:ln/>
        </p:spPr>
        <p:txBody>
          <a:bodyPr wrap="square" lIns="0" tIns="0" rIns="0" bIns="0" rtlCol="0" anchor="ctr"/>
          <a:lstStyle/>
          <a:p>
            <a:pPr marL="0" indent="0" algn="l">
              <a:buNone/>
            </a:pPr>
            <a:r>
              <a:rPr lang="en-US" sz="1050" b="1" kern="0" spc="220" dirty="0">
                <a:solidFill>
                  <a:srgbClr val="1466C0"/>
                </a:solidFill>
                <a:latin typeface="Calibri" pitchFamily="34" charset="0"/>
                <a:ea typeface="Calibri" pitchFamily="34" charset="-122"/>
                <a:cs typeface="Calibri" pitchFamily="34" charset="-120"/>
              </a:rPr>
              <a:t>PHẦN 2 · LÝ THUYẾT</a:t>
            </a:r>
            <a:endParaRPr lang="en-US" sz="1050" dirty="0"/>
          </a:p>
        </p:txBody>
      </p:sp>
      <p:sp>
        <p:nvSpPr>
          <p:cNvPr id="4" name="T4"/>
          <p:cNvSpPr/>
          <p:nvPr/>
        </p:nvSpPr>
        <p:spPr>
          <a:xfrm>
            <a:off x="566928" y="548640"/>
            <a:ext cx="9777679" cy="457200"/>
          </a:xfrm>
          <a:prstGeom prst="rect">
            <a:avLst/>
          </a:prstGeom>
          <a:noFill/>
          <a:ln/>
        </p:spPr>
        <p:txBody>
          <a:bodyPr wrap="square" lIns="0" tIns="0" rIns="0" bIns="0" rtlCol="0" anchor="ctr"/>
          <a:lstStyle/>
          <a:p>
            <a:pPr marL="0" indent="0" algn="l">
              <a:buNone/>
            </a:pPr>
            <a:r>
              <a:rPr lang="en-US" sz="2400" b="1" kern="0" spc="0" dirty="0">
                <a:solidFill>
                  <a:srgbClr val="14243A"/>
                </a:solidFill>
                <a:latin typeface="Calibri" pitchFamily="34" charset="0"/>
                <a:ea typeface="Calibri" pitchFamily="34" charset="-122"/>
                <a:cs typeface="Calibri" pitchFamily="34" charset="-120"/>
              </a:rPr>
              <a:t>Temporal Attention — trọng số cho từng từ trong câu hỏi</a:t>
            </a:r>
            <a:endParaRPr lang="en-US" sz="2400" dirty="0"/>
          </a:p>
        </p:txBody>
      </p:sp>
      <p:sp>
        <p:nvSpPr>
          <p:cNvPr id="5" name="T5"/>
          <p:cNvSpPr/>
          <p:nvPr/>
        </p:nvSpPr>
        <p:spPr>
          <a:xfrm>
            <a:off x="566929" y="1069848"/>
            <a:ext cx="7449312" cy="457200"/>
          </a:xfrm>
          <a:prstGeom prst="rect">
            <a:avLst/>
          </a:prstGeom>
          <a:noFill/>
          <a:ln/>
        </p:spPr>
        <p:txBody>
          <a:bodyPr wrap="square" lIns="0" tIns="0" rIns="0" bIns="0" rtlCol="0" anchor="ctr"/>
          <a:lstStyle/>
          <a:p>
            <a:pPr marL="0" indent="0" algn="l">
              <a:buNone/>
            </a:pPr>
            <a:r>
              <a:rPr lang="en-US" sz="1400" b="0" kern="0" spc="0" dirty="0">
                <a:solidFill>
                  <a:srgbClr val="5A6577"/>
                </a:solidFill>
                <a:latin typeface="Calibri" pitchFamily="34" charset="0"/>
                <a:ea typeface="Calibri" pitchFamily="34" charset="-122"/>
                <a:cs typeface="Calibri" pitchFamily="34" charset="-120"/>
              </a:rPr>
              <a:t>Thay vì chỉ lấy trạng thái ẩn cuối cùng, khối này cho mô hình tự chấm điểm mức quan trọng của từng token rồi lấy tổng có trọng số.</a:t>
            </a:r>
            <a:endParaRPr lang="en-US" sz="1400" dirty="0"/>
          </a:p>
        </p:txBody>
      </p:sp>
      <p:sp>
        <p:nvSpPr>
          <p:cNvPr id="8" name="C8"/>
          <p:cNvSpPr/>
          <p:nvPr/>
        </p:nvSpPr>
        <p:spPr>
          <a:xfrm>
            <a:off x="7870240" y="2582234"/>
            <a:ext cx="3548786" cy="589788"/>
          </a:xfrm>
          <a:prstGeom prst="roundRect">
            <a:avLst>
              <a:gd name="adj" fmla="val 7000"/>
            </a:avLst>
          </a:prstGeom>
          <a:solidFill>
            <a:srgbClr val="F4F8FC"/>
          </a:solidFill>
          <a:ln w="9525">
            <a:solidFill>
              <a:srgbClr val="D3DEEA"/>
            </a:solidFill>
          </a:ln>
        </p:spPr>
        <p:txBody>
          <a:bodyPr wrap="square" lIns="118872" tIns="91440" rIns="118872" bIns="91440" anchor="ctr"/>
          <a:lstStyle/>
          <a:p>
            <a:pPr marL="0" indent="0" algn="l">
              <a:buNone/>
            </a:pPr>
            <a:r>
              <a:rPr lang="en-US" sz="1000" b="1" dirty="0" err="1">
                <a:solidFill>
                  <a:srgbClr val="1466C0"/>
                </a:solidFill>
                <a:latin typeface="Calibri" pitchFamily="34" charset="0"/>
              </a:rPr>
              <a:t>Chấm</a:t>
            </a:r>
            <a:r>
              <a:rPr lang="en-US" sz="1000" b="1" dirty="0">
                <a:solidFill>
                  <a:srgbClr val="1466C0"/>
                </a:solidFill>
                <a:latin typeface="Calibri" pitchFamily="34" charset="0"/>
              </a:rPr>
              <a:t> </a:t>
            </a:r>
            <a:r>
              <a:rPr lang="en-US" sz="1000" b="1" dirty="0" err="1">
                <a:solidFill>
                  <a:srgbClr val="1466C0"/>
                </a:solidFill>
                <a:latin typeface="Calibri" pitchFamily="34" charset="0"/>
              </a:rPr>
              <a:t>điểm</a:t>
            </a:r>
            <a:r>
              <a:rPr lang="en-US" sz="950" b="0" dirty="0" err="1">
                <a:solidFill>
                  <a:srgbClr val="14243A"/>
                </a:solidFill>
                <a:latin typeface="Calibri" pitchFamily="34" charset="0"/>
              </a:rPr>
              <a:t>Linear</a:t>
            </a:r>
            <a:r>
              <a:rPr lang="en-US" sz="950" b="0" dirty="0">
                <a:solidFill>
                  <a:srgbClr val="14243A"/>
                </a:solidFill>
                <a:latin typeface="Calibri" pitchFamily="34" charset="0"/>
              </a:rPr>
              <a:t>(H→1) </a:t>
            </a:r>
            <a:r>
              <a:rPr lang="en-US" sz="950" b="0" dirty="0" err="1">
                <a:solidFill>
                  <a:srgbClr val="14243A"/>
                </a:solidFill>
                <a:latin typeface="Calibri" pitchFamily="34" charset="0"/>
              </a:rPr>
              <a:t>cho</a:t>
            </a:r>
            <a:r>
              <a:rPr lang="en-US" sz="950" b="0" dirty="0">
                <a:solidFill>
                  <a:srgbClr val="14243A"/>
                </a:solidFill>
                <a:latin typeface="Calibri" pitchFamily="34" charset="0"/>
              </a:rPr>
              <a:t> </a:t>
            </a:r>
            <a:r>
              <a:rPr lang="en-US" sz="950" b="0" dirty="0" err="1">
                <a:solidFill>
                  <a:srgbClr val="14243A"/>
                </a:solidFill>
                <a:latin typeface="Calibri" pitchFamily="34" charset="0"/>
              </a:rPr>
              <a:t>mỗi</a:t>
            </a:r>
            <a:r>
              <a:rPr lang="en-US" sz="950" b="0" dirty="0">
                <a:solidFill>
                  <a:srgbClr val="14243A"/>
                </a:solidFill>
                <a:latin typeface="Calibri" pitchFamily="34" charset="0"/>
              </a:rPr>
              <a:t> </a:t>
            </a:r>
            <a:r>
              <a:rPr lang="en-US" sz="950" b="0" dirty="0" err="1">
                <a:solidFill>
                  <a:srgbClr val="14243A"/>
                </a:solidFill>
                <a:latin typeface="Calibri" pitchFamily="34" charset="0"/>
              </a:rPr>
              <a:t>bước</a:t>
            </a:r>
            <a:r>
              <a:rPr lang="en-US" sz="950" b="0" dirty="0">
                <a:solidFill>
                  <a:srgbClr val="14243A"/>
                </a:solidFill>
                <a:latin typeface="Calibri" pitchFamily="34" charset="0"/>
              </a:rPr>
              <a:t> </a:t>
            </a:r>
            <a:r>
              <a:rPr lang="en-US" sz="950" b="0" dirty="0" err="1">
                <a:solidFill>
                  <a:srgbClr val="14243A"/>
                </a:solidFill>
                <a:latin typeface="Calibri" pitchFamily="34" charset="0"/>
              </a:rPr>
              <a:t>thời</a:t>
            </a:r>
            <a:r>
              <a:rPr lang="en-US" sz="950" b="0" dirty="0">
                <a:solidFill>
                  <a:srgbClr val="14243A"/>
                </a:solidFill>
                <a:latin typeface="Calibri" pitchFamily="34" charset="0"/>
              </a:rPr>
              <a:t> </a:t>
            </a:r>
            <a:r>
              <a:rPr lang="en-US" sz="950" b="0" dirty="0" err="1">
                <a:solidFill>
                  <a:srgbClr val="14243A"/>
                </a:solidFill>
                <a:latin typeface="Calibri" pitchFamily="34" charset="0"/>
              </a:rPr>
              <a:t>gian</a:t>
            </a:r>
            <a:r>
              <a:rPr lang="en-US" sz="950" b="0" dirty="0">
                <a:solidFill>
                  <a:srgbClr val="14243A"/>
                </a:solidFill>
                <a:latin typeface="Calibri" pitchFamily="34" charset="0"/>
              </a:rPr>
              <a:t> </a:t>
            </a:r>
            <a:r>
              <a:rPr lang="en-US" sz="950" b="0" dirty="0" err="1">
                <a:solidFill>
                  <a:srgbClr val="14243A"/>
                </a:solidFill>
                <a:latin typeface="Calibri" pitchFamily="34" charset="0"/>
              </a:rPr>
              <a:t>một</a:t>
            </a:r>
            <a:r>
              <a:rPr lang="en-US" sz="950" b="0" dirty="0">
                <a:solidFill>
                  <a:srgbClr val="14243A"/>
                </a:solidFill>
                <a:latin typeface="Calibri" pitchFamily="34" charset="0"/>
              </a:rPr>
              <a:t> </a:t>
            </a:r>
            <a:r>
              <a:rPr lang="en-US" sz="950" b="0" dirty="0" err="1">
                <a:solidFill>
                  <a:srgbClr val="14243A"/>
                </a:solidFill>
                <a:latin typeface="Calibri" pitchFamily="34" charset="0"/>
              </a:rPr>
              <a:t>điểm</a:t>
            </a:r>
            <a:r>
              <a:rPr lang="en-US" sz="950" b="0" dirty="0">
                <a:solidFill>
                  <a:srgbClr val="14243A"/>
                </a:solidFill>
                <a:latin typeface="Calibri" pitchFamily="34" charset="0"/>
              </a:rPr>
              <a:t> </a:t>
            </a:r>
            <a:r>
              <a:rPr lang="en-US" sz="950" b="0" dirty="0" err="1">
                <a:solidFill>
                  <a:srgbClr val="14243A"/>
                </a:solidFill>
                <a:latin typeface="Calibri" pitchFamily="34" charset="0"/>
              </a:rPr>
              <a:t>số</a:t>
            </a:r>
            <a:r>
              <a:rPr lang="en-US" sz="950" b="0" dirty="0">
                <a:solidFill>
                  <a:srgbClr val="14243A"/>
                </a:solidFill>
                <a:latin typeface="Calibri" pitchFamily="34" charset="0"/>
              </a:rPr>
              <a:t>, </a:t>
            </a:r>
            <a:r>
              <a:rPr lang="en-US" sz="950" b="0" dirty="0" err="1">
                <a:solidFill>
                  <a:srgbClr val="14243A"/>
                </a:solidFill>
                <a:latin typeface="Calibri" pitchFamily="34" charset="0"/>
              </a:rPr>
              <a:t>thu</a:t>
            </a:r>
            <a:r>
              <a:rPr lang="en-US" sz="950" b="0" dirty="0">
                <a:solidFill>
                  <a:srgbClr val="14243A"/>
                </a:solidFill>
                <a:latin typeface="Calibri" pitchFamily="34" charset="0"/>
              </a:rPr>
              <a:t> </a:t>
            </a:r>
            <a:r>
              <a:rPr lang="en-US" sz="950" b="0" dirty="0" err="1">
                <a:solidFill>
                  <a:srgbClr val="14243A"/>
                </a:solidFill>
                <a:latin typeface="Calibri" pitchFamily="34" charset="0"/>
              </a:rPr>
              <a:t>về</a:t>
            </a:r>
            <a:r>
              <a:rPr lang="en-US" sz="950" b="0" dirty="0">
                <a:solidFill>
                  <a:srgbClr val="14243A"/>
                </a:solidFill>
                <a:latin typeface="Calibri" pitchFamily="34" charset="0"/>
              </a:rPr>
              <a:t> scores [B,T]</a:t>
            </a:r>
            <a:endParaRPr lang="en-US" sz="950" dirty="0"/>
          </a:p>
        </p:txBody>
      </p:sp>
      <p:sp>
        <p:nvSpPr>
          <p:cNvPr id="9" name="C9"/>
          <p:cNvSpPr/>
          <p:nvPr/>
        </p:nvSpPr>
        <p:spPr>
          <a:xfrm>
            <a:off x="7870240" y="3576644"/>
            <a:ext cx="3548786" cy="749440"/>
          </a:xfrm>
          <a:prstGeom prst="roundRect">
            <a:avLst>
              <a:gd name="adj" fmla="val 7000"/>
            </a:avLst>
          </a:prstGeom>
          <a:solidFill>
            <a:srgbClr val="F4F8FC"/>
          </a:solidFill>
          <a:ln w="9525">
            <a:solidFill>
              <a:srgbClr val="D3DEEA"/>
            </a:solidFill>
          </a:ln>
        </p:spPr>
        <p:txBody>
          <a:bodyPr wrap="square" lIns="118872" tIns="91440" rIns="118872" bIns="91440" anchor="ctr"/>
          <a:lstStyle/>
          <a:p>
            <a:pPr marL="0" indent="0" algn="l">
              <a:buNone/>
            </a:pPr>
            <a:r>
              <a:rPr lang="en-US" sz="1000" b="1" dirty="0" err="1">
                <a:solidFill>
                  <a:srgbClr val="1466C0"/>
                </a:solidFill>
                <a:latin typeface="Calibri" pitchFamily="34" charset="0"/>
              </a:rPr>
              <a:t>Chuẩn</a:t>
            </a:r>
            <a:r>
              <a:rPr lang="en-US" sz="1000" b="1" dirty="0">
                <a:solidFill>
                  <a:srgbClr val="1466C0"/>
                </a:solidFill>
                <a:latin typeface="Calibri" pitchFamily="34" charset="0"/>
              </a:rPr>
              <a:t> hóa</a:t>
            </a:r>
          </a:p>
          <a:p>
            <a:pPr marL="0" indent="0" algn="l">
              <a:buNone/>
            </a:pPr>
            <a:r>
              <a:rPr lang="en-US" sz="950" b="0" dirty="0">
                <a:solidFill>
                  <a:srgbClr val="14243A"/>
                </a:solidFill>
                <a:latin typeface="Calibri" pitchFamily="34" charset="0"/>
              </a:rPr>
              <a:t>Che token PAD </a:t>
            </a:r>
            <a:r>
              <a:rPr lang="en-US" sz="950" b="0" dirty="0" err="1">
                <a:solidFill>
                  <a:srgbClr val="14243A"/>
                </a:solidFill>
                <a:latin typeface="Calibri" pitchFamily="34" charset="0"/>
              </a:rPr>
              <a:t>rồi</a:t>
            </a:r>
            <a:r>
              <a:rPr lang="en-US" sz="950" b="0" dirty="0">
                <a:solidFill>
                  <a:srgbClr val="14243A"/>
                </a:solidFill>
                <a:latin typeface="Calibri" pitchFamily="34" charset="0"/>
              </a:rPr>
              <a:t> </a:t>
            </a:r>
            <a:r>
              <a:rPr lang="en-US" sz="950" b="0" dirty="0" err="1">
                <a:solidFill>
                  <a:srgbClr val="14243A"/>
                </a:solidFill>
                <a:latin typeface="Calibri" pitchFamily="34" charset="0"/>
              </a:rPr>
              <a:t>softmax</a:t>
            </a:r>
            <a:r>
              <a:rPr lang="en-US" sz="950" b="0" dirty="0">
                <a:solidFill>
                  <a:srgbClr val="14243A"/>
                </a:solidFill>
                <a:latin typeface="Calibri" pitchFamily="34" charset="0"/>
              </a:rPr>
              <a:t> → αt </a:t>
            </a:r>
            <a:r>
              <a:rPr lang="en-US" sz="950" b="0" dirty="0" err="1">
                <a:solidFill>
                  <a:srgbClr val="14243A"/>
                </a:solidFill>
                <a:latin typeface="Calibri" pitchFamily="34" charset="0"/>
              </a:rPr>
              <a:t>tổng</a:t>
            </a:r>
            <a:r>
              <a:rPr lang="en-US" sz="950" b="0" dirty="0">
                <a:solidFill>
                  <a:srgbClr val="14243A"/>
                </a:solidFill>
                <a:latin typeface="Calibri" pitchFamily="34" charset="0"/>
              </a:rPr>
              <a:t> </a:t>
            </a:r>
            <a:r>
              <a:rPr lang="en-US" sz="950" b="0" dirty="0" err="1">
                <a:solidFill>
                  <a:srgbClr val="14243A"/>
                </a:solidFill>
                <a:latin typeface="Calibri" pitchFamily="34" charset="0"/>
              </a:rPr>
              <a:t>bằng</a:t>
            </a:r>
            <a:r>
              <a:rPr lang="en-US" sz="950" b="0" dirty="0">
                <a:solidFill>
                  <a:srgbClr val="14243A"/>
                </a:solidFill>
                <a:latin typeface="Calibri" pitchFamily="34" charset="0"/>
              </a:rPr>
              <a:t> 1, </a:t>
            </a:r>
            <a:r>
              <a:rPr lang="en-US" sz="950" b="0" dirty="0" err="1">
                <a:solidFill>
                  <a:srgbClr val="14243A"/>
                </a:solidFill>
                <a:latin typeface="Calibri" pitchFamily="34" charset="0"/>
              </a:rPr>
              <a:t>không</a:t>
            </a:r>
            <a:r>
              <a:rPr lang="en-US" sz="950" b="0" dirty="0">
                <a:solidFill>
                  <a:srgbClr val="14243A"/>
                </a:solidFill>
                <a:latin typeface="Calibri" pitchFamily="34" charset="0"/>
              </a:rPr>
              <a:t> </a:t>
            </a:r>
            <a:r>
              <a:rPr lang="en-US" sz="950" b="0" dirty="0" err="1">
                <a:solidFill>
                  <a:srgbClr val="14243A"/>
                </a:solidFill>
                <a:latin typeface="Calibri" pitchFamily="34" charset="0"/>
              </a:rPr>
              <a:t>để</a:t>
            </a:r>
            <a:r>
              <a:rPr lang="en-US" sz="950" b="0" dirty="0">
                <a:solidFill>
                  <a:srgbClr val="14243A"/>
                </a:solidFill>
                <a:latin typeface="Calibri" pitchFamily="34" charset="0"/>
              </a:rPr>
              <a:t> token </a:t>
            </a:r>
            <a:r>
              <a:rPr lang="en-US" sz="950" b="0" dirty="0" err="1">
                <a:solidFill>
                  <a:srgbClr val="14243A"/>
                </a:solidFill>
                <a:latin typeface="Calibri" pitchFamily="34" charset="0"/>
              </a:rPr>
              <a:t>đệm</a:t>
            </a:r>
            <a:r>
              <a:rPr lang="en-US" sz="950" b="0" dirty="0">
                <a:solidFill>
                  <a:srgbClr val="14243A"/>
                </a:solidFill>
                <a:latin typeface="Calibri" pitchFamily="34" charset="0"/>
              </a:rPr>
              <a:t> </a:t>
            </a:r>
            <a:r>
              <a:rPr lang="en-US" sz="950" b="0" dirty="0" err="1">
                <a:solidFill>
                  <a:srgbClr val="14243A"/>
                </a:solidFill>
                <a:latin typeface="Calibri" pitchFamily="34" charset="0"/>
              </a:rPr>
              <a:t>nhiễu</a:t>
            </a:r>
            <a:r>
              <a:rPr lang="en-US" sz="950" b="0" dirty="0">
                <a:solidFill>
                  <a:srgbClr val="14243A"/>
                </a:solidFill>
                <a:latin typeface="Calibri" pitchFamily="34" charset="0"/>
              </a:rPr>
              <a:t> </a:t>
            </a:r>
            <a:r>
              <a:rPr lang="en-US" sz="950" b="0" dirty="0" err="1">
                <a:solidFill>
                  <a:srgbClr val="14243A"/>
                </a:solidFill>
                <a:latin typeface="Calibri" pitchFamily="34" charset="0"/>
              </a:rPr>
              <a:t>kết</a:t>
            </a:r>
            <a:r>
              <a:rPr lang="en-US" sz="950" b="0" dirty="0">
                <a:solidFill>
                  <a:srgbClr val="14243A"/>
                </a:solidFill>
                <a:latin typeface="Calibri" pitchFamily="34" charset="0"/>
              </a:rPr>
              <a:t> </a:t>
            </a:r>
            <a:r>
              <a:rPr lang="en-US" sz="950" b="0" dirty="0" err="1">
                <a:solidFill>
                  <a:srgbClr val="14243A"/>
                </a:solidFill>
                <a:latin typeface="Calibri" pitchFamily="34" charset="0"/>
              </a:rPr>
              <a:t>quả</a:t>
            </a:r>
            <a:endParaRPr lang="en-US" sz="950" dirty="0"/>
          </a:p>
        </p:txBody>
      </p:sp>
      <p:sp>
        <p:nvSpPr>
          <p:cNvPr id="10" name="C10"/>
          <p:cNvSpPr/>
          <p:nvPr/>
        </p:nvSpPr>
        <p:spPr>
          <a:xfrm>
            <a:off x="7870240" y="4564748"/>
            <a:ext cx="3548786" cy="686956"/>
          </a:xfrm>
          <a:prstGeom prst="roundRect">
            <a:avLst>
              <a:gd name="adj" fmla="val 7000"/>
            </a:avLst>
          </a:prstGeom>
          <a:solidFill>
            <a:srgbClr val="F4F8FC"/>
          </a:solidFill>
          <a:ln w="9525">
            <a:solidFill>
              <a:srgbClr val="D3DEEA"/>
            </a:solidFill>
          </a:ln>
        </p:spPr>
        <p:txBody>
          <a:bodyPr wrap="square" lIns="118872" tIns="91440" rIns="118872" bIns="91440" anchor="ctr"/>
          <a:lstStyle/>
          <a:p>
            <a:pPr marL="0" indent="0" algn="l">
              <a:buNone/>
            </a:pPr>
            <a:r>
              <a:rPr lang="en-US" sz="1000" b="1" dirty="0">
                <a:solidFill>
                  <a:srgbClr val="1466C0"/>
                </a:solidFill>
                <a:latin typeface="Calibri" pitchFamily="34" charset="0"/>
              </a:rPr>
              <a:t>Tổng hợp</a:t>
            </a:r>
          </a:p>
          <a:p>
            <a:pPr marL="0" indent="0" algn="l">
              <a:buNone/>
            </a:pPr>
            <a:r>
              <a:rPr lang="en-US" sz="950" b="0" dirty="0">
                <a:solidFill>
                  <a:srgbClr val="14243A"/>
                </a:solidFill>
                <a:latin typeface="Calibri" pitchFamily="34" charset="0"/>
              </a:rPr>
              <a:t>context = Σ αt · ht. Bonus: αt đọc được, cho biết mô hình chú ý vào từ nào</a:t>
            </a:r>
            <a:endParaRPr lang="en-US" sz="950"/>
          </a:p>
        </p:txBody>
      </p:sp>
      <p:pic>
        <p:nvPicPr>
          <p:cNvPr id="12" name="Picture 11">
            <a:extLst>
              <a:ext uri="{FF2B5EF4-FFF2-40B4-BE49-F238E27FC236}">
                <a16:creationId xmlns:a16="http://schemas.microsoft.com/office/drawing/2014/main" id="{D3BBB72D-3F41-E0D1-C978-659C9136115D}"/>
              </a:ext>
            </a:extLst>
          </p:cNvPr>
          <p:cNvPicPr>
            <a:picLocks noChangeAspect="1"/>
          </p:cNvPicPr>
          <p:nvPr/>
        </p:nvPicPr>
        <p:blipFill>
          <a:blip r:embed="rId4"/>
          <a:srcRect r="5269"/>
          <a:stretch>
            <a:fillRect/>
          </a:stretch>
        </p:blipFill>
        <p:spPr>
          <a:xfrm>
            <a:off x="152399" y="1591056"/>
            <a:ext cx="7612481" cy="452018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2 · LÝ THUYẾT</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CNN — trích đặc trưng hình ảnh</a:t>
            </a:r>
            <a:endParaRPr lang="en-US" sz="2900" dirty="0"/>
          </a:p>
        </p:txBody>
      </p:sp>
      <p:sp>
        <p:nvSpPr>
          <p:cNvPr id="5" name="Shape 2"/>
          <p:cNvSpPr/>
          <p:nvPr/>
        </p:nvSpPr>
        <p:spPr>
          <a:xfrm>
            <a:off x="566928" y="1426464"/>
            <a:ext cx="5394960" cy="3794760"/>
          </a:xfrm>
          <a:prstGeom prst="roundRect">
            <a:avLst>
              <a:gd name="adj" fmla="val 2169"/>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6" name="Shape 3"/>
          <p:cNvSpPr/>
          <p:nvPr/>
        </p:nvSpPr>
        <p:spPr>
          <a:xfrm>
            <a:off x="822960" y="1645920"/>
            <a:ext cx="329184" cy="329184"/>
          </a:xfrm>
          <a:prstGeom prst="ellipse">
            <a:avLst/>
          </a:prstGeom>
          <a:solidFill>
            <a:srgbClr val="1466C0"/>
          </a:solidFill>
          <a:ln/>
        </p:spPr>
        <p:txBody>
          <a:bodyPr/>
          <a:lstStyle/>
          <a:p>
            <a:endParaRPr lang="en-US"/>
          </a:p>
        </p:txBody>
      </p:sp>
      <p:sp>
        <p:nvSpPr>
          <p:cNvPr id="7" name="Text 4"/>
          <p:cNvSpPr/>
          <p:nvPr/>
        </p:nvSpPr>
        <p:spPr>
          <a:xfrm>
            <a:off x="822960" y="164592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1280160" y="1627632"/>
            <a:ext cx="448056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Nguyên lý</a:t>
            </a:r>
            <a:endParaRPr lang="en-US" sz="1450" dirty="0"/>
          </a:p>
        </p:txBody>
      </p:sp>
      <p:sp>
        <p:nvSpPr>
          <p:cNvPr id="9" name="Text 6"/>
          <p:cNvSpPr/>
          <p:nvPr/>
        </p:nvSpPr>
        <p:spPr>
          <a:xfrm>
            <a:off x="822960" y="2139696"/>
            <a:ext cx="4937760" cy="292608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rgbClr val="4F637B"/>
                </a:solidFill>
                <a:latin typeface="Calibri" pitchFamily="34" charset="0"/>
                <a:ea typeface="Calibri" pitchFamily="34" charset="-122"/>
                <a:cs typeface="Calibri" pitchFamily="34" charset="-120"/>
              </a:rPr>
              <a:t>Bộ lọc tích chập (kernel) trượt khắp ảnh, dùng chung trọng số, phát hiện đặc trưng cục bộ như cạnh, góc, texture.</a:t>
            </a:r>
            <a:endParaRPr lang="en-US" sz="1200" dirty="0"/>
          </a:p>
          <a:p>
            <a:pPr marL="342900" indent="-342900">
              <a:spcAft>
                <a:spcPts val="1000"/>
              </a:spcAft>
              <a:buSzPct val="100000"/>
              <a:buChar char="•"/>
            </a:pPr>
            <a:r>
              <a:rPr lang="en-US" sz="1200" dirty="0">
                <a:solidFill>
                  <a:srgbClr val="4F637B"/>
                </a:solidFill>
                <a:latin typeface="Calibri" pitchFamily="34" charset="0"/>
                <a:ea typeface="Calibri" pitchFamily="34" charset="-122"/>
                <a:cs typeface="Calibri" pitchFamily="34" charset="-120"/>
              </a:rPr>
              <a:t>Lớp pooling giảm kích thước và tạo bất biến với dịch chuyển nhỏ.</a:t>
            </a:r>
            <a:endParaRPr lang="en-US" sz="1200" dirty="0"/>
          </a:p>
          <a:p>
            <a:pPr marL="342900" indent="-342900">
              <a:spcAft>
                <a:spcPts val="1000"/>
              </a:spcAft>
              <a:buSzPct val="100000"/>
              <a:buChar char="•"/>
            </a:pPr>
            <a:r>
              <a:rPr lang="en-US" sz="1200" dirty="0">
                <a:solidFill>
                  <a:srgbClr val="4F637B"/>
                </a:solidFill>
                <a:latin typeface="Calibri" pitchFamily="34" charset="0"/>
                <a:ea typeface="Calibri" pitchFamily="34" charset="-122"/>
                <a:cs typeface="Calibri" pitchFamily="34" charset="-120"/>
              </a:rPr>
              <a:t>Xếp nhiều tầng → học đặc trưng phân cấp: cạnh → texture → bộ phận → đối tượng.</a:t>
            </a:r>
            <a:endParaRPr lang="en-US" sz="1200" dirty="0"/>
          </a:p>
          <a:p>
            <a:pPr marL="342900" indent="-342900">
              <a:spcAft>
                <a:spcPts val="1000"/>
              </a:spcAft>
              <a:buSzPct val="100000"/>
              <a:buChar char="•"/>
            </a:pPr>
            <a:r>
              <a:rPr lang="en-US" sz="1200" dirty="0">
                <a:solidFill>
                  <a:srgbClr val="4F637B"/>
                </a:solidFill>
                <a:latin typeface="Calibri" pitchFamily="34" charset="0"/>
                <a:ea typeface="Calibri" pitchFamily="34" charset="-122"/>
                <a:cs typeface="Calibri" pitchFamily="34" charset="-120"/>
              </a:rPr>
              <a:t>Cảm hứng: LeNet/VGG, cùng BatchNorm cho ổn định; ResNet thêm kết nối tắt cho mạng rất sâu.</a:t>
            </a:r>
            <a:endParaRPr lang="en-US" sz="1200" dirty="0"/>
          </a:p>
        </p:txBody>
      </p:sp>
      <p:sp>
        <p:nvSpPr>
          <p:cNvPr id="10" name="Shape 7"/>
          <p:cNvSpPr/>
          <p:nvPr/>
        </p:nvSpPr>
        <p:spPr>
          <a:xfrm>
            <a:off x="6236208" y="1426464"/>
            <a:ext cx="5394960" cy="3794760"/>
          </a:xfrm>
          <a:prstGeom prst="roundRect">
            <a:avLst>
              <a:gd name="adj" fmla="val 2169"/>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1" name="Shape 8"/>
          <p:cNvSpPr/>
          <p:nvPr/>
        </p:nvSpPr>
        <p:spPr>
          <a:xfrm>
            <a:off x="6492240" y="1645920"/>
            <a:ext cx="329184" cy="329184"/>
          </a:xfrm>
          <a:prstGeom prst="ellipse">
            <a:avLst/>
          </a:prstGeom>
          <a:solidFill>
            <a:srgbClr val="1466C0"/>
          </a:solidFill>
          <a:ln/>
        </p:spPr>
        <p:txBody>
          <a:bodyPr/>
          <a:lstStyle/>
          <a:p>
            <a:endParaRPr lang="en-US"/>
          </a:p>
        </p:txBody>
      </p:sp>
      <p:sp>
        <p:nvSpPr>
          <p:cNvPr id="12" name="Text 9"/>
          <p:cNvSpPr/>
          <p:nvPr/>
        </p:nvSpPr>
        <p:spPr>
          <a:xfrm>
            <a:off x="6492240" y="164592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6949440" y="1627632"/>
            <a:ext cx="448056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Ưu điểm · Hạn chế · Vai trò</a:t>
            </a:r>
            <a:endParaRPr lang="en-US" sz="1450" dirty="0"/>
          </a:p>
        </p:txBody>
      </p:sp>
      <p:sp>
        <p:nvSpPr>
          <p:cNvPr id="14" name="Text 11"/>
          <p:cNvSpPr/>
          <p:nvPr/>
        </p:nvSpPr>
        <p:spPr>
          <a:xfrm>
            <a:off x="6492240" y="2212848"/>
            <a:ext cx="4937760" cy="2834640"/>
          </a:xfrm>
          <a:prstGeom prst="rect">
            <a:avLst/>
          </a:prstGeom>
          <a:noFill/>
          <a:ln/>
        </p:spPr>
        <p:txBody>
          <a:bodyPr wrap="square" lIns="0" tIns="0" rIns="0" bIns="0" rtlCol="0" anchor="ctr"/>
          <a:lstStyle/>
          <a:p>
            <a:pPr marL="0" indent="0">
              <a:lnSpc>
                <a:spcPct val="120000"/>
              </a:lnSpc>
              <a:buNone/>
            </a:pPr>
            <a:r>
              <a:rPr lang="en-US" sz="1200" b="1" dirty="0">
                <a:solidFill>
                  <a:srgbClr val="0B8457"/>
                </a:solidFill>
                <a:latin typeface="Calibri" pitchFamily="34" charset="0"/>
                <a:ea typeface="Calibri" pitchFamily="34" charset="-122"/>
                <a:cs typeface="Calibri" pitchFamily="34" charset="-120"/>
              </a:rPr>
              <a:t>Ưu điểm.  </a:t>
            </a:r>
            <a:r>
              <a:rPr lang="en-US" sz="1200" dirty="0">
                <a:solidFill>
                  <a:srgbClr val="4F637B"/>
                </a:solidFill>
                <a:latin typeface="Calibri" pitchFamily="34" charset="0"/>
                <a:ea typeface="Calibri" pitchFamily="34" charset="-122"/>
                <a:cs typeface="Calibri" pitchFamily="34" charset="-120"/>
              </a:rPr>
              <a:t>Bất biến tịnh tiến; hiệu quả tham số nhờ chia sẻ trọng số; nắm cấu trúc không gian rất tốt.</a:t>
            </a:r>
            <a:endParaRPr lang="en-US" sz="1200" dirty="0"/>
          </a:p>
          <a:p>
            <a:pPr marL="0" indent="0">
              <a:lnSpc>
                <a:spcPct val="120000"/>
              </a:lnSpc>
              <a:buNone/>
            </a:pPr>
            <a:r>
              <a:rPr lang="en-US" sz="1200" b="1" dirty="0">
                <a:solidFill>
                  <a:srgbClr val="B26A00"/>
                </a:solidFill>
                <a:latin typeface="Calibri" pitchFamily="34" charset="0"/>
                <a:ea typeface="Calibri" pitchFamily="34" charset="-122"/>
                <a:cs typeface="Calibri" pitchFamily="34" charset="-120"/>
              </a:rPr>
              <a:t>Hạn chế.  </a:t>
            </a:r>
            <a:r>
              <a:rPr lang="en-US" sz="1200" dirty="0">
                <a:solidFill>
                  <a:srgbClr val="4F637B"/>
                </a:solidFill>
                <a:latin typeface="Calibri" pitchFamily="34" charset="0"/>
                <a:ea typeface="Calibri" pitchFamily="34" charset="-122"/>
                <a:cs typeface="Calibri" pitchFamily="34" charset="-120"/>
              </a:rPr>
              <a:t>Trường tiếp nhận cục bộ, khó quan hệ toàn cục xa; cần nhiều dữ liệu; không hợp với dữ liệu chuỗi.</a:t>
            </a:r>
            <a:endParaRPr lang="en-US" sz="1200" dirty="0"/>
          </a:p>
          <a:p>
            <a:pPr marL="0" indent="0">
              <a:lnSpc>
                <a:spcPct val="120000"/>
              </a:lnSpc>
              <a:buNone/>
            </a:pPr>
            <a:r>
              <a:rPr lang="en-US" sz="1200" b="1" dirty="0">
                <a:solidFill>
                  <a:srgbClr val="1466C0"/>
                </a:solidFill>
                <a:latin typeface="Calibri" pitchFamily="34" charset="0"/>
                <a:ea typeface="Calibri" pitchFamily="34" charset="-122"/>
                <a:cs typeface="Calibri" pitchFamily="34" charset="-120"/>
              </a:rPr>
              <a:t>Vai trò trong đề tài.  </a:t>
            </a:r>
            <a:r>
              <a:rPr lang="en-US" sz="1200" dirty="0">
                <a:solidFill>
                  <a:srgbClr val="4F637B"/>
                </a:solidFill>
                <a:latin typeface="Calibri" pitchFamily="34" charset="0"/>
                <a:ea typeface="Calibri" pitchFamily="34" charset="-122"/>
                <a:cs typeface="Calibri" pitchFamily="34" charset="-120"/>
              </a:rPr>
              <a:t>Trích đặc trưng ảnh ở mọi nhánh — CustomCNN (nhóm A1/A2), ResNet-18 đóng băng (nhóm P), và vision encoder của PubMedCLIP.</a:t>
            </a:r>
            <a:endParaRPr lang="en-US" sz="1200" dirty="0"/>
          </a:p>
        </p:txBody>
      </p:sp>
      <p:sp>
        <p:nvSpPr>
          <p:cNvPr id="920" name="BandBox"/>
          <p:cNvSpPr/>
          <p:nvPr/>
        </p:nvSpPr>
        <p:spPr>
          <a:xfrm>
            <a:off x="566928" y="5426964"/>
            <a:ext cx="11057839" cy="1156716"/>
          </a:xfrm>
          <a:prstGeom prst="roundRect">
            <a:avLst>
              <a:gd name="adj" fmla="val 8000"/>
            </a:avLst>
          </a:prstGeom>
          <a:solidFill>
            <a:srgbClr val="EEF4FB"/>
          </a:solidFill>
          <a:ln w="9525">
            <a:solidFill>
              <a:srgbClr val="C7D9EC"/>
            </a:solidFill>
          </a:ln>
        </p:spPr>
        <p:txBody>
          <a:bodyPr/>
          <a:lstStyle/>
          <a:p>
            <a:endParaRPr lang="en-US" sz="900"/>
          </a:p>
        </p:txBody>
      </p:sp>
      <p:sp>
        <p:nvSpPr>
          <p:cNvPr id="921" name="BandText"/>
          <p:cNvSpPr/>
          <p:nvPr/>
        </p:nvSpPr>
        <p:spPr>
          <a:xfrm>
            <a:off x="795528" y="5564124"/>
            <a:ext cx="10600639" cy="882396"/>
          </a:xfrm>
          <a:prstGeom prst="rect">
            <a:avLst/>
          </a:prstGeom>
          <a:noFill/>
          <a:ln/>
        </p:spPr>
        <p:txBody>
          <a:bodyPr wrap="square" lIns="0" tIns="0" rIns="0" bIns="0" rtlCol="0" anchor="ctr"/>
          <a:lstStyle/>
          <a:p>
            <a:pPr marL="0" indent="0">
              <a:buNone/>
            </a:pPr>
            <a:r>
              <a:rPr lang="en-US" sz="1000" b="1" dirty="0">
                <a:solidFill>
                  <a:srgbClr val="1466C0"/>
                </a:solidFill>
                <a:latin typeface="Calibri" pitchFamily="34" charset="0"/>
                <a:ea typeface="Calibri" pitchFamily="34" charset="-122"/>
                <a:cs typeface="Calibri" pitchFamily="34" charset="-120"/>
              </a:rPr>
              <a:t>Trong đề tài:  </a:t>
            </a:r>
            <a:r>
              <a:rPr lang="en-US" sz="1000" b="0" dirty="0">
                <a:solidFill>
                  <a:srgbClr val="14243A"/>
                </a:solidFill>
                <a:latin typeface="Calibri" pitchFamily="34" charset="0"/>
                <a:ea typeface="Calibri" pitchFamily="34" charset="-122"/>
                <a:cs typeface="Calibri" pitchFamily="34" charset="-120"/>
              </a:rPr>
              <a:t>CustomCNN: [B,3,224,224] → 3 khối Conv/BN/ReLU/MaxPool (3→32→64→128) → AvgPool + LayerNorm → v_img [B,128].  ·  ResNet-18 đóng băng → Linear(512→128).  ·  PubMedCLIP → Linear(768→128). Chi tiết luồng khối ở slide kế tiếp.</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10527487" y="237744"/>
            <a:ext cx="1097280" cy="589788"/>
          </a:xfrm>
          <a:prstGeom prst="rect">
            <a:avLst/>
          </a:prstGeom>
        </p:spPr>
      </p:pic>
      <p:sp>
        <p:nvSpPr>
          <p:cNvPr id="3" name="T3"/>
          <p:cNvSpPr/>
          <p:nvPr/>
        </p:nvSpPr>
        <p:spPr>
          <a:xfrm>
            <a:off x="566928" y="310896"/>
            <a:ext cx="9777679" cy="457200"/>
          </a:xfrm>
          <a:prstGeom prst="rect">
            <a:avLst/>
          </a:prstGeom>
          <a:noFill/>
          <a:ln/>
        </p:spPr>
        <p:txBody>
          <a:bodyPr wrap="square" lIns="0" tIns="0" rIns="0" bIns="0" rtlCol="0" anchor="ctr"/>
          <a:lstStyle/>
          <a:p>
            <a:pPr marL="0" indent="0" algn="l">
              <a:buNone/>
            </a:pPr>
            <a:r>
              <a:rPr lang="en-US" sz="1050" b="1" kern="0" spc="220" dirty="0">
                <a:solidFill>
                  <a:srgbClr val="1466C0"/>
                </a:solidFill>
                <a:latin typeface="Calibri" pitchFamily="34" charset="0"/>
                <a:ea typeface="Calibri" pitchFamily="34" charset="-122"/>
                <a:cs typeface="Calibri" pitchFamily="34" charset="-120"/>
              </a:rPr>
              <a:t>PHẦN 2 · LÝ THUYẾT</a:t>
            </a:r>
            <a:endParaRPr lang="en-US" sz="1050" dirty="0"/>
          </a:p>
        </p:txBody>
      </p:sp>
      <p:sp>
        <p:nvSpPr>
          <p:cNvPr id="4" name="T4"/>
          <p:cNvSpPr/>
          <p:nvPr/>
        </p:nvSpPr>
        <p:spPr>
          <a:xfrm>
            <a:off x="566928" y="548640"/>
            <a:ext cx="9777679" cy="457200"/>
          </a:xfrm>
          <a:prstGeom prst="rect">
            <a:avLst/>
          </a:prstGeom>
          <a:noFill/>
          <a:ln/>
        </p:spPr>
        <p:txBody>
          <a:bodyPr wrap="square" lIns="0" tIns="0" rIns="0" bIns="0" rtlCol="0" anchor="ctr"/>
          <a:lstStyle/>
          <a:p>
            <a:pPr marL="0" indent="0" algn="l">
              <a:buNone/>
            </a:pPr>
            <a:r>
              <a:rPr lang="en-US" sz="2400" b="1" kern="0" spc="0" dirty="0">
                <a:solidFill>
                  <a:srgbClr val="14243A"/>
                </a:solidFill>
                <a:latin typeface="Calibri" pitchFamily="34" charset="0"/>
                <a:ea typeface="Calibri" pitchFamily="34" charset="-122"/>
                <a:cs typeface="Calibri" pitchFamily="34" charset="-120"/>
              </a:rPr>
              <a:t>CustomCNN — luồng khối trích đặc trưng ảnh</a:t>
            </a:r>
            <a:endParaRPr lang="en-US" sz="2400" dirty="0"/>
          </a:p>
        </p:txBody>
      </p:sp>
      <p:sp>
        <p:nvSpPr>
          <p:cNvPr id="5" name="T5"/>
          <p:cNvSpPr/>
          <p:nvPr/>
        </p:nvSpPr>
        <p:spPr>
          <a:xfrm>
            <a:off x="566928" y="1069848"/>
            <a:ext cx="10870692" cy="457200"/>
          </a:xfrm>
          <a:prstGeom prst="rect">
            <a:avLst/>
          </a:prstGeom>
          <a:noFill/>
          <a:ln/>
        </p:spPr>
        <p:txBody>
          <a:bodyPr wrap="square" lIns="0" tIns="0" rIns="0" bIns="0" rtlCol="0" anchor="ctr"/>
          <a:lstStyle/>
          <a:p>
            <a:pPr marL="0" indent="0" algn="l">
              <a:buNone/>
            </a:pPr>
            <a:r>
              <a:rPr lang="en-US" sz="1400" b="0" kern="0" spc="0" dirty="0">
                <a:solidFill>
                  <a:srgbClr val="5A6577"/>
                </a:solidFill>
                <a:latin typeface="Calibri" pitchFamily="34" charset="0"/>
                <a:ea typeface="Calibri" pitchFamily="34" charset="-122"/>
                <a:cs typeface="Calibri" pitchFamily="34" charset="-120"/>
              </a:rPr>
              <a:t>Ba khối tích chập xếp chồng, mỗi khối giảm một nửa kích thước không gian và tăng gấp đôi số kênh. Đây là encoder ảnh tự viết dùng cho nhóm A1/A2.</a:t>
            </a:r>
            <a:endParaRPr lang="en-US" sz="1400" dirty="0"/>
          </a:p>
        </p:txBody>
      </p:sp>
      <p:sp>
        <p:nvSpPr>
          <p:cNvPr id="7" name="T7"/>
          <p:cNvSpPr/>
          <p:nvPr/>
        </p:nvSpPr>
        <p:spPr>
          <a:xfrm>
            <a:off x="566928" y="3907567"/>
            <a:ext cx="11057839" cy="457200"/>
          </a:xfrm>
          <a:prstGeom prst="rect">
            <a:avLst/>
          </a:prstGeom>
          <a:noFill/>
          <a:ln/>
        </p:spPr>
        <p:txBody>
          <a:bodyPr wrap="square" lIns="0" tIns="0" rIns="0" bIns="0" rtlCol="0" anchor="ctr"/>
          <a:lstStyle/>
          <a:p>
            <a:pPr marL="0" indent="0" algn="ctr">
              <a:buNone/>
            </a:pPr>
            <a:r>
              <a:rPr lang="en-US" sz="900" b="0" kern="0" spc="0" dirty="0">
                <a:solidFill>
                  <a:srgbClr val="6B7685"/>
                </a:solidFill>
                <a:latin typeface="Calibri" pitchFamily="34" charset="0"/>
                <a:ea typeface="Calibri" pitchFamily="34" charset="-122"/>
                <a:cs typeface="Calibri" pitchFamily="34" charset="-120"/>
              </a:rPr>
              <a:t>Mỗi khối: Conv → BatchNorm → ReLU → MaxPool</a:t>
            </a:r>
            <a:endParaRPr lang="en-US" sz="900" dirty="0"/>
          </a:p>
        </p:txBody>
      </p:sp>
      <p:sp>
        <p:nvSpPr>
          <p:cNvPr id="8" name="C8"/>
          <p:cNvSpPr/>
          <p:nvPr/>
        </p:nvSpPr>
        <p:spPr>
          <a:xfrm>
            <a:off x="566928" y="6035040"/>
            <a:ext cx="3548786" cy="548640"/>
          </a:xfrm>
          <a:prstGeom prst="roundRect">
            <a:avLst>
              <a:gd name="adj" fmla="val 7000"/>
            </a:avLst>
          </a:prstGeom>
          <a:solidFill>
            <a:srgbClr val="F4F8FC"/>
          </a:solidFill>
          <a:ln w="9525">
            <a:solidFill>
              <a:srgbClr val="D3DEEA"/>
            </a:solidFill>
          </a:ln>
        </p:spPr>
        <p:txBody>
          <a:bodyPr wrap="square" lIns="118872" tIns="91440" rIns="118872" bIns="91440" anchor="ctr"/>
          <a:lstStyle/>
          <a:p>
            <a:pPr marL="0" indent="0" algn="l">
              <a:buNone/>
            </a:pPr>
            <a:r>
              <a:rPr lang="en-US" sz="1000" b="1" dirty="0">
                <a:solidFill>
                  <a:srgbClr val="1466C0"/>
                </a:solidFill>
                <a:latin typeface="Calibri" pitchFamily="34" charset="0"/>
              </a:rPr>
              <a:t>Vì sao xếp tầng</a:t>
            </a:r>
          </a:p>
          <a:p>
            <a:pPr marL="0" indent="0" algn="l">
              <a:buNone/>
            </a:pPr>
            <a:r>
              <a:rPr lang="en-US" sz="950" b="0" dirty="0">
                <a:solidFill>
                  <a:srgbClr val="14243A"/>
                </a:solidFill>
                <a:latin typeface="Calibri" pitchFamily="34" charset="0"/>
              </a:rPr>
              <a:t>Học đặc trưng phân cấp: cạnh → texture → bộ phận → đối tượng</a:t>
            </a:r>
            <a:endParaRPr lang="en-US" sz="950" dirty="0"/>
          </a:p>
        </p:txBody>
      </p:sp>
      <p:sp>
        <p:nvSpPr>
          <p:cNvPr id="9" name="C9"/>
          <p:cNvSpPr/>
          <p:nvPr/>
        </p:nvSpPr>
        <p:spPr>
          <a:xfrm>
            <a:off x="4321454" y="6035040"/>
            <a:ext cx="3548786" cy="651440"/>
          </a:xfrm>
          <a:prstGeom prst="roundRect">
            <a:avLst>
              <a:gd name="adj" fmla="val 7000"/>
            </a:avLst>
          </a:prstGeom>
          <a:solidFill>
            <a:srgbClr val="F4F8FC"/>
          </a:solidFill>
          <a:ln w="9525">
            <a:solidFill>
              <a:srgbClr val="D3DEEA"/>
            </a:solidFill>
          </a:ln>
        </p:spPr>
        <p:txBody>
          <a:bodyPr wrap="square" lIns="118872" tIns="91440" rIns="118872" bIns="91440" anchor="ctr"/>
          <a:lstStyle/>
          <a:p>
            <a:pPr marL="0" indent="0" algn="l">
              <a:buNone/>
            </a:pPr>
            <a:r>
              <a:rPr lang="en-US" sz="1000" b="1" dirty="0">
                <a:solidFill>
                  <a:srgbClr val="1466C0"/>
                </a:solidFill>
                <a:latin typeface="Calibri" pitchFamily="34" charset="0"/>
              </a:rPr>
              <a:t>Vì sao BatchNorm</a:t>
            </a:r>
          </a:p>
          <a:p>
            <a:pPr marL="0" indent="0" algn="l">
              <a:buNone/>
            </a:pPr>
            <a:r>
              <a:rPr lang="en-US" sz="950" b="0" dirty="0">
                <a:solidFill>
                  <a:srgbClr val="14243A"/>
                </a:solidFill>
                <a:latin typeface="Calibri" pitchFamily="34" charset="0"/>
              </a:rPr>
              <a:t>Chuẩn hóa theo batch giúp hội tụ nhanh và ổn định hơn (Ioffe 2015)</a:t>
            </a:r>
            <a:endParaRPr lang="en-US" sz="950" dirty="0"/>
          </a:p>
        </p:txBody>
      </p:sp>
      <p:sp>
        <p:nvSpPr>
          <p:cNvPr id="10" name="C10"/>
          <p:cNvSpPr/>
          <p:nvPr/>
        </p:nvSpPr>
        <p:spPr>
          <a:xfrm>
            <a:off x="8075980" y="6035040"/>
            <a:ext cx="3548786" cy="624332"/>
          </a:xfrm>
          <a:prstGeom prst="roundRect">
            <a:avLst>
              <a:gd name="adj" fmla="val 7000"/>
            </a:avLst>
          </a:prstGeom>
          <a:solidFill>
            <a:srgbClr val="F4F8FC"/>
          </a:solidFill>
          <a:ln w="9525">
            <a:solidFill>
              <a:srgbClr val="D3DEEA"/>
            </a:solidFill>
          </a:ln>
        </p:spPr>
        <p:txBody>
          <a:bodyPr wrap="square" lIns="118872" tIns="91440" rIns="118872" bIns="91440" anchor="ctr"/>
          <a:lstStyle/>
          <a:p>
            <a:pPr marL="0" indent="0" algn="l">
              <a:buNone/>
            </a:pPr>
            <a:r>
              <a:rPr lang="en-US" sz="1000" b="1" dirty="0">
                <a:solidFill>
                  <a:srgbClr val="1466C0"/>
                </a:solidFill>
                <a:latin typeface="Calibri" pitchFamily="34" charset="0"/>
              </a:rPr>
              <a:t>Kết thúc nhánh</a:t>
            </a:r>
          </a:p>
          <a:p>
            <a:pPr marL="0" indent="0" algn="l">
              <a:buNone/>
            </a:pPr>
            <a:r>
              <a:rPr lang="en-US" sz="950" b="0" dirty="0">
                <a:solidFill>
                  <a:srgbClr val="14243A"/>
                </a:solidFill>
                <a:latin typeface="Calibri" pitchFamily="34" charset="0"/>
              </a:rPr>
              <a:t>AdaptiveAvgPool + LayerNorm nén [B,128,28,28] về vector v_img [B,128]</a:t>
            </a:r>
            <a:endParaRPr lang="en-US" sz="950" dirty="0"/>
          </a:p>
        </p:txBody>
      </p:sp>
      <p:pic>
        <p:nvPicPr>
          <p:cNvPr id="12" name="Picture 11">
            <a:extLst>
              <a:ext uri="{FF2B5EF4-FFF2-40B4-BE49-F238E27FC236}">
                <a16:creationId xmlns:a16="http://schemas.microsoft.com/office/drawing/2014/main" id="{039002EB-7CD9-C929-7686-46B95D2EC97F}"/>
              </a:ext>
            </a:extLst>
          </p:cNvPr>
          <p:cNvPicPr>
            <a:picLocks noChangeAspect="1"/>
          </p:cNvPicPr>
          <p:nvPr/>
        </p:nvPicPr>
        <p:blipFill>
          <a:blip r:embed="rId4"/>
          <a:srcRect t="33333"/>
          <a:stretch>
            <a:fillRect/>
          </a:stretch>
        </p:blipFill>
        <p:spPr>
          <a:xfrm>
            <a:off x="566928" y="1519885"/>
            <a:ext cx="11382047" cy="426826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10527487" y="237744"/>
            <a:ext cx="1097280" cy="589788"/>
          </a:xfrm>
          <a:prstGeom prst="rect">
            <a:avLst/>
          </a:prstGeom>
        </p:spPr>
      </p:pic>
      <p:sp>
        <p:nvSpPr>
          <p:cNvPr id="3" name="T3"/>
          <p:cNvSpPr/>
          <p:nvPr/>
        </p:nvSpPr>
        <p:spPr>
          <a:xfrm>
            <a:off x="566928" y="310896"/>
            <a:ext cx="9777679" cy="457200"/>
          </a:xfrm>
          <a:prstGeom prst="rect">
            <a:avLst/>
          </a:prstGeom>
          <a:noFill/>
          <a:ln/>
        </p:spPr>
        <p:txBody>
          <a:bodyPr wrap="square" lIns="0" tIns="0" rIns="0" bIns="0" rtlCol="0" anchor="ctr"/>
          <a:lstStyle/>
          <a:p>
            <a:pPr marL="0" indent="0" algn="l">
              <a:buNone/>
            </a:pPr>
            <a:r>
              <a:rPr lang="en-US" sz="1050" b="1" kern="0" spc="220" dirty="0">
                <a:solidFill>
                  <a:srgbClr val="1466C0"/>
                </a:solidFill>
                <a:latin typeface="Calibri" pitchFamily="34" charset="0"/>
                <a:ea typeface="Calibri" pitchFamily="34" charset="-122"/>
                <a:cs typeface="Calibri" pitchFamily="34" charset="-120"/>
              </a:rPr>
              <a:t>PHẦN 2 · LÝ THUYẾT</a:t>
            </a:r>
            <a:endParaRPr lang="en-US" sz="1050" dirty="0"/>
          </a:p>
        </p:txBody>
      </p:sp>
      <p:sp>
        <p:nvSpPr>
          <p:cNvPr id="4" name="T4"/>
          <p:cNvSpPr/>
          <p:nvPr/>
        </p:nvSpPr>
        <p:spPr>
          <a:xfrm>
            <a:off x="566928" y="548640"/>
            <a:ext cx="9777679" cy="457200"/>
          </a:xfrm>
          <a:prstGeom prst="rect">
            <a:avLst/>
          </a:prstGeom>
          <a:noFill/>
          <a:ln/>
        </p:spPr>
        <p:txBody>
          <a:bodyPr wrap="square" lIns="0" tIns="0" rIns="0" bIns="0" rtlCol="0" anchor="ctr"/>
          <a:lstStyle/>
          <a:p>
            <a:pPr marL="0" indent="0" algn="l">
              <a:buNone/>
            </a:pPr>
            <a:r>
              <a:rPr lang="en-US" sz="2400" b="1" kern="0" spc="0" dirty="0">
                <a:solidFill>
                  <a:srgbClr val="14243A"/>
                </a:solidFill>
                <a:latin typeface="Calibri" pitchFamily="34" charset="0"/>
                <a:ea typeface="Calibri" pitchFamily="34" charset="-122"/>
                <a:cs typeface="Calibri" pitchFamily="34" charset="-120"/>
              </a:rPr>
              <a:t>SE-Block — chú ý theo kênh (Squeeze-and-Excitation)</a:t>
            </a:r>
            <a:endParaRPr lang="en-US" sz="2400" dirty="0"/>
          </a:p>
        </p:txBody>
      </p:sp>
      <p:sp>
        <p:nvSpPr>
          <p:cNvPr id="5" name="T5"/>
          <p:cNvSpPr/>
          <p:nvPr/>
        </p:nvSpPr>
        <p:spPr>
          <a:xfrm>
            <a:off x="566929" y="1069848"/>
            <a:ext cx="9465592" cy="457200"/>
          </a:xfrm>
          <a:prstGeom prst="rect">
            <a:avLst/>
          </a:prstGeom>
          <a:noFill/>
          <a:ln/>
        </p:spPr>
        <p:txBody>
          <a:bodyPr wrap="square" lIns="0" tIns="0" rIns="0" bIns="0" rtlCol="0" anchor="ctr"/>
          <a:lstStyle/>
          <a:p>
            <a:pPr marL="0" indent="0" algn="l">
              <a:buNone/>
            </a:pPr>
            <a:r>
              <a:rPr lang="en-US" sz="1300" b="0" kern="0" spc="0" dirty="0">
                <a:solidFill>
                  <a:srgbClr val="5A6577"/>
                </a:solidFill>
                <a:latin typeface="Calibri" pitchFamily="34" charset="0"/>
                <a:ea typeface="Calibri" pitchFamily="34" charset="-122"/>
                <a:cs typeface="Calibri" pitchFamily="34" charset="-120"/>
              </a:rPr>
              <a:t>Khối chú ý tùy chọn đặt sau tầng tích chập cuối. Mục tiêu: cho mô hình tự học kênh đặc trưng nào quan trọng, rồi khuếch đại kênh đó.</a:t>
            </a:r>
            <a:endParaRPr lang="en-US" sz="1300" dirty="0"/>
          </a:p>
        </p:txBody>
      </p:sp>
      <p:sp>
        <p:nvSpPr>
          <p:cNvPr id="8" name="C8"/>
          <p:cNvSpPr/>
          <p:nvPr/>
        </p:nvSpPr>
        <p:spPr>
          <a:xfrm>
            <a:off x="8421343" y="2408071"/>
            <a:ext cx="3548786" cy="710000"/>
          </a:xfrm>
          <a:prstGeom prst="roundRect">
            <a:avLst>
              <a:gd name="adj" fmla="val 7000"/>
            </a:avLst>
          </a:prstGeom>
          <a:solidFill>
            <a:srgbClr val="F4F8FC"/>
          </a:solidFill>
          <a:ln w="9525">
            <a:solidFill>
              <a:srgbClr val="D3DEEA"/>
            </a:solidFill>
          </a:ln>
        </p:spPr>
        <p:txBody>
          <a:bodyPr wrap="square" lIns="118872" tIns="91440" rIns="118872" bIns="91440" anchor="ctr"/>
          <a:lstStyle/>
          <a:p>
            <a:pPr marL="0" indent="0" algn="l">
              <a:buNone/>
            </a:pPr>
            <a:r>
              <a:rPr lang="en-US" sz="1300" b="1" dirty="0">
                <a:solidFill>
                  <a:srgbClr val="1466C0"/>
                </a:solidFill>
                <a:latin typeface="Calibri" pitchFamily="34" charset="0"/>
              </a:rPr>
              <a:t>Squeeze</a:t>
            </a:r>
          </a:p>
          <a:p>
            <a:pPr marL="0" indent="0" algn="l">
              <a:buNone/>
            </a:pPr>
            <a:r>
              <a:rPr lang="en-US" sz="1300" b="0" dirty="0">
                <a:solidFill>
                  <a:srgbClr val="14243A"/>
                </a:solidFill>
                <a:latin typeface="Calibri" pitchFamily="34" charset="0"/>
              </a:rPr>
              <a:t>Global Average Pooling nén [B,C,H,W] thành [B,C] — tóm tắt toàn cục mỗi kênh</a:t>
            </a:r>
            <a:endParaRPr lang="en-US" sz="1300" dirty="0"/>
          </a:p>
        </p:txBody>
      </p:sp>
      <p:sp>
        <p:nvSpPr>
          <p:cNvPr id="9" name="C9"/>
          <p:cNvSpPr/>
          <p:nvPr/>
        </p:nvSpPr>
        <p:spPr>
          <a:xfrm>
            <a:off x="8421343" y="3253963"/>
            <a:ext cx="3548786" cy="710000"/>
          </a:xfrm>
          <a:prstGeom prst="roundRect">
            <a:avLst>
              <a:gd name="adj" fmla="val 7000"/>
            </a:avLst>
          </a:prstGeom>
          <a:solidFill>
            <a:srgbClr val="F4F8FC"/>
          </a:solidFill>
          <a:ln w="9525">
            <a:solidFill>
              <a:srgbClr val="D3DEEA"/>
            </a:solidFill>
          </a:ln>
        </p:spPr>
        <p:txBody>
          <a:bodyPr wrap="square" lIns="118872" tIns="91440" rIns="118872" bIns="91440" anchor="ctr"/>
          <a:lstStyle/>
          <a:p>
            <a:pPr marL="0" indent="0" algn="l">
              <a:buNone/>
            </a:pPr>
            <a:r>
              <a:rPr lang="en-US" sz="1300" b="1" dirty="0">
                <a:solidFill>
                  <a:srgbClr val="1466C0"/>
                </a:solidFill>
                <a:latin typeface="Calibri" pitchFamily="34" charset="0"/>
              </a:rPr>
              <a:t>Excite</a:t>
            </a:r>
          </a:p>
          <a:p>
            <a:pPr marL="0" indent="0" algn="l">
              <a:buNone/>
            </a:pPr>
            <a:r>
              <a:rPr lang="en-US" sz="1300" b="0" dirty="0">
                <a:solidFill>
                  <a:srgbClr val="14243A"/>
                </a:solidFill>
                <a:latin typeface="Calibri" pitchFamily="34" charset="0"/>
              </a:rPr>
              <a:t>FC(C→C/4) → ReLU → FC(C/4→C) → Sigmoid, cho trọng số s ∈ (0,1) cho từng kênh</a:t>
            </a:r>
            <a:endParaRPr lang="en-US" sz="1300" dirty="0"/>
          </a:p>
        </p:txBody>
      </p:sp>
      <p:sp>
        <p:nvSpPr>
          <p:cNvPr id="10" name="C10"/>
          <p:cNvSpPr/>
          <p:nvPr/>
        </p:nvSpPr>
        <p:spPr>
          <a:xfrm>
            <a:off x="8421343" y="4117095"/>
            <a:ext cx="3548786" cy="641339"/>
          </a:xfrm>
          <a:prstGeom prst="roundRect">
            <a:avLst>
              <a:gd name="adj" fmla="val 7000"/>
            </a:avLst>
          </a:prstGeom>
          <a:solidFill>
            <a:srgbClr val="F4F8FC"/>
          </a:solidFill>
          <a:ln w="9525">
            <a:solidFill>
              <a:srgbClr val="D3DEEA"/>
            </a:solidFill>
          </a:ln>
        </p:spPr>
        <p:txBody>
          <a:bodyPr wrap="square" lIns="118872" tIns="91440" rIns="118872" bIns="91440" anchor="ctr"/>
          <a:lstStyle/>
          <a:p>
            <a:pPr marL="0" indent="0" algn="l">
              <a:buNone/>
            </a:pPr>
            <a:r>
              <a:rPr lang="en-US" sz="1300" b="1" dirty="0">
                <a:solidFill>
                  <a:srgbClr val="1466C0"/>
                </a:solidFill>
                <a:latin typeface="Calibri" pitchFamily="34" charset="0"/>
              </a:rPr>
              <a:t>Scale</a:t>
            </a:r>
          </a:p>
          <a:p>
            <a:pPr marL="0" indent="0" algn="l">
              <a:buNone/>
            </a:pPr>
            <a:r>
              <a:rPr lang="en-US" sz="1300" b="0" dirty="0">
                <a:solidFill>
                  <a:srgbClr val="14243A"/>
                </a:solidFill>
                <a:latin typeface="Calibri" pitchFamily="34" charset="0"/>
              </a:rPr>
              <a:t>Nhân trọng số vào từng kênh: F' = s ⊙ F — kênh hữu ích được khuếch đại</a:t>
            </a:r>
            <a:endParaRPr lang="en-US" sz="1300" dirty="0"/>
          </a:p>
        </p:txBody>
      </p:sp>
      <p:pic>
        <p:nvPicPr>
          <p:cNvPr id="12" name="Picture 11">
            <a:extLst>
              <a:ext uri="{FF2B5EF4-FFF2-40B4-BE49-F238E27FC236}">
                <a16:creationId xmlns:a16="http://schemas.microsoft.com/office/drawing/2014/main" id="{AADAE53A-4627-1B67-4DC4-57DD7FF3BBEF}"/>
              </a:ext>
            </a:extLst>
          </p:cNvPr>
          <p:cNvPicPr>
            <a:picLocks noChangeAspect="1"/>
          </p:cNvPicPr>
          <p:nvPr/>
        </p:nvPicPr>
        <p:blipFill>
          <a:blip r:embed="rId4"/>
          <a:srcRect t="8093" r="1718" b="2878"/>
          <a:stretch>
            <a:fillRect/>
          </a:stretch>
        </p:blipFill>
        <p:spPr>
          <a:xfrm>
            <a:off x="221871" y="1845316"/>
            <a:ext cx="8043087" cy="409828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847527" y="95193"/>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2 · LÝ THUYẾT</a:t>
            </a:r>
            <a:endParaRPr lang="en-US" sz="1050" dirty="0"/>
          </a:p>
        </p:txBody>
      </p:sp>
      <p:sp>
        <p:nvSpPr>
          <p:cNvPr id="4" name="Text 1"/>
          <p:cNvSpPr/>
          <p:nvPr/>
        </p:nvSpPr>
        <p:spPr>
          <a:xfrm>
            <a:off x="566927" y="469622"/>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LSTM — xử lý dữ liệu chuỗi và văn bản</a:t>
            </a:r>
            <a:endParaRPr lang="en-US" sz="2900" dirty="0"/>
          </a:p>
        </p:txBody>
      </p:sp>
      <p:sp>
        <p:nvSpPr>
          <p:cNvPr id="5" name="Shape 2"/>
          <p:cNvSpPr/>
          <p:nvPr/>
        </p:nvSpPr>
        <p:spPr>
          <a:xfrm>
            <a:off x="7798366" y="1281736"/>
            <a:ext cx="4340137" cy="2455141"/>
          </a:xfrm>
          <a:prstGeom prst="roundRect">
            <a:avLst>
              <a:gd name="adj" fmla="val 2169"/>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6" name="Shape 3"/>
          <p:cNvSpPr/>
          <p:nvPr/>
        </p:nvSpPr>
        <p:spPr>
          <a:xfrm>
            <a:off x="7982918" y="1394679"/>
            <a:ext cx="291749" cy="281846"/>
          </a:xfrm>
          <a:prstGeom prst="ellipse">
            <a:avLst/>
          </a:prstGeom>
          <a:solidFill>
            <a:srgbClr val="1466C0"/>
          </a:solidFill>
          <a:ln/>
        </p:spPr>
        <p:txBody>
          <a:bodyPr/>
          <a:lstStyle/>
          <a:p>
            <a:endParaRPr lang="en-US"/>
          </a:p>
        </p:txBody>
      </p:sp>
      <p:sp>
        <p:nvSpPr>
          <p:cNvPr id="7" name="Text 4"/>
          <p:cNvSpPr/>
          <p:nvPr/>
        </p:nvSpPr>
        <p:spPr>
          <a:xfrm>
            <a:off x="7982918" y="1394679"/>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8440118" y="1376391"/>
            <a:ext cx="3971034" cy="313162"/>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Nguyên lý</a:t>
            </a:r>
            <a:endParaRPr lang="en-US" sz="1450" dirty="0"/>
          </a:p>
        </p:txBody>
      </p:sp>
      <p:sp>
        <p:nvSpPr>
          <p:cNvPr id="9" name="Text 6"/>
          <p:cNvSpPr/>
          <p:nvPr/>
        </p:nvSpPr>
        <p:spPr>
          <a:xfrm>
            <a:off x="7982918" y="1699751"/>
            <a:ext cx="3971035" cy="1919312"/>
          </a:xfrm>
          <a:prstGeom prst="rect">
            <a:avLst/>
          </a:prstGeom>
          <a:noFill/>
          <a:ln/>
        </p:spPr>
        <p:txBody>
          <a:bodyPr wrap="square" lIns="0" tIns="0" rIns="0" bIns="0" rtlCol="0" anchor="t"/>
          <a:lstStyle/>
          <a:p>
            <a:pPr>
              <a:spcAft>
                <a:spcPts val="1000"/>
              </a:spcAft>
              <a:buSzPct val="100000"/>
            </a:pPr>
            <a:r>
              <a:rPr lang="en-US" sz="1200" dirty="0">
                <a:solidFill>
                  <a:srgbClr val="4F637B"/>
                </a:solidFill>
                <a:latin typeface="Calibri" pitchFamily="34" charset="0"/>
                <a:ea typeface="Calibri" pitchFamily="34" charset="-122"/>
                <a:cs typeface="Calibri" pitchFamily="34" charset="-120"/>
              </a:rPr>
              <a:t>Là mạng hồi quy (RNN) có ba cổng — vào, quên, ra — cùng một “ô nhớ” (cell state) chạy xuyên suốt chuỗi.</a:t>
            </a:r>
            <a:endParaRPr lang="en-US" sz="1200" dirty="0"/>
          </a:p>
          <a:p>
            <a:pPr>
              <a:spcAft>
                <a:spcPts val="1000"/>
              </a:spcAft>
              <a:buSzPct val="100000"/>
            </a:pPr>
            <a:r>
              <a:rPr lang="en-US" sz="1200" dirty="0">
                <a:solidFill>
                  <a:srgbClr val="4F637B"/>
                </a:solidFill>
                <a:latin typeface="Calibri" pitchFamily="34" charset="0"/>
                <a:ea typeface="Calibri" pitchFamily="34" charset="-122"/>
                <a:cs typeface="Calibri" pitchFamily="34" charset="-120"/>
              </a:rPr>
              <a:t>Các cổng kiểm soát thông tin nào được giữ, quên hay xuất ra ở mỗi bước thời gian.</a:t>
            </a:r>
            <a:endParaRPr lang="en-US" sz="1200" dirty="0"/>
          </a:p>
          <a:p>
            <a:pPr>
              <a:spcAft>
                <a:spcPts val="1000"/>
              </a:spcAft>
              <a:buSzPct val="100000"/>
            </a:pPr>
            <a:r>
              <a:rPr lang="en-US" sz="1200" dirty="0">
                <a:solidFill>
                  <a:srgbClr val="4F637B"/>
                </a:solidFill>
                <a:latin typeface="Calibri" pitchFamily="34" charset="0"/>
                <a:ea typeface="Calibri" pitchFamily="34" charset="-122"/>
                <a:cs typeface="Calibri" pitchFamily="34" charset="-120"/>
              </a:rPr>
              <a:t>Cơ chế này giảm hiện tượng tiêu biến gradient của RNN thường, nhớ được phụ thuộc dài hơn.</a:t>
            </a:r>
            <a:endParaRPr lang="en-US" sz="1200" dirty="0"/>
          </a:p>
          <a:p>
            <a:pPr>
              <a:spcAft>
                <a:spcPts val="1000"/>
              </a:spcAft>
              <a:buSzPct val="100000"/>
            </a:pPr>
            <a:r>
              <a:rPr lang="en-US" sz="1200" dirty="0">
                <a:solidFill>
                  <a:srgbClr val="4F637B"/>
                </a:solidFill>
                <a:latin typeface="Calibri" pitchFamily="34" charset="0"/>
                <a:ea typeface="Calibri" pitchFamily="34" charset="-122"/>
                <a:cs typeface="Calibri" pitchFamily="34" charset="-120"/>
              </a:rPr>
              <a:t>BiLSTM đọc hai chiều (trước→sau và sau→trước) để mỗi từ thấy trọn ngữ cảnh hai phía.</a:t>
            </a:r>
            <a:endParaRPr lang="en-US" sz="1200" dirty="0"/>
          </a:p>
        </p:txBody>
      </p:sp>
      <p:sp>
        <p:nvSpPr>
          <p:cNvPr id="10" name="Shape 7"/>
          <p:cNvSpPr/>
          <p:nvPr/>
        </p:nvSpPr>
        <p:spPr>
          <a:xfrm>
            <a:off x="7798672" y="3619063"/>
            <a:ext cx="4339831" cy="2244852"/>
          </a:xfrm>
          <a:prstGeom prst="roundRect">
            <a:avLst>
              <a:gd name="adj" fmla="val 2169"/>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1" name="Shape 8"/>
          <p:cNvSpPr/>
          <p:nvPr/>
        </p:nvSpPr>
        <p:spPr>
          <a:xfrm>
            <a:off x="7915200" y="3706535"/>
            <a:ext cx="341588" cy="329184"/>
          </a:xfrm>
          <a:prstGeom prst="ellipse">
            <a:avLst/>
          </a:prstGeom>
          <a:solidFill>
            <a:srgbClr val="1466C0"/>
          </a:solidFill>
          <a:ln/>
        </p:spPr>
        <p:txBody>
          <a:bodyPr/>
          <a:lstStyle/>
          <a:p>
            <a:endParaRPr lang="en-US" dirty="0"/>
          </a:p>
          <a:p>
            <a:endParaRPr lang="en-US" dirty="0"/>
          </a:p>
        </p:txBody>
      </p:sp>
      <p:sp>
        <p:nvSpPr>
          <p:cNvPr id="12" name="Text 9"/>
          <p:cNvSpPr/>
          <p:nvPr/>
        </p:nvSpPr>
        <p:spPr>
          <a:xfrm>
            <a:off x="7980808" y="3706535"/>
            <a:ext cx="27598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8364114" y="3688247"/>
            <a:ext cx="3756391"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Ưu điểm · Hạn chế · Vai trò</a:t>
            </a:r>
            <a:endParaRPr lang="en-US" sz="1450" dirty="0"/>
          </a:p>
        </p:txBody>
      </p:sp>
      <p:sp>
        <p:nvSpPr>
          <p:cNvPr id="14" name="Text 11"/>
          <p:cNvSpPr/>
          <p:nvPr/>
        </p:nvSpPr>
        <p:spPr>
          <a:xfrm>
            <a:off x="7980808" y="4182541"/>
            <a:ext cx="4139697" cy="1355382"/>
          </a:xfrm>
          <a:prstGeom prst="rect">
            <a:avLst/>
          </a:prstGeom>
          <a:noFill/>
          <a:ln/>
        </p:spPr>
        <p:txBody>
          <a:bodyPr wrap="square" lIns="0" tIns="0" rIns="0" bIns="0" rtlCol="0" anchor="ctr"/>
          <a:lstStyle/>
          <a:p>
            <a:pPr marL="0" indent="0">
              <a:lnSpc>
                <a:spcPct val="120000"/>
              </a:lnSpc>
              <a:buNone/>
            </a:pPr>
            <a:r>
              <a:rPr lang="en-US" sz="1200" b="1" dirty="0">
                <a:solidFill>
                  <a:srgbClr val="0B8457"/>
                </a:solidFill>
                <a:latin typeface="Calibri" pitchFamily="34" charset="0"/>
                <a:ea typeface="Calibri" pitchFamily="34" charset="-122"/>
                <a:cs typeface="Calibri" pitchFamily="34" charset="-120"/>
              </a:rPr>
              <a:t>Ưu điểm.  </a:t>
            </a:r>
            <a:r>
              <a:rPr lang="en-US" sz="1200" dirty="0">
                <a:solidFill>
                  <a:srgbClr val="4F637B"/>
                </a:solidFill>
                <a:latin typeface="Calibri" pitchFamily="34" charset="0"/>
                <a:ea typeface="Calibri" pitchFamily="34" charset="-122"/>
                <a:cs typeface="Calibri" pitchFamily="34" charset="-120"/>
              </a:rPr>
              <a:t>Xử lý chuỗi độ dài biến thiên; nhớ phụ thuộc tầm trung–dài; ít tham số.</a:t>
            </a:r>
            <a:endParaRPr lang="en-US" sz="1200" dirty="0"/>
          </a:p>
          <a:p>
            <a:pPr marL="0" indent="0">
              <a:lnSpc>
                <a:spcPct val="120000"/>
              </a:lnSpc>
              <a:buNone/>
            </a:pPr>
            <a:r>
              <a:rPr lang="en-US" sz="1200" b="1" dirty="0">
                <a:solidFill>
                  <a:srgbClr val="B26A00"/>
                </a:solidFill>
                <a:latin typeface="Calibri" pitchFamily="34" charset="0"/>
                <a:ea typeface="Calibri" pitchFamily="34" charset="-122"/>
                <a:cs typeface="Calibri" pitchFamily="34" charset="-120"/>
              </a:rPr>
              <a:t>Hạn chế.  </a:t>
            </a:r>
            <a:r>
              <a:rPr lang="en-US" sz="1200" dirty="0">
                <a:solidFill>
                  <a:srgbClr val="4F637B"/>
                </a:solidFill>
                <a:latin typeface="Calibri" pitchFamily="34" charset="0"/>
                <a:ea typeface="Calibri" pitchFamily="34" charset="-122"/>
                <a:cs typeface="Calibri" pitchFamily="34" charset="-120"/>
              </a:rPr>
              <a:t>Bản chất tuần tự → khó song song hóa; vẫn khó phụ thuộc rất xa; kém Transformer ở ngữ cảnh dài.</a:t>
            </a:r>
            <a:endParaRPr lang="en-US" sz="1200" dirty="0"/>
          </a:p>
          <a:p>
            <a:pPr marL="0" indent="0">
              <a:lnSpc>
                <a:spcPct val="120000"/>
              </a:lnSpc>
              <a:buNone/>
            </a:pPr>
            <a:r>
              <a:rPr lang="en-US" sz="1200" b="1" dirty="0">
                <a:solidFill>
                  <a:srgbClr val="1466C0"/>
                </a:solidFill>
                <a:latin typeface="Calibri" pitchFamily="34" charset="0"/>
                <a:ea typeface="Calibri" pitchFamily="34" charset="-122"/>
                <a:cs typeface="Calibri" pitchFamily="34" charset="-120"/>
              </a:rPr>
              <a:t>Vai trò trong đề tài.  </a:t>
            </a:r>
            <a:r>
              <a:rPr lang="en-US" sz="1200" dirty="0">
                <a:solidFill>
                  <a:srgbClr val="4F637B"/>
                </a:solidFill>
                <a:latin typeface="Calibri" pitchFamily="34" charset="0"/>
                <a:ea typeface="Calibri" pitchFamily="34" charset="-122"/>
                <a:cs typeface="Calibri" pitchFamily="34" charset="-120"/>
              </a:rPr>
              <a:t>Mã hóa câu hỏi bằng BiLSTM trong nhóm A1/A2, tạo vector ngữ nghĩa 64 chiều cho bước hợp nhất.</a:t>
            </a:r>
            <a:endParaRPr lang="en-US" sz="1200" dirty="0"/>
          </a:p>
        </p:txBody>
      </p:sp>
      <p:sp>
        <p:nvSpPr>
          <p:cNvPr id="920" name="BandBox"/>
          <p:cNvSpPr/>
          <p:nvPr/>
        </p:nvSpPr>
        <p:spPr>
          <a:xfrm>
            <a:off x="488619" y="5933099"/>
            <a:ext cx="10750930" cy="882396"/>
          </a:xfrm>
          <a:prstGeom prst="roundRect">
            <a:avLst>
              <a:gd name="adj" fmla="val 8000"/>
            </a:avLst>
          </a:prstGeom>
          <a:solidFill>
            <a:srgbClr val="EEF4FB"/>
          </a:solidFill>
          <a:ln w="9525">
            <a:solidFill>
              <a:srgbClr val="C7D9EC"/>
            </a:solidFill>
          </a:ln>
        </p:spPr>
        <p:txBody>
          <a:bodyPr/>
          <a:lstStyle/>
          <a:p>
            <a:endParaRPr lang="en-US" sz="900"/>
          </a:p>
        </p:txBody>
      </p:sp>
      <p:sp>
        <p:nvSpPr>
          <p:cNvPr id="921" name="BandText"/>
          <p:cNvSpPr/>
          <p:nvPr/>
        </p:nvSpPr>
        <p:spPr>
          <a:xfrm>
            <a:off x="717219" y="5808324"/>
            <a:ext cx="10600639" cy="882396"/>
          </a:xfrm>
          <a:prstGeom prst="rect">
            <a:avLst/>
          </a:prstGeom>
          <a:noFill/>
          <a:ln/>
        </p:spPr>
        <p:txBody>
          <a:bodyPr wrap="square" lIns="0" tIns="0" rIns="0" bIns="0" rtlCol="0" anchor="ctr"/>
          <a:lstStyle/>
          <a:p>
            <a:pPr marL="0" indent="0">
              <a:buNone/>
            </a:pPr>
            <a:r>
              <a:rPr lang="en-US" sz="1400" b="1" dirty="0">
                <a:solidFill>
                  <a:srgbClr val="1466C0"/>
                </a:solidFill>
                <a:latin typeface="Calibri" pitchFamily="34" charset="0"/>
                <a:ea typeface="Calibri" pitchFamily="34" charset="-122"/>
                <a:cs typeface="Calibri" pitchFamily="34" charset="-120"/>
              </a:rPr>
              <a:t>Trong đề tài:  </a:t>
            </a:r>
            <a:r>
              <a:rPr lang="en-US" sz="1400" b="0" dirty="0">
                <a:solidFill>
                  <a:srgbClr val="14243A"/>
                </a:solidFill>
                <a:latin typeface="Calibri" pitchFamily="34" charset="0"/>
                <a:ea typeface="Calibri" pitchFamily="34" charset="-122"/>
                <a:cs typeface="Calibri" pitchFamily="34" charset="-120"/>
              </a:rPr>
              <a:t>BiLSTM: tokens [B,32] → Embedding(V, 64, pad=0) → [B,32,64] → BiLSTM(64→32 mỗi chiều) → outputs [B,32,64].  Không attention: cat(h→ cuối, h← đầu).  Có attention: Temporal Attention (Bahdanau 1994) tổng có trọng số Σ αt·ht → LayerNorm → v_txt [B,64].</a:t>
            </a:r>
            <a:endParaRPr lang="en-US" sz="1400" dirty="0"/>
          </a:p>
        </p:txBody>
      </p:sp>
      <p:pic>
        <p:nvPicPr>
          <p:cNvPr id="16" name="Picture 15">
            <a:extLst>
              <a:ext uri="{FF2B5EF4-FFF2-40B4-BE49-F238E27FC236}">
                <a16:creationId xmlns:a16="http://schemas.microsoft.com/office/drawing/2014/main" id="{D8F81522-6F0E-0185-C1BE-01048E389D5A}"/>
              </a:ext>
            </a:extLst>
          </p:cNvPr>
          <p:cNvPicPr>
            <a:picLocks noChangeAspect="1"/>
          </p:cNvPicPr>
          <p:nvPr/>
        </p:nvPicPr>
        <p:blipFill>
          <a:blip r:embed="rId4"/>
          <a:srcRect r="1854"/>
          <a:stretch>
            <a:fillRect/>
          </a:stretch>
        </p:blipFill>
        <p:spPr>
          <a:xfrm>
            <a:off x="71495" y="1214192"/>
            <a:ext cx="7694067" cy="446225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2 · LÝ THUYẾT</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Transformer: Encoder và Decoder</a:t>
            </a:r>
            <a:endParaRPr lang="en-US" sz="2900" dirty="0"/>
          </a:p>
        </p:txBody>
      </p:sp>
      <p:sp>
        <p:nvSpPr>
          <p:cNvPr id="5" name="Text 2"/>
          <p:cNvSpPr/>
          <p:nvPr/>
        </p:nvSpPr>
        <p:spPr>
          <a:xfrm>
            <a:off x="566928" y="1371600"/>
            <a:ext cx="11057839" cy="457200"/>
          </a:xfrm>
          <a:prstGeom prst="rect">
            <a:avLst/>
          </a:prstGeom>
          <a:noFill/>
          <a:ln/>
        </p:spPr>
        <p:txBody>
          <a:bodyPr wrap="square" lIns="0" tIns="0" rIns="0" bIns="0" rtlCol="0" anchor="ctr"/>
          <a:lstStyle/>
          <a:p>
            <a:pPr marL="0" indent="0">
              <a:lnSpc>
                <a:spcPct val="116000"/>
              </a:lnSpc>
              <a:buNone/>
            </a:pPr>
            <a:r>
              <a:rPr lang="en-US" sz="1400" dirty="0">
                <a:solidFill>
                  <a:srgbClr val="4F637B"/>
                </a:solidFill>
                <a:latin typeface="Calibri" pitchFamily="34" charset="0"/>
                <a:ea typeface="Calibri" pitchFamily="34" charset="-122"/>
                <a:cs typeface="Calibri" pitchFamily="34" charset="-120"/>
              </a:rPr>
              <a:t>Lõi chung là khối self-attention: mỗi token nhìn toàn bộ chuỗi cùng lúc, song song hóa được và nắm quan hệ tầm xa. Cùng lõi đó, hai kiểu xếp khối cho hai vai trò khác nhau.</a:t>
            </a:r>
            <a:endParaRPr lang="en-US" sz="1400" dirty="0"/>
          </a:p>
        </p:txBody>
      </p:sp>
      <p:sp>
        <p:nvSpPr>
          <p:cNvPr id="6" name="Shape 3"/>
          <p:cNvSpPr/>
          <p:nvPr/>
        </p:nvSpPr>
        <p:spPr>
          <a:xfrm>
            <a:off x="566928" y="1938528"/>
            <a:ext cx="5394960" cy="3712464"/>
          </a:xfrm>
          <a:prstGeom prst="roundRect">
            <a:avLst>
              <a:gd name="adj" fmla="val 2217"/>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7" name="Shape 4"/>
          <p:cNvSpPr/>
          <p:nvPr/>
        </p:nvSpPr>
        <p:spPr>
          <a:xfrm>
            <a:off x="822960" y="2157984"/>
            <a:ext cx="329184" cy="329184"/>
          </a:xfrm>
          <a:prstGeom prst="ellipse">
            <a:avLst/>
          </a:prstGeom>
          <a:solidFill>
            <a:srgbClr val="1466C0"/>
          </a:solidFill>
          <a:ln/>
        </p:spPr>
        <p:txBody>
          <a:bodyPr/>
          <a:lstStyle/>
          <a:p>
            <a:endParaRPr lang="en-US"/>
          </a:p>
        </p:txBody>
      </p:sp>
      <p:sp>
        <p:nvSpPr>
          <p:cNvPr id="8" name="Text 5"/>
          <p:cNvSpPr/>
          <p:nvPr/>
        </p:nvSpPr>
        <p:spPr>
          <a:xfrm>
            <a:off x="822960" y="215798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a:t>
            </a:r>
            <a:endParaRPr lang="en-US" sz="1300" dirty="0"/>
          </a:p>
        </p:txBody>
      </p:sp>
      <p:sp>
        <p:nvSpPr>
          <p:cNvPr id="9" name="Text 6"/>
          <p:cNvSpPr/>
          <p:nvPr/>
        </p:nvSpPr>
        <p:spPr>
          <a:xfrm>
            <a:off x="1280160" y="2139696"/>
            <a:ext cx="448056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Encoder — HIỂU đầu vào</a:t>
            </a:r>
            <a:endParaRPr lang="en-US" sz="1450" dirty="0"/>
          </a:p>
        </p:txBody>
      </p:sp>
      <p:sp>
        <p:nvSpPr>
          <p:cNvPr id="10" name="Text 7"/>
          <p:cNvSpPr/>
          <p:nvPr/>
        </p:nvSpPr>
        <p:spPr>
          <a:xfrm>
            <a:off x="822960" y="2651760"/>
            <a:ext cx="4937760" cy="2880360"/>
          </a:xfrm>
          <a:prstGeom prst="rect">
            <a:avLst/>
          </a:prstGeom>
          <a:noFill/>
          <a:ln/>
        </p:spPr>
        <p:txBody>
          <a:bodyPr wrap="square" lIns="0" tIns="0" rIns="0" bIns="0" rtlCol="0" anchor="ctr"/>
          <a:lstStyle/>
          <a:p>
            <a:pPr marL="0" indent="0">
              <a:lnSpc>
                <a:spcPct val="118000"/>
              </a:lnSpc>
              <a:buNone/>
            </a:pPr>
            <a:r>
              <a:rPr lang="en-US" sz="1400" b="1" dirty="0">
                <a:solidFill>
                  <a:srgbClr val="1466C0"/>
                </a:solidFill>
                <a:latin typeface="Calibri" pitchFamily="34" charset="0"/>
                <a:ea typeface="Calibri" pitchFamily="34" charset="-122"/>
                <a:cs typeface="Calibri" pitchFamily="34" charset="-120"/>
              </a:rPr>
              <a:t>Nguyên lý.  </a:t>
            </a:r>
            <a:r>
              <a:rPr lang="en-US" sz="1400" dirty="0">
                <a:solidFill>
                  <a:srgbClr val="4F637B"/>
                </a:solidFill>
                <a:latin typeface="Calibri" pitchFamily="34" charset="0"/>
                <a:ea typeface="Calibri" pitchFamily="34" charset="-122"/>
                <a:cs typeface="Calibri" pitchFamily="34" charset="-120"/>
              </a:rPr>
              <a:t>Xếp tầng self-attention HAI CHIỀU + mạng truyền thẳng. Mỗi token thấy được cả token trước lẫn sau.</a:t>
            </a:r>
            <a:endParaRPr lang="en-US" sz="1400" dirty="0"/>
          </a:p>
          <a:p>
            <a:pPr marL="0" indent="0">
              <a:lnSpc>
                <a:spcPct val="118000"/>
              </a:lnSpc>
              <a:buNone/>
            </a:pPr>
            <a:r>
              <a:rPr lang="en-US" sz="1400" b="1" dirty="0">
                <a:solidFill>
                  <a:srgbClr val="14243A"/>
                </a:solidFill>
                <a:latin typeface="Calibri" pitchFamily="34" charset="0"/>
                <a:ea typeface="Calibri" pitchFamily="34" charset="-122"/>
                <a:cs typeface="Calibri" pitchFamily="34" charset="-120"/>
              </a:rPr>
              <a:t>Vai trò.  </a:t>
            </a:r>
            <a:r>
              <a:rPr lang="en-US" sz="1400" dirty="0">
                <a:solidFill>
                  <a:srgbClr val="4F637B"/>
                </a:solidFill>
                <a:latin typeface="Calibri" pitchFamily="34" charset="0"/>
                <a:ea typeface="Calibri" pitchFamily="34" charset="-122"/>
                <a:cs typeface="Calibri" pitchFamily="34" charset="-120"/>
              </a:rPr>
              <a:t>Mã hóa và hiểu đầu vào thành biểu diễn ngữ cảnh giàu thông tin. Ví dụ BERT, PubMedBERT.</a:t>
            </a:r>
            <a:endParaRPr lang="en-US" sz="1400" dirty="0"/>
          </a:p>
          <a:p>
            <a:pPr marL="0" indent="0">
              <a:lnSpc>
                <a:spcPct val="118000"/>
              </a:lnSpc>
              <a:buNone/>
            </a:pPr>
            <a:r>
              <a:rPr lang="en-US" sz="1400" b="1" dirty="0">
                <a:solidFill>
                  <a:srgbClr val="0B8457"/>
                </a:solidFill>
                <a:latin typeface="Calibri" pitchFamily="34" charset="0"/>
                <a:ea typeface="Calibri" pitchFamily="34" charset="-122"/>
                <a:cs typeface="Calibri" pitchFamily="34" charset="-120"/>
              </a:rPr>
              <a:t>Ưu điểm.  </a:t>
            </a:r>
            <a:r>
              <a:rPr lang="en-US" sz="1400" dirty="0">
                <a:solidFill>
                  <a:srgbClr val="4F637B"/>
                </a:solidFill>
                <a:latin typeface="Calibri" pitchFamily="34" charset="0"/>
                <a:ea typeface="Calibri" pitchFamily="34" charset="-122"/>
                <a:cs typeface="Calibri" pitchFamily="34" charset="-120"/>
              </a:rPr>
              <a:t>Song song hóa; ngữ cảnh toàn cục hai chiều.</a:t>
            </a:r>
            <a:endParaRPr lang="en-US" sz="1400" dirty="0"/>
          </a:p>
          <a:p>
            <a:pPr marL="0" indent="0">
              <a:lnSpc>
                <a:spcPct val="118000"/>
              </a:lnSpc>
              <a:buNone/>
            </a:pPr>
            <a:r>
              <a:rPr lang="en-US" sz="1400" b="1" dirty="0">
                <a:solidFill>
                  <a:srgbClr val="B26A00"/>
                </a:solidFill>
                <a:latin typeface="Calibri" pitchFamily="34" charset="0"/>
                <a:ea typeface="Calibri" pitchFamily="34" charset="-122"/>
                <a:cs typeface="Calibri" pitchFamily="34" charset="-120"/>
              </a:rPr>
              <a:t>Hạn chế.  </a:t>
            </a:r>
            <a:r>
              <a:rPr lang="en-US" sz="1400" dirty="0">
                <a:solidFill>
                  <a:srgbClr val="4F637B"/>
                </a:solidFill>
                <a:latin typeface="Calibri" pitchFamily="34" charset="0"/>
                <a:ea typeface="Calibri" pitchFamily="34" charset="-122"/>
                <a:cs typeface="Calibri" pitchFamily="34" charset="-120"/>
              </a:rPr>
              <a:t>Bộ nhớ và tính toán O(n²) theo độ dài chuỗi.</a:t>
            </a:r>
            <a:endParaRPr lang="en-US" sz="1400" dirty="0"/>
          </a:p>
        </p:txBody>
      </p:sp>
      <p:sp>
        <p:nvSpPr>
          <p:cNvPr id="11" name="Shape 8"/>
          <p:cNvSpPr/>
          <p:nvPr/>
        </p:nvSpPr>
        <p:spPr>
          <a:xfrm>
            <a:off x="6236208" y="1938528"/>
            <a:ext cx="5394960" cy="3712464"/>
          </a:xfrm>
          <a:prstGeom prst="roundRect">
            <a:avLst>
              <a:gd name="adj" fmla="val 2217"/>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2" name="Shape 9"/>
          <p:cNvSpPr/>
          <p:nvPr/>
        </p:nvSpPr>
        <p:spPr>
          <a:xfrm>
            <a:off x="6492240" y="2157984"/>
            <a:ext cx="329184" cy="329184"/>
          </a:xfrm>
          <a:prstGeom prst="ellipse">
            <a:avLst/>
          </a:prstGeom>
          <a:solidFill>
            <a:srgbClr val="6B33C7"/>
          </a:solidFill>
          <a:ln/>
        </p:spPr>
        <p:txBody>
          <a:bodyPr/>
          <a:lstStyle/>
          <a:p>
            <a:endParaRPr lang="en-US"/>
          </a:p>
        </p:txBody>
      </p:sp>
      <p:sp>
        <p:nvSpPr>
          <p:cNvPr id="13" name="Text 10"/>
          <p:cNvSpPr/>
          <p:nvPr/>
        </p:nvSpPr>
        <p:spPr>
          <a:xfrm>
            <a:off x="6492240" y="215798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14" name="Text 11"/>
          <p:cNvSpPr/>
          <p:nvPr/>
        </p:nvSpPr>
        <p:spPr>
          <a:xfrm>
            <a:off x="6949440" y="2139696"/>
            <a:ext cx="448056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Decoder — SINH đầu ra</a:t>
            </a:r>
            <a:endParaRPr lang="en-US" sz="1450" dirty="0"/>
          </a:p>
        </p:txBody>
      </p:sp>
      <p:sp>
        <p:nvSpPr>
          <p:cNvPr id="15" name="Text 12"/>
          <p:cNvSpPr/>
          <p:nvPr/>
        </p:nvSpPr>
        <p:spPr>
          <a:xfrm>
            <a:off x="6492240" y="2651760"/>
            <a:ext cx="4937760" cy="2880360"/>
          </a:xfrm>
          <a:prstGeom prst="rect">
            <a:avLst/>
          </a:prstGeom>
          <a:noFill/>
          <a:ln/>
        </p:spPr>
        <p:txBody>
          <a:bodyPr wrap="square" lIns="0" tIns="0" rIns="0" bIns="0" rtlCol="0" anchor="ctr"/>
          <a:lstStyle/>
          <a:p>
            <a:pPr marL="0" indent="0">
              <a:lnSpc>
                <a:spcPct val="118000"/>
              </a:lnSpc>
              <a:buNone/>
            </a:pPr>
            <a:r>
              <a:rPr lang="en-US" sz="1400" b="1" dirty="0">
                <a:solidFill>
                  <a:srgbClr val="6B33C7"/>
                </a:solidFill>
                <a:latin typeface="Calibri" pitchFamily="34" charset="0"/>
                <a:ea typeface="Calibri" pitchFamily="34" charset="-122"/>
                <a:cs typeface="Calibri" pitchFamily="34" charset="-120"/>
              </a:rPr>
              <a:t>Nguyên lý.  </a:t>
            </a:r>
            <a:r>
              <a:rPr lang="en-US" sz="1400" dirty="0">
                <a:solidFill>
                  <a:srgbClr val="4F637B"/>
                </a:solidFill>
                <a:latin typeface="Calibri" pitchFamily="34" charset="0"/>
                <a:ea typeface="Calibri" pitchFamily="34" charset="-122"/>
                <a:cs typeface="Calibri" pitchFamily="34" charset="-120"/>
              </a:rPr>
              <a:t>Self-attention CÓ MẶT NẠ — mỗi token chỉ nhìn các token đã sinh trước nó — cộng mạng truyền thẳng; sinh token tự hồi quy.</a:t>
            </a:r>
            <a:endParaRPr lang="en-US" sz="1400" dirty="0"/>
          </a:p>
          <a:p>
            <a:pPr marL="0" indent="0">
              <a:lnSpc>
                <a:spcPct val="118000"/>
              </a:lnSpc>
              <a:buNone/>
            </a:pPr>
            <a:r>
              <a:rPr lang="en-US" sz="1400" b="1" dirty="0">
                <a:solidFill>
                  <a:srgbClr val="14243A"/>
                </a:solidFill>
                <a:latin typeface="Calibri" pitchFamily="34" charset="0"/>
                <a:ea typeface="Calibri" pitchFamily="34" charset="-122"/>
                <a:cs typeface="Calibri" pitchFamily="34" charset="-120"/>
              </a:rPr>
              <a:t>Vai trò.  </a:t>
            </a:r>
            <a:r>
              <a:rPr lang="en-US" sz="1400" dirty="0">
                <a:solidFill>
                  <a:srgbClr val="4F637B"/>
                </a:solidFill>
                <a:latin typeface="Calibri" pitchFamily="34" charset="0"/>
                <a:ea typeface="Calibri" pitchFamily="34" charset="-122"/>
                <a:cs typeface="Calibri" pitchFamily="34" charset="-120"/>
              </a:rPr>
              <a:t>Sinh chuỗi đầu ra từng token một. Ví dụ GPT-2.</a:t>
            </a:r>
            <a:endParaRPr lang="en-US" sz="1400" dirty="0"/>
          </a:p>
          <a:p>
            <a:pPr marL="0" indent="0">
              <a:lnSpc>
                <a:spcPct val="118000"/>
              </a:lnSpc>
              <a:buNone/>
            </a:pPr>
            <a:r>
              <a:rPr lang="en-US" sz="1400" b="1" dirty="0">
                <a:solidFill>
                  <a:srgbClr val="0B8457"/>
                </a:solidFill>
                <a:latin typeface="Calibri" pitchFamily="34" charset="0"/>
                <a:ea typeface="Calibri" pitchFamily="34" charset="-122"/>
                <a:cs typeface="Calibri" pitchFamily="34" charset="-120"/>
              </a:rPr>
              <a:t>Ưu điểm.  </a:t>
            </a:r>
            <a:r>
              <a:rPr lang="en-US" sz="1400" dirty="0">
                <a:solidFill>
                  <a:srgbClr val="4F637B"/>
                </a:solidFill>
                <a:latin typeface="Calibri" pitchFamily="34" charset="0"/>
                <a:ea typeface="Calibri" pitchFamily="34" charset="-122"/>
                <a:cs typeface="Calibri" pitchFamily="34" charset="-120"/>
              </a:rPr>
              <a:t>Sinh ngôn ngữ mạch lạc theo lối tự hồi quy.</a:t>
            </a:r>
            <a:endParaRPr lang="en-US" sz="1400" dirty="0"/>
          </a:p>
          <a:p>
            <a:pPr marL="0" indent="0">
              <a:lnSpc>
                <a:spcPct val="118000"/>
              </a:lnSpc>
              <a:buNone/>
            </a:pPr>
            <a:r>
              <a:rPr lang="en-US" sz="1400" b="1" dirty="0">
                <a:solidFill>
                  <a:srgbClr val="B26A00"/>
                </a:solidFill>
                <a:latin typeface="Calibri" pitchFamily="34" charset="0"/>
                <a:ea typeface="Calibri" pitchFamily="34" charset="-122"/>
                <a:cs typeface="Calibri" pitchFamily="34" charset="-120"/>
              </a:rPr>
              <a:t>Hạn chế.  </a:t>
            </a:r>
            <a:r>
              <a:rPr lang="en-US" sz="1400" dirty="0">
                <a:solidFill>
                  <a:srgbClr val="4F637B"/>
                </a:solidFill>
                <a:latin typeface="Calibri" pitchFamily="34" charset="0"/>
                <a:ea typeface="Calibri" pitchFamily="34" charset="-122"/>
                <a:cs typeface="Calibri" pitchFamily="34" charset="-120"/>
              </a:rPr>
              <a:t>Sinh tuần tự (chậm); dễ lặp từ hoặc cụt ý với câu dài.</a:t>
            </a:r>
            <a:endParaRPr lang="en-US" sz="1400" dirty="0"/>
          </a:p>
        </p:txBody>
      </p:sp>
      <p:sp>
        <p:nvSpPr>
          <p:cNvPr id="920" name="BandBox"/>
          <p:cNvSpPr/>
          <p:nvPr/>
        </p:nvSpPr>
        <p:spPr>
          <a:xfrm>
            <a:off x="566928" y="5856732"/>
            <a:ext cx="11057839" cy="726948"/>
          </a:xfrm>
          <a:prstGeom prst="roundRect">
            <a:avLst>
              <a:gd name="adj" fmla="val 8000"/>
            </a:avLst>
          </a:prstGeom>
          <a:solidFill>
            <a:srgbClr val="EEF4FB"/>
          </a:solidFill>
          <a:ln w="9525">
            <a:solidFill>
              <a:srgbClr val="C7D9EC"/>
            </a:solidFill>
          </a:ln>
        </p:spPr>
        <p:txBody>
          <a:bodyPr/>
          <a:lstStyle/>
          <a:p>
            <a:endParaRPr lang="en-US" sz="900"/>
          </a:p>
        </p:txBody>
      </p:sp>
      <p:sp>
        <p:nvSpPr>
          <p:cNvPr id="921" name="BandText"/>
          <p:cNvSpPr/>
          <p:nvPr/>
        </p:nvSpPr>
        <p:spPr>
          <a:xfrm>
            <a:off x="795528" y="5993892"/>
            <a:ext cx="10600639" cy="452628"/>
          </a:xfrm>
          <a:prstGeom prst="rect">
            <a:avLst/>
          </a:prstGeom>
          <a:noFill/>
          <a:ln/>
        </p:spPr>
        <p:txBody>
          <a:bodyPr wrap="square" lIns="0" tIns="0" rIns="0" bIns="0" rtlCol="0" anchor="ctr"/>
          <a:lstStyle/>
          <a:p>
            <a:pPr marL="0" indent="0">
              <a:buNone/>
            </a:pPr>
            <a:r>
              <a:rPr lang="en-US" sz="1400" b="1" dirty="0">
                <a:solidFill>
                  <a:srgbClr val="1466C0"/>
                </a:solidFill>
                <a:latin typeface="Calibri" pitchFamily="34" charset="0"/>
                <a:ea typeface="Calibri" pitchFamily="34" charset="-122"/>
                <a:cs typeface="Calibri" pitchFamily="34" charset="-120"/>
              </a:rPr>
              <a:t>Trong đề tài:  </a:t>
            </a:r>
            <a:r>
              <a:rPr lang="en-US" sz="1400" b="0" dirty="0">
                <a:solidFill>
                  <a:srgbClr val="14243A"/>
                </a:solidFill>
                <a:latin typeface="Calibri" pitchFamily="34" charset="0"/>
                <a:ea typeface="Calibri" pitchFamily="34" charset="-122"/>
                <a:cs typeface="Calibri" pitchFamily="34" charset="-120"/>
              </a:rPr>
              <a:t>Encoder: 2× TransformerEncoderLayer (d=64, nhead=4, ff=128, dropout=0.1) mã hóa câu hỏi; PubMedBERT đóng băng [B,768] → Linear(768→64).  Decoder: GPT-2 124M, 12 lớp self-attention có mặt nạ nhân quả, lm_head → logits [B,T,V], giải mã greedy argmax, dừng ở eos hoặc 16 token.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2 · LÝ THUYẾT</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Encoder–Decoder và so sánh ba kiến trúc</a:t>
            </a:r>
            <a:endParaRPr lang="en-US" sz="2900" dirty="0"/>
          </a:p>
        </p:txBody>
      </p:sp>
      <p:sp>
        <p:nvSpPr>
          <p:cNvPr id="5" name="Shape 2"/>
          <p:cNvSpPr/>
          <p:nvPr/>
        </p:nvSpPr>
        <p:spPr>
          <a:xfrm>
            <a:off x="566928" y="1408176"/>
            <a:ext cx="5532120" cy="2395728"/>
          </a:xfrm>
          <a:prstGeom prst="roundRect">
            <a:avLst>
              <a:gd name="adj" fmla="val 3435"/>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6" name="Shape 3"/>
          <p:cNvSpPr/>
          <p:nvPr/>
        </p:nvSpPr>
        <p:spPr>
          <a:xfrm>
            <a:off x="822960" y="1627632"/>
            <a:ext cx="329184" cy="329184"/>
          </a:xfrm>
          <a:prstGeom prst="ellipse">
            <a:avLst/>
          </a:prstGeom>
          <a:solidFill>
            <a:srgbClr val="1466C0"/>
          </a:solidFill>
          <a:ln/>
        </p:spPr>
        <p:txBody>
          <a:bodyPr/>
          <a:lstStyle/>
          <a:p>
            <a:endParaRPr lang="en-US"/>
          </a:p>
        </p:txBody>
      </p:sp>
      <p:sp>
        <p:nvSpPr>
          <p:cNvPr id="7" name="Text 4"/>
          <p:cNvSpPr/>
          <p:nvPr/>
        </p:nvSpPr>
        <p:spPr>
          <a:xfrm>
            <a:off x="822960" y="1627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ED</a:t>
            </a:r>
            <a:endParaRPr lang="en-US" sz="1300" dirty="0"/>
          </a:p>
        </p:txBody>
      </p:sp>
      <p:sp>
        <p:nvSpPr>
          <p:cNvPr id="8" name="Text 5"/>
          <p:cNvSpPr/>
          <p:nvPr/>
        </p:nvSpPr>
        <p:spPr>
          <a:xfrm>
            <a:off x="1280160" y="1609344"/>
            <a:ext cx="457200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Transformer Encoder–Decoder (Seq2Seq)</a:t>
            </a:r>
            <a:endParaRPr lang="en-US" sz="1450" dirty="0"/>
          </a:p>
        </p:txBody>
      </p:sp>
      <p:sp>
        <p:nvSpPr>
          <p:cNvPr id="9" name="Text 6"/>
          <p:cNvSpPr/>
          <p:nvPr/>
        </p:nvSpPr>
        <p:spPr>
          <a:xfrm>
            <a:off x="822960" y="2103120"/>
            <a:ext cx="5155146" cy="1609344"/>
          </a:xfrm>
          <a:prstGeom prst="rect">
            <a:avLst/>
          </a:prstGeom>
          <a:noFill/>
          <a:ln/>
        </p:spPr>
        <p:txBody>
          <a:bodyPr wrap="square" lIns="0" tIns="0" rIns="0" bIns="0" rtlCol="0" anchor="ctr"/>
          <a:lstStyle/>
          <a:p>
            <a:pPr marL="0" indent="0">
              <a:lnSpc>
                <a:spcPct val="120000"/>
              </a:lnSpc>
              <a:spcAft>
                <a:spcPts val="800"/>
              </a:spcAft>
              <a:buNone/>
            </a:pPr>
            <a:r>
              <a:rPr lang="en-US" sz="1400" dirty="0">
                <a:solidFill>
                  <a:srgbClr val="4F637B"/>
                </a:solidFill>
                <a:latin typeface="Calibri" pitchFamily="34" charset="0"/>
                <a:ea typeface="Calibri" pitchFamily="34" charset="-122"/>
                <a:cs typeface="Calibri" pitchFamily="34" charset="-120"/>
              </a:rPr>
              <a:t>Encoder mã hóa đầu vào thành biểu diễn; decoder sinh đầu ra và ở mỗi bước dùng CROSS-ATTENTION để truy vấn biểu diễn của encoder. Đây là kiến trúc ánh xạ đầu vào → chuỗi đích.  </a:t>
            </a:r>
            <a:endParaRPr lang="en-US" sz="1400" dirty="0"/>
          </a:p>
          <a:p>
            <a:pPr marL="0" indent="0">
              <a:lnSpc>
                <a:spcPct val="120000"/>
              </a:lnSpc>
              <a:buNone/>
            </a:pPr>
            <a:r>
              <a:rPr lang="en-US" sz="1400" b="1" dirty="0">
                <a:solidFill>
                  <a:srgbClr val="1466C0"/>
                </a:solidFill>
                <a:latin typeface="Calibri" pitchFamily="34" charset="0"/>
                <a:ea typeface="Calibri" pitchFamily="34" charset="-122"/>
                <a:cs typeface="Calibri" pitchFamily="34" charset="-120"/>
              </a:rPr>
              <a:t>Vai trò:  </a:t>
            </a:r>
            <a:r>
              <a:rPr lang="en-US" sz="1400" dirty="0">
                <a:solidFill>
                  <a:srgbClr val="4F637B"/>
                </a:solidFill>
                <a:latin typeface="Calibri" pitchFamily="34" charset="0"/>
                <a:ea typeface="Calibri" pitchFamily="34" charset="-122"/>
                <a:cs typeface="Calibri" pitchFamily="34" charset="-120"/>
              </a:rPr>
              <a:t>dịch máy, tóm tắt, và VQA sinh — (ảnh + câu hỏi) → câu trả lời.</a:t>
            </a:r>
            <a:endParaRPr lang="en-US" sz="1400" dirty="0"/>
          </a:p>
        </p:txBody>
      </p:sp>
      <p:sp>
        <p:nvSpPr>
          <p:cNvPr id="10" name="Shape 7"/>
          <p:cNvSpPr/>
          <p:nvPr/>
        </p:nvSpPr>
        <p:spPr>
          <a:xfrm>
            <a:off x="6281928" y="1408176"/>
            <a:ext cx="5349240" cy="2395728"/>
          </a:xfrm>
          <a:prstGeom prst="roundRect">
            <a:avLst>
              <a:gd name="adj" fmla="val 3435"/>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1" name="Shape 8"/>
          <p:cNvSpPr/>
          <p:nvPr/>
        </p:nvSpPr>
        <p:spPr>
          <a:xfrm>
            <a:off x="6519672" y="1627632"/>
            <a:ext cx="329184" cy="329184"/>
          </a:xfrm>
          <a:prstGeom prst="ellipse">
            <a:avLst/>
          </a:prstGeom>
          <a:solidFill>
            <a:srgbClr val="0B8457"/>
          </a:solidFill>
          <a:ln/>
        </p:spPr>
        <p:txBody>
          <a:bodyPr/>
          <a:lstStyle/>
          <a:p>
            <a:endParaRPr lang="en-US"/>
          </a:p>
        </p:txBody>
      </p:sp>
      <p:sp>
        <p:nvSpPr>
          <p:cNvPr id="12" name="Text 9"/>
          <p:cNvSpPr/>
          <p:nvPr/>
        </p:nvSpPr>
        <p:spPr>
          <a:xfrm>
            <a:off x="6519672" y="1627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3" name="Text 10"/>
          <p:cNvSpPr/>
          <p:nvPr/>
        </p:nvSpPr>
        <p:spPr>
          <a:xfrm>
            <a:off x="6976872" y="1609344"/>
            <a:ext cx="443484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Trong đề tài</a:t>
            </a:r>
            <a:endParaRPr lang="en-US" sz="1450" dirty="0"/>
          </a:p>
        </p:txBody>
      </p:sp>
      <p:sp>
        <p:nvSpPr>
          <p:cNvPr id="14" name="Text 11"/>
          <p:cNvSpPr/>
          <p:nvPr/>
        </p:nvSpPr>
        <p:spPr>
          <a:xfrm>
            <a:off x="6519672" y="2103120"/>
            <a:ext cx="4892040" cy="1609344"/>
          </a:xfrm>
          <a:prstGeom prst="rect">
            <a:avLst/>
          </a:prstGeom>
          <a:noFill/>
          <a:ln/>
        </p:spPr>
        <p:txBody>
          <a:bodyPr wrap="square" lIns="0" tIns="0" rIns="0" bIns="0" rtlCol="0" anchor="ctr"/>
          <a:lstStyle/>
          <a:p>
            <a:pPr marL="0" indent="0">
              <a:lnSpc>
                <a:spcPct val="120000"/>
              </a:lnSpc>
              <a:buNone/>
            </a:pPr>
            <a:r>
              <a:rPr lang="en-US" sz="1400" dirty="0">
                <a:solidFill>
                  <a:srgbClr val="4F637B"/>
                </a:solidFill>
                <a:latin typeface="Calibri" pitchFamily="34" charset="0"/>
                <a:ea typeface="Calibri" pitchFamily="34" charset="-122"/>
                <a:cs typeface="Calibri" pitchFamily="34" charset="-120"/>
              </a:rPr>
              <a:t>Pipeline nhóm P/Q chính là một dạng encoder–decoder: encoder đa phương thức (PubMedCLIP + PubMedBERT + fusion) mã hóa ảnh và câu hỏi, GPT-2 là decoder sinh câu trả lời, prefix token đóng vai cầu nối thay cho cross-attention đầy đủ. Gemma là một VLM encoder–decoder hợp nhất.</a:t>
            </a:r>
            <a:endParaRPr lang="en-US" sz="1400" dirty="0"/>
          </a:p>
        </p:txBody>
      </p:sp>
      <p:sp>
        <p:nvSpPr>
          <p:cNvPr id="15" name="Text 12"/>
          <p:cNvSpPr/>
          <p:nvPr/>
        </p:nvSpPr>
        <p:spPr>
          <a:xfrm>
            <a:off x="566928" y="3968496"/>
            <a:ext cx="11057839" cy="274320"/>
          </a:xfrm>
          <a:prstGeom prst="rect">
            <a:avLst/>
          </a:prstGeom>
          <a:noFill/>
          <a:ln/>
        </p:spPr>
        <p:txBody>
          <a:bodyPr wrap="square" lIns="0" tIns="0" rIns="0" bIns="0" rtlCol="0" anchor="ctr"/>
          <a:lstStyle/>
          <a:p>
            <a:pPr marL="0" indent="0">
              <a:buNone/>
            </a:pPr>
            <a:r>
              <a:rPr lang="en-US" sz="1350" b="1" dirty="0">
                <a:solidFill>
                  <a:srgbClr val="14243A"/>
                </a:solidFill>
                <a:latin typeface="Calibri" pitchFamily="34" charset="0"/>
                <a:ea typeface="Calibri" pitchFamily="34" charset="-122"/>
                <a:cs typeface="Calibri" pitchFamily="34" charset="-120"/>
              </a:rPr>
              <a:t>So sánh ba kiến trúc trích đặc trưng / xử lý chuỗi</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264027189"/>
              </p:ext>
            </p:extLst>
          </p:nvPr>
        </p:nvGraphicFramePr>
        <p:xfrm>
          <a:off x="566928" y="4297680"/>
          <a:ext cx="10966589" cy="1645920"/>
        </p:xfrm>
        <a:graphic>
          <a:graphicData uri="http://schemas.openxmlformats.org/drawingml/2006/table">
            <a:tbl>
              <a:tblPr/>
              <a:tblGrid>
                <a:gridCol w="2377440">
                  <a:extLst>
                    <a:ext uri="{9D8B030D-6E8A-4147-A177-3AD203B41FA5}">
                      <a16:colId xmlns:a16="http://schemas.microsoft.com/office/drawing/2014/main" val="20000"/>
                    </a:ext>
                  </a:extLst>
                </a:gridCol>
                <a:gridCol w="2889504">
                  <a:extLst>
                    <a:ext uri="{9D8B030D-6E8A-4147-A177-3AD203B41FA5}">
                      <a16:colId xmlns:a16="http://schemas.microsoft.com/office/drawing/2014/main" val="20001"/>
                    </a:ext>
                  </a:extLst>
                </a:gridCol>
                <a:gridCol w="2889504">
                  <a:extLst>
                    <a:ext uri="{9D8B030D-6E8A-4147-A177-3AD203B41FA5}">
                      <a16:colId xmlns:a16="http://schemas.microsoft.com/office/drawing/2014/main" val="20002"/>
                    </a:ext>
                  </a:extLst>
                </a:gridCol>
                <a:gridCol w="2810141">
                  <a:extLst>
                    <a:ext uri="{9D8B030D-6E8A-4147-A177-3AD203B41FA5}">
                      <a16:colId xmlns:a16="http://schemas.microsoft.com/office/drawing/2014/main" val="20003"/>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Tiêu chí</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CNN</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LSTM</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Transformer</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extLst>
                  <a:ext uri="{0D108BD9-81ED-4DB2-BD59-A6C34878D82A}">
                    <a16:rowId xmlns:a16="http://schemas.microsoft.com/office/drawing/2014/main" val="10000"/>
                  </a:ext>
                </a:extLst>
              </a:tr>
              <a:tr h="329184">
                <a:tc>
                  <a:txBody>
                    <a:bodyPr/>
                    <a:lstStyle/>
                    <a:p>
                      <a:pPr marL="0" indent="0" algn="l">
                        <a:buNone/>
                      </a:pPr>
                      <a:r>
                        <a:rPr lang="en-US" sz="1100" b="1" dirty="0">
                          <a:solidFill>
                            <a:srgbClr val="14243A"/>
                          </a:solidFill>
                          <a:latin typeface="Calibri" pitchFamily="34" charset="0"/>
                          <a:ea typeface="Calibri" pitchFamily="34" charset="-122"/>
                          <a:cs typeface="Calibri" pitchFamily="34" charset="-120"/>
                        </a:rPr>
                        <a:t>Dữ liệu phù hợp</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Ảnh, dữ liệu lưới</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Chuỗi ngắn–vừa</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Chuỗi, ngữ cảnh dài</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1"/>
                  </a:ext>
                </a:extLst>
              </a:tr>
              <a:tr h="329184">
                <a:tc>
                  <a:txBody>
                    <a:bodyPr/>
                    <a:lstStyle/>
                    <a:p>
                      <a:pPr marL="0" indent="0" algn="l">
                        <a:buNone/>
                      </a:pPr>
                      <a:r>
                        <a:rPr lang="en-US" sz="1100" b="1" dirty="0">
                          <a:solidFill>
                            <a:srgbClr val="14243A"/>
                          </a:solidFill>
                          <a:latin typeface="Calibri" pitchFamily="34" charset="0"/>
                          <a:ea typeface="Calibri" pitchFamily="34" charset="-122"/>
                          <a:cs typeface="Calibri" pitchFamily="34" charset="-120"/>
                        </a:rPr>
                        <a:t>Quan hệ tầm xa</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Cục bộ</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Trung bình</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100" b="1" dirty="0">
                          <a:solidFill>
                            <a:srgbClr val="0B8457"/>
                          </a:solidFill>
                          <a:latin typeface="Calibri" pitchFamily="34" charset="0"/>
                          <a:ea typeface="Calibri" pitchFamily="34" charset="-122"/>
                          <a:cs typeface="Calibri" pitchFamily="34" charset="-120"/>
                        </a:rPr>
                        <a:t>Rất tốt (toàn cục)</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2"/>
                  </a:ext>
                </a:extLst>
              </a:tr>
              <a:tr h="329184">
                <a:tc>
                  <a:txBody>
                    <a:bodyPr/>
                    <a:lstStyle/>
                    <a:p>
                      <a:pPr marL="0" indent="0" algn="l">
                        <a:buNone/>
                      </a:pPr>
                      <a:r>
                        <a:rPr lang="en-US" sz="1100" b="1" dirty="0">
                          <a:solidFill>
                            <a:srgbClr val="14243A"/>
                          </a:solidFill>
                          <a:latin typeface="Calibri" pitchFamily="34" charset="0"/>
                          <a:ea typeface="Calibri" pitchFamily="34" charset="-122"/>
                          <a:cs typeface="Calibri" pitchFamily="34" charset="-120"/>
                        </a:rPr>
                        <a:t>Song song hóa</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Cao</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Thấp (tuần tự)</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Cao</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3"/>
                  </a:ext>
                </a:extLst>
              </a:tr>
              <a:tr h="329184">
                <a:tc>
                  <a:txBody>
                    <a:bodyPr/>
                    <a:lstStyle/>
                    <a:p>
                      <a:pPr marL="0" indent="0" algn="l">
                        <a:buNone/>
                      </a:pPr>
                      <a:r>
                        <a:rPr lang="en-US" sz="1100" b="1" dirty="0">
                          <a:solidFill>
                            <a:srgbClr val="14243A"/>
                          </a:solidFill>
                          <a:latin typeface="Calibri" pitchFamily="34" charset="0"/>
                          <a:ea typeface="Calibri" pitchFamily="34" charset="-122"/>
                          <a:cs typeface="Calibri" pitchFamily="34" charset="-120"/>
                        </a:rPr>
                        <a:t>Điểm yếu chính</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Thiếu ngữ cảnh toàn cục</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Khó phụ thuộc rất xa</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Tốn bộ nhớ O(n²)</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10527487" y="237744"/>
            <a:ext cx="1097280" cy="589788"/>
          </a:xfrm>
          <a:prstGeom prst="rect">
            <a:avLst/>
          </a:prstGeom>
        </p:spPr>
      </p:pic>
      <p:sp>
        <p:nvSpPr>
          <p:cNvPr id="3" name="T3"/>
          <p:cNvSpPr/>
          <p:nvPr/>
        </p:nvSpPr>
        <p:spPr>
          <a:xfrm>
            <a:off x="566928" y="310896"/>
            <a:ext cx="9777679" cy="457200"/>
          </a:xfrm>
          <a:prstGeom prst="rect">
            <a:avLst/>
          </a:prstGeom>
          <a:noFill/>
          <a:ln/>
        </p:spPr>
        <p:txBody>
          <a:bodyPr wrap="square" lIns="0" tIns="0" rIns="0" bIns="0" rtlCol="0" anchor="ctr"/>
          <a:lstStyle/>
          <a:p>
            <a:pPr marL="0" indent="0" algn="l">
              <a:buNone/>
            </a:pPr>
            <a:r>
              <a:rPr lang="en-US" sz="1050" b="1" kern="0" spc="220" dirty="0">
                <a:solidFill>
                  <a:srgbClr val="1466C0"/>
                </a:solidFill>
                <a:latin typeface="Calibri" pitchFamily="34" charset="0"/>
                <a:ea typeface="Calibri" pitchFamily="34" charset="-122"/>
                <a:cs typeface="Calibri" pitchFamily="34" charset="-120"/>
              </a:rPr>
              <a:t>PHẦN 2 · LÝ THUYẾT</a:t>
            </a:r>
            <a:endParaRPr lang="en-US" sz="1050" dirty="0"/>
          </a:p>
        </p:txBody>
      </p:sp>
      <p:sp>
        <p:nvSpPr>
          <p:cNvPr id="4" name="T4"/>
          <p:cNvSpPr/>
          <p:nvPr/>
        </p:nvSpPr>
        <p:spPr>
          <a:xfrm>
            <a:off x="566928" y="548640"/>
            <a:ext cx="9777679" cy="457200"/>
          </a:xfrm>
          <a:prstGeom prst="rect">
            <a:avLst/>
          </a:prstGeom>
          <a:noFill/>
          <a:ln/>
        </p:spPr>
        <p:txBody>
          <a:bodyPr wrap="square" lIns="0" tIns="0" rIns="0" bIns="0" rtlCol="0" anchor="ctr"/>
          <a:lstStyle/>
          <a:p>
            <a:pPr marL="0" indent="0" algn="l">
              <a:buNone/>
            </a:pPr>
            <a:r>
              <a:rPr lang="en-US" sz="2400" b="1" kern="0" spc="0" dirty="0">
                <a:solidFill>
                  <a:srgbClr val="14243A"/>
                </a:solidFill>
                <a:latin typeface="Calibri" pitchFamily="34" charset="0"/>
                <a:ea typeface="Calibri" pitchFamily="34" charset="-122"/>
                <a:cs typeface="Calibri" pitchFamily="34" charset="-120"/>
              </a:rPr>
              <a:t>Toàn cảnh pipeline — từ ảnh và câu hỏi đến câu trả lời</a:t>
            </a:r>
            <a:endParaRPr lang="en-US" sz="2400" dirty="0"/>
          </a:p>
        </p:txBody>
      </p:sp>
      <p:sp>
        <p:nvSpPr>
          <p:cNvPr id="5" name="T5"/>
          <p:cNvSpPr/>
          <p:nvPr/>
        </p:nvSpPr>
        <p:spPr>
          <a:xfrm>
            <a:off x="560216" y="893265"/>
            <a:ext cx="10515911" cy="457200"/>
          </a:xfrm>
          <a:prstGeom prst="rect">
            <a:avLst/>
          </a:prstGeom>
          <a:noFill/>
          <a:ln/>
        </p:spPr>
        <p:txBody>
          <a:bodyPr wrap="square" lIns="0" tIns="0" rIns="0" bIns="0" rtlCol="0" anchor="ctr"/>
          <a:lstStyle/>
          <a:p>
            <a:pPr marL="0" indent="0" algn="l">
              <a:buNone/>
            </a:pPr>
            <a:r>
              <a:rPr lang="en-US" sz="1400" b="0" kern="0" spc="0" dirty="0">
                <a:solidFill>
                  <a:srgbClr val="5A6577"/>
                </a:solidFill>
                <a:latin typeface="Calibri" pitchFamily="34" charset="0"/>
                <a:ea typeface="Calibri" pitchFamily="34" charset="-122"/>
                <a:cs typeface="Calibri" pitchFamily="34" charset="-120"/>
              </a:rPr>
              <a:t>Hai nhánh mã hóa chạy song song, gặp nhau ở bước hợp nhất, rồi một decoder sinh câu trả lời từng token. </a:t>
            </a:r>
            <a:endParaRPr lang="en-US" sz="1400" dirty="0"/>
          </a:p>
        </p:txBody>
      </p:sp>
      <p:pic>
        <p:nvPicPr>
          <p:cNvPr id="12" name="Picture 11">
            <a:extLst>
              <a:ext uri="{FF2B5EF4-FFF2-40B4-BE49-F238E27FC236}">
                <a16:creationId xmlns:a16="http://schemas.microsoft.com/office/drawing/2014/main" id="{CCAAB364-705A-E860-B2FC-6AFD2FE9388F}"/>
              </a:ext>
            </a:extLst>
          </p:cNvPr>
          <p:cNvPicPr>
            <a:picLocks noChangeAspect="1"/>
          </p:cNvPicPr>
          <p:nvPr/>
        </p:nvPicPr>
        <p:blipFill>
          <a:blip r:embed="rId4"/>
          <a:srcRect t="10039" b="4335"/>
          <a:stretch>
            <a:fillRect/>
          </a:stretch>
        </p:blipFill>
        <p:spPr>
          <a:xfrm>
            <a:off x="560216" y="1350465"/>
            <a:ext cx="10947422" cy="538992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2 · LÝ THUYẾT</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Hai phương pháp huấn luyện: SFT và RL</a:t>
            </a:r>
            <a:endParaRPr lang="en-US" sz="2900" dirty="0"/>
          </a:p>
        </p:txBody>
      </p:sp>
      <p:sp>
        <p:nvSpPr>
          <p:cNvPr id="5" name="Text 2"/>
          <p:cNvSpPr/>
          <p:nvPr/>
        </p:nvSpPr>
        <p:spPr>
          <a:xfrm>
            <a:off x="566928" y="1371600"/>
            <a:ext cx="11057839" cy="384048"/>
          </a:xfrm>
          <a:prstGeom prst="rect">
            <a:avLst/>
          </a:prstGeom>
          <a:noFill/>
          <a:ln/>
        </p:spPr>
        <p:txBody>
          <a:bodyPr wrap="square" lIns="0" tIns="0" rIns="0" bIns="0" rtlCol="0" anchor="ctr"/>
          <a:lstStyle/>
          <a:p>
            <a:pPr marL="0" indent="0">
              <a:lnSpc>
                <a:spcPct val="116000"/>
              </a:lnSpc>
              <a:buNone/>
            </a:pPr>
            <a:r>
              <a:rPr lang="en-US" sz="1250" dirty="0">
                <a:solidFill>
                  <a:srgbClr val="4F637B"/>
                </a:solidFill>
                <a:latin typeface="Calibri" pitchFamily="34" charset="0"/>
                <a:ea typeface="Calibri" pitchFamily="34" charset="-122"/>
                <a:cs typeface="Calibri" pitchFamily="34" charset="-120"/>
              </a:rPr>
              <a:t>Đề tài dùng hai phương pháp huấn luyện nối tiếp nhau: học có giám sát trước, rồi học tăng cường tinh chỉnh trên checkpoint tốt nhất.</a:t>
            </a:r>
            <a:endParaRPr lang="en-US" sz="1250" dirty="0"/>
          </a:p>
        </p:txBody>
      </p:sp>
      <p:sp>
        <p:nvSpPr>
          <p:cNvPr id="6" name="Shape 3"/>
          <p:cNvSpPr/>
          <p:nvPr/>
        </p:nvSpPr>
        <p:spPr>
          <a:xfrm>
            <a:off x="566928" y="1865376"/>
            <a:ext cx="5394960" cy="3913632"/>
          </a:xfrm>
          <a:prstGeom prst="roundRect">
            <a:avLst>
              <a:gd name="adj" fmla="val 2103"/>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7" name="Shape 4"/>
          <p:cNvSpPr/>
          <p:nvPr/>
        </p:nvSpPr>
        <p:spPr>
          <a:xfrm>
            <a:off x="822960" y="2084832"/>
            <a:ext cx="329184" cy="329184"/>
          </a:xfrm>
          <a:prstGeom prst="ellipse">
            <a:avLst/>
          </a:prstGeom>
          <a:solidFill>
            <a:srgbClr val="0B8457"/>
          </a:solidFill>
          <a:ln/>
        </p:spPr>
        <p:txBody>
          <a:bodyPr/>
          <a:lstStyle/>
          <a:p>
            <a:endParaRPr lang="en-US"/>
          </a:p>
        </p:txBody>
      </p:sp>
      <p:sp>
        <p:nvSpPr>
          <p:cNvPr id="8" name="Text 5"/>
          <p:cNvSpPr/>
          <p:nvPr/>
        </p:nvSpPr>
        <p:spPr>
          <a:xfrm>
            <a:off x="822960" y="20848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a:t>
            </a:r>
            <a:endParaRPr lang="en-US" sz="1300" dirty="0"/>
          </a:p>
        </p:txBody>
      </p:sp>
      <p:sp>
        <p:nvSpPr>
          <p:cNvPr id="9" name="Text 6"/>
          <p:cNvSpPr/>
          <p:nvPr/>
        </p:nvSpPr>
        <p:spPr>
          <a:xfrm>
            <a:off x="1280160" y="2066544"/>
            <a:ext cx="448056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SFT — Supervised Fine-Tuning</a:t>
            </a:r>
            <a:endParaRPr lang="en-US" sz="1450" dirty="0"/>
          </a:p>
        </p:txBody>
      </p:sp>
      <p:sp>
        <p:nvSpPr>
          <p:cNvPr id="10" name="Text 7"/>
          <p:cNvSpPr/>
          <p:nvPr/>
        </p:nvSpPr>
        <p:spPr>
          <a:xfrm>
            <a:off x="822960" y="2578608"/>
            <a:ext cx="4937760" cy="3063240"/>
          </a:xfrm>
          <a:prstGeom prst="rect">
            <a:avLst/>
          </a:prstGeom>
          <a:noFill/>
          <a:ln/>
        </p:spPr>
        <p:txBody>
          <a:bodyPr wrap="square" lIns="0" tIns="0" rIns="0" bIns="0" rtlCol="0" anchor="ctr"/>
          <a:lstStyle/>
          <a:p>
            <a:pPr marL="0" indent="0">
              <a:lnSpc>
                <a:spcPct val="118000"/>
              </a:lnSpc>
              <a:buNone/>
            </a:pPr>
            <a:r>
              <a:rPr lang="en-US" sz="1200" b="1" dirty="0">
                <a:solidFill>
                  <a:srgbClr val="0B8457"/>
                </a:solidFill>
                <a:latin typeface="Calibri" pitchFamily="34" charset="0"/>
                <a:ea typeface="Calibri" pitchFamily="34" charset="-122"/>
                <a:cs typeface="Calibri" pitchFamily="34" charset="-120"/>
              </a:rPr>
              <a:t>Nguyên lý.  </a:t>
            </a:r>
            <a:r>
              <a:rPr lang="en-US" sz="1200" dirty="0">
                <a:solidFill>
                  <a:srgbClr val="4F637B"/>
                </a:solidFill>
                <a:latin typeface="Calibri" pitchFamily="34" charset="0"/>
                <a:ea typeface="Calibri" pitchFamily="34" charset="-122"/>
                <a:cs typeface="Calibri" pitchFamily="34" charset="-120"/>
              </a:rPr>
              <a:t>Học có giám sát trên cặp (đầu vào, đáp án đúng). Tối thiểu hóa cross-entropy từng token so với đáp án tham chiếu (teacher forcing).</a:t>
            </a:r>
            <a:endParaRPr lang="en-US" sz="1200" dirty="0"/>
          </a:p>
          <a:p>
            <a:pPr marL="0" indent="0">
              <a:lnSpc>
                <a:spcPct val="118000"/>
              </a:lnSpc>
              <a:buNone/>
            </a:pPr>
            <a:r>
              <a:rPr lang="en-US" sz="1200" b="1" dirty="0">
                <a:solidFill>
                  <a:srgbClr val="14243A"/>
                </a:solidFill>
                <a:latin typeface="Calibri" pitchFamily="34" charset="0"/>
                <a:ea typeface="Calibri" pitchFamily="34" charset="-122"/>
                <a:cs typeface="Calibri" pitchFamily="34" charset="-120"/>
              </a:rPr>
              <a:t>Ưu điểm.  </a:t>
            </a:r>
            <a:r>
              <a:rPr lang="en-US" sz="1200" dirty="0">
                <a:solidFill>
                  <a:srgbClr val="4F637B"/>
                </a:solidFill>
                <a:latin typeface="Calibri" pitchFamily="34" charset="0"/>
                <a:ea typeface="Calibri" pitchFamily="34" charset="-122"/>
                <a:cs typeface="Calibri" pitchFamily="34" charset="-120"/>
              </a:rPr>
              <a:t>Ổn định, hội tụ nhanh, là chuẩn khởi đầu.</a:t>
            </a:r>
            <a:endParaRPr lang="en-US" sz="1200" dirty="0"/>
          </a:p>
          <a:p>
            <a:pPr marL="0" indent="0">
              <a:lnSpc>
                <a:spcPct val="118000"/>
              </a:lnSpc>
              <a:buNone/>
            </a:pPr>
            <a:r>
              <a:rPr lang="en-US" sz="1200" b="1" dirty="0">
                <a:solidFill>
                  <a:srgbClr val="B26A00"/>
                </a:solidFill>
                <a:latin typeface="Calibri" pitchFamily="34" charset="0"/>
                <a:ea typeface="Calibri" pitchFamily="34" charset="-122"/>
                <a:cs typeface="Calibri" pitchFamily="34" charset="-120"/>
              </a:rPr>
              <a:t>Hạn chế.  </a:t>
            </a:r>
            <a:r>
              <a:rPr lang="en-US" sz="1200" dirty="0">
                <a:solidFill>
                  <a:srgbClr val="4F637B"/>
                </a:solidFill>
                <a:latin typeface="Calibri" pitchFamily="34" charset="0"/>
                <a:ea typeface="Calibri" pitchFamily="34" charset="-122"/>
                <a:cs typeface="Calibri" pitchFamily="34" charset="-120"/>
              </a:rPr>
              <a:t>Chỉ “bắt chước” đáp án tham chiếu; không tối ưu trực tiếp thước đo đánh giá (EM, F1); có exposure bias.</a:t>
            </a:r>
            <a:endParaRPr lang="en-US" sz="1200" dirty="0"/>
          </a:p>
          <a:p>
            <a:pPr marL="0" indent="0">
              <a:lnSpc>
                <a:spcPct val="118000"/>
              </a:lnSpc>
              <a:buNone/>
            </a:pPr>
            <a:r>
              <a:rPr lang="en-US" sz="1200" b="1" dirty="0">
                <a:solidFill>
                  <a:srgbClr val="1466C0"/>
                </a:solidFill>
                <a:latin typeface="Calibri" pitchFamily="34" charset="0"/>
                <a:ea typeface="Calibri" pitchFamily="34" charset="-122"/>
                <a:cs typeface="Calibri" pitchFamily="34" charset="-120"/>
              </a:rPr>
              <a:t>Trong đề tài.  </a:t>
            </a:r>
            <a:r>
              <a:rPr lang="en-US" sz="1200" dirty="0">
                <a:solidFill>
                  <a:srgbClr val="4F637B"/>
                </a:solidFill>
                <a:latin typeface="Calibri" pitchFamily="34" charset="0"/>
                <a:ea typeface="Calibri" pitchFamily="34" charset="-122"/>
                <a:cs typeface="Calibri" pitchFamily="34" charset="-120"/>
              </a:rPr>
              <a:t>Mọi nhóm A / P / Q và cả Gemma LoRA đều huấn luyện bằng SFT.</a:t>
            </a:r>
            <a:endParaRPr lang="en-US" sz="1200" dirty="0"/>
          </a:p>
        </p:txBody>
      </p:sp>
      <p:sp>
        <p:nvSpPr>
          <p:cNvPr id="11" name="Shape 8"/>
          <p:cNvSpPr/>
          <p:nvPr/>
        </p:nvSpPr>
        <p:spPr>
          <a:xfrm>
            <a:off x="6236208" y="1865376"/>
            <a:ext cx="5394960" cy="3913632"/>
          </a:xfrm>
          <a:prstGeom prst="roundRect">
            <a:avLst>
              <a:gd name="adj" fmla="val 2103"/>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2" name="Shape 9"/>
          <p:cNvSpPr/>
          <p:nvPr/>
        </p:nvSpPr>
        <p:spPr>
          <a:xfrm>
            <a:off x="6492240" y="2084832"/>
            <a:ext cx="329184" cy="329184"/>
          </a:xfrm>
          <a:prstGeom prst="ellipse">
            <a:avLst/>
          </a:prstGeom>
          <a:solidFill>
            <a:srgbClr val="6B33C7"/>
          </a:solidFill>
          <a:ln/>
        </p:spPr>
        <p:txBody>
          <a:bodyPr/>
          <a:lstStyle/>
          <a:p>
            <a:endParaRPr lang="en-US"/>
          </a:p>
        </p:txBody>
      </p:sp>
      <p:sp>
        <p:nvSpPr>
          <p:cNvPr id="13" name="Text 10"/>
          <p:cNvSpPr/>
          <p:nvPr/>
        </p:nvSpPr>
        <p:spPr>
          <a:xfrm>
            <a:off x="6492240" y="20848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a:t>
            </a:r>
            <a:endParaRPr lang="en-US" sz="1300" dirty="0"/>
          </a:p>
        </p:txBody>
      </p:sp>
      <p:sp>
        <p:nvSpPr>
          <p:cNvPr id="14" name="Text 11"/>
          <p:cNvSpPr/>
          <p:nvPr/>
        </p:nvSpPr>
        <p:spPr>
          <a:xfrm>
            <a:off x="6949440" y="2066544"/>
            <a:ext cx="448056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RL — Reinforcement Learning</a:t>
            </a:r>
            <a:endParaRPr lang="en-US" sz="1450" dirty="0"/>
          </a:p>
        </p:txBody>
      </p:sp>
      <p:sp>
        <p:nvSpPr>
          <p:cNvPr id="15" name="Text 12"/>
          <p:cNvSpPr/>
          <p:nvPr/>
        </p:nvSpPr>
        <p:spPr>
          <a:xfrm>
            <a:off x="6492240" y="2578608"/>
            <a:ext cx="4937760" cy="3063240"/>
          </a:xfrm>
          <a:prstGeom prst="rect">
            <a:avLst/>
          </a:prstGeom>
          <a:noFill/>
          <a:ln/>
        </p:spPr>
        <p:txBody>
          <a:bodyPr wrap="square" lIns="0" tIns="0" rIns="0" bIns="0" rtlCol="0" anchor="ctr"/>
          <a:lstStyle/>
          <a:p>
            <a:pPr marL="0" indent="0">
              <a:lnSpc>
                <a:spcPct val="118000"/>
              </a:lnSpc>
              <a:buNone/>
            </a:pPr>
            <a:r>
              <a:rPr lang="en-US" sz="1200" b="1" dirty="0">
                <a:solidFill>
                  <a:srgbClr val="6B33C7"/>
                </a:solidFill>
                <a:latin typeface="Calibri" pitchFamily="34" charset="0"/>
                <a:ea typeface="Calibri" pitchFamily="34" charset="-122"/>
                <a:cs typeface="Calibri" pitchFamily="34" charset="-120"/>
              </a:rPr>
              <a:t>Nguyên lý.  </a:t>
            </a:r>
            <a:r>
              <a:rPr lang="en-US" sz="1200" dirty="0">
                <a:solidFill>
                  <a:srgbClr val="4F637B"/>
                </a:solidFill>
                <a:latin typeface="Calibri" pitchFamily="34" charset="0"/>
                <a:ea typeface="Calibri" pitchFamily="34" charset="-122"/>
                <a:cs typeface="Calibri" pitchFamily="34" charset="-120"/>
              </a:rPr>
              <a:t>Mô hình tự sinh câu, nhận phần thưởng (reward) theo chất lượng, rồi cập nhật chính sách bằng policy gradient. Ở đây dùng SCST (Self-Critical Sequence Training).</a:t>
            </a:r>
            <a:endParaRPr lang="en-US" sz="1200" dirty="0"/>
          </a:p>
          <a:p>
            <a:pPr marL="0" indent="0">
              <a:lnSpc>
                <a:spcPct val="118000"/>
              </a:lnSpc>
              <a:buNone/>
            </a:pPr>
            <a:r>
              <a:rPr lang="en-US" sz="1200" b="1" dirty="0">
                <a:solidFill>
                  <a:srgbClr val="14243A"/>
                </a:solidFill>
                <a:latin typeface="Calibri" pitchFamily="34" charset="0"/>
                <a:ea typeface="Calibri" pitchFamily="34" charset="-122"/>
                <a:cs typeface="Calibri" pitchFamily="34" charset="-120"/>
              </a:rPr>
              <a:t>Ưu điểm.  </a:t>
            </a:r>
            <a:r>
              <a:rPr lang="en-US" sz="1200" dirty="0">
                <a:solidFill>
                  <a:srgbClr val="4F637B"/>
                </a:solidFill>
                <a:latin typeface="Calibri" pitchFamily="34" charset="0"/>
                <a:ea typeface="Calibri" pitchFamily="34" charset="-122"/>
                <a:cs typeface="Calibri" pitchFamily="34" charset="-120"/>
              </a:rPr>
              <a:t>Tối ưu TRỰC TIẾP thước đo không khả vi — EM, F1 hoặc tương đồng ngữ nghĩa.</a:t>
            </a:r>
            <a:endParaRPr lang="en-US" sz="1200" dirty="0"/>
          </a:p>
          <a:p>
            <a:pPr marL="0" indent="0">
              <a:lnSpc>
                <a:spcPct val="118000"/>
              </a:lnSpc>
              <a:buNone/>
            </a:pPr>
            <a:r>
              <a:rPr lang="en-US" sz="1200" b="1" dirty="0">
                <a:solidFill>
                  <a:srgbClr val="B26A00"/>
                </a:solidFill>
                <a:latin typeface="Calibri" pitchFamily="34" charset="0"/>
                <a:ea typeface="Calibri" pitchFamily="34" charset="-122"/>
                <a:cs typeface="Calibri" pitchFamily="34" charset="-120"/>
              </a:rPr>
              <a:t>Hạn chế.  </a:t>
            </a:r>
            <a:r>
              <a:rPr lang="en-US" sz="1200" dirty="0">
                <a:solidFill>
                  <a:srgbClr val="4F637B"/>
                </a:solidFill>
                <a:latin typeface="Calibri" pitchFamily="34" charset="0"/>
                <a:ea typeface="Calibri" pitchFamily="34" charset="-122"/>
                <a:cs typeface="Calibri" pitchFamily="34" charset="-120"/>
              </a:rPr>
              <a:t>Phương sai lớn, bất ổn, nhạy khởi tạo, tốn tài nguyên.</a:t>
            </a:r>
            <a:endParaRPr lang="en-US" sz="1200" dirty="0"/>
          </a:p>
          <a:p>
            <a:pPr marL="0" indent="0">
              <a:lnSpc>
                <a:spcPct val="118000"/>
              </a:lnSpc>
              <a:buNone/>
            </a:pPr>
            <a:r>
              <a:rPr lang="en-US" sz="1200" b="1" dirty="0">
                <a:solidFill>
                  <a:srgbClr val="1466C0"/>
                </a:solidFill>
                <a:latin typeface="Calibri" pitchFamily="34" charset="0"/>
                <a:ea typeface="Calibri" pitchFamily="34" charset="-122"/>
                <a:cs typeface="Calibri" pitchFamily="34" charset="-120"/>
              </a:rPr>
              <a:t>Trong đề tài.  </a:t>
            </a:r>
            <a:r>
              <a:rPr lang="en-US" sz="1200" dirty="0">
                <a:solidFill>
                  <a:srgbClr val="4F637B"/>
                </a:solidFill>
                <a:latin typeface="Calibri" pitchFamily="34" charset="0"/>
                <a:ea typeface="Calibri" pitchFamily="34" charset="-122"/>
                <a:cs typeface="Calibri" pitchFamily="34" charset="-120"/>
              </a:rPr>
              <a:t>D1_scst (reward từ vựng) và D_semantic (reward ngữ nghĩa) — cả hai không vượt được SFT baseline.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10527487" y="237744"/>
            <a:ext cx="1097280" cy="589788"/>
          </a:xfrm>
          <a:prstGeom prst="rect">
            <a:avLst/>
          </a:prstGeom>
        </p:spPr>
      </p:pic>
      <p:sp>
        <p:nvSpPr>
          <p:cNvPr id="3" name="T3"/>
          <p:cNvSpPr/>
          <p:nvPr/>
        </p:nvSpPr>
        <p:spPr>
          <a:xfrm>
            <a:off x="566928" y="310896"/>
            <a:ext cx="9777679" cy="457200"/>
          </a:xfrm>
          <a:prstGeom prst="rect">
            <a:avLst/>
          </a:prstGeom>
          <a:noFill/>
          <a:ln/>
        </p:spPr>
        <p:txBody>
          <a:bodyPr wrap="square" lIns="0" tIns="0" rIns="0" bIns="0" rtlCol="0" anchor="ctr"/>
          <a:lstStyle/>
          <a:p>
            <a:pPr marL="0" indent="0" algn="l">
              <a:buNone/>
            </a:pPr>
            <a:r>
              <a:rPr lang="en-US" sz="1050" b="1" kern="0" spc="220" dirty="0">
                <a:solidFill>
                  <a:srgbClr val="1466C0"/>
                </a:solidFill>
                <a:latin typeface="Calibri" pitchFamily="34" charset="0"/>
                <a:ea typeface="Calibri" pitchFamily="34" charset="-122"/>
                <a:cs typeface="Calibri" pitchFamily="34" charset="-120"/>
              </a:rPr>
              <a:t>PHẦN 2 · LÝ THUYẾT</a:t>
            </a:r>
            <a:endParaRPr lang="en-US" sz="1050" dirty="0"/>
          </a:p>
        </p:txBody>
      </p:sp>
      <p:sp>
        <p:nvSpPr>
          <p:cNvPr id="4" name="T4"/>
          <p:cNvSpPr/>
          <p:nvPr/>
        </p:nvSpPr>
        <p:spPr>
          <a:xfrm>
            <a:off x="566928" y="548640"/>
            <a:ext cx="9777679" cy="457200"/>
          </a:xfrm>
          <a:prstGeom prst="rect">
            <a:avLst/>
          </a:prstGeom>
          <a:noFill/>
          <a:ln/>
        </p:spPr>
        <p:txBody>
          <a:bodyPr wrap="square" lIns="0" tIns="0" rIns="0" bIns="0" rtlCol="0" anchor="ctr"/>
          <a:lstStyle/>
          <a:p>
            <a:pPr marL="0" indent="0" algn="l">
              <a:buNone/>
            </a:pPr>
            <a:r>
              <a:rPr lang="en-US" sz="2400" b="1" kern="0" spc="0" dirty="0">
                <a:solidFill>
                  <a:srgbClr val="14243A"/>
                </a:solidFill>
                <a:latin typeface="Calibri" pitchFamily="34" charset="0"/>
                <a:ea typeface="Calibri" pitchFamily="34" charset="-122"/>
                <a:cs typeface="Calibri" pitchFamily="34" charset="-120"/>
              </a:rPr>
              <a:t>SCST — vòng lặp học tăng cường tự phê bình</a:t>
            </a:r>
            <a:endParaRPr lang="en-US" sz="2400" dirty="0"/>
          </a:p>
        </p:txBody>
      </p:sp>
      <p:sp>
        <p:nvSpPr>
          <p:cNvPr id="5" name="T5"/>
          <p:cNvSpPr/>
          <p:nvPr/>
        </p:nvSpPr>
        <p:spPr>
          <a:xfrm>
            <a:off x="566928" y="827532"/>
            <a:ext cx="10515911" cy="457200"/>
          </a:xfrm>
          <a:prstGeom prst="rect">
            <a:avLst/>
          </a:prstGeom>
          <a:noFill/>
          <a:ln/>
        </p:spPr>
        <p:txBody>
          <a:bodyPr wrap="square" lIns="0" tIns="0" rIns="0" bIns="0" rtlCol="0" anchor="ctr"/>
          <a:lstStyle/>
          <a:p>
            <a:pPr marL="0" indent="0" algn="l">
              <a:buNone/>
            </a:pPr>
            <a:r>
              <a:rPr lang="en-US" sz="1400" b="0" kern="0" spc="0" dirty="0">
                <a:solidFill>
                  <a:srgbClr val="5A6577"/>
                </a:solidFill>
                <a:latin typeface="Calibri" pitchFamily="34" charset="0"/>
                <a:ea typeface="Calibri" pitchFamily="34" charset="-122"/>
                <a:cs typeface="Calibri" pitchFamily="34" charset="-120"/>
              </a:rPr>
              <a:t>Mô hình sinh hai câu cho cùng một đầu vào: một câu lấy mẫu ngẫu nhiên và một câu greedy. Chính câu greedy đóng vai đường cơ sở để so sánh.</a:t>
            </a:r>
            <a:endParaRPr lang="en-US" sz="1400" dirty="0"/>
          </a:p>
        </p:txBody>
      </p:sp>
      <p:sp>
        <p:nvSpPr>
          <p:cNvPr id="7" name="T7"/>
          <p:cNvSpPr/>
          <p:nvPr/>
        </p:nvSpPr>
        <p:spPr>
          <a:xfrm>
            <a:off x="0" y="6428659"/>
            <a:ext cx="3395245" cy="457200"/>
          </a:xfrm>
          <a:prstGeom prst="rect">
            <a:avLst/>
          </a:prstGeom>
          <a:noFill/>
          <a:ln/>
        </p:spPr>
        <p:txBody>
          <a:bodyPr wrap="square" lIns="0" tIns="0" rIns="0" bIns="0" rtlCol="0" anchor="ctr"/>
          <a:lstStyle/>
          <a:p>
            <a:pPr marL="0" indent="0" algn="ctr">
              <a:buNone/>
            </a:pPr>
            <a:r>
              <a:rPr lang="en-US" sz="900" b="0" kern="0" spc="0" dirty="0">
                <a:solidFill>
                  <a:srgbClr val="6B7685"/>
                </a:solidFill>
                <a:latin typeface="Calibri" pitchFamily="34" charset="0"/>
                <a:ea typeface="Calibri" pitchFamily="34" charset="-122"/>
                <a:cs typeface="Calibri" pitchFamily="34" charset="-120"/>
              </a:rPr>
              <a:t>Self-Critical Sequence Training — Rennie và cộng sự, CVPR 2017</a:t>
            </a:r>
            <a:endParaRPr lang="en-US" sz="900" dirty="0"/>
          </a:p>
        </p:txBody>
      </p:sp>
      <p:pic>
        <p:nvPicPr>
          <p:cNvPr id="12" name="Picture 11">
            <a:extLst>
              <a:ext uri="{FF2B5EF4-FFF2-40B4-BE49-F238E27FC236}">
                <a16:creationId xmlns:a16="http://schemas.microsoft.com/office/drawing/2014/main" id="{7B1A1D2D-9D78-C2DF-73D8-56609974C585}"/>
              </a:ext>
            </a:extLst>
          </p:cNvPr>
          <p:cNvPicPr>
            <a:picLocks noChangeAspect="1"/>
          </p:cNvPicPr>
          <p:nvPr/>
        </p:nvPicPr>
        <p:blipFill>
          <a:blip r:embed="rId4"/>
          <a:srcRect l="2861" t="9434" r="1826" b="1761"/>
          <a:stretch>
            <a:fillRect/>
          </a:stretch>
        </p:blipFill>
        <p:spPr>
          <a:xfrm>
            <a:off x="1533087" y="1243584"/>
            <a:ext cx="8559819" cy="528367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3 · KIẾN TRÚC</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Model pretrain hay mình tự huấn luyện?</a:t>
            </a:r>
            <a:endParaRPr lang="en-US" sz="2900" dirty="0"/>
          </a:p>
        </p:txBody>
      </p:sp>
      <p:sp>
        <p:nvSpPr>
          <p:cNvPr id="5" name="Text 2"/>
          <p:cNvSpPr/>
          <p:nvPr/>
        </p:nvSpPr>
        <p:spPr>
          <a:xfrm>
            <a:off x="566928" y="1371600"/>
            <a:ext cx="11057839" cy="512064"/>
          </a:xfrm>
          <a:prstGeom prst="rect">
            <a:avLst/>
          </a:prstGeom>
          <a:noFill/>
          <a:ln/>
        </p:spPr>
        <p:txBody>
          <a:bodyPr wrap="square" lIns="0" tIns="0" rIns="0" bIns="0" rtlCol="0" anchor="ctr"/>
          <a:lstStyle/>
          <a:p>
            <a:pPr marL="0" indent="0">
              <a:lnSpc>
                <a:spcPct val="116000"/>
              </a:lnSpc>
              <a:buNone/>
            </a:pPr>
            <a:r>
              <a:rPr lang="en-US" sz="1300" dirty="0">
                <a:solidFill>
                  <a:srgbClr val="4F637B"/>
                </a:solidFill>
                <a:latin typeface="Calibri" pitchFamily="34" charset="0"/>
                <a:ea typeface="Calibri" pitchFamily="34" charset="-122"/>
                <a:cs typeface="Calibri" pitchFamily="34" charset="-120"/>
              </a:rPr>
              <a:t>Điểm mấu chốt của đề tài là transfer learning: phần lớn khối được lấy pretrained và ĐÓNG BĂNG, chỉ một phần nhỏ được cấu hình và huấn luyện trên VQA-RAD. Biết khối nào học, khối nào không, là để đọc đúng kết quả.</a:t>
            </a:r>
            <a:endParaRPr lang="en-US" sz="1300" dirty="0"/>
          </a:p>
        </p:txBody>
      </p:sp>
      <p:sp>
        <p:nvSpPr>
          <p:cNvPr id="6" name="Shape 3"/>
          <p:cNvSpPr/>
          <p:nvPr/>
        </p:nvSpPr>
        <p:spPr>
          <a:xfrm>
            <a:off x="566928" y="2029968"/>
            <a:ext cx="5394960" cy="3200400"/>
          </a:xfrm>
          <a:prstGeom prst="roundRect">
            <a:avLst>
              <a:gd name="adj" fmla="val 2571"/>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7" name="Shape 4"/>
          <p:cNvSpPr/>
          <p:nvPr/>
        </p:nvSpPr>
        <p:spPr>
          <a:xfrm>
            <a:off x="822960" y="2249424"/>
            <a:ext cx="329184" cy="329184"/>
          </a:xfrm>
          <a:prstGeom prst="ellipse">
            <a:avLst/>
          </a:prstGeom>
          <a:solidFill>
            <a:srgbClr val="1466C0"/>
          </a:solidFill>
          <a:ln/>
        </p:spPr>
        <p:txBody>
          <a:bodyPr/>
          <a:lstStyle/>
          <a:p>
            <a:endParaRPr lang="en-US"/>
          </a:p>
        </p:txBody>
      </p:sp>
      <p:sp>
        <p:nvSpPr>
          <p:cNvPr id="8" name="Text 5"/>
          <p:cNvSpPr/>
          <p:nvPr/>
        </p:nvSpPr>
        <p:spPr>
          <a:xfrm>
            <a:off x="822960" y="224942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9" name="Text 6"/>
          <p:cNvSpPr/>
          <p:nvPr/>
        </p:nvSpPr>
        <p:spPr>
          <a:xfrm>
            <a:off x="1280160" y="2231136"/>
            <a:ext cx="448056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Đóng băng — pretrained, không cập nhật gradient</a:t>
            </a:r>
            <a:endParaRPr lang="en-US" sz="1450" dirty="0"/>
          </a:p>
        </p:txBody>
      </p:sp>
      <p:sp>
        <p:nvSpPr>
          <p:cNvPr id="10" name="Text 7"/>
          <p:cNvSpPr/>
          <p:nvPr/>
        </p:nvSpPr>
        <p:spPr>
          <a:xfrm>
            <a:off x="822960" y="2724912"/>
            <a:ext cx="4937760" cy="2377440"/>
          </a:xfrm>
          <a:prstGeom prst="rect">
            <a:avLst/>
          </a:prstGeom>
          <a:noFill/>
          <a:ln/>
        </p:spPr>
        <p:txBody>
          <a:bodyPr wrap="square" lIns="0" tIns="0" rIns="0" bIns="0" rtlCol="0" anchor="ctr"/>
          <a:lstStyle/>
          <a:p>
            <a:pPr marL="0" indent="0">
              <a:lnSpc>
                <a:spcPct val="116000"/>
              </a:lnSpc>
              <a:buNone/>
            </a:pPr>
            <a:r>
              <a:rPr lang="en-US" sz="1400" b="1" dirty="0">
                <a:solidFill>
                  <a:srgbClr val="1466C0"/>
                </a:solidFill>
                <a:latin typeface="Courier New" pitchFamily="34" charset="0"/>
                <a:ea typeface="Courier New" pitchFamily="34" charset="-122"/>
                <a:cs typeface="Courier New" pitchFamily="34" charset="-120"/>
              </a:rPr>
              <a:t>PubMedCLIP  </a:t>
            </a:r>
            <a:r>
              <a:rPr lang="en-US" sz="1400" dirty="0">
                <a:solidFill>
                  <a:srgbClr val="4F637B"/>
                </a:solidFill>
                <a:latin typeface="Calibri" pitchFamily="34" charset="0"/>
                <a:ea typeface="Calibri" pitchFamily="34" charset="-122"/>
                <a:cs typeface="Calibri" pitchFamily="34" charset="-120"/>
              </a:rPr>
              <a:t>encoder ảnh y khoa (CLIP pretrain trên ảnh–chữ y khoa).</a:t>
            </a:r>
            <a:endParaRPr lang="en-US" sz="1400" dirty="0"/>
          </a:p>
          <a:p>
            <a:pPr marL="0" indent="0">
              <a:lnSpc>
                <a:spcPct val="116000"/>
              </a:lnSpc>
              <a:buNone/>
            </a:pPr>
            <a:r>
              <a:rPr lang="en-US" sz="1400" b="1" dirty="0">
                <a:solidFill>
                  <a:srgbClr val="1466C0"/>
                </a:solidFill>
                <a:latin typeface="Courier New" pitchFamily="34" charset="0"/>
                <a:ea typeface="Courier New" pitchFamily="34" charset="-122"/>
                <a:cs typeface="Courier New" pitchFamily="34" charset="-120"/>
              </a:rPr>
              <a:t>PubMedBERT  </a:t>
            </a:r>
            <a:r>
              <a:rPr lang="en-US" sz="1400" dirty="0">
                <a:solidFill>
                  <a:srgbClr val="4F637B"/>
                </a:solidFill>
                <a:latin typeface="Calibri" pitchFamily="34" charset="0"/>
                <a:ea typeface="Calibri" pitchFamily="34" charset="-122"/>
                <a:cs typeface="Calibri" pitchFamily="34" charset="-120"/>
              </a:rPr>
              <a:t>encoder câu hỏi y khoa (BERT pretrain trên PubMed).</a:t>
            </a:r>
            <a:endParaRPr lang="en-US" sz="1400" dirty="0"/>
          </a:p>
          <a:p>
            <a:pPr marL="0" indent="0">
              <a:lnSpc>
                <a:spcPct val="116000"/>
              </a:lnSpc>
              <a:buNone/>
            </a:pPr>
            <a:r>
              <a:rPr lang="en-US" sz="1400" b="1" dirty="0">
                <a:solidFill>
                  <a:srgbClr val="1466C0"/>
                </a:solidFill>
                <a:latin typeface="Courier New" pitchFamily="34" charset="0"/>
                <a:ea typeface="Courier New" pitchFamily="34" charset="-122"/>
                <a:cs typeface="Courier New" pitchFamily="34" charset="-120"/>
              </a:rPr>
              <a:t>ResNet-18  </a:t>
            </a:r>
            <a:r>
              <a:rPr lang="en-US" sz="1400" dirty="0">
                <a:solidFill>
                  <a:srgbClr val="4F637B"/>
                </a:solidFill>
                <a:latin typeface="Calibri" pitchFamily="34" charset="0"/>
                <a:ea typeface="Calibri" pitchFamily="34" charset="-122"/>
                <a:cs typeface="Calibri" pitchFamily="34" charset="-120"/>
              </a:rPr>
              <a:t>backbone ảnh pretrain ImageNet (nhóm đối chứng).</a:t>
            </a:r>
            <a:endParaRPr lang="en-US" sz="1400" dirty="0"/>
          </a:p>
          <a:p>
            <a:pPr marL="0" indent="0">
              <a:lnSpc>
                <a:spcPct val="116000"/>
              </a:lnSpc>
              <a:buNone/>
            </a:pPr>
            <a:r>
              <a:rPr lang="en-US" sz="1400" b="1" dirty="0">
                <a:solidFill>
                  <a:srgbClr val="1466C0"/>
                </a:solidFill>
                <a:latin typeface="Courier New" pitchFamily="34" charset="0"/>
                <a:ea typeface="Courier New" pitchFamily="34" charset="-122"/>
                <a:cs typeface="Courier New" pitchFamily="34" charset="-120"/>
              </a:rPr>
              <a:t>GPT-2 / Gemma base  </a:t>
            </a:r>
            <a:r>
              <a:rPr lang="en-US" sz="1400" dirty="0">
                <a:solidFill>
                  <a:srgbClr val="4F637B"/>
                </a:solidFill>
                <a:latin typeface="Calibri" pitchFamily="34" charset="0"/>
                <a:ea typeface="Calibri" pitchFamily="34" charset="-122"/>
                <a:cs typeface="Calibri" pitchFamily="34" charset="-120"/>
              </a:rPr>
              <a:t>tri thức ngôn ngữ có sẵn; Gemma nạp 4-bit và đóng băng hoàn toàn.</a:t>
            </a:r>
            <a:endParaRPr lang="en-US" sz="1400" dirty="0"/>
          </a:p>
        </p:txBody>
      </p:sp>
      <p:sp>
        <p:nvSpPr>
          <p:cNvPr id="11" name="Shape 8"/>
          <p:cNvSpPr/>
          <p:nvPr/>
        </p:nvSpPr>
        <p:spPr>
          <a:xfrm>
            <a:off x="6236208" y="2029968"/>
            <a:ext cx="5394960" cy="3200400"/>
          </a:xfrm>
          <a:prstGeom prst="roundRect">
            <a:avLst>
              <a:gd name="adj" fmla="val 2571"/>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2" name="Shape 9"/>
          <p:cNvSpPr/>
          <p:nvPr/>
        </p:nvSpPr>
        <p:spPr>
          <a:xfrm>
            <a:off x="6492240" y="2249424"/>
            <a:ext cx="329184" cy="329184"/>
          </a:xfrm>
          <a:prstGeom prst="ellipse">
            <a:avLst/>
          </a:prstGeom>
          <a:solidFill>
            <a:srgbClr val="0B8457"/>
          </a:solidFill>
          <a:ln/>
        </p:spPr>
        <p:txBody>
          <a:bodyPr/>
          <a:lstStyle/>
          <a:p>
            <a:endParaRPr lang="en-US"/>
          </a:p>
        </p:txBody>
      </p:sp>
      <p:sp>
        <p:nvSpPr>
          <p:cNvPr id="13" name="Text 10"/>
          <p:cNvSpPr/>
          <p:nvPr/>
        </p:nvSpPr>
        <p:spPr>
          <a:xfrm>
            <a:off x="6492240" y="224942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4" name="Text 11"/>
          <p:cNvSpPr/>
          <p:nvPr/>
        </p:nvSpPr>
        <p:spPr>
          <a:xfrm>
            <a:off x="6949440" y="2231136"/>
            <a:ext cx="448056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Tự huấn luyện — phần mình cấu hình &amp; học</a:t>
            </a:r>
            <a:endParaRPr lang="en-US" sz="1450" dirty="0"/>
          </a:p>
        </p:txBody>
      </p:sp>
      <p:sp>
        <p:nvSpPr>
          <p:cNvPr id="15" name="Text 12"/>
          <p:cNvSpPr/>
          <p:nvPr/>
        </p:nvSpPr>
        <p:spPr>
          <a:xfrm>
            <a:off x="6492240" y="2724912"/>
            <a:ext cx="4937760" cy="2377440"/>
          </a:xfrm>
          <a:prstGeom prst="rect">
            <a:avLst/>
          </a:prstGeom>
          <a:noFill/>
          <a:ln/>
        </p:spPr>
        <p:txBody>
          <a:bodyPr wrap="square" lIns="0" tIns="0" rIns="0" bIns="0" rtlCol="0" anchor="ctr"/>
          <a:lstStyle/>
          <a:p>
            <a:pPr marL="0" indent="0">
              <a:lnSpc>
                <a:spcPct val="116000"/>
              </a:lnSpc>
              <a:buNone/>
            </a:pPr>
            <a:r>
              <a:rPr lang="en-US" sz="1400" b="1" dirty="0">
                <a:solidFill>
                  <a:srgbClr val="0B8457"/>
                </a:solidFill>
                <a:latin typeface="Courier New" pitchFamily="34" charset="0"/>
                <a:ea typeface="Courier New" pitchFamily="34" charset="-122"/>
                <a:cs typeface="Courier New" pitchFamily="34" charset="-120"/>
              </a:rPr>
              <a:t>Projector / Fusion  </a:t>
            </a:r>
            <a:r>
              <a:rPr lang="en-US" sz="1400" dirty="0">
                <a:solidFill>
                  <a:srgbClr val="4F637B"/>
                </a:solidFill>
                <a:latin typeface="Calibri" pitchFamily="34" charset="0"/>
                <a:ea typeface="Calibri" pitchFamily="34" charset="-122"/>
                <a:cs typeface="Calibri" pitchFamily="34" charset="-120"/>
              </a:rPr>
              <a:t>nối và chiếu đặc trưng hai nhánh về không gian của decoder.</a:t>
            </a:r>
            <a:endParaRPr lang="en-US" sz="1400" dirty="0"/>
          </a:p>
          <a:p>
            <a:pPr marL="0" indent="0">
              <a:lnSpc>
                <a:spcPct val="116000"/>
              </a:lnSpc>
              <a:buNone/>
            </a:pPr>
            <a:r>
              <a:rPr lang="en-US" sz="1400" b="1" dirty="0">
                <a:solidFill>
                  <a:srgbClr val="0B8457"/>
                </a:solidFill>
                <a:latin typeface="Courier New" pitchFamily="34" charset="0"/>
                <a:ea typeface="Courier New" pitchFamily="34" charset="-122"/>
                <a:cs typeface="Courier New" pitchFamily="34" charset="-120"/>
              </a:rPr>
              <a:t>Q-Former  </a:t>
            </a:r>
            <a:r>
              <a:rPr lang="en-US" sz="1400" dirty="0">
                <a:solidFill>
                  <a:srgbClr val="4F637B"/>
                </a:solidFill>
                <a:latin typeface="Calibri" pitchFamily="34" charset="0"/>
                <a:ea typeface="Calibri" pitchFamily="34" charset="-122"/>
                <a:cs typeface="Calibri" pitchFamily="34" charset="-120"/>
              </a:rPr>
              <a:t>16 learnable query + cross-attention → 17 visual token.</a:t>
            </a:r>
            <a:endParaRPr lang="en-US" sz="1400" dirty="0"/>
          </a:p>
          <a:p>
            <a:pPr marL="0" indent="0">
              <a:lnSpc>
                <a:spcPct val="116000"/>
              </a:lnSpc>
              <a:buNone/>
            </a:pPr>
            <a:r>
              <a:rPr lang="en-US" sz="1400" b="1" dirty="0">
                <a:solidFill>
                  <a:srgbClr val="0B8457"/>
                </a:solidFill>
                <a:latin typeface="Courier New" pitchFamily="34" charset="0"/>
                <a:ea typeface="Courier New" pitchFamily="34" charset="-122"/>
                <a:cs typeface="Courier New" pitchFamily="34" charset="-120"/>
              </a:rPr>
              <a:t>MLP head / GPT-2 (khi mở)  </a:t>
            </a:r>
            <a:r>
              <a:rPr lang="en-US" sz="1400" dirty="0">
                <a:solidFill>
                  <a:srgbClr val="4F637B"/>
                </a:solidFill>
                <a:latin typeface="Calibri" pitchFamily="34" charset="0"/>
                <a:ea typeface="Calibri" pitchFamily="34" charset="-122"/>
                <a:cs typeface="Calibri" pitchFamily="34" charset="-120"/>
              </a:rPr>
              <a:t>lớp sinh/​phân loại; GPT-2 dùng learning rate riêng.</a:t>
            </a:r>
            <a:endParaRPr lang="en-US" sz="1400" dirty="0"/>
          </a:p>
          <a:p>
            <a:pPr marL="0" indent="0">
              <a:lnSpc>
                <a:spcPct val="116000"/>
              </a:lnSpc>
              <a:buNone/>
            </a:pPr>
            <a:r>
              <a:rPr lang="en-US" sz="1400" b="1" dirty="0">
                <a:solidFill>
                  <a:srgbClr val="0B8457"/>
                </a:solidFill>
                <a:latin typeface="Courier New" pitchFamily="34" charset="0"/>
                <a:ea typeface="Courier New" pitchFamily="34" charset="-122"/>
                <a:cs typeface="Courier New" pitchFamily="34" charset="-120"/>
              </a:rPr>
              <a:t>LoRA adapters  </a:t>
            </a:r>
            <a:r>
              <a:rPr lang="en-US" sz="1400" dirty="0">
                <a:solidFill>
                  <a:srgbClr val="4F637B"/>
                </a:solidFill>
                <a:latin typeface="Calibri" pitchFamily="34" charset="0"/>
                <a:ea typeface="Calibri" pitchFamily="34" charset="-122"/>
                <a:cs typeface="Calibri" pitchFamily="34" charset="-120"/>
              </a:rPr>
              <a:t>ma trận hạng thấp (rank 16) chèn vào Gemma; và RL policy (SCST).</a:t>
            </a:r>
            <a:endParaRPr lang="en-US" sz="1400" dirty="0"/>
          </a:p>
        </p:txBody>
      </p:sp>
      <p:sp>
        <p:nvSpPr>
          <p:cNvPr id="16" name="Shape 13"/>
          <p:cNvSpPr/>
          <p:nvPr/>
        </p:nvSpPr>
        <p:spPr>
          <a:xfrm>
            <a:off x="566928" y="5358384"/>
            <a:ext cx="11057839" cy="548640"/>
          </a:xfrm>
          <a:prstGeom prst="roundRect">
            <a:avLst>
              <a:gd name="adj" fmla="val 15000"/>
            </a:avLst>
          </a:prstGeom>
          <a:solidFill>
            <a:srgbClr val="FBF1DE"/>
          </a:solidFill>
          <a:ln w="12700">
            <a:solidFill>
              <a:srgbClr val="B26A00"/>
            </a:solidFill>
            <a:prstDash val="solid"/>
          </a:ln>
          <a:effectLst>
            <a:outerShdw blurRad="114300" dist="25400" dir="5400000" algn="bl" rotWithShape="0">
              <a:srgbClr val="B9C6D6">
                <a:alpha val="50000"/>
              </a:srgbClr>
            </a:outerShdw>
          </a:effectLst>
        </p:spPr>
        <p:txBody>
          <a:bodyPr/>
          <a:lstStyle/>
          <a:p>
            <a:endParaRPr lang="en-US"/>
          </a:p>
        </p:txBody>
      </p:sp>
      <p:sp>
        <p:nvSpPr>
          <p:cNvPr id="17" name="Text 14"/>
          <p:cNvSpPr/>
          <p:nvPr/>
        </p:nvSpPr>
        <p:spPr>
          <a:xfrm>
            <a:off x="841248" y="5358384"/>
            <a:ext cx="10509199" cy="548640"/>
          </a:xfrm>
          <a:prstGeom prst="rect">
            <a:avLst/>
          </a:prstGeom>
          <a:noFill/>
          <a:ln/>
        </p:spPr>
        <p:txBody>
          <a:bodyPr wrap="square" lIns="0" tIns="0" rIns="0" bIns="0" rtlCol="0" anchor="ctr"/>
          <a:lstStyle/>
          <a:p>
            <a:pPr marL="0" indent="0">
              <a:lnSpc>
                <a:spcPct val="110000"/>
              </a:lnSpc>
              <a:buNone/>
            </a:pPr>
            <a:r>
              <a:rPr lang="en-US" sz="1150" b="1" dirty="0">
                <a:solidFill>
                  <a:srgbClr val="B26A00"/>
                </a:solidFill>
                <a:latin typeface="Calibri" pitchFamily="34" charset="0"/>
                <a:ea typeface="Calibri" pitchFamily="34" charset="-122"/>
                <a:cs typeface="Calibri" pitchFamily="34" charset="-120"/>
              </a:rPr>
              <a:t>Vì sao cách này:  </a:t>
            </a:r>
            <a:r>
              <a:rPr lang="en-US" sz="1150" dirty="0">
                <a:solidFill>
                  <a:srgbClr val="4F637B"/>
                </a:solidFill>
                <a:latin typeface="Calibri" pitchFamily="34" charset="0"/>
                <a:ea typeface="Calibri" pitchFamily="34" charset="-122"/>
                <a:cs typeface="Calibri" pitchFamily="34" charset="-120"/>
              </a:rPr>
              <a:t>khối pretrained đã học trên hàng triệu ảnh/chữ; chỉ huấn luyện phần cầu nối nhỏ trên ~1.793 mẫu VQA-RAD. Số tham số thực học: nhóm P 87M, Q-Former 98M, Gemma LoRA chỉ 29,8M–41,2M (dưới 1%).</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3 · KIẾN TRÚC</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Nhóm A1 &amp; A2 — khảo sát chú ý và đóng băng</a:t>
            </a:r>
            <a:endParaRPr lang="en-US" sz="2900" dirty="0"/>
          </a:p>
        </p:txBody>
      </p:sp>
      <p:sp>
        <p:nvSpPr>
          <p:cNvPr id="5" name="Text 2"/>
          <p:cNvSpPr/>
          <p:nvPr/>
        </p:nvSpPr>
        <p:spPr>
          <a:xfrm>
            <a:off x="566928" y="1371600"/>
            <a:ext cx="11057839" cy="457200"/>
          </a:xfrm>
          <a:prstGeom prst="rect">
            <a:avLst/>
          </a:prstGeom>
          <a:noFill/>
          <a:ln/>
        </p:spPr>
        <p:txBody>
          <a:bodyPr wrap="square" lIns="0" tIns="0" rIns="0" bIns="0" rtlCol="0" anchor="ctr"/>
          <a:lstStyle/>
          <a:p>
            <a:pPr marL="0" indent="0">
              <a:lnSpc>
                <a:spcPct val="116000"/>
              </a:lnSpc>
              <a:buNone/>
            </a:pPr>
            <a:r>
              <a:rPr lang="en-US" sz="1250" dirty="0">
                <a:solidFill>
                  <a:srgbClr val="4F637B"/>
                </a:solidFill>
                <a:latin typeface="Calibri" pitchFamily="34" charset="0"/>
                <a:ea typeface="Calibri" pitchFamily="34" charset="-122"/>
                <a:cs typeface="Calibri" pitchFamily="34" charset="-120"/>
              </a:rPr>
              <a:t>16 cấu hình pipeline tự ghép quy mô nhẹ, dùng làm điểm nền để đối chiếu với các mô hình lớn phía sau. Bộ mã hóa ảnh là CustomCNN, bộ giải mã là MLP phân loại.</a:t>
            </a:r>
            <a:endParaRPr lang="en-US" sz="1250" dirty="0"/>
          </a:p>
        </p:txBody>
      </p:sp>
      <p:sp>
        <p:nvSpPr>
          <p:cNvPr id="6" name="Shape 3"/>
          <p:cNvSpPr/>
          <p:nvPr/>
        </p:nvSpPr>
        <p:spPr>
          <a:xfrm>
            <a:off x="566928" y="1920240"/>
            <a:ext cx="5486400" cy="2048256"/>
          </a:xfrm>
          <a:prstGeom prst="roundRect">
            <a:avLst>
              <a:gd name="adj" fmla="val 4018"/>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7" name="Shape 4"/>
          <p:cNvSpPr/>
          <p:nvPr/>
        </p:nvSpPr>
        <p:spPr>
          <a:xfrm>
            <a:off x="822960" y="2139696"/>
            <a:ext cx="329184" cy="329184"/>
          </a:xfrm>
          <a:prstGeom prst="ellipse">
            <a:avLst/>
          </a:prstGeom>
          <a:solidFill>
            <a:srgbClr val="8494A8"/>
          </a:solidFill>
          <a:ln/>
        </p:spPr>
        <p:txBody>
          <a:bodyPr/>
          <a:lstStyle/>
          <a:p>
            <a:endParaRPr lang="en-US"/>
          </a:p>
        </p:txBody>
      </p:sp>
      <p:sp>
        <p:nvSpPr>
          <p:cNvPr id="8" name="Text 5"/>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A1</a:t>
            </a:r>
            <a:endParaRPr lang="en-US" sz="1300" dirty="0"/>
          </a:p>
        </p:txBody>
      </p:sp>
      <p:sp>
        <p:nvSpPr>
          <p:cNvPr id="9" name="Text 6"/>
          <p:cNvSpPr/>
          <p:nvPr/>
        </p:nvSpPr>
        <p:spPr>
          <a:xfrm>
            <a:off x="1280160" y="2121408"/>
            <a:ext cx="4572000" cy="365760"/>
          </a:xfrm>
          <a:prstGeom prst="rect">
            <a:avLst/>
          </a:prstGeom>
          <a:noFill/>
          <a:ln/>
        </p:spPr>
        <p:txBody>
          <a:bodyPr wrap="square" lIns="0" tIns="0" rIns="0" bIns="0" rtlCol="0" anchor="ctr"/>
          <a:lstStyle/>
          <a:p>
            <a:pPr marL="0" indent="0">
              <a:buNone/>
            </a:pPr>
            <a:r>
              <a:rPr lang="en-US" sz="1450" b="1" dirty="0" err="1">
                <a:solidFill>
                  <a:srgbClr val="14243A"/>
                </a:solidFill>
                <a:latin typeface="Calibri" pitchFamily="34" charset="0"/>
                <a:ea typeface="Calibri" pitchFamily="34" charset="-122"/>
                <a:cs typeface="Calibri" pitchFamily="34" charset="-120"/>
              </a:rPr>
              <a:t>Không</a:t>
            </a:r>
            <a:r>
              <a:rPr lang="en-US" sz="1450" b="1" dirty="0">
                <a:solidFill>
                  <a:srgbClr val="14243A"/>
                </a:solidFill>
                <a:latin typeface="Calibri" pitchFamily="34" charset="0"/>
                <a:ea typeface="Calibri" pitchFamily="34" charset="-122"/>
                <a:cs typeface="Calibri" pitchFamily="34" charset="-120"/>
              </a:rPr>
              <a:t> Attention</a:t>
            </a:r>
            <a:endParaRPr lang="en-US" sz="1450" dirty="0"/>
          </a:p>
        </p:txBody>
      </p:sp>
      <p:sp>
        <p:nvSpPr>
          <p:cNvPr id="10" name="Text 7"/>
          <p:cNvSpPr/>
          <p:nvPr/>
        </p:nvSpPr>
        <p:spPr>
          <a:xfrm>
            <a:off x="822960" y="2615184"/>
            <a:ext cx="5029200" cy="603504"/>
          </a:xfrm>
          <a:prstGeom prst="rect">
            <a:avLst/>
          </a:prstGeom>
          <a:noFill/>
          <a:ln/>
        </p:spPr>
        <p:txBody>
          <a:bodyPr wrap="square" lIns="0" tIns="0" rIns="0" bIns="0" rtlCol="0" anchor="ctr"/>
          <a:lstStyle/>
          <a:p>
            <a:pPr marL="0" indent="0">
              <a:lnSpc>
                <a:spcPct val="114000"/>
              </a:lnSpc>
              <a:buNone/>
            </a:pPr>
            <a:r>
              <a:rPr lang="en-US" sz="1150" dirty="0">
                <a:solidFill>
                  <a:srgbClr val="4F637B"/>
                </a:solidFill>
                <a:latin typeface="Calibri" pitchFamily="34" charset="0"/>
                <a:ea typeface="Calibri" pitchFamily="34" charset="-122"/>
                <a:cs typeface="Calibri" pitchFamily="34" charset="-120"/>
              </a:rPr>
              <a:t>attn = False. Tắt cả hai khối: SE-block trên nhánh ảnh và temporal attention trên nhánh chữ. Đặc trưng ảnh và chữ được nối thẳng rồi đưa vào MLP.</a:t>
            </a:r>
            <a:endParaRPr lang="en-US" sz="1150" dirty="0"/>
          </a:p>
        </p:txBody>
      </p:sp>
      <p:sp>
        <p:nvSpPr>
          <p:cNvPr id="11" name="Text 8"/>
          <p:cNvSpPr/>
          <p:nvPr/>
        </p:nvSpPr>
        <p:spPr>
          <a:xfrm>
            <a:off x="822960" y="3310128"/>
            <a:ext cx="5029200" cy="310896"/>
          </a:xfrm>
          <a:prstGeom prst="rect">
            <a:avLst/>
          </a:prstGeom>
          <a:noFill/>
          <a:ln/>
        </p:spPr>
        <p:txBody>
          <a:bodyPr wrap="square" lIns="0" tIns="0" rIns="0" bIns="0" rtlCol="0" anchor="ctr"/>
          <a:lstStyle/>
          <a:p>
            <a:pPr marL="0" indent="0">
              <a:buNone/>
            </a:pPr>
            <a:r>
              <a:rPr lang="en-US" sz="1150" b="1" dirty="0">
                <a:solidFill>
                  <a:srgbClr val="1466C0"/>
                </a:solidFill>
                <a:latin typeface="Courier New" pitchFamily="34" charset="0"/>
                <a:ea typeface="Courier New" pitchFamily="34" charset="-122"/>
                <a:cs typeface="Courier New" pitchFamily="34" charset="-120"/>
              </a:rPr>
              <a:t>CustomCNN  →  BiLSTM / Transformer  →  MLP</a:t>
            </a:r>
            <a:endParaRPr lang="en-US" sz="1150" dirty="0"/>
          </a:p>
        </p:txBody>
      </p:sp>
      <p:sp>
        <p:nvSpPr>
          <p:cNvPr id="12" name="Shape 9"/>
          <p:cNvSpPr/>
          <p:nvPr/>
        </p:nvSpPr>
        <p:spPr>
          <a:xfrm>
            <a:off x="6236208" y="1920240"/>
            <a:ext cx="5394960" cy="2048256"/>
          </a:xfrm>
          <a:prstGeom prst="roundRect">
            <a:avLst>
              <a:gd name="adj" fmla="val 4018"/>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3" name="Shape 10"/>
          <p:cNvSpPr/>
          <p:nvPr/>
        </p:nvSpPr>
        <p:spPr>
          <a:xfrm>
            <a:off x="6492240" y="2139696"/>
            <a:ext cx="329184" cy="329184"/>
          </a:xfrm>
          <a:prstGeom prst="ellipse">
            <a:avLst/>
          </a:prstGeom>
          <a:solidFill>
            <a:srgbClr val="6B33C7"/>
          </a:solidFill>
          <a:ln/>
        </p:spPr>
        <p:txBody>
          <a:bodyPr/>
          <a:lstStyle/>
          <a:p>
            <a:endParaRPr lang="en-US"/>
          </a:p>
        </p:txBody>
      </p:sp>
      <p:sp>
        <p:nvSpPr>
          <p:cNvPr id="14" name="Text 11"/>
          <p:cNvSpPr/>
          <p:nvPr/>
        </p:nvSpPr>
        <p:spPr>
          <a:xfrm>
            <a:off x="649224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A2</a:t>
            </a:r>
            <a:endParaRPr lang="en-US" sz="1300" dirty="0"/>
          </a:p>
        </p:txBody>
      </p:sp>
      <p:sp>
        <p:nvSpPr>
          <p:cNvPr id="15" name="Text 12"/>
          <p:cNvSpPr/>
          <p:nvPr/>
        </p:nvSpPr>
        <p:spPr>
          <a:xfrm>
            <a:off x="6949440" y="2121408"/>
            <a:ext cx="4480560" cy="365760"/>
          </a:xfrm>
          <a:prstGeom prst="rect">
            <a:avLst/>
          </a:prstGeom>
          <a:noFill/>
          <a:ln/>
        </p:spPr>
        <p:txBody>
          <a:bodyPr wrap="square" lIns="0" tIns="0" rIns="0" bIns="0" rtlCol="0" anchor="ctr"/>
          <a:lstStyle/>
          <a:p>
            <a:pPr marL="0" indent="0">
              <a:buNone/>
            </a:pPr>
            <a:r>
              <a:rPr lang="en-US" sz="1450" b="1" dirty="0" err="1">
                <a:solidFill>
                  <a:srgbClr val="14243A"/>
                </a:solidFill>
                <a:latin typeface="Calibri" pitchFamily="34" charset="0"/>
                <a:ea typeface="Calibri" pitchFamily="34" charset="-122"/>
                <a:cs typeface="Calibri" pitchFamily="34" charset="-120"/>
              </a:rPr>
              <a:t>Có</a:t>
            </a:r>
            <a:r>
              <a:rPr lang="en-US" sz="1450" b="1" dirty="0">
                <a:solidFill>
                  <a:srgbClr val="14243A"/>
                </a:solidFill>
                <a:latin typeface="Calibri" pitchFamily="34" charset="0"/>
                <a:ea typeface="Calibri" pitchFamily="34" charset="-122"/>
                <a:cs typeface="Calibri" pitchFamily="34" charset="-120"/>
              </a:rPr>
              <a:t> Attention</a:t>
            </a:r>
            <a:endParaRPr lang="en-US" sz="1450" dirty="0"/>
          </a:p>
        </p:txBody>
      </p:sp>
      <p:sp>
        <p:nvSpPr>
          <p:cNvPr id="16" name="Text 13"/>
          <p:cNvSpPr/>
          <p:nvPr/>
        </p:nvSpPr>
        <p:spPr>
          <a:xfrm>
            <a:off x="6492240" y="2615184"/>
            <a:ext cx="4937760" cy="603504"/>
          </a:xfrm>
          <a:prstGeom prst="rect">
            <a:avLst/>
          </a:prstGeom>
          <a:noFill/>
          <a:ln/>
        </p:spPr>
        <p:txBody>
          <a:bodyPr wrap="square" lIns="0" tIns="0" rIns="0" bIns="0" rtlCol="0" anchor="ctr"/>
          <a:lstStyle/>
          <a:p>
            <a:pPr marL="0" indent="0">
              <a:lnSpc>
                <a:spcPct val="114000"/>
              </a:lnSpc>
              <a:buNone/>
            </a:pPr>
            <a:r>
              <a:rPr lang="en-US" sz="1150" dirty="0">
                <a:solidFill>
                  <a:srgbClr val="4F637B"/>
                </a:solidFill>
                <a:latin typeface="Calibri" pitchFamily="34" charset="0"/>
                <a:ea typeface="Calibri" pitchFamily="34" charset="-122"/>
                <a:cs typeface="Calibri" pitchFamily="34" charset="-120"/>
              </a:rPr>
              <a:t>attn = True. Bật SE-block cho nhánh ảnh — học lại trọng số cho từng kênh đặc trưng; và temporal attention cho nhánh chữ — tính trọng số theo từng bước thời gian của chuỗi câu hỏi.</a:t>
            </a:r>
            <a:endParaRPr lang="en-US" sz="1150" dirty="0"/>
          </a:p>
        </p:txBody>
      </p:sp>
      <p:sp>
        <p:nvSpPr>
          <p:cNvPr id="17" name="Text 14"/>
          <p:cNvSpPr/>
          <p:nvPr/>
        </p:nvSpPr>
        <p:spPr>
          <a:xfrm>
            <a:off x="6492240" y="3310128"/>
            <a:ext cx="4937760" cy="310896"/>
          </a:xfrm>
          <a:prstGeom prst="rect">
            <a:avLst/>
          </a:prstGeom>
          <a:noFill/>
          <a:ln/>
        </p:spPr>
        <p:txBody>
          <a:bodyPr wrap="square" lIns="0" tIns="0" rIns="0" bIns="0" rtlCol="0" anchor="ctr"/>
          <a:lstStyle/>
          <a:p>
            <a:pPr marL="0" indent="0">
              <a:buNone/>
            </a:pPr>
            <a:r>
              <a:rPr lang="en-US" sz="1150" b="1" dirty="0">
                <a:solidFill>
                  <a:srgbClr val="6B33C7"/>
                </a:solidFill>
                <a:latin typeface="Courier New" pitchFamily="34" charset="0"/>
                <a:ea typeface="Courier New" pitchFamily="34" charset="-122"/>
                <a:cs typeface="Courier New" pitchFamily="34" charset="-120"/>
              </a:rPr>
              <a:t>CustomCNN + SE  →  BiLSTM / Trans + Temporal  →  MLP</a:t>
            </a:r>
            <a:endParaRPr lang="en-US" sz="1150" dirty="0"/>
          </a:p>
        </p:txBody>
      </p:sp>
      <p:sp>
        <p:nvSpPr>
          <p:cNvPr id="18" name="Text 15"/>
          <p:cNvSpPr/>
          <p:nvPr/>
        </p:nvSpPr>
        <p:spPr>
          <a:xfrm>
            <a:off x="566928" y="4169664"/>
            <a:ext cx="11057839" cy="292608"/>
          </a:xfrm>
          <a:prstGeom prst="rect">
            <a:avLst/>
          </a:prstGeom>
          <a:noFill/>
          <a:ln/>
        </p:spPr>
        <p:txBody>
          <a:bodyPr wrap="square" lIns="0" tIns="0" rIns="0" bIns="0" rtlCol="0" anchor="ctr"/>
          <a:lstStyle/>
          <a:p>
            <a:pPr marL="0" indent="0">
              <a:buNone/>
            </a:pPr>
            <a:r>
              <a:rPr lang="en-US" sz="1400" b="1" dirty="0">
                <a:solidFill>
                  <a:srgbClr val="14243A"/>
                </a:solidFill>
                <a:latin typeface="Calibri" pitchFamily="34" charset="0"/>
                <a:ea typeface="Calibri" pitchFamily="34" charset="-122"/>
                <a:cs typeface="Calibri" pitchFamily="34" charset="-120"/>
              </a:rPr>
              <a:t>Trong mỗi nhóm, bốn biến thể đóng băng để tách vai trò từng thành phần</a:t>
            </a:r>
            <a:endParaRPr lang="en-US" sz="1400" dirty="0"/>
          </a:p>
        </p:txBody>
      </p:sp>
      <p:sp>
        <p:nvSpPr>
          <p:cNvPr id="19" name="Shape 16"/>
          <p:cNvSpPr/>
          <p:nvPr/>
        </p:nvSpPr>
        <p:spPr>
          <a:xfrm>
            <a:off x="566928" y="4553712"/>
            <a:ext cx="2682164" cy="914400"/>
          </a:xfrm>
          <a:prstGeom prst="roundRect">
            <a:avLst>
              <a:gd name="adj" fmla="val 9000"/>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20" name="Shape 17"/>
          <p:cNvSpPr/>
          <p:nvPr/>
        </p:nvSpPr>
        <p:spPr>
          <a:xfrm>
            <a:off x="786384" y="4736592"/>
            <a:ext cx="1005840" cy="256032"/>
          </a:xfrm>
          <a:prstGeom prst="roundRect">
            <a:avLst>
              <a:gd name="adj" fmla="val 21429"/>
            </a:avLst>
          </a:prstGeom>
          <a:solidFill>
            <a:srgbClr val="F1F6FC"/>
          </a:solidFill>
          <a:ln w="12700">
            <a:solidFill>
              <a:srgbClr val="0B8457"/>
            </a:solidFill>
            <a:prstDash val="solid"/>
          </a:ln>
        </p:spPr>
        <p:txBody>
          <a:bodyPr/>
          <a:lstStyle/>
          <a:p>
            <a:endParaRPr lang="en-US"/>
          </a:p>
        </p:txBody>
      </p:sp>
      <p:sp>
        <p:nvSpPr>
          <p:cNvPr id="21" name="Text 18"/>
          <p:cNvSpPr/>
          <p:nvPr/>
        </p:nvSpPr>
        <p:spPr>
          <a:xfrm>
            <a:off x="786384" y="4736592"/>
            <a:ext cx="1005840" cy="256032"/>
          </a:xfrm>
          <a:prstGeom prst="rect">
            <a:avLst/>
          </a:prstGeom>
          <a:noFill/>
          <a:ln/>
        </p:spPr>
        <p:txBody>
          <a:bodyPr wrap="square" lIns="0" tIns="0" rIns="0" bIns="0" rtlCol="0" anchor="ctr"/>
          <a:lstStyle/>
          <a:p>
            <a:pPr marL="0" indent="0" algn="ctr">
              <a:buNone/>
            </a:pPr>
            <a:r>
              <a:rPr lang="en-US" sz="1000" b="1" dirty="0">
                <a:solidFill>
                  <a:srgbClr val="0B8457"/>
                </a:solidFill>
                <a:latin typeface="Courier New" pitchFamily="34" charset="0"/>
                <a:ea typeface="Courier New" pitchFamily="34" charset="-122"/>
                <a:cs typeface="Courier New" pitchFamily="34" charset="-120"/>
              </a:rPr>
              <a:t>_all</a:t>
            </a:r>
            <a:endParaRPr lang="en-US" sz="1000" dirty="0"/>
          </a:p>
        </p:txBody>
      </p:sp>
      <p:sp>
        <p:nvSpPr>
          <p:cNvPr id="22" name="Text 19"/>
          <p:cNvSpPr/>
          <p:nvPr/>
        </p:nvSpPr>
        <p:spPr>
          <a:xfrm>
            <a:off x="786384" y="5065776"/>
            <a:ext cx="2243252" cy="310896"/>
          </a:xfrm>
          <a:prstGeom prst="rect">
            <a:avLst/>
          </a:prstGeom>
          <a:noFill/>
          <a:ln/>
        </p:spPr>
        <p:txBody>
          <a:bodyPr wrap="square" lIns="0" tIns="0" rIns="0" bIns="0" rtlCol="0" anchor="ctr"/>
          <a:lstStyle/>
          <a:p>
            <a:pPr marL="0" indent="0">
              <a:lnSpc>
                <a:spcPct val="110000"/>
              </a:lnSpc>
              <a:buNone/>
            </a:pPr>
            <a:r>
              <a:rPr lang="en-US" sz="1100" dirty="0">
                <a:solidFill>
                  <a:srgbClr val="4F637B"/>
                </a:solidFill>
                <a:latin typeface="Calibri" pitchFamily="34" charset="0"/>
                <a:ea typeface="Calibri" pitchFamily="34" charset="-122"/>
                <a:cs typeface="Calibri" pitchFamily="34" charset="-120"/>
              </a:rPr>
              <a:t>huấn luyện toàn bộ tham số</a:t>
            </a:r>
            <a:endParaRPr lang="en-US" sz="1100" dirty="0"/>
          </a:p>
        </p:txBody>
      </p:sp>
      <p:sp>
        <p:nvSpPr>
          <p:cNvPr id="23" name="Shape 20"/>
          <p:cNvSpPr/>
          <p:nvPr/>
        </p:nvSpPr>
        <p:spPr>
          <a:xfrm>
            <a:off x="3358820" y="4553712"/>
            <a:ext cx="2682164" cy="914400"/>
          </a:xfrm>
          <a:prstGeom prst="roundRect">
            <a:avLst>
              <a:gd name="adj" fmla="val 9000"/>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24" name="Shape 21"/>
          <p:cNvSpPr/>
          <p:nvPr/>
        </p:nvSpPr>
        <p:spPr>
          <a:xfrm>
            <a:off x="3578276" y="4736592"/>
            <a:ext cx="1005840" cy="256032"/>
          </a:xfrm>
          <a:prstGeom prst="roundRect">
            <a:avLst>
              <a:gd name="adj" fmla="val 21429"/>
            </a:avLst>
          </a:prstGeom>
          <a:solidFill>
            <a:srgbClr val="F1F6FC"/>
          </a:solidFill>
          <a:ln w="12700">
            <a:solidFill>
              <a:srgbClr val="1466C0"/>
            </a:solidFill>
            <a:prstDash val="solid"/>
          </a:ln>
        </p:spPr>
        <p:txBody>
          <a:bodyPr/>
          <a:lstStyle/>
          <a:p>
            <a:endParaRPr lang="en-US"/>
          </a:p>
        </p:txBody>
      </p:sp>
      <p:sp>
        <p:nvSpPr>
          <p:cNvPr id="25" name="Text 22"/>
          <p:cNvSpPr/>
          <p:nvPr/>
        </p:nvSpPr>
        <p:spPr>
          <a:xfrm>
            <a:off x="3578276" y="4736592"/>
            <a:ext cx="1005840" cy="256032"/>
          </a:xfrm>
          <a:prstGeom prst="rect">
            <a:avLst/>
          </a:prstGeom>
          <a:noFill/>
          <a:ln/>
        </p:spPr>
        <p:txBody>
          <a:bodyPr wrap="square" lIns="0" tIns="0" rIns="0" bIns="0" rtlCol="0" anchor="ctr"/>
          <a:lstStyle/>
          <a:p>
            <a:pPr marL="0" indent="0" algn="ctr">
              <a:buNone/>
            </a:pPr>
            <a:r>
              <a:rPr lang="en-US" sz="1000" b="1" dirty="0">
                <a:solidFill>
                  <a:srgbClr val="1466C0"/>
                </a:solidFill>
                <a:latin typeface="Courier New" pitchFamily="34" charset="0"/>
                <a:ea typeface="Courier New" pitchFamily="34" charset="-122"/>
                <a:cs typeface="Courier New" pitchFamily="34" charset="-120"/>
              </a:rPr>
              <a:t>_img</a:t>
            </a:r>
            <a:endParaRPr lang="en-US" sz="1000" dirty="0"/>
          </a:p>
        </p:txBody>
      </p:sp>
      <p:sp>
        <p:nvSpPr>
          <p:cNvPr id="26" name="Text 23"/>
          <p:cNvSpPr/>
          <p:nvPr/>
        </p:nvSpPr>
        <p:spPr>
          <a:xfrm>
            <a:off x="3578276" y="5065776"/>
            <a:ext cx="2243252" cy="310896"/>
          </a:xfrm>
          <a:prstGeom prst="rect">
            <a:avLst/>
          </a:prstGeom>
          <a:noFill/>
          <a:ln/>
        </p:spPr>
        <p:txBody>
          <a:bodyPr wrap="square" lIns="0" tIns="0" rIns="0" bIns="0" rtlCol="0" anchor="ctr"/>
          <a:lstStyle/>
          <a:p>
            <a:pPr marL="0" indent="0">
              <a:lnSpc>
                <a:spcPct val="110000"/>
              </a:lnSpc>
              <a:buNone/>
            </a:pPr>
            <a:r>
              <a:rPr lang="en-US" sz="1100" dirty="0">
                <a:solidFill>
                  <a:srgbClr val="4F637B"/>
                </a:solidFill>
                <a:latin typeface="Calibri" pitchFamily="34" charset="0"/>
                <a:ea typeface="Calibri" pitchFamily="34" charset="-122"/>
                <a:cs typeface="Calibri" pitchFamily="34" charset="-120"/>
              </a:rPr>
              <a:t>đóng băng bộ mã hóa ảnh</a:t>
            </a:r>
            <a:endParaRPr lang="en-US" sz="1100" dirty="0"/>
          </a:p>
        </p:txBody>
      </p:sp>
      <p:sp>
        <p:nvSpPr>
          <p:cNvPr id="27" name="Shape 24"/>
          <p:cNvSpPr/>
          <p:nvPr/>
        </p:nvSpPr>
        <p:spPr>
          <a:xfrm>
            <a:off x="6150712" y="4553712"/>
            <a:ext cx="2682164" cy="914400"/>
          </a:xfrm>
          <a:prstGeom prst="roundRect">
            <a:avLst>
              <a:gd name="adj" fmla="val 9000"/>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28" name="Shape 25"/>
          <p:cNvSpPr/>
          <p:nvPr/>
        </p:nvSpPr>
        <p:spPr>
          <a:xfrm>
            <a:off x="6370168" y="4736592"/>
            <a:ext cx="1005840" cy="256032"/>
          </a:xfrm>
          <a:prstGeom prst="roundRect">
            <a:avLst>
              <a:gd name="adj" fmla="val 21429"/>
            </a:avLst>
          </a:prstGeom>
          <a:solidFill>
            <a:srgbClr val="F1F6FC"/>
          </a:solidFill>
          <a:ln w="12700">
            <a:solidFill>
              <a:srgbClr val="1466C0"/>
            </a:solidFill>
            <a:prstDash val="solid"/>
          </a:ln>
        </p:spPr>
        <p:txBody>
          <a:bodyPr/>
          <a:lstStyle/>
          <a:p>
            <a:endParaRPr lang="en-US"/>
          </a:p>
        </p:txBody>
      </p:sp>
      <p:sp>
        <p:nvSpPr>
          <p:cNvPr id="29" name="Text 26"/>
          <p:cNvSpPr/>
          <p:nvPr/>
        </p:nvSpPr>
        <p:spPr>
          <a:xfrm>
            <a:off x="6370168" y="4736592"/>
            <a:ext cx="1005840" cy="256032"/>
          </a:xfrm>
          <a:prstGeom prst="rect">
            <a:avLst/>
          </a:prstGeom>
          <a:noFill/>
          <a:ln/>
        </p:spPr>
        <p:txBody>
          <a:bodyPr wrap="square" lIns="0" tIns="0" rIns="0" bIns="0" rtlCol="0" anchor="ctr"/>
          <a:lstStyle/>
          <a:p>
            <a:pPr marL="0" indent="0" algn="ctr">
              <a:buNone/>
            </a:pPr>
            <a:r>
              <a:rPr lang="en-US" sz="1000" b="1" dirty="0">
                <a:solidFill>
                  <a:srgbClr val="1466C0"/>
                </a:solidFill>
                <a:latin typeface="Courier New" pitchFamily="34" charset="0"/>
                <a:ea typeface="Courier New" pitchFamily="34" charset="-122"/>
                <a:cs typeface="Courier New" pitchFamily="34" charset="-120"/>
              </a:rPr>
              <a:t>_txt</a:t>
            </a:r>
            <a:endParaRPr lang="en-US" sz="1000" dirty="0"/>
          </a:p>
        </p:txBody>
      </p:sp>
      <p:sp>
        <p:nvSpPr>
          <p:cNvPr id="30" name="Text 27"/>
          <p:cNvSpPr/>
          <p:nvPr/>
        </p:nvSpPr>
        <p:spPr>
          <a:xfrm>
            <a:off x="6370168" y="5065776"/>
            <a:ext cx="2243252" cy="310896"/>
          </a:xfrm>
          <a:prstGeom prst="rect">
            <a:avLst/>
          </a:prstGeom>
          <a:noFill/>
          <a:ln/>
        </p:spPr>
        <p:txBody>
          <a:bodyPr wrap="square" lIns="0" tIns="0" rIns="0" bIns="0" rtlCol="0" anchor="ctr"/>
          <a:lstStyle/>
          <a:p>
            <a:pPr marL="0" indent="0">
              <a:lnSpc>
                <a:spcPct val="110000"/>
              </a:lnSpc>
              <a:buNone/>
            </a:pPr>
            <a:r>
              <a:rPr lang="en-US" sz="1100" dirty="0">
                <a:solidFill>
                  <a:srgbClr val="4F637B"/>
                </a:solidFill>
                <a:latin typeface="Calibri" pitchFamily="34" charset="0"/>
                <a:ea typeface="Calibri" pitchFamily="34" charset="-122"/>
                <a:cs typeface="Calibri" pitchFamily="34" charset="-120"/>
              </a:rPr>
              <a:t>đóng băng bộ mã hóa chữ</a:t>
            </a:r>
            <a:endParaRPr lang="en-US" sz="1100" dirty="0"/>
          </a:p>
        </p:txBody>
      </p:sp>
      <p:sp>
        <p:nvSpPr>
          <p:cNvPr id="31" name="Shape 28"/>
          <p:cNvSpPr/>
          <p:nvPr/>
        </p:nvSpPr>
        <p:spPr>
          <a:xfrm>
            <a:off x="8942603" y="4553712"/>
            <a:ext cx="2682164" cy="914400"/>
          </a:xfrm>
          <a:prstGeom prst="roundRect">
            <a:avLst>
              <a:gd name="adj" fmla="val 9000"/>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32" name="Shape 29"/>
          <p:cNvSpPr/>
          <p:nvPr/>
        </p:nvSpPr>
        <p:spPr>
          <a:xfrm>
            <a:off x="9162059" y="4736592"/>
            <a:ext cx="1005840" cy="256032"/>
          </a:xfrm>
          <a:prstGeom prst="roundRect">
            <a:avLst>
              <a:gd name="adj" fmla="val 21429"/>
            </a:avLst>
          </a:prstGeom>
          <a:solidFill>
            <a:srgbClr val="F1F6FC"/>
          </a:solidFill>
          <a:ln w="12700">
            <a:solidFill>
              <a:srgbClr val="B26A00"/>
            </a:solidFill>
            <a:prstDash val="solid"/>
          </a:ln>
        </p:spPr>
        <p:txBody>
          <a:bodyPr/>
          <a:lstStyle/>
          <a:p>
            <a:endParaRPr lang="en-US"/>
          </a:p>
        </p:txBody>
      </p:sp>
      <p:sp>
        <p:nvSpPr>
          <p:cNvPr id="33" name="Text 30"/>
          <p:cNvSpPr/>
          <p:nvPr/>
        </p:nvSpPr>
        <p:spPr>
          <a:xfrm>
            <a:off x="9162059" y="4736592"/>
            <a:ext cx="1005840" cy="256032"/>
          </a:xfrm>
          <a:prstGeom prst="rect">
            <a:avLst/>
          </a:prstGeom>
          <a:noFill/>
          <a:ln/>
        </p:spPr>
        <p:txBody>
          <a:bodyPr wrap="square" lIns="0" tIns="0" rIns="0" bIns="0" rtlCol="0" anchor="ctr"/>
          <a:lstStyle/>
          <a:p>
            <a:pPr marL="0" indent="0" algn="ctr">
              <a:buNone/>
            </a:pPr>
            <a:r>
              <a:rPr lang="en-US" sz="1000" b="1" dirty="0">
                <a:solidFill>
                  <a:srgbClr val="B26A00"/>
                </a:solidFill>
                <a:latin typeface="Courier New" pitchFamily="34" charset="0"/>
                <a:ea typeface="Courier New" pitchFamily="34" charset="-122"/>
                <a:cs typeface="Courier New" pitchFamily="34" charset="-120"/>
              </a:rPr>
              <a:t>_dec</a:t>
            </a:r>
            <a:endParaRPr lang="en-US" sz="1000" dirty="0"/>
          </a:p>
        </p:txBody>
      </p:sp>
      <p:sp>
        <p:nvSpPr>
          <p:cNvPr id="34" name="Text 31"/>
          <p:cNvSpPr/>
          <p:nvPr/>
        </p:nvSpPr>
        <p:spPr>
          <a:xfrm>
            <a:off x="9162059" y="5065776"/>
            <a:ext cx="2243252" cy="310896"/>
          </a:xfrm>
          <a:prstGeom prst="rect">
            <a:avLst/>
          </a:prstGeom>
          <a:noFill/>
          <a:ln/>
        </p:spPr>
        <p:txBody>
          <a:bodyPr wrap="square" lIns="0" tIns="0" rIns="0" bIns="0" rtlCol="0" anchor="ctr"/>
          <a:lstStyle/>
          <a:p>
            <a:pPr marL="0" indent="0">
              <a:lnSpc>
                <a:spcPct val="110000"/>
              </a:lnSpc>
              <a:buNone/>
            </a:pPr>
            <a:r>
              <a:rPr lang="en-US" sz="1100" dirty="0">
                <a:solidFill>
                  <a:srgbClr val="4F637B"/>
                </a:solidFill>
                <a:latin typeface="Calibri" pitchFamily="34" charset="0"/>
                <a:ea typeface="Calibri" pitchFamily="34" charset="-122"/>
                <a:cs typeface="Calibri" pitchFamily="34" charset="-120"/>
              </a:rPr>
              <a:t>đóng băng bộ giải mã</a:t>
            </a:r>
            <a:endParaRPr lang="en-US" sz="1100" dirty="0"/>
          </a:p>
        </p:txBody>
      </p:sp>
      <p:sp>
        <p:nvSpPr>
          <p:cNvPr id="35" name="Text 32"/>
          <p:cNvSpPr/>
          <p:nvPr/>
        </p:nvSpPr>
        <p:spPr>
          <a:xfrm>
            <a:off x="566928" y="6382512"/>
            <a:ext cx="11057839" cy="274320"/>
          </a:xfrm>
          <a:prstGeom prst="rect">
            <a:avLst/>
          </a:prstGeom>
          <a:noFill/>
          <a:ln/>
        </p:spPr>
        <p:txBody>
          <a:bodyPr wrap="square" lIns="0" tIns="0" rIns="0" bIns="0" rtlCol="0" anchor="ctr"/>
          <a:lstStyle/>
          <a:p>
            <a:pPr marL="0" indent="0">
              <a:buNone/>
            </a:pPr>
            <a:r>
              <a:rPr lang="en-US" sz="950" i="1" dirty="0">
                <a:solidFill>
                  <a:srgbClr val="8494A8"/>
                </a:solidFill>
                <a:latin typeface="Calibri" pitchFamily="34" charset="0"/>
                <a:ea typeface="Calibri" pitchFamily="34" charset="-122"/>
                <a:cs typeface="Calibri" pitchFamily="34" charset="-120"/>
              </a:rPr>
              <a:t>Hai lựa chọn encoder chữ (lstm / trans) × bốn biến thể đóng băng × hai nhóm A1/A2 = 16 cấu hình.</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3 · KIẾN TRÚC</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Nhóm P — mô hình lõi (CLIP + BERT + GPT-2)</a:t>
            </a:r>
            <a:endParaRPr lang="en-US" sz="2900" dirty="0"/>
          </a:p>
        </p:txBody>
      </p:sp>
      <p:sp>
        <p:nvSpPr>
          <p:cNvPr id="5" name="Shape 2"/>
          <p:cNvSpPr/>
          <p:nvPr/>
        </p:nvSpPr>
        <p:spPr>
          <a:xfrm>
            <a:off x="566928" y="1481328"/>
            <a:ext cx="1828800" cy="786384"/>
          </a:xfrm>
          <a:prstGeom prst="roundRect">
            <a:avLst>
              <a:gd name="adj" fmla="val 10465"/>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6" name="Text 3"/>
          <p:cNvSpPr/>
          <p:nvPr/>
        </p:nvSpPr>
        <p:spPr>
          <a:xfrm>
            <a:off x="676656" y="1609344"/>
            <a:ext cx="1609344" cy="274320"/>
          </a:xfrm>
          <a:prstGeom prst="rect">
            <a:avLst/>
          </a:prstGeom>
          <a:noFill/>
          <a:ln/>
        </p:spPr>
        <p:txBody>
          <a:bodyPr wrap="square" lIns="0" tIns="0" rIns="0" bIns="0" rtlCol="0" anchor="ctr"/>
          <a:lstStyle/>
          <a:p>
            <a:pPr marL="0" indent="0" algn="ctr">
              <a:buNone/>
            </a:pPr>
            <a:r>
              <a:rPr lang="en-US" sz="1250" b="1" dirty="0">
                <a:solidFill>
                  <a:srgbClr val="14243A"/>
                </a:solidFill>
                <a:latin typeface="Calibri" pitchFamily="34" charset="0"/>
                <a:ea typeface="Calibri" pitchFamily="34" charset="-122"/>
                <a:cs typeface="Calibri" pitchFamily="34" charset="-120"/>
              </a:rPr>
              <a:t>Ảnh y khoa</a:t>
            </a:r>
            <a:endParaRPr lang="en-US" sz="1250" dirty="0"/>
          </a:p>
        </p:txBody>
      </p:sp>
      <p:sp>
        <p:nvSpPr>
          <p:cNvPr id="7" name="Text 4"/>
          <p:cNvSpPr/>
          <p:nvPr/>
        </p:nvSpPr>
        <p:spPr>
          <a:xfrm>
            <a:off x="676656" y="1901952"/>
            <a:ext cx="1609344" cy="274320"/>
          </a:xfrm>
          <a:prstGeom prst="rect">
            <a:avLst/>
          </a:prstGeom>
          <a:noFill/>
          <a:ln/>
        </p:spPr>
        <p:txBody>
          <a:bodyPr wrap="square" lIns="0" tIns="0" rIns="0" bIns="0" rtlCol="0" anchor="ctr"/>
          <a:lstStyle/>
          <a:p>
            <a:pPr marL="0" indent="0" algn="ctr">
              <a:buNone/>
            </a:pPr>
            <a:r>
              <a:rPr lang="en-US" sz="1000" dirty="0">
                <a:solidFill>
                  <a:srgbClr val="4F637B"/>
                </a:solidFill>
                <a:latin typeface="Calibri" pitchFamily="34" charset="0"/>
                <a:ea typeface="Calibri" pitchFamily="34" charset="-122"/>
                <a:cs typeface="Calibri" pitchFamily="34" charset="-120"/>
              </a:rPr>
              <a:t>224 × 224</a:t>
            </a:r>
            <a:endParaRPr lang="en-US" sz="1000" dirty="0"/>
          </a:p>
        </p:txBody>
      </p:sp>
      <p:sp>
        <p:nvSpPr>
          <p:cNvPr id="8" name="Shape 5"/>
          <p:cNvSpPr/>
          <p:nvPr/>
        </p:nvSpPr>
        <p:spPr>
          <a:xfrm>
            <a:off x="566928" y="2852928"/>
            <a:ext cx="1828800" cy="786384"/>
          </a:xfrm>
          <a:prstGeom prst="roundRect">
            <a:avLst>
              <a:gd name="adj" fmla="val 10465"/>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9" name="Text 6"/>
          <p:cNvSpPr/>
          <p:nvPr/>
        </p:nvSpPr>
        <p:spPr>
          <a:xfrm>
            <a:off x="676656" y="2980944"/>
            <a:ext cx="1609344" cy="274320"/>
          </a:xfrm>
          <a:prstGeom prst="rect">
            <a:avLst/>
          </a:prstGeom>
          <a:noFill/>
          <a:ln/>
        </p:spPr>
        <p:txBody>
          <a:bodyPr wrap="square" lIns="0" tIns="0" rIns="0" bIns="0" rtlCol="0" anchor="ctr"/>
          <a:lstStyle/>
          <a:p>
            <a:pPr marL="0" indent="0" algn="ctr">
              <a:buNone/>
            </a:pPr>
            <a:r>
              <a:rPr lang="en-US" sz="1250" b="1" dirty="0">
                <a:solidFill>
                  <a:srgbClr val="14243A"/>
                </a:solidFill>
                <a:latin typeface="Calibri" pitchFamily="34" charset="0"/>
                <a:ea typeface="Calibri" pitchFamily="34" charset="-122"/>
                <a:cs typeface="Calibri" pitchFamily="34" charset="-120"/>
              </a:rPr>
              <a:t>Câu hỏi</a:t>
            </a:r>
            <a:endParaRPr lang="en-US" sz="1250" dirty="0"/>
          </a:p>
        </p:txBody>
      </p:sp>
      <p:sp>
        <p:nvSpPr>
          <p:cNvPr id="10" name="Text 7"/>
          <p:cNvSpPr/>
          <p:nvPr/>
        </p:nvSpPr>
        <p:spPr>
          <a:xfrm>
            <a:off x="676656" y="3273552"/>
            <a:ext cx="1609344" cy="274320"/>
          </a:xfrm>
          <a:prstGeom prst="rect">
            <a:avLst/>
          </a:prstGeom>
          <a:noFill/>
          <a:ln/>
        </p:spPr>
        <p:txBody>
          <a:bodyPr wrap="square" lIns="0" tIns="0" rIns="0" bIns="0" rtlCol="0" anchor="ctr"/>
          <a:lstStyle/>
          <a:p>
            <a:pPr marL="0" indent="0" algn="ctr">
              <a:buNone/>
            </a:pPr>
            <a:r>
              <a:rPr lang="en-US" sz="1000" dirty="0">
                <a:solidFill>
                  <a:srgbClr val="4F637B"/>
                </a:solidFill>
                <a:latin typeface="Calibri" pitchFamily="34" charset="0"/>
                <a:ea typeface="Calibri" pitchFamily="34" charset="-122"/>
                <a:cs typeface="Calibri" pitchFamily="34" charset="-120"/>
              </a:rPr>
              <a:t>chuỗi token</a:t>
            </a:r>
            <a:endParaRPr lang="en-US" sz="1000" dirty="0"/>
          </a:p>
        </p:txBody>
      </p:sp>
      <p:sp>
        <p:nvSpPr>
          <p:cNvPr id="11" name="Shape 8"/>
          <p:cNvSpPr/>
          <p:nvPr/>
        </p:nvSpPr>
        <p:spPr>
          <a:xfrm>
            <a:off x="2670048" y="1481328"/>
            <a:ext cx="2121408" cy="786384"/>
          </a:xfrm>
          <a:prstGeom prst="roundRect">
            <a:avLst>
              <a:gd name="adj" fmla="val 10465"/>
            </a:avLst>
          </a:prstGeom>
          <a:solidFill>
            <a:srgbClr val="F4F8FC"/>
          </a:solidFill>
          <a:ln w="12700">
            <a:solidFill>
              <a:srgbClr val="1466C0"/>
            </a:solidFill>
            <a:prstDash val="solid"/>
          </a:ln>
          <a:effectLst>
            <a:outerShdw blurRad="114300" dist="25400" dir="5400000" algn="bl" rotWithShape="0">
              <a:srgbClr val="B9C6D6">
                <a:alpha val="50000"/>
              </a:srgbClr>
            </a:outerShdw>
          </a:effectLst>
        </p:spPr>
        <p:txBody>
          <a:bodyPr/>
          <a:lstStyle/>
          <a:p>
            <a:endParaRPr lang="en-US"/>
          </a:p>
        </p:txBody>
      </p:sp>
      <p:sp>
        <p:nvSpPr>
          <p:cNvPr id="12" name="Text 9"/>
          <p:cNvSpPr/>
          <p:nvPr/>
        </p:nvSpPr>
        <p:spPr>
          <a:xfrm>
            <a:off x="2779776" y="1609344"/>
            <a:ext cx="1901952" cy="274320"/>
          </a:xfrm>
          <a:prstGeom prst="rect">
            <a:avLst/>
          </a:prstGeom>
          <a:noFill/>
          <a:ln/>
        </p:spPr>
        <p:txBody>
          <a:bodyPr wrap="square" lIns="0" tIns="0" rIns="0" bIns="0" rtlCol="0" anchor="ctr"/>
          <a:lstStyle/>
          <a:p>
            <a:pPr marL="0" indent="0" algn="ctr">
              <a:buNone/>
            </a:pPr>
            <a:r>
              <a:rPr lang="en-US" sz="1250" b="1" dirty="0">
                <a:solidFill>
                  <a:srgbClr val="1466C0"/>
                </a:solidFill>
                <a:latin typeface="Calibri" pitchFamily="34" charset="0"/>
                <a:ea typeface="Calibri" pitchFamily="34" charset="-122"/>
                <a:cs typeface="Calibri" pitchFamily="34" charset="-120"/>
              </a:rPr>
              <a:t>PubMedCLIP</a:t>
            </a:r>
            <a:endParaRPr lang="en-US" sz="1250" dirty="0"/>
          </a:p>
        </p:txBody>
      </p:sp>
      <p:sp>
        <p:nvSpPr>
          <p:cNvPr id="13" name="Text 10"/>
          <p:cNvSpPr/>
          <p:nvPr/>
        </p:nvSpPr>
        <p:spPr>
          <a:xfrm>
            <a:off x="2779776" y="1901952"/>
            <a:ext cx="1901952" cy="274320"/>
          </a:xfrm>
          <a:prstGeom prst="rect">
            <a:avLst/>
          </a:prstGeom>
          <a:noFill/>
          <a:ln/>
        </p:spPr>
        <p:txBody>
          <a:bodyPr wrap="square" lIns="0" tIns="0" rIns="0" bIns="0" rtlCol="0" anchor="ctr"/>
          <a:lstStyle/>
          <a:p>
            <a:pPr marL="0" indent="0" algn="ctr">
              <a:buNone/>
            </a:pPr>
            <a:r>
              <a:rPr lang="en-US" sz="1000" dirty="0">
                <a:solidFill>
                  <a:srgbClr val="4F637B"/>
                </a:solidFill>
                <a:latin typeface="Calibri" pitchFamily="34" charset="0"/>
                <a:ea typeface="Calibri" pitchFamily="34" charset="-122"/>
                <a:cs typeface="Calibri" pitchFamily="34" charset="-120"/>
              </a:rPr>
              <a:t>ảnh → 768 → chiếu 128</a:t>
            </a:r>
            <a:endParaRPr lang="en-US" sz="1000" dirty="0"/>
          </a:p>
        </p:txBody>
      </p:sp>
      <p:sp>
        <p:nvSpPr>
          <p:cNvPr id="14" name="Shape 11"/>
          <p:cNvSpPr/>
          <p:nvPr/>
        </p:nvSpPr>
        <p:spPr>
          <a:xfrm>
            <a:off x="2670048" y="2852928"/>
            <a:ext cx="2121408" cy="786384"/>
          </a:xfrm>
          <a:prstGeom prst="roundRect">
            <a:avLst>
              <a:gd name="adj" fmla="val 10465"/>
            </a:avLst>
          </a:prstGeom>
          <a:solidFill>
            <a:srgbClr val="F4F8FC"/>
          </a:solidFill>
          <a:ln w="12700">
            <a:solidFill>
              <a:srgbClr val="1466C0"/>
            </a:solidFill>
            <a:prstDash val="solid"/>
          </a:ln>
          <a:effectLst>
            <a:outerShdw blurRad="114300" dist="25400" dir="5400000" algn="bl" rotWithShape="0">
              <a:srgbClr val="B9C6D6">
                <a:alpha val="50000"/>
              </a:srgbClr>
            </a:outerShdw>
          </a:effectLst>
        </p:spPr>
        <p:txBody>
          <a:bodyPr/>
          <a:lstStyle/>
          <a:p>
            <a:endParaRPr lang="en-US"/>
          </a:p>
        </p:txBody>
      </p:sp>
      <p:sp>
        <p:nvSpPr>
          <p:cNvPr id="15" name="Text 12"/>
          <p:cNvSpPr/>
          <p:nvPr/>
        </p:nvSpPr>
        <p:spPr>
          <a:xfrm>
            <a:off x="2779776" y="2980944"/>
            <a:ext cx="1901952" cy="274320"/>
          </a:xfrm>
          <a:prstGeom prst="rect">
            <a:avLst/>
          </a:prstGeom>
          <a:noFill/>
          <a:ln/>
        </p:spPr>
        <p:txBody>
          <a:bodyPr wrap="square" lIns="0" tIns="0" rIns="0" bIns="0" rtlCol="0" anchor="ctr"/>
          <a:lstStyle/>
          <a:p>
            <a:pPr marL="0" indent="0" algn="ctr">
              <a:buNone/>
            </a:pPr>
            <a:r>
              <a:rPr lang="en-US" sz="1250" b="1" dirty="0">
                <a:solidFill>
                  <a:srgbClr val="1466C0"/>
                </a:solidFill>
                <a:latin typeface="Calibri" pitchFamily="34" charset="0"/>
                <a:ea typeface="Calibri" pitchFamily="34" charset="-122"/>
                <a:cs typeface="Calibri" pitchFamily="34" charset="-120"/>
              </a:rPr>
              <a:t>PubMedBERT</a:t>
            </a:r>
            <a:endParaRPr lang="en-US" sz="1250" dirty="0"/>
          </a:p>
        </p:txBody>
      </p:sp>
      <p:sp>
        <p:nvSpPr>
          <p:cNvPr id="16" name="Text 13"/>
          <p:cNvSpPr/>
          <p:nvPr/>
        </p:nvSpPr>
        <p:spPr>
          <a:xfrm>
            <a:off x="2779776" y="3273552"/>
            <a:ext cx="1901952" cy="274320"/>
          </a:xfrm>
          <a:prstGeom prst="rect">
            <a:avLst/>
          </a:prstGeom>
          <a:noFill/>
          <a:ln/>
        </p:spPr>
        <p:txBody>
          <a:bodyPr wrap="square" lIns="0" tIns="0" rIns="0" bIns="0" rtlCol="0" anchor="ctr"/>
          <a:lstStyle/>
          <a:p>
            <a:pPr marL="0" indent="0" algn="ctr">
              <a:buNone/>
            </a:pPr>
            <a:r>
              <a:rPr lang="en-US" sz="1000" dirty="0">
                <a:solidFill>
                  <a:srgbClr val="4F637B"/>
                </a:solidFill>
                <a:latin typeface="Calibri" pitchFamily="34" charset="0"/>
                <a:ea typeface="Calibri" pitchFamily="34" charset="-122"/>
                <a:cs typeface="Calibri" pitchFamily="34" charset="-120"/>
              </a:rPr>
              <a:t>chữ → 768 → chiếu 64</a:t>
            </a:r>
            <a:endParaRPr lang="en-US" sz="1000" dirty="0"/>
          </a:p>
        </p:txBody>
      </p:sp>
      <p:sp>
        <p:nvSpPr>
          <p:cNvPr id="17" name="Shape 14"/>
          <p:cNvSpPr/>
          <p:nvPr/>
        </p:nvSpPr>
        <p:spPr>
          <a:xfrm>
            <a:off x="5065776" y="2167128"/>
            <a:ext cx="1554480" cy="786384"/>
          </a:xfrm>
          <a:prstGeom prst="roundRect">
            <a:avLst>
              <a:gd name="adj" fmla="val 10465"/>
            </a:avLst>
          </a:prstGeom>
          <a:solidFill>
            <a:srgbClr val="F4F8FC"/>
          </a:solidFill>
          <a:ln w="12700">
            <a:solidFill>
              <a:srgbClr val="6B33C7"/>
            </a:solidFill>
            <a:prstDash val="solid"/>
          </a:ln>
          <a:effectLst>
            <a:outerShdw blurRad="114300" dist="25400" dir="5400000" algn="bl" rotWithShape="0">
              <a:srgbClr val="B9C6D6">
                <a:alpha val="50000"/>
              </a:srgbClr>
            </a:outerShdw>
          </a:effectLst>
        </p:spPr>
        <p:txBody>
          <a:bodyPr/>
          <a:lstStyle/>
          <a:p>
            <a:endParaRPr lang="en-US"/>
          </a:p>
        </p:txBody>
      </p:sp>
      <p:sp>
        <p:nvSpPr>
          <p:cNvPr id="18" name="Text 15"/>
          <p:cNvSpPr/>
          <p:nvPr/>
        </p:nvSpPr>
        <p:spPr>
          <a:xfrm>
            <a:off x="5175504" y="2295144"/>
            <a:ext cx="1335024" cy="274320"/>
          </a:xfrm>
          <a:prstGeom prst="rect">
            <a:avLst/>
          </a:prstGeom>
          <a:noFill/>
          <a:ln/>
        </p:spPr>
        <p:txBody>
          <a:bodyPr wrap="square" lIns="0" tIns="0" rIns="0" bIns="0" rtlCol="0" anchor="ctr"/>
          <a:lstStyle/>
          <a:p>
            <a:pPr marL="0" indent="0" algn="ctr">
              <a:buNone/>
            </a:pPr>
            <a:r>
              <a:rPr lang="en-US" sz="1250" b="1" dirty="0">
                <a:solidFill>
                  <a:srgbClr val="6B33C7"/>
                </a:solidFill>
                <a:latin typeface="Calibri" pitchFamily="34" charset="0"/>
                <a:ea typeface="Calibri" pitchFamily="34" charset="-122"/>
                <a:cs typeface="Calibri" pitchFamily="34" charset="-120"/>
              </a:rPr>
              <a:t>Nối đặc trưng</a:t>
            </a:r>
            <a:endParaRPr lang="en-US" sz="1250" dirty="0"/>
          </a:p>
        </p:txBody>
      </p:sp>
      <p:sp>
        <p:nvSpPr>
          <p:cNvPr id="19" name="Text 16"/>
          <p:cNvSpPr/>
          <p:nvPr/>
        </p:nvSpPr>
        <p:spPr>
          <a:xfrm>
            <a:off x="5175504" y="2587752"/>
            <a:ext cx="1335024" cy="274320"/>
          </a:xfrm>
          <a:prstGeom prst="rect">
            <a:avLst/>
          </a:prstGeom>
          <a:noFill/>
          <a:ln/>
        </p:spPr>
        <p:txBody>
          <a:bodyPr wrap="square" lIns="0" tIns="0" rIns="0" bIns="0" rtlCol="0" anchor="ctr"/>
          <a:lstStyle/>
          <a:p>
            <a:pPr marL="0" indent="0" algn="ctr">
              <a:buNone/>
            </a:pPr>
            <a:r>
              <a:rPr lang="en-US" sz="1000" dirty="0">
                <a:solidFill>
                  <a:srgbClr val="4F637B"/>
                </a:solidFill>
                <a:latin typeface="Calibri" pitchFamily="34" charset="0"/>
                <a:ea typeface="Calibri" pitchFamily="34" charset="-122"/>
                <a:cs typeface="Calibri" pitchFamily="34" charset="-120"/>
              </a:rPr>
              <a:t>vectơ 192 chiều</a:t>
            </a:r>
            <a:endParaRPr lang="en-US" sz="1000" dirty="0"/>
          </a:p>
        </p:txBody>
      </p:sp>
      <p:sp>
        <p:nvSpPr>
          <p:cNvPr id="20" name="Shape 17"/>
          <p:cNvSpPr/>
          <p:nvPr/>
        </p:nvSpPr>
        <p:spPr>
          <a:xfrm>
            <a:off x="6894576" y="2029968"/>
            <a:ext cx="2286000" cy="1060704"/>
          </a:xfrm>
          <a:prstGeom prst="roundRect">
            <a:avLst>
              <a:gd name="adj" fmla="val 7759"/>
            </a:avLst>
          </a:prstGeom>
          <a:solidFill>
            <a:srgbClr val="FBEBEA"/>
          </a:solidFill>
          <a:ln w="12700">
            <a:solidFill>
              <a:srgbClr val="C62828"/>
            </a:solidFill>
            <a:prstDash val="solid"/>
          </a:ln>
          <a:effectLst>
            <a:outerShdw blurRad="114300" dist="25400" dir="5400000" algn="bl" rotWithShape="0">
              <a:srgbClr val="B9C6D6">
                <a:alpha val="50000"/>
              </a:srgbClr>
            </a:outerShdw>
          </a:effectLst>
        </p:spPr>
        <p:txBody>
          <a:bodyPr/>
          <a:lstStyle/>
          <a:p>
            <a:endParaRPr lang="en-US"/>
          </a:p>
        </p:txBody>
      </p:sp>
      <p:sp>
        <p:nvSpPr>
          <p:cNvPr id="21" name="Text 18"/>
          <p:cNvSpPr/>
          <p:nvPr/>
        </p:nvSpPr>
        <p:spPr>
          <a:xfrm>
            <a:off x="7004304" y="2157984"/>
            <a:ext cx="2066544" cy="256032"/>
          </a:xfrm>
          <a:prstGeom prst="rect">
            <a:avLst/>
          </a:prstGeom>
          <a:noFill/>
          <a:ln/>
        </p:spPr>
        <p:txBody>
          <a:bodyPr wrap="square" lIns="0" tIns="0" rIns="0" bIns="0" rtlCol="0" anchor="ctr"/>
          <a:lstStyle/>
          <a:p>
            <a:pPr marL="0" indent="0" algn="ctr">
              <a:buNone/>
            </a:pPr>
            <a:r>
              <a:rPr lang="en-US" sz="1250" b="1" dirty="0">
                <a:solidFill>
                  <a:srgbClr val="C62828"/>
                </a:solidFill>
                <a:latin typeface="Courier New" pitchFamily="34" charset="0"/>
                <a:ea typeface="Courier New" pitchFamily="34" charset="-122"/>
                <a:cs typeface="Courier New" pitchFamily="34" charset="-120"/>
              </a:rPr>
              <a:t>gpt2_proj</a:t>
            </a:r>
            <a:endParaRPr lang="en-US" sz="1250" dirty="0"/>
          </a:p>
        </p:txBody>
      </p:sp>
      <p:sp>
        <p:nvSpPr>
          <p:cNvPr id="22" name="Text 19"/>
          <p:cNvSpPr/>
          <p:nvPr/>
        </p:nvSpPr>
        <p:spPr>
          <a:xfrm>
            <a:off x="7004304" y="2432304"/>
            <a:ext cx="2066544" cy="237744"/>
          </a:xfrm>
          <a:prstGeom prst="rect">
            <a:avLst/>
          </a:prstGeom>
          <a:noFill/>
          <a:ln/>
        </p:spPr>
        <p:txBody>
          <a:bodyPr wrap="square" lIns="0" tIns="0" rIns="0" bIns="0" rtlCol="0" anchor="ctr"/>
          <a:lstStyle/>
          <a:p>
            <a:pPr marL="0" indent="0" algn="ctr">
              <a:buNone/>
            </a:pPr>
            <a:r>
              <a:rPr lang="en-US" sz="1050" dirty="0">
                <a:solidFill>
                  <a:srgbClr val="4F637B"/>
                </a:solidFill>
                <a:latin typeface="Calibri" pitchFamily="34" charset="0"/>
                <a:ea typeface="Calibri" pitchFamily="34" charset="-122"/>
                <a:cs typeface="Calibri" pitchFamily="34" charset="-120"/>
              </a:rPr>
              <a:t>Linear 192 → 768</a:t>
            </a:r>
            <a:endParaRPr lang="en-US" sz="1050" dirty="0"/>
          </a:p>
        </p:txBody>
      </p:sp>
      <p:sp>
        <p:nvSpPr>
          <p:cNvPr id="23" name="Text 20"/>
          <p:cNvSpPr/>
          <p:nvPr/>
        </p:nvSpPr>
        <p:spPr>
          <a:xfrm>
            <a:off x="7004304" y="2688336"/>
            <a:ext cx="2066544" cy="237744"/>
          </a:xfrm>
          <a:prstGeom prst="rect">
            <a:avLst/>
          </a:prstGeom>
          <a:noFill/>
          <a:ln/>
        </p:spPr>
        <p:txBody>
          <a:bodyPr wrap="square" lIns="0" tIns="0" rIns="0" bIns="0" rtlCol="0" anchor="ctr"/>
          <a:lstStyle/>
          <a:p>
            <a:pPr marL="0" indent="0" algn="ctr">
              <a:buNone/>
            </a:pPr>
            <a:r>
              <a:rPr lang="en-US" sz="1050" b="1" dirty="0">
                <a:solidFill>
                  <a:srgbClr val="B26A00"/>
                </a:solidFill>
                <a:latin typeface="Calibri" pitchFamily="34" charset="0"/>
                <a:ea typeface="Calibri" pitchFamily="34" charset="-122"/>
                <a:cs typeface="Calibri" pitchFamily="34" charset="-120"/>
              </a:rPr>
              <a:t>⇒ đúng 1 prefix token</a:t>
            </a:r>
            <a:endParaRPr lang="en-US" sz="1050" dirty="0"/>
          </a:p>
        </p:txBody>
      </p:sp>
      <p:sp>
        <p:nvSpPr>
          <p:cNvPr id="24" name="Shape 21"/>
          <p:cNvSpPr/>
          <p:nvPr/>
        </p:nvSpPr>
        <p:spPr>
          <a:xfrm>
            <a:off x="9436608" y="2029968"/>
            <a:ext cx="1828800" cy="1060704"/>
          </a:xfrm>
          <a:prstGeom prst="roundRect">
            <a:avLst>
              <a:gd name="adj" fmla="val 7759"/>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25" name="Text 22"/>
          <p:cNvSpPr/>
          <p:nvPr/>
        </p:nvSpPr>
        <p:spPr>
          <a:xfrm>
            <a:off x="9528048" y="2176272"/>
            <a:ext cx="1645920" cy="274320"/>
          </a:xfrm>
          <a:prstGeom prst="rect">
            <a:avLst/>
          </a:prstGeom>
          <a:noFill/>
          <a:ln/>
        </p:spPr>
        <p:txBody>
          <a:bodyPr wrap="square" lIns="0" tIns="0" rIns="0" bIns="0" rtlCol="0" anchor="ctr"/>
          <a:lstStyle/>
          <a:p>
            <a:pPr marL="0" indent="0" algn="ctr">
              <a:buNone/>
            </a:pPr>
            <a:r>
              <a:rPr lang="en-US" sz="1350" b="1" dirty="0">
                <a:solidFill>
                  <a:srgbClr val="B26A00"/>
                </a:solidFill>
                <a:latin typeface="Calibri" pitchFamily="34" charset="0"/>
                <a:ea typeface="Calibri" pitchFamily="34" charset="-122"/>
                <a:cs typeface="Calibri" pitchFamily="34" charset="-120"/>
              </a:rPr>
              <a:t>GPT-2</a:t>
            </a:r>
            <a:endParaRPr lang="en-US" sz="1350" dirty="0"/>
          </a:p>
        </p:txBody>
      </p:sp>
      <p:sp>
        <p:nvSpPr>
          <p:cNvPr id="26" name="Text 23"/>
          <p:cNvSpPr/>
          <p:nvPr/>
        </p:nvSpPr>
        <p:spPr>
          <a:xfrm>
            <a:off x="9528048" y="2468880"/>
            <a:ext cx="1645920" cy="457200"/>
          </a:xfrm>
          <a:prstGeom prst="rect">
            <a:avLst/>
          </a:prstGeom>
          <a:noFill/>
          <a:ln/>
        </p:spPr>
        <p:txBody>
          <a:bodyPr wrap="square" lIns="0" tIns="0" rIns="0" bIns="0" rtlCol="0" anchor="ctr"/>
          <a:lstStyle/>
          <a:p>
            <a:pPr marL="0" indent="0" algn="ctr">
              <a:lnSpc>
                <a:spcPct val="108000"/>
              </a:lnSpc>
              <a:buNone/>
            </a:pPr>
            <a:r>
              <a:rPr lang="en-US" sz="950" dirty="0">
                <a:solidFill>
                  <a:srgbClr val="4F637B"/>
                </a:solidFill>
                <a:latin typeface="Calibri" pitchFamily="34" charset="0"/>
                <a:ea typeface="Calibri" pitchFamily="34" charset="-122"/>
                <a:cs typeface="Calibri" pitchFamily="34" charset="-120"/>
              </a:rPr>
              <a:t>124M tham số</a:t>
            </a:r>
            <a:endParaRPr lang="en-US" sz="950" dirty="0"/>
          </a:p>
          <a:p>
            <a:pPr marL="0" indent="0" algn="ctr">
              <a:lnSpc>
                <a:spcPct val="108000"/>
              </a:lnSpc>
              <a:buNone/>
            </a:pPr>
            <a:r>
              <a:rPr lang="en-US" sz="950" dirty="0">
                <a:solidFill>
                  <a:srgbClr val="4F637B"/>
                </a:solidFill>
                <a:latin typeface="Calibri" pitchFamily="34" charset="0"/>
                <a:ea typeface="Calibri" pitchFamily="34" charset="-122"/>
                <a:cs typeface="Calibri" pitchFamily="34" charset="-120"/>
              </a:rPr>
              <a:t>giải mã greedy argmax</a:t>
            </a:r>
            <a:endParaRPr lang="en-US" sz="950" dirty="0"/>
          </a:p>
        </p:txBody>
      </p:sp>
      <p:sp>
        <p:nvSpPr>
          <p:cNvPr id="27" name="Shape 24"/>
          <p:cNvSpPr/>
          <p:nvPr/>
        </p:nvSpPr>
        <p:spPr>
          <a:xfrm>
            <a:off x="2414016" y="1874520"/>
            <a:ext cx="237744" cy="0"/>
          </a:xfrm>
          <a:prstGeom prst="line">
            <a:avLst/>
          </a:prstGeom>
          <a:noFill/>
          <a:ln w="19050">
            <a:solidFill>
              <a:srgbClr val="8494A8"/>
            </a:solidFill>
            <a:prstDash val="solid"/>
            <a:tailEnd type="triangle"/>
          </a:ln>
        </p:spPr>
        <p:txBody>
          <a:bodyPr/>
          <a:lstStyle/>
          <a:p>
            <a:endParaRPr lang="en-US"/>
          </a:p>
        </p:txBody>
      </p:sp>
      <p:sp>
        <p:nvSpPr>
          <p:cNvPr id="28" name="Shape 25"/>
          <p:cNvSpPr/>
          <p:nvPr/>
        </p:nvSpPr>
        <p:spPr>
          <a:xfrm>
            <a:off x="2414016" y="3246120"/>
            <a:ext cx="237744" cy="0"/>
          </a:xfrm>
          <a:prstGeom prst="line">
            <a:avLst/>
          </a:prstGeom>
          <a:noFill/>
          <a:ln w="19050">
            <a:solidFill>
              <a:srgbClr val="8494A8"/>
            </a:solidFill>
            <a:prstDash val="solid"/>
            <a:tailEnd type="triangle"/>
          </a:ln>
        </p:spPr>
        <p:txBody>
          <a:bodyPr/>
          <a:lstStyle/>
          <a:p>
            <a:endParaRPr lang="en-US"/>
          </a:p>
        </p:txBody>
      </p:sp>
      <p:sp>
        <p:nvSpPr>
          <p:cNvPr id="29" name="Shape 26"/>
          <p:cNvSpPr/>
          <p:nvPr/>
        </p:nvSpPr>
        <p:spPr>
          <a:xfrm>
            <a:off x="4809744" y="1874520"/>
            <a:ext cx="237744" cy="0"/>
          </a:xfrm>
          <a:prstGeom prst="line">
            <a:avLst/>
          </a:prstGeom>
          <a:noFill/>
          <a:ln w="19050">
            <a:solidFill>
              <a:srgbClr val="8494A8"/>
            </a:solidFill>
            <a:prstDash val="solid"/>
          </a:ln>
        </p:spPr>
        <p:txBody>
          <a:bodyPr/>
          <a:lstStyle/>
          <a:p>
            <a:endParaRPr lang="en-US"/>
          </a:p>
        </p:txBody>
      </p:sp>
      <p:sp>
        <p:nvSpPr>
          <p:cNvPr id="30" name="Shape 27"/>
          <p:cNvSpPr/>
          <p:nvPr/>
        </p:nvSpPr>
        <p:spPr>
          <a:xfrm>
            <a:off x="5047488" y="1874520"/>
            <a:ext cx="0" cy="658368"/>
          </a:xfrm>
          <a:prstGeom prst="line">
            <a:avLst/>
          </a:prstGeom>
          <a:noFill/>
          <a:ln w="19050">
            <a:solidFill>
              <a:srgbClr val="8494A8"/>
            </a:solidFill>
            <a:prstDash val="solid"/>
          </a:ln>
        </p:spPr>
        <p:txBody>
          <a:bodyPr/>
          <a:lstStyle/>
          <a:p>
            <a:endParaRPr lang="en-US"/>
          </a:p>
        </p:txBody>
      </p:sp>
      <p:sp>
        <p:nvSpPr>
          <p:cNvPr id="31" name="Shape 28"/>
          <p:cNvSpPr/>
          <p:nvPr/>
        </p:nvSpPr>
        <p:spPr>
          <a:xfrm>
            <a:off x="4809744" y="3246120"/>
            <a:ext cx="237744" cy="0"/>
          </a:xfrm>
          <a:prstGeom prst="line">
            <a:avLst/>
          </a:prstGeom>
          <a:noFill/>
          <a:ln w="19050">
            <a:solidFill>
              <a:srgbClr val="8494A8"/>
            </a:solidFill>
            <a:prstDash val="solid"/>
          </a:ln>
        </p:spPr>
        <p:txBody>
          <a:bodyPr/>
          <a:lstStyle/>
          <a:p>
            <a:endParaRPr lang="en-US"/>
          </a:p>
        </p:txBody>
      </p:sp>
      <p:sp>
        <p:nvSpPr>
          <p:cNvPr id="32" name="Shape 29"/>
          <p:cNvSpPr/>
          <p:nvPr/>
        </p:nvSpPr>
        <p:spPr>
          <a:xfrm>
            <a:off x="5047488" y="2587752"/>
            <a:ext cx="0" cy="658368"/>
          </a:xfrm>
          <a:prstGeom prst="line">
            <a:avLst/>
          </a:prstGeom>
          <a:noFill/>
          <a:ln w="19050">
            <a:solidFill>
              <a:srgbClr val="8494A8"/>
            </a:solidFill>
            <a:prstDash val="solid"/>
          </a:ln>
        </p:spPr>
        <p:txBody>
          <a:bodyPr/>
          <a:lstStyle/>
          <a:p>
            <a:endParaRPr lang="en-US"/>
          </a:p>
        </p:txBody>
      </p:sp>
      <p:sp>
        <p:nvSpPr>
          <p:cNvPr id="33" name="Shape 30"/>
          <p:cNvSpPr/>
          <p:nvPr/>
        </p:nvSpPr>
        <p:spPr>
          <a:xfrm>
            <a:off x="6620256" y="2560320"/>
            <a:ext cx="256032" cy="0"/>
          </a:xfrm>
          <a:prstGeom prst="line">
            <a:avLst/>
          </a:prstGeom>
          <a:noFill/>
          <a:ln w="19050">
            <a:solidFill>
              <a:srgbClr val="8494A8"/>
            </a:solidFill>
            <a:prstDash val="solid"/>
            <a:tailEnd type="triangle"/>
          </a:ln>
        </p:spPr>
        <p:txBody>
          <a:bodyPr/>
          <a:lstStyle/>
          <a:p>
            <a:endParaRPr lang="en-US"/>
          </a:p>
        </p:txBody>
      </p:sp>
      <p:sp>
        <p:nvSpPr>
          <p:cNvPr id="34" name="Shape 31"/>
          <p:cNvSpPr/>
          <p:nvPr/>
        </p:nvSpPr>
        <p:spPr>
          <a:xfrm>
            <a:off x="9180576" y="2560320"/>
            <a:ext cx="237744" cy="0"/>
          </a:xfrm>
          <a:prstGeom prst="line">
            <a:avLst/>
          </a:prstGeom>
          <a:noFill/>
          <a:ln w="19050">
            <a:solidFill>
              <a:srgbClr val="8494A8"/>
            </a:solidFill>
            <a:prstDash val="solid"/>
            <a:tailEnd type="triangle"/>
          </a:ln>
        </p:spPr>
        <p:txBody>
          <a:bodyPr/>
          <a:lstStyle/>
          <a:p>
            <a:endParaRPr lang="en-US"/>
          </a:p>
        </p:txBody>
      </p:sp>
      <p:sp>
        <p:nvSpPr>
          <p:cNvPr id="35" name="Shape 32"/>
          <p:cNvSpPr/>
          <p:nvPr/>
        </p:nvSpPr>
        <p:spPr>
          <a:xfrm>
            <a:off x="566928" y="3712464"/>
            <a:ext cx="11057839" cy="1060704"/>
          </a:xfrm>
          <a:prstGeom prst="roundRect">
            <a:avLst>
              <a:gd name="adj" fmla="val 7759"/>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36" name="Text 33"/>
          <p:cNvSpPr/>
          <p:nvPr/>
        </p:nvSpPr>
        <p:spPr>
          <a:xfrm>
            <a:off x="841248" y="3895344"/>
            <a:ext cx="10509199" cy="694944"/>
          </a:xfrm>
          <a:prstGeom prst="rect">
            <a:avLst/>
          </a:prstGeom>
          <a:noFill/>
          <a:ln/>
        </p:spPr>
        <p:txBody>
          <a:bodyPr wrap="square" lIns="0" tIns="0" rIns="0" bIns="0" rtlCol="0" anchor="ctr"/>
          <a:lstStyle/>
          <a:p>
            <a:pPr marL="0" indent="0">
              <a:lnSpc>
                <a:spcPct val="114000"/>
              </a:lnSpc>
              <a:buNone/>
            </a:pPr>
            <a:r>
              <a:rPr lang="en-US" sz="1250" b="1" dirty="0">
                <a:solidFill>
                  <a:srgbClr val="C62828"/>
                </a:solidFill>
                <a:latin typeface="Calibri" pitchFamily="34" charset="0"/>
                <a:ea typeface="Calibri" pitchFamily="34" charset="-122"/>
                <a:cs typeface="Calibri" pitchFamily="34" charset="-120"/>
              </a:rPr>
              <a:t>Cổ chai nằm ở đâu:  </a:t>
            </a:r>
            <a:r>
              <a:rPr lang="en-US" sz="1250" dirty="0">
                <a:solidFill>
                  <a:srgbClr val="4F637B"/>
                </a:solidFill>
                <a:latin typeface="Calibri" pitchFamily="34" charset="0"/>
                <a:ea typeface="Calibri" pitchFamily="34" charset="-122"/>
                <a:cs typeface="Calibri" pitchFamily="34" charset="-120"/>
              </a:rPr>
              <a:t>thông tin ảnh (128 chiều) cộng thông tin câu hỏi (64 chiều) bị ép qua MỘT lớp Linear để thành MỘT token 768 chiều duy nhất trước khi vào GPT-2. Gần như toàn bộ chi tiết không gian của ảnh bị mất ở bước này — đó là lý do câu mở, vốn cần mô tả vị trí và bệnh lý, cho điểm thấp nhất.</a:t>
            </a:r>
            <a:endParaRPr lang="en-US" sz="1250" dirty="0"/>
          </a:p>
        </p:txBody>
      </p:sp>
      <p:sp>
        <p:nvSpPr>
          <p:cNvPr id="37" name="Text 34"/>
          <p:cNvSpPr/>
          <p:nvPr/>
        </p:nvSpPr>
        <p:spPr>
          <a:xfrm>
            <a:off x="566928" y="4956048"/>
            <a:ext cx="2682164" cy="384048"/>
          </a:xfrm>
          <a:prstGeom prst="rect">
            <a:avLst/>
          </a:prstGeom>
          <a:noFill/>
          <a:ln/>
        </p:spPr>
        <p:txBody>
          <a:bodyPr wrap="square" lIns="0" tIns="0" rIns="0" bIns="0" rtlCol="0" anchor="ctr"/>
          <a:lstStyle/>
          <a:p>
            <a:pPr marL="0" indent="0">
              <a:buNone/>
            </a:pPr>
            <a:r>
              <a:rPr lang="en-US" sz="2200" b="1" dirty="0">
                <a:solidFill>
                  <a:srgbClr val="1466C0"/>
                </a:solidFill>
                <a:latin typeface="Cambria" pitchFamily="34" charset="0"/>
                <a:ea typeface="Cambria" pitchFamily="34" charset="-122"/>
                <a:cs typeface="Cambria" pitchFamily="34" charset="-120"/>
              </a:rPr>
              <a:t>87.089.472</a:t>
            </a:r>
            <a:endParaRPr lang="en-US" sz="2200" dirty="0"/>
          </a:p>
        </p:txBody>
      </p:sp>
      <p:sp>
        <p:nvSpPr>
          <p:cNvPr id="38" name="Text 35"/>
          <p:cNvSpPr/>
          <p:nvPr/>
        </p:nvSpPr>
        <p:spPr>
          <a:xfrm>
            <a:off x="566928" y="5358384"/>
            <a:ext cx="2682164" cy="365760"/>
          </a:xfrm>
          <a:prstGeom prst="rect">
            <a:avLst/>
          </a:prstGeom>
          <a:noFill/>
          <a:ln/>
        </p:spPr>
        <p:txBody>
          <a:bodyPr wrap="square" lIns="0" tIns="0" rIns="0" bIns="0" rtlCol="0" anchor="ctr"/>
          <a:lstStyle/>
          <a:p>
            <a:pPr marL="0" indent="0">
              <a:lnSpc>
                <a:spcPct val="108000"/>
              </a:lnSpc>
              <a:buNone/>
            </a:pPr>
            <a:r>
              <a:rPr lang="en-US" sz="1050" dirty="0">
                <a:solidFill>
                  <a:srgbClr val="4F637B"/>
                </a:solidFill>
                <a:latin typeface="Calibri" pitchFamily="34" charset="0"/>
                <a:ea typeface="Calibri" pitchFamily="34" charset="-122"/>
                <a:cs typeface="Calibri" pitchFamily="34" charset="-120"/>
              </a:rPr>
              <a:t>tham số huấn luyện</a:t>
            </a:r>
            <a:endParaRPr lang="en-US" sz="1050" dirty="0"/>
          </a:p>
        </p:txBody>
      </p:sp>
      <p:sp>
        <p:nvSpPr>
          <p:cNvPr id="39" name="Text 36"/>
          <p:cNvSpPr/>
          <p:nvPr/>
        </p:nvSpPr>
        <p:spPr>
          <a:xfrm>
            <a:off x="3358820" y="4956048"/>
            <a:ext cx="2682164" cy="384048"/>
          </a:xfrm>
          <a:prstGeom prst="rect">
            <a:avLst/>
          </a:prstGeom>
          <a:noFill/>
          <a:ln/>
        </p:spPr>
        <p:txBody>
          <a:bodyPr wrap="square" lIns="0" tIns="0" rIns="0" bIns="0" rtlCol="0" anchor="ctr"/>
          <a:lstStyle/>
          <a:p>
            <a:pPr marL="0" indent="0">
              <a:buNone/>
            </a:pPr>
            <a:r>
              <a:rPr lang="en-US" sz="2200" b="1" dirty="0">
                <a:solidFill>
                  <a:srgbClr val="14243A"/>
                </a:solidFill>
                <a:latin typeface="Cambria" pitchFamily="34" charset="0"/>
                <a:ea typeface="Cambria" pitchFamily="34" charset="-122"/>
                <a:cs typeface="Cambria" pitchFamily="34" charset="-120"/>
              </a:rPr>
              <a:t>34,15%</a:t>
            </a:r>
            <a:endParaRPr lang="en-US" sz="2200" dirty="0"/>
          </a:p>
        </p:txBody>
      </p:sp>
      <p:sp>
        <p:nvSpPr>
          <p:cNvPr id="40" name="Text 37"/>
          <p:cNvSpPr/>
          <p:nvPr/>
        </p:nvSpPr>
        <p:spPr>
          <a:xfrm>
            <a:off x="3358820" y="5358384"/>
            <a:ext cx="2682164" cy="365760"/>
          </a:xfrm>
          <a:prstGeom prst="rect">
            <a:avLst/>
          </a:prstGeom>
          <a:noFill/>
          <a:ln/>
        </p:spPr>
        <p:txBody>
          <a:bodyPr wrap="square" lIns="0" tIns="0" rIns="0" bIns="0" rtlCol="0" anchor="ctr"/>
          <a:lstStyle/>
          <a:p>
            <a:pPr marL="0" indent="0">
              <a:lnSpc>
                <a:spcPct val="108000"/>
              </a:lnSpc>
              <a:buNone/>
            </a:pPr>
            <a:r>
              <a:rPr lang="en-US" sz="1050" dirty="0">
                <a:solidFill>
                  <a:srgbClr val="4F637B"/>
                </a:solidFill>
                <a:latin typeface="Calibri" pitchFamily="34" charset="0"/>
                <a:ea typeface="Calibri" pitchFamily="34" charset="-122"/>
                <a:cs typeface="Calibri" pitchFamily="34" charset="-120"/>
              </a:rPr>
              <a:t>EM tổng thể trên VQA-RAD (Baseline)</a:t>
            </a:r>
            <a:endParaRPr lang="en-US" sz="1050" dirty="0"/>
          </a:p>
        </p:txBody>
      </p:sp>
      <p:sp>
        <p:nvSpPr>
          <p:cNvPr id="41" name="Text 38"/>
          <p:cNvSpPr/>
          <p:nvPr/>
        </p:nvSpPr>
        <p:spPr>
          <a:xfrm>
            <a:off x="6150712" y="4956048"/>
            <a:ext cx="2682164" cy="384048"/>
          </a:xfrm>
          <a:prstGeom prst="rect">
            <a:avLst/>
          </a:prstGeom>
          <a:noFill/>
          <a:ln/>
        </p:spPr>
        <p:txBody>
          <a:bodyPr wrap="square" lIns="0" tIns="0" rIns="0" bIns="0" rtlCol="0" anchor="ctr"/>
          <a:lstStyle/>
          <a:p>
            <a:pPr marL="0" indent="0">
              <a:buNone/>
            </a:pPr>
            <a:r>
              <a:rPr lang="en-US" sz="2200" b="1" dirty="0">
                <a:solidFill>
                  <a:srgbClr val="B26A00"/>
                </a:solidFill>
                <a:latin typeface="Cambria" pitchFamily="34" charset="0"/>
                <a:ea typeface="Cambria" pitchFamily="34" charset="-122"/>
                <a:cs typeface="Cambria" pitchFamily="34" charset="-120"/>
              </a:rPr>
              <a:t>9,00%</a:t>
            </a:r>
            <a:endParaRPr lang="en-US" sz="2200" dirty="0"/>
          </a:p>
        </p:txBody>
      </p:sp>
      <p:sp>
        <p:nvSpPr>
          <p:cNvPr id="42" name="Text 39"/>
          <p:cNvSpPr/>
          <p:nvPr/>
        </p:nvSpPr>
        <p:spPr>
          <a:xfrm>
            <a:off x="6150712" y="5358384"/>
            <a:ext cx="2682164" cy="365760"/>
          </a:xfrm>
          <a:prstGeom prst="rect">
            <a:avLst/>
          </a:prstGeom>
          <a:noFill/>
          <a:ln/>
        </p:spPr>
        <p:txBody>
          <a:bodyPr wrap="square" lIns="0" tIns="0" rIns="0" bIns="0" rtlCol="0" anchor="ctr"/>
          <a:lstStyle/>
          <a:p>
            <a:pPr marL="0" indent="0">
              <a:lnSpc>
                <a:spcPct val="108000"/>
              </a:lnSpc>
              <a:buNone/>
            </a:pPr>
            <a:r>
              <a:rPr lang="en-US" sz="1050" dirty="0">
                <a:solidFill>
                  <a:srgbClr val="4F637B"/>
                </a:solidFill>
                <a:latin typeface="Calibri" pitchFamily="34" charset="0"/>
                <a:ea typeface="Calibri" pitchFamily="34" charset="-122"/>
                <a:cs typeface="Calibri" pitchFamily="34" charset="-120"/>
              </a:rPr>
              <a:t>EM Open trên VQA-RAD</a:t>
            </a:r>
            <a:endParaRPr lang="en-US" sz="1050" dirty="0"/>
          </a:p>
        </p:txBody>
      </p:sp>
      <p:sp>
        <p:nvSpPr>
          <p:cNvPr id="43" name="Text 40"/>
          <p:cNvSpPr/>
          <p:nvPr/>
        </p:nvSpPr>
        <p:spPr>
          <a:xfrm>
            <a:off x="8942603" y="4956048"/>
            <a:ext cx="2682164" cy="384048"/>
          </a:xfrm>
          <a:prstGeom prst="rect">
            <a:avLst/>
          </a:prstGeom>
          <a:noFill/>
          <a:ln/>
        </p:spPr>
        <p:txBody>
          <a:bodyPr wrap="square" lIns="0" tIns="0" rIns="0" bIns="0" rtlCol="0" anchor="ctr"/>
          <a:lstStyle/>
          <a:p>
            <a:pPr marL="0" indent="0">
              <a:buNone/>
            </a:pPr>
            <a:r>
              <a:rPr lang="en-US" sz="2200" b="1" dirty="0">
                <a:solidFill>
                  <a:srgbClr val="C62828"/>
                </a:solidFill>
                <a:latin typeface="Cambria" pitchFamily="34" charset="0"/>
                <a:ea typeface="Cambria" pitchFamily="34" charset="-122"/>
                <a:cs typeface="Cambria" pitchFamily="34" charset="-120"/>
              </a:rPr>
              <a:t>0,40%</a:t>
            </a:r>
            <a:endParaRPr lang="en-US" sz="2200" dirty="0"/>
          </a:p>
        </p:txBody>
      </p:sp>
      <p:sp>
        <p:nvSpPr>
          <p:cNvPr id="44" name="Text 41"/>
          <p:cNvSpPr/>
          <p:nvPr/>
        </p:nvSpPr>
        <p:spPr>
          <a:xfrm>
            <a:off x="8942603" y="5358384"/>
            <a:ext cx="2682164" cy="365760"/>
          </a:xfrm>
          <a:prstGeom prst="rect">
            <a:avLst/>
          </a:prstGeom>
          <a:noFill/>
          <a:ln/>
        </p:spPr>
        <p:txBody>
          <a:bodyPr wrap="square" lIns="0" tIns="0" rIns="0" bIns="0" rtlCol="0" anchor="ctr"/>
          <a:lstStyle/>
          <a:p>
            <a:pPr marL="0" indent="0">
              <a:lnSpc>
                <a:spcPct val="108000"/>
              </a:lnSpc>
              <a:buNone/>
            </a:pPr>
            <a:r>
              <a:rPr lang="en-US" sz="1050" dirty="0">
                <a:solidFill>
                  <a:srgbClr val="4F637B"/>
                </a:solidFill>
                <a:latin typeface="Calibri" pitchFamily="34" charset="0"/>
                <a:ea typeface="Calibri" pitchFamily="34" charset="-122"/>
                <a:cs typeface="Calibri" pitchFamily="34" charset="-120"/>
              </a:rPr>
              <a:t>EM Open trên tập sạch</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3 · KIẾN TRÚC</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Kiến trúc chi tiết theo khối — cảm hứng &amp; vai trò</a:t>
            </a:r>
            <a:endParaRPr lang="en-US" sz="2900" dirty="0"/>
          </a:p>
        </p:txBody>
      </p:sp>
      <p:sp>
        <p:nvSpPr>
          <p:cNvPr id="5" name="Text 2"/>
          <p:cNvSpPr/>
          <p:nvPr/>
        </p:nvSpPr>
        <p:spPr>
          <a:xfrm>
            <a:off x="566928" y="1371600"/>
            <a:ext cx="11057839" cy="457200"/>
          </a:xfrm>
          <a:prstGeom prst="rect">
            <a:avLst/>
          </a:prstGeom>
          <a:noFill/>
          <a:ln/>
        </p:spPr>
        <p:txBody>
          <a:bodyPr wrap="square" lIns="0" tIns="0" rIns="0" bIns="0" rtlCol="0" anchor="ctr"/>
          <a:lstStyle/>
          <a:p>
            <a:pPr marL="0" indent="0">
              <a:lnSpc>
                <a:spcPct val="116000"/>
              </a:lnSpc>
              <a:buNone/>
            </a:pPr>
            <a:r>
              <a:rPr lang="en-US" sz="1250" dirty="0">
                <a:solidFill>
                  <a:srgbClr val="4F637B"/>
                </a:solidFill>
                <a:latin typeface="Calibri" pitchFamily="34" charset="0"/>
                <a:ea typeface="Calibri" pitchFamily="34" charset="-122"/>
                <a:cs typeface="Calibri" pitchFamily="34" charset="-120"/>
              </a:rPr>
              <a:t>Trước khi tinh chỉnh LLM lớn, hệ thống được thiết kế theo mười một khối, mỗi khối lấy cảm hứng từ một công trình nền tảng. Bốn nhóm chức năng: mã hóa ảnh, mã hóa chữ, hợp nhất, và sinh câu + học tăng cường.</a:t>
            </a:r>
            <a:endParaRPr lang="en-US" sz="1250" dirty="0"/>
          </a:p>
        </p:txBody>
      </p:sp>
      <p:sp>
        <p:nvSpPr>
          <p:cNvPr id="6" name="Shape 3"/>
          <p:cNvSpPr/>
          <p:nvPr/>
        </p:nvSpPr>
        <p:spPr>
          <a:xfrm>
            <a:off x="566928" y="1956816"/>
            <a:ext cx="2682164" cy="3346704"/>
          </a:xfrm>
          <a:prstGeom prst="roundRect">
            <a:avLst>
              <a:gd name="adj" fmla="val 3068"/>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7" name="Text 4"/>
          <p:cNvSpPr/>
          <p:nvPr/>
        </p:nvSpPr>
        <p:spPr>
          <a:xfrm>
            <a:off x="768096" y="2139696"/>
            <a:ext cx="2279828" cy="274320"/>
          </a:xfrm>
          <a:prstGeom prst="rect">
            <a:avLst/>
          </a:prstGeom>
          <a:noFill/>
          <a:ln/>
        </p:spPr>
        <p:txBody>
          <a:bodyPr wrap="square" lIns="0" tIns="0" rIns="0" bIns="0" rtlCol="0" anchor="ctr"/>
          <a:lstStyle/>
          <a:p>
            <a:pPr marL="0" indent="0">
              <a:buNone/>
            </a:pPr>
            <a:r>
              <a:rPr lang="en-US" sz="1250" b="1" kern="0" spc="60" dirty="0">
                <a:solidFill>
                  <a:srgbClr val="1466C0"/>
                </a:solidFill>
                <a:latin typeface="Calibri" pitchFamily="34" charset="0"/>
                <a:ea typeface="Calibri" pitchFamily="34" charset="-122"/>
                <a:cs typeface="Calibri" pitchFamily="34" charset="-120"/>
              </a:rPr>
              <a:t>Mã hóa ẢNH</a:t>
            </a:r>
            <a:endParaRPr lang="en-US" sz="1250" dirty="0"/>
          </a:p>
        </p:txBody>
      </p:sp>
      <p:sp>
        <p:nvSpPr>
          <p:cNvPr id="8" name="Text 5"/>
          <p:cNvSpPr/>
          <p:nvPr/>
        </p:nvSpPr>
        <p:spPr>
          <a:xfrm>
            <a:off x="768096" y="2542032"/>
            <a:ext cx="2279828" cy="256032"/>
          </a:xfrm>
          <a:prstGeom prst="rect">
            <a:avLst/>
          </a:prstGeom>
          <a:noFill/>
          <a:ln/>
        </p:spPr>
        <p:txBody>
          <a:bodyPr wrap="square" lIns="0" tIns="0" rIns="0" bIns="0" rtlCol="0" anchor="ctr"/>
          <a:lstStyle/>
          <a:p>
            <a:pPr marL="0" indent="0">
              <a:buNone/>
            </a:pPr>
            <a:r>
              <a:rPr lang="en-US" sz="1150" b="1" dirty="0">
                <a:solidFill>
                  <a:srgbClr val="14243A"/>
                </a:solidFill>
                <a:latin typeface="Calibri" pitchFamily="34" charset="0"/>
                <a:ea typeface="Calibri" pitchFamily="34" charset="-122"/>
                <a:cs typeface="Calibri" pitchFamily="34" charset="-120"/>
              </a:rPr>
              <a:t>① CustomCNN</a:t>
            </a:r>
            <a:endParaRPr lang="en-US" sz="1150" dirty="0"/>
          </a:p>
        </p:txBody>
      </p:sp>
      <p:sp>
        <p:nvSpPr>
          <p:cNvPr id="9" name="Text 6"/>
          <p:cNvSpPr/>
          <p:nvPr/>
        </p:nvSpPr>
        <p:spPr>
          <a:xfrm>
            <a:off x="768096" y="2798064"/>
            <a:ext cx="2279828" cy="603504"/>
          </a:xfrm>
          <a:prstGeom prst="rect">
            <a:avLst/>
          </a:prstGeom>
          <a:noFill/>
          <a:ln/>
        </p:spPr>
        <p:txBody>
          <a:bodyPr wrap="square" lIns="0" tIns="0" rIns="0" bIns="0" rtlCol="0" anchor="ctr"/>
          <a:lstStyle/>
          <a:p>
            <a:pPr marL="0" indent="0">
              <a:lnSpc>
                <a:spcPct val="112000"/>
              </a:lnSpc>
              <a:buNone/>
            </a:pPr>
            <a:r>
              <a:rPr lang="en-US" sz="980" dirty="0">
                <a:solidFill>
                  <a:srgbClr val="4F637B"/>
                </a:solidFill>
                <a:latin typeface="Calibri" pitchFamily="34" charset="0"/>
                <a:ea typeface="Calibri" pitchFamily="34" charset="-122"/>
                <a:cs typeface="Calibri" pitchFamily="34" charset="-120"/>
              </a:rPr>
              <a:t>ConvNet kiểu LeNet/VGG + BatchNorm — 3 tầng, ảnh → vector 128-d.</a:t>
            </a:r>
            <a:endParaRPr lang="en-US" sz="980" dirty="0"/>
          </a:p>
        </p:txBody>
      </p:sp>
      <p:sp>
        <p:nvSpPr>
          <p:cNvPr id="10" name="Text 7"/>
          <p:cNvSpPr/>
          <p:nvPr/>
        </p:nvSpPr>
        <p:spPr>
          <a:xfrm>
            <a:off x="768096" y="3438144"/>
            <a:ext cx="2279828" cy="256032"/>
          </a:xfrm>
          <a:prstGeom prst="rect">
            <a:avLst/>
          </a:prstGeom>
          <a:noFill/>
          <a:ln/>
        </p:spPr>
        <p:txBody>
          <a:bodyPr wrap="square" lIns="0" tIns="0" rIns="0" bIns="0" rtlCol="0" anchor="ctr"/>
          <a:lstStyle/>
          <a:p>
            <a:pPr marL="0" indent="0">
              <a:buNone/>
            </a:pPr>
            <a:r>
              <a:rPr lang="en-US" sz="1150" b="1" dirty="0">
                <a:solidFill>
                  <a:srgbClr val="14243A"/>
                </a:solidFill>
                <a:latin typeface="Calibri" pitchFamily="34" charset="0"/>
                <a:ea typeface="Calibri" pitchFamily="34" charset="-122"/>
                <a:cs typeface="Calibri" pitchFamily="34" charset="-120"/>
              </a:rPr>
              <a:t>② ResNet-18 (đóng băng)</a:t>
            </a:r>
            <a:endParaRPr lang="en-US" sz="1150" dirty="0"/>
          </a:p>
        </p:txBody>
      </p:sp>
      <p:sp>
        <p:nvSpPr>
          <p:cNvPr id="11" name="Text 8"/>
          <p:cNvSpPr/>
          <p:nvPr/>
        </p:nvSpPr>
        <p:spPr>
          <a:xfrm>
            <a:off x="768096" y="3694176"/>
            <a:ext cx="2279828" cy="603504"/>
          </a:xfrm>
          <a:prstGeom prst="rect">
            <a:avLst/>
          </a:prstGeom>
          <a:noFill/>
          <a:ln/>
        </p:spPr>
        <p:txBody>
          <a:bodyPr wrap="square" lIns="0" tIns="0" rIns="0" bIns="0" rtlCol="0" anchor="ctr"/>
          <a:lstStyle/>
          <a:p>
            <a:pPr marL="0" indent="0">
              <a:lnSpc>
                <a:spcPct val="112000"/>
              </a:lnSpc>
              <a:buNone/>
            </a:pPr>
            <a:r>
              <a:rPr lang="en-US" sz="980" dirty="0">
                <a:solidFill>
                  <a:srgbClr val="4F637B"/>
                </a:solidFill>
                <a:latin typeface="Calibri" pitchFamily="34" charset="0"/>
                <a:ea typeface="Calibri" pitchFamily="34" charset="-122"/>
                <a:cs typeface="Calibri" pitchFamily="34" charset="-120"/>
              </a:rPr>
              <a:t>He 2016 — backbone pretrain ImageNet, chỉ học lớp chiếu.</a:t>
            </a:r>
            <a:endParaRPr lang="en-US" sz="980" dirty="0"/>
          </a:p>
        </p:txBody>
      </p:sp>
      <p:sp>
        <p:nvSpPr>
          <p:cNvPr id="12" name="Text 9"/>
          <p:cNvSpPr/>
          <p:nvPr/>
        </p:nvSpPr>
        <p:spPr>
          <a:xfrm>
            <a:off x="768096" y="4334256"/>
            <a:ext cx="2279828" cy="256032"/>
          </a:xfrm>
          <a:prstGeom prst="rect">
            <a:avLst/>
          </a:prstGeom>
          <a:noFill/>
          <a:ln/>
        </p:spPr>
        <p:txBody>
          <a:bodyPr wrap="square" lIns="0" tIns="0" rIns="0" bIns="0" rtlCol="0" anchor="ctr"/>
          <a:lstStyle/>
          <a:p>
            <a:pPr marL="0" indent="0">
              <a:buNone/>
            </a:pPr>
            <a:r>
              <a:rPr lang="en-US" sz="1150" b="1" dirty="0">
                <a:solidFill>
                  <a:srgbClr val="14243A"/>
                </a:solidFill>
                <a:latin typeface="Calibri" pitchFamily="34" charset="0"/>
                <a:ea typeface="Calibri" pitchFamily="34" charset="-122"/>
                <a:cs typeface="Calibri" pitchFamily="34" charset="-120"/>
              </a:rPr>
              <a:t>③ SE-Block</a:t>
            </a:r>
            <a:endParaRPr lang="en-US" sz="1150" dirty="0"/>
          </a:p>
        </p:txBody>
      </p:sp>
      <p:sp>
        <p:nvSpPr>
          <p:cNvPr id="13" name="Text 10"/>
          <p:cNvSpPr/>
          <p:nvPr/>
        </p:nvSpPr>
        <p:spPr>
          <a:xfrm>
            <a:off x="768096" y="4590288"/>
            <a:ext cx="2279828" cy="603504"/>
          </a:xfrm>
          <a:prstGeom prst="rect">
            <a:avLst/>
          </a:prstGeom>
          <a:noFill/>
          <a:ln/>
        </p:spPr>
        <p:txBody>
          <a:bodyPr wrap="square" lIns="0" tIns="0" rIns="0" bIns="0" rtlCol="0" anchor="ctr"/>
          <a:lstStyle/>
          <a:p>
            <a:pPr marL="0" indent="0">
              <a:lnSpc>
                <a:spcPct val="112000"/>
              </a:lnSpc>
              <a:buNone/>
            </a:pPr>
            <a:r>
              <a:rPr lang="en-US" sz="980" dirty="0">
                <a:solidFill>
                  <a:srgbClr val="4F637B"/>
                </a:solidFill>
                <a:latin typeface="Calibri" pitchFamily="34" charset="0"/>
                <a:ea typeface="Calibri" pitchFamily="34" charset="-122"/>
                <a:cs typeface="Calibri" pitchFamily="34" charset="-120"/>
              </a:rPr>
              <a:t>Hu 2018 — channel attention, khuếch đại kênh hữu ích.</a:t>
            </a:r>
            <a:endParaRPr lang="en-US" sz="980" dirty="0"/>
          </a:p>
        </p:txBody>
      </p:sp>
      <p:sp>
        <p:nvSpPr>
          <p:cNvPr id="14" name="Shape 11"/>
          <p:cNvSpPr/>
          <p:nvPr/>
        </p:nvSpPr>
        <p:spPr>
          <a:xfrm>
            <a:off x="3358820" y="1956816"/>
            <a:ext cx="2682164" cy="3346704"/>
          </a:xfrm>
          <a:prstGeom prst="roundRect">
            <a:avLst>
              <a:gd name="adj" fmla="val 3068"/>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5" name="Text 12"/>
          <p:cNvSpPr/>
          <p:nvPr/>
        </p:nvSpPr>
        <p:spPr>
          <a:xfrm>
            <a:off x="3559988" y="2139696"/>
            <a:ext cx="2279828" cy="274320"/>
          </a:xfrm>
          <a:prstGeom prst="rect">
            <a:avLst/>
          </a:prstGeom>
          <a:noFill/>
          <a:ln/>
        </p:spPr>
        <p:txBody>
          <a:bodyPr wrap="square" lIns="0" tIns="0" rIns="0" bIns="0" rtlCol="0" anchor="ctr"/>
          <a:lstStyle/>
          <a:p>
            <a:pPr marL="0" indent="0">
              <a:buNone/>
            </a:pPr>
            <a:r>
              <a:rPr lang="en-US" sz="1250" b="1" kern="0" spc="60" dirty="0">
                <a:solidFill>
                  <a:srgbClr val="1466C0"/>
                </a:solidFill>
                <a:latin typeface="Calibri" pitchFamily="34" charset="0"/>
                <a:ea typeface="Calibri" pitchFamily="34" charset="-122"/>
                <a:cs typeface="Calibri" pitchFamily="34" charset="-120"/>
              </a:rPr>
              <a:t>Mã hóa CHỮ</a:t>
            </a:r>
            <a:endParaRPr lang="en-US" sz="1250" dirty="0"/>
          </a:p>
        </p:txBody>
      </p:sp>
      <p:sp>
        <p:nvSpPr>
          <p:cNvPr id="16" name="Text 13"/>
          <p:cNvSpPr/>
          <p:nvPr/>
        </p:nvSpPr>
        <p:spPr>
          <a:xfrm>
            <a:off x="3559988" y="2542032"/>
            <a:ext cx="2279828" cy="256032"/>
          </a:xfrm>
          <a:prstGeom prst="rect">
            <a:avLst/>
          </a:prstGeom>
          <a:noFill/>
          <a:ln/>
        </p:spPr>
        <p:txBody>
          <a:bodyPr wrap="square" lIns="0" tIns="0" rIns="0" bIns="0" rtlCol="0" anchor="ctr"/>
          <a:lstStyle/>
          <a:p>
            <a:pPr marL="0" indent="0">
              <a:buNone/>
            </a:pPr>
            <a:r>
              <a:rPr lang="en-US" sz="1150" b="1" dirty="0">
                <a:solidFill>
                  <a:srgbClr val="14243A"/>
                </a:solidFill>
                <a:latin typeface="Calibri" pitchFamily="34" charset="0"/>
                <a:ea typeface="Calibri" pitchFamily="34" charset="-122"/>
                <a:cs typeface="Calibri" pitchFamily="34" charset="-120"/>
              </a:rPr>
              <a:t>④ BiLSTM</a:t>
            </a:r>
            <a:endParaRPr lang="en-US" sz="1150" dirty="0"/>
          </a:p>
        </p:txBody>
      </p:sp>
      <p:sp>
        <p:nvSpPr>
          <p:cNvPr id="17" name="Text 14"/>
          <p:cNvSpPr/>
          <p:nvPr/>
        </p:nvSpPr>
        <p:spPr>
          <a:xfrm>
            <a:off x="3559988" y="2798064"/>
            <a:ext cx="2279828" cy="603504"/>
          </a:xfrm>
          <a:prstGeom prst="rect">
            <a:avLst/>
          </a:prstGeom>
          <a:noFill/>
          <a:ln/>
        </p:spPr>
        <p:txBody>
          <a:bodyPr wrap="square" lIns="0" tIns="0" rIns="0" bIns="0" rtlCol="0" anchor="ctr"/>
          <a:lstStyle/>
          <a:p>
            <a:pPr marL="0" indent="0">
              <a:lnSpc>
                <a:spcPct val="112000"/>
              </a:lnSpc>
              <a:buNone/>
            </a:pPr>
            <a:r>
              <a:rPr lang="en-US" sz="980" dirty="0">
                <a:solidFill>
                  <a:srgbClr val="4F637B"/>
                </a:solidFill>
                <a:latin typeface="Calibri" pitchFamily="34" charset="0"/>
                <a:ea typeface="Calibri" pitchFamily="34" charset="-122"/>
                <a:cs typeface="Calibri" pitchFamily="34" charset="-120"/>
              </a:rPr>
              <a:t>Hochreiter 1997 · Schuster 1997 — đọc hai chiều → 64-d.</a:t>
            </a:r>
            <a:endParaRPr lang="en-US" sz="980" dirty="0"/>
          </a:p>
        </p:txBody>
      </p:sp>
      <p:sp>
        <p:nvSpPr>
          <p:cNvPr id="18" name="Text 15"/>
          <p:cNvSpPr/>
          <p:nvPr/>
        </p:nvSpPr>
        <p:spPr>
          <a:xfrm>
            <a:off x="3559988" y="3438144"/>
            <a:ext cx="2279828" cy="256032"/>
          </a:xfrm>
          <a:prstGeom prst="rect">
            <a:avLst/>
          </a:prstGeom>
          <a:noFill/>
          <a:ln/>
        </p:spPr>
        <p:txBody>
          <a:bodyPr wrap="square" lIns="0" tIns="0" rIns="0" bIns="0" rtlCol="0" anchor="ctr"/>
          <a:lstStyle/>
          <a:p>
            <a:pPr marL="0" indent="0">
              <a:buNone/>
            </a:pPr>
            <a:r>
              <a:rPr lang="en-US" sz="1150" b="1" dirty="0">
                <a:solidFill>
                  <a:srgbClr val="14243A"/>
                </a:solidFill>
                <a:latin typeface="Calibri" pitchFamily="34" charset="0"/>
                <a:ea typeface="Calibri" pitchFamily="34" charset="-122"/>
                <a:cs typeface="Calibri" pitchFamily="34" charset="-120"/>
              </a:rPr>
              <a:t>⑤ Transformer encoder</a:t>
            </a:r>
            <a:endParaRPr lang="en-US" sz="1150" dirty="0"/>
          </a:p>
        </p:txBody>
      </p:sp>
      <p:sp>
        <p:nvSpPr>
          <p:cNvPr id="19" name="Text 16"/>
          <p:cNvSpPr/>
          <p:nvPr/>
        </p:nvSpPr>
        <p:spPr>
          <a:xfrm>
            <a:off x="3559988" y="3694176"/>
            <a:ext cx="2279828" cy="603504"/>
          </a:xfrm>
          <a:prstGeom prst="rect">
            <a:avLst/>
          </a:prstGeom>
          <a:noFill/>
          <a:ln/>
        </p:spPr>
        <p:txBody>
          <a:bodyPr wrap="square" lIns="0" tIns="0" rIns="0" bIns="0" rtlCol="0" anchor="ctr"/>
          <a:lstStyle/>
          <a:p>
            <a:pPr marL="0" indent="0">
              <a:lnSpc>
                <a:spcPct val="112000"/>
              </a:lnSpc>
              <a:buNone/>
            </a:pPr>
            <a:r>
              <a:rPr lang="en-US" sz="980" dirty="0">
                <a:solidFill>
                  <a:srgbClr val="4F637B"/>
                </a:solidFill>
                <a:latin typeface="Calibri" pitchFamily="34" charset="0"/>
                <a:ea typeface="Calibri" pitchFamily="34" charset="-122"/>
                <a:cs typeface="Calibri" pitchFamily="34" charset="-120"/>
              </a:rPr>
              <a:t>Vaswani 2017 — self-attention song song mọi từ.</a:t>
            </a:r>
            <a:endParaRPr lang="en-US" sz="980" dirty="0"/>
          </a:p>
        </p:txBody>
      </p:sp>
      <p:sp>
        <p:nvSpPr>
          <p:cNvPr id="20" name="Text 17"/>
          <p:cNvSpPr/>
          <p:nvPr/>
        </p:nvSpPr>
        <p:spPr>
          <a:xfrm>
            <a:off x="3559988" y="4334256"/>
            <a:ext cx="2279828" cy="256032"/>
          </a:xfrm>
          <a:prstGeom prst="rect">
            <a:avLst/>
          </a:prstGeom>
          <a:noFill/>
          <a:ln/>
        </p:spPr>
        <p:txBody>
          <a:bodyPr wrap="square" lIns="0" tIns="0" rIns="0" bIns="0" rtlCol="0" anchor="ctr"/>
          <a:lstStyle/>
          <a:p>
            <a:pPr marL="0" indent="0">
              <a:buNone/>
            </a:pPr>
            <a:r>
              <a:rPr lang="en-US" sz="1150" b="1" dirty="0">
                <a:solidFill>
                  <a:srgbClr val="14243A"/>
                </a:solidFill>
                <a:latin typeface="Calibri" pitchFamily="34" charset="0"/>
                <a:ea typeface="Calibri" pitchFamily="34" charset="-122"/>
                <a:cs typeface="Calibri" pitchFamily="34" charset="-120"/>
              </a:rPr>
              <a:t>⑥ Temporal Attention</a:t>
            </a:r>
            <a:endParaRPr lang="en-US" sz="1150" dirty="0"/>
          </a:p>
        </p:txBody>
      </p:sp>
      <p:sp>
        <p:nvSpPr>
          <p:cNvPr id="21" name="Text 18"/>
          <p:cNvSpPr/>
          <p:nvPr/>
        </p:nvSpPr>
        <p:spPr>
          <a:xfrm>
            <a:off x="3559988" y="4590288"/>
            <a:ext cx="2279828" cy="603504"/>
          </a:xfrm>
          <a:prstGeom prst="rect">
            <a:avLst/>
          </a:prstGeom>
          <a:noFill/>
          <a:ln/>
        </p:spPr>
        <p:txBody>
          <a:bodyPr wrap="square" lIns="0" tIns="0" rIns="0" bIns="0" rtlCol="0" anchor="ctr"/>
          <a:lstStyle/>
          <a:p>
            <a:pPr marL="0" indent="0">
              <a:lnSpc>
                <a:spcPct val="112000"/>
              </a:lnSpc>
              <a:buNone/>
            </a:pPr>
            <a:r>
              <a:rPr lang="en-US" sz="980" dirty="0">
                <a:solidFill>
                  <a:srgbClr val="4F637B"/>
                </a:solidFill>
                <a:latin typeface="Calibri" pitchFamily="34" charset="0"/>
                <a:ea typeface="Calibri" pitchFamily="34" charset="-122"/>
                <a:cs typeface="Calibri" pitchFamily="34" charset="-120"/>
              </a:rPr>
              <a:t>Bahdanau 2014 — trọng số cho từng token quan trọng.</a:t>
            </a:r>
            <a:endParaRPr lang="en-US" sz="980" dirty="0"/>
          </a:p>
        </p:txBody>
      </p:sp>
      <p:sp>
        <p:nvSpPr>
          <p:cNvPr id="22" name="Shape 19"/>
          <p:cNvSpPr/>
          <p:nvPr/>
        </p:nvSpPr>
        <p:spPr>
          <a:xfrm>
            <a:off x="6150712" y="1956816"/>
            <a:ext cx="2682164" cy="3346704"/>
          </a:xfrm>
          <a:prstGeom prst="roundRect">
            <a:avLst>
              <a:gd name="adj" fmla="val 3068"/>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23" name="Text 20"/>
          <p:cNvSpPr/>
          <p:nvPr/>
        </p:nvSpPr>
        <p:spPr>
          <a:xfrm>
            <a:off x="6351880" y="2139696"/>
            <a:ext cx="2279828" cy="274320"/>
          </a:xfrm>
          <a:prstGeom prst="rect">
            <a:avLst/>
          </a:prstGeom>
          <a:noFill/>
          <a:ln/>
        </p:spPr>
        <p:txBody>
          <a:bodyPr wrap="square" lIns="0" tIns="0" rIns="0" bIns="0" rtlCol="0" anchor="ctr"/>
          <a:lstStyle/>
          <a:p>
            <a:pPr marL="0" indent="0">
              <a:buNone/>
            </a:pPr>
            <a:r>
              <a:rPr lang="en-US" sz="1250" b="1" kern="0" spc="60" dirty="0">
                <a:solidFill>
                  <a:srgbClr val="6B33C7"/>
                </a:solidFill>
                <a:latin typeface="Calibri" pitchFamily="34" charset="0"/>
                <a:ea typeface="Calibri" pitchFamily="34" charset="-122"/>
                <a:cs typeface="Calibri" pitchFamily="34" charset="-120"/>
              </a:rPr>
              <a:t>HỢP NHẤT</a:t>
            </a:r>
            <a:endParaRPr lang="en-US" sz="1250" dirty="0"/>
          </a:p>
        </p:txBody>
      </p:sp>
      <p:sp>
        <p:nvSpPr>
          <p:cNvPr id="24" name="Text 21"/>
          <p:cNvSpPr/>
          <p:nvPr/>
        </p:nvSpPr>
        <p:spPr>
          <a:xfrm>
            <a:off x="6351880" y="2542032"/>
            <a:ext cx="2279828" cy="256032"/>
          </a:xfrm>
          <a:prstGeom prst="rect">
            <a:avLst/>
          </a:prstGeom>
          <a:noFill/>
          <a:ln/>
        </p:spPr>
        <p:txBody>
          <a:bodyPr wrap="square" lIns="0" tIns="0" rIns="0" bIns="0" rtlCol="0" anchor="ctr"/>
          <a:lstStyle/>
          <a:p>
            <a:pPr marL="0" indent="0">
              <a:buNone/>
            </a:pPr>
            <a:r>
              <a:rPr lang="en-US" sz="1150" b="1" dirty="0">
                <a:solidFill>
                  <a:srgbClr val="14243A"/>
                </a:solidFill>
                <a:latin typeface="Calibri" pitchFamily="34" charset="0"/>
                <a:ea typeface="Calibri" pitchFamily="34" charset="-122"/>
                <a:cs typeface="Calibri" pitchFamily="34" charset="-120"/>
              </a:rPr>
              <a:t>⑦ Projector</a:t>
            </a:r>
            <a:endParaRPr lang="en-US" sz="1150" dirty="0"/>
          </a:p>
        </p:txBody>
      </p:sp>
      <p:sp>
        <p:nvSpPr>
          <p:cNvPr id="25" name="Text 22"/>
          <p:cNvSpPr/>
          <p:nvPr/>
        </p:nvSpPr>
        <p:spPr>
          <a:xfrm>
            <a:off x="6351880" y="2798064"/>
            <a:ext cx="2279828" cy="603504"/>
          </a:xfrm>
          <a:prstGeom prst="rect">
            <a:avLst/>
          </a:prstGeom>
          <a:noFill/>
          <a:ln/>
        </p:spPr>
        <p:txBody>
          <a:bodyPr wrap="square" lIns="0" tIns="0" rIns="0" bIns="0" rtlCol="0" anchor="ctr"/>
          <a:lstStyle/>
          <a:p>
            <a:pPr marL="0" indent="0">
              <a:lnSpc>
                <a:spcPct val="112000"/>
              </a:lnSpc>
              <a:buNone/>
            </a:pPr>
            <a:r>
              <a:rPr lang="en-US" sz="980" dirty="0">
                <a:solidFill>
                  <a:srgbClr val="4F637B"/>
                </a:solidFill>
                <a:latin typeface="Calibri" pitchFamily="34" charset="0"/>
                <a:ea typeface="Calibri" pitchFamily="34" charset="-122"/>
                <a:cs typeface="Calibri" pitchFamily="34" charset="-120"/>
              </a:rPr>
              <a:t>ClipCap / prefix-tuning — căn chỉnh hai modality về không gian chung.</a:t>
            </a:r>
            <a:endParaRPr lang="en-US" sz="980" dirty="0"/>
          </a:p>
        </p:txBody>
      </p:sp>
      <p:sp>
        <p:nvSpPr>
          <p:cNvPr id="26" name="Text 23"/>
          <p:cNvSpPr/>
          <p:nvPr/>
        </p:nvSpPr>
        <p:spPr>
          <a:xfrm>
            <a:off x="6351880" y="3438144"/>
            <a:ext cx="2279828" cy="256032"/>
          </a:xfrm>
          <a:prstGeom prst="rect">
            <a:avLst/>
          </a:prstGeom>
          <a:noFill/>
          <a:ln/>
        </p:spPr>
        <p:txBody>
          <a:bodyPr wrap="square" lIns="0" tIns="0" rIns="0" bIns="0" rtlCol="0" anchor="ctr"/>
          <a:lstStyle/>
          <a:p>
            <a:pPr marL="0" indent="0">
              <a:buNone/>
            </a:pPr>
            <a:r>
              <a:rPr lang="en-US" sz="1150" b="1" dirty="0">
                <a:solidFill>
                  <a:srgbClr val="14243A"/>
                </a:solidFill>
                <a:latin typeface="Calibri" pitchFamily="34" charset="0"/>
                <a:ea typeface="Calibri" pitchFamily="34" charset="-122"/>
                <a:cs typeface="Calibri" pitchFamily="34" charset="-120"/>
              </a:rPr>
              <a:t>⑧ Concat (fusion)</a:t>
            </a:r>
            <a:endParaRPr lang="en-US" sz="1150" dirty="0"/>
          </a:p>
        </p:txBody>
      </p:sp>
      <p:sp>
        <p:nvSpPr>
          <p:cNvPr id="27" name="Text 24"/>
          <p:cNvSpPr/>
          <p:nvPr/>
        </p:nvSpPr>
        <p:spPr>
          <a:xfrm>
            <a:off x="6351880" y="3694176"/>
            <a:ext cx="2279828" cy="603504"/>
          </a:xfrm>
          <a:prstGeom prst="rect">
            <a:avLst/>
          </a:prstGeom>
          <a:noFill/>
          <a:ln/>
        </p:spPr>
        <p:txBody>
          <a:bodyPr wrap="square" lIns="0" tIns="0" rIns="0" bIns="0" rtlCol="0" anchor="ctr"/>
          <a:lstStyle/>
          <a:p>
            <a:pPr marL="0" indent="0">
              <a:lnSpc>
                <a:spcPct val="112000"/>
              </a:lnSpc>
              <a:buNone/>
            </a:pPr>
            <a:r>
              <a:rPr lang="en-US" sz="980" dirty="0">
                <a:solidFill>
                  <a:srgbClr val="4F637B"/>
                </a:solidFill>
                <a:latin typeface="Calibri" pitchFamily="34" charset="0"/>
                <a:ea typeface="Calibri" pitchFamily="34" charset="-122"/>
                <a:cs typeface="Calibri" pitchFamily="34" charset="-120"/>
              </a:rPr>
              <a:t>Early/joint fusion — nối hai vector đặc trưng thành 192-d.</a:t>
            </a:r>
            <a:endParaRPr lang="en-US" sz="980" dirty="0"/>
          </a:p>
        </p:txBody>
      </p:sp>
      <p:sp>
        <p:nvSpPr>
          <p:cNvPr id="28" name="Text 25"/>
          <p:cNvSpPr/>
          <p:nvPr/>
        </p:nvSpPr>
        <p:spPr>
          <a:xfrm>
            <a:off x="6351880" y="4334256"/>
            <a:ext cx="2279828" cy="256032"/>
          </a:xfrm>
          <a:prstGeom prst="rect">
            <a:avLst/>
          </a:prstGeom>
          <a:noFill/>
          <a:ln/>
        </p:spPr>
        <p:txBody>
          <a:bodyPr wrap="square" lIns="0" tIns="0" rIns="0" bIns="0" rtlCol="0" anchor="ctr"/>
          <a:lstStyle/>
          <a:p>
            <a:pPr marL="0" indent="0">
              <a:buNone/>
            </a:pPr>
            <a:r>
              <a:rPr lang="en-US" sz="1150" b="1" dirty="0">
                <a:solidFill>
                  <a:srgbClr val="14243A"/>
                </a:solidFill>
                <a:latin typeface="Calibri" pitchFamily="34" charset="0"/>
                <a:ea typeface="Calibri" pitchFamily="34" charset="-122"/>
                <a:cs typeface="Calibri" pitchFamily="34" charset="-120"/>
              </a:rPr>
              <a:t>⑨ Gated Attention</a:t>
            </a:r>
            <a:endParaRPr lang="en-US" sz="1150" dirty="0"/>
          </a:p>
        </p:txBody>
      </p:sp>
      <p:sp>
        <p:nvSpPr>
          <p:cNvPr id="29" name="Text 26"/>
          <p:cNvSpPr/>
          <p:nvPr/>
        </p:nvSpPr>
        <p:spPr>
          <a:xfrm>
            <a:off x="6351880" y="4590288"/>
            <a:ext cx="2279828" cy="603504"/>
          </a:xfrm>
          <a:prstGeom prst="rect">
            <a:avLst/>
          </a:prstGeom>
          <a:noFill/>
          <a:ln/>
        </p:spPr>
        <p:txBody>
          <a:bodyPr wrap="square" lIns="0" tIns="0" rIns="0" bIns="0" rtlCol="0" anchor="ctr"/>
          <a:lstStyle/>
          <a:p>
            <a:pPr marL="0" indent="0">
              <a:lnSpc>
                <a:spcPct val="112000"/>
              </a:lnSpc>
              <a:buNone/>
            </a:pPr>
            <a:r>
              <a:rPr lang="en-US" sz="980" dirty="0">
                <a:solidFill>
                  <a:srgbClr val="4F637B"/>
                </a:solidFill>
                <a:latin typeface="Calibri" pitchFamily="34" charset="0"/>
                <a:ea typeface="Calibri" pitchFamily="34" charset="-122"/>
                <a:cs typeface="Calibri" pitchFamily="34" charset="-120"/>
              </a:rPr>
              <a:t>Highway / GLU — cổng sigmoid lọc bớt chiều nhiễu.</a:t>
            </a:r>
            <a:endParaRPr lang="en-US" sz="980" dirty="0"/>
          </a:p>
        </p:txBody>
      </p:sp>
      <p:sp>
        <p:nvSpPr>
          <p:cNvPr id="30" name="Shape 27"/>
          <p:cNvSpPr/>
          <p:nvPr/>
        </p:nvSpPr>
        <p:spPr>
          <a:xfrm>
            <a:off x="8942603" y="1956816"/>
            <a:ext cx="2682164" cy="3346704"/>
          </a:xfrm>
          <a:prstGeom prst="roundRect">
            <a:avLst>
              <a:gd name="adj" fmla="val 3068"/>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31" name="Text 28"/>
          <p:cNvSpPr/>
          <p:nvPr/>
        </p:nvSpPr>
        <p:spPr>
          <a:xfrm>
            <a:off x="9143771" y="2139696"/>
            <a:ext cx="2279828" cy="274320"/>
          </a:xfrm>
          <a:prstGeom prst="rect">
            <a:avLst/>
          </a:prstGeom>
          <a:noFill/>
          <a:ln/>
        </p:spPr>
        <p:txBody>
          <a:bodyPr wrap="square" lIns="0" tIns="0" rIns="0" bIns="0" rtlCol="0" anchor="ctr"/>
          <a:lstStyle/>
          <a:p>
            <a:pPr marL="0" indent="0">
              <a:buNone/>
            </a:pPr>
            <a:r>
              <a:rPr lang="en-US" sz="1250" b="1" kern="0" spc="60" dirty="0">
                <a:solidFill>
                  <a:srgbClr val="0B8457"/>
                </a:solidFill>
                <a:latin typeface="Calibri" pitchFamily="34" charset="0"/>
                <a:ea typeface="Calibri" pitchFamily="34" charset="-122"/>
                <a:cs typeface="Calibri" pitchFamily="34" charset="-120"/>
              </a:rPr>
              <a:t>SINH CÂU &amp; RL</a:t>
            </a:r>
            <a:endParaRPr lang="en-US" sz="1250" dirty="0"/>
          </a:p>
        </p:txBody>
      </p:sp>
      <p:sp>
        <p:nvSpPr>
          <p:cNvPr id="32" name="Text 29"/>
          <p:cNvSpPr/>
          <p:nvPr/>
        </p:nvSpPr>
        <p:spPr>
          <a:xfrm>
            <a:off x="9143771" y="2542032"/>
            <a:ext cx="2279828" cy="256032"/>
          </a:xfrm>
          <a:prstGeom prst="rect">
            <a:avLst/>
          </a:prstGeom>
          <a:noFill/>
          <a:ln/>
        </p:spPr>
        <p:txBody>
          <a:bodyPr wrap="square" lIns="0" tIns="0" rIns="0" bIns="0" rtlCol="0" anchor="ctr"/>
          <a:lstStyle/>
          <a:p>
            <a:pPr marL="0" indent="0">
              <a:buNone/>
            </a:pPr>
            <a:r>
              <a:rPr lang="en-US" sz="1150" b="1" dirty="0">
                <a:solidFill>
                  <a:srgbClr val="14243A"/>
                </a:solidFill>
                <a:latin typeface="Calibri" pitchFamily="34" charset="0"/>
                <a:ea typeface="Calibri" pitchFamily="34" charset="-122"/>
                <a:cs typeface="Calibri" pitchFamily="34" charset="-120"/>
              </a:rPr>
              <a:t>⑩ Decoder sinh</a:t>
            </a:r>
            <a:endParaRPr lang="en-US" sz="1150" dirty="0"/>
          </a:p>
        </p:txBody>
      </p:sp>
      <p:sp>
        <p:nvSpPr>
          <p:cNvPr id="33" name="Text 30"/>
          <p:cNvSpPr/>
          <p:nvPr/>
        </p:nvSpPr>
        <p:spPr>
          <a:xfrm>
            <a:off x="9143771" y="2798064"/>
            <a:ext cx="2279828" cy="603504"/>
          </a:xfrm>
          <a:prstGeom prst="rect">
            <a:avLst/>
          </a:prstGeom>
          <a:noFill/>
          <a:ln/>
        </p:spPr>
        <p:txBody>
          <a:bodyPr wrap="square" lIns="0" tIns="0" rIns="0" bIns="0" rtlCol="0" anchor="ctr"/>
          <a:lstStyle/>
          <a:p>
            <a:pPr marL="0" indent="0">
              <a:lnSpc>
                <a:spcPct val="112000"/>
              </a:lnSpc>
              <a:buNone/>
            </a:pPr>
            <a:r>
              <a:rPr lang="en-US" sz="980" dirty="0">
                <a:solidFill>
                  <a:srgbClr val="4F637B"/>
                </a:solidFill>
                <a:latin typeface="Calibri" pitchFamily="34" charset="0"/>
                <a:ea typeface="Calibri" pitchFamily="34" charset="-122"/>
                <a:cs typeface="Calibri" pitchFamily="34" charset="-120"/>
              </a:rPr>
              <a:t>Seq2seq / prefix-tuning — sinh answer token-by-token + cross-attention.</a:t>
            </a:r>
            <a:endParaRPr lang="en-US" sz="980" dirty="0"/>
          </a:p>
        </p:txBody>
      </p:sp>
      <p:sp>
        <p:nvSpPr>
          <p:cNvPr id="34" name="Text 31"/>
          <p:cNvSpPr/>
          <p:nvPr/>
        </p:nvSpPr>
        <p:spPr>
          <a:xfrm>
            <a:off x="9143771" y="3438144"/>
            <a:ext cx="2279828" cy="256032"/>
          </a:xfrm>
          <a:prstGeom prst="rect">
            <a:avLst/>
          </a:prstGeom>
          <a:noFill/>
          <a:ln/>
        </p:spPr>
        <p:txBody>
          <a:bodyPr wrap="square" lIns="0" tIns="0" rIns="0" bIns="0" rtlCol="0" anchor="ctr"/>
          <a:lstStyle/>
          <a:p>
            <a:pPr marL="0" indent="0">
              <a:buNone/>
            </a:pPr>
            <a:r>
              <a:rPr lang="en-US" sz="1150" b="1" dirty="0">
                <a:solidFill>
                  <a:srgbClr val="14243A"/>
                </a:solidFill>
                <a:latin typeface="Calibri" pitchFamily="34" charset="0"/>
                <a:ea typeface="Calibri" pitchFamily="34" charset="-122"/>
                <a:cs typeface="Calibri" pitchFamily="34" charset="-120"/>
              </a:rPr>
              <a:t>⑪ RL — SCST</a:t>
            </a:r>
            <a:endParaRPr lang="en-US" sz="1150" dirty="0"/>
          </a:p>
        </p:txBody>
      </p:sp>
      <p:sp>
        <p:nvSpPr>
          <p:cNvPr id="35" name="Text 32"/>
          <p:cNvSpPr/>
          <p:nvPr/>
        </p:nvSpPr>
        <p:spPr>
          <a:xfrm>
            <a:off x="9143771" y="3694176"/>
            <a:ext cx="2279828" cy="603504"/>
          </a:xfrm>
          <a:prstGeom prst="rect">
            <a:avLst/>
          </a:prstGeom>
          <a:noFill/>
          <a:ln/>
        </p:spPr>
        <p:txBody>
          <a:bodyPr wrap="square" lIns="0" tIns="0" rIns="0" bIns="0" rtlCol="0" anchor="ctr"/>
          <a:lstStyle/>
          <a:p>
            <a:pPr marL="0" indent="0">
              <a:lnSpc>
                <a:spcPct val="112000"/>
              </a:lnSpc>
              <a:buNone/>
            </a:pPr>
            <a:r>
              <a:rPr lang="en-US" sz="980" dirty="0">
                <a:solidFill>
                  <a:srgbClr val="4F637B"/>
                </a:solidFill>
                <a:latin typeface="Calibri" pitchFamily="34" charset="0"/>
                <a:ea typeface="Calibri" pitchFamily="34" charset="-122"/>
                <a:cs typeface="Calibri" pitchFamily="34" charset="-120"/>
              </a:rPr>
              <a:t>Williams 1992 · Rennie 2017 — tối ưu trực tiếp EM/F1 (self-critical).</a:t>
            </a:r>
            <a:endParaRPr lang="en-US" sz="980" dirty="0"/>
          </a:p>
        </p:txBody>
      </p:sp>
      <p:sp>
        <p:nvSpPr>
          <p:cNvPr id="36" name="Shape 33"/>
          <p:cNvSpPr/>
          <p:nvPr/>
        </p:nvSpPr>
        <p:spPr>
          <a:xfrm>
            <a:off x="566928" y="5431536"/>
            <a:ext cx="11057839" cy="566928"/>
          </a:xfrm>
          <a:prstGeom prst="roundRect">
            <a:avLst>
              <a:gd name="adj" fmla="val 14516"/>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37" name="Text 34"/>
          <p:cNvSpPr/>
          <p:nvPr/>
        </p:nvSpPr>
        <p:spPr>
          <a:xfrm>
            <a:off x="841248" y="5431536"/>
            <a:ext cx="10509199" cy="566928"/>
          </a:xfrm>
          <a:prstGeom prst="rect">
            <a:avLst/>
          </a:prstGeom>
          <a:noFill/>
          <a:ln/>
        </p:spPr>
        <p:txBody>
          <a:bodyPr wrap="square" lIns="0" tIns="0" rIns="0" bIns="0" rtlCol="0" anchor="ctr"/>
          <a:lstStyle/>
          <a:p>
            <a:pPr marL="0" indent="0">
              <a:buNone/>
            </a:pPr>
            <a:r>
              <a:rPr lang="en-US" sz="1150" b="1" dirty="0">
                <a:solidFill>
                  <a:srgbClr val="1466C0"/>
                </a:solidFill>
                <a:latin typeface="Calibri" pitchFamily="34" charset="0"/>
                <a:ea typeface="Calibri" pitchFamily="34" charset="-122"/>
                <a:cs typeface="Calibri" pitchFamily="34" charset="-120"/>
              </a:rPr>
              <a:t>Đầu vào:  </a:t>
            </a:r>
            <a:r>
              <a:rPr lang="en-US" sz="1150" dirty="0">
                <a:solidFill>
                  <a:srgbClr val="4F637B"/>
                </a:solidFill>
                <a:latin typeface="Calibri" pitchFamily="34" charset="0"/>
                <a:ea typeface="Calibri" pitchFamily="34" charset="-122"/>
                <a:cs typeface="Calibri" pitchFamily="34" charset="-120"/>
              </a:rPr>
              <a:t>ảnh [B, 3, 224, 224] + câu hỏi [B, 32] tokens.        </a:t>
            </a:r>
            <a:r>
              <a:rPr lang="en-US" sz="1150" b="1" dirty="0">
                <a:solidFill>
                  <a:srgbClr val="0B8457"/>
                </a:solidFill>
                <a:latin typeface="Calibri" pitchFamily="34" charset="0"/>
                <a:ea typeface="Calibri" pitchFamily="34" charset="-122"/>
                <a:cs typeface="Calibri" pitchFamily="34" charset="-120"/>
              </a:rPr>
              <a:t>Đầu ra:  </a:t>
            </a:r>
            <a:r>
              <a:rPr lang="en-US" sz="1150" dirty="0">
                <a:solidFill>
                  <a:srgbClr val="4F637B"/>
                </a:solidFill>
                <a:latin typeface="Calibri" pitchFamily="34" charset="0"/>
                <a:ea typeface="Calibri" pitchFamily="34" charset="-122"/>
                <a:cs typeface="Calibri" pitchFamily="34" charset="-120"/>
              </a:rPr>
              <a:t>logits [B, T, V] → greedy/beam → chuỗi answer sinh từng token.</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3 · KIẾN TRÚC</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Quá trình tiến hóa kiến trúc</a:t>
            </a:r>
            <a:endParaRPr lang="en-US" sz="2900" dirty="0"/>
          </a:p>
        </p:txBody>
      </p:sp>
      <p:sp>
        <p:nvSpPr>
          <p:cNvPr id="5" name="Text 2"/>
          <p:cNvSpPr/>
          <p:nvPr/>
        </p:nvSpPr>
        <p:spPr>
          <a:xfrm>
            <a:off x="566928" y="1353312"/>
            <a:ext cx="11057839" cy="365760"/>
          </a:xfrm>
          <a:prstGeom prst="rect">
            <a:avLst/>
          </a:prstGeom>
          <a:noFill/>
          <a:ln/>
        </p:spPr>
        <p:txBody>
          <a:bodyPr wrap="square" lIns="0" tIns="0" rIns="0" bIns="0" rtlCol="0" anchor="ctr"/>
          <a:lstStyle/>
          <a:p>
            <a:pPr marL="0" indent="0">
              <a:lnSpc>
                <a:spcPct val="114000"/>
              </a:lnSpc>
              <a:buNone/>
            </a:pPr>
            <a:r>
              <a:rPr lang="en-US" sz="1250" dirty="0">
                <a:solidFill>
                  <a:srgbClr val="4F637B"/>
                </a:solidFill>
                <a:latin typeface="Calibri" pitchFamily="34" charset="0"/>
                <a:ea typeface="Calibri" pitchFamily="34" charset="-122"/>
                <a:cs typeface="Calibri" pitchFamily="34" charset="-120"/>
              </a:rPr>
              <a:t>Kiến trúc không cố định từ đầu mà tiến hóa qua sáu bước, mỗi bước sửa đúng một nút thắt và được đo lại bằng cùng bộ chấm.</a:t>
            </a:r>
            <a:endParaRPr lang="en-US" sz="1250" dirty="0"/>
          </a:p>
        </p:txBody>
      </p:sp>
      <p:sp>
        <p:nvSpPr>
          <p:cNvPr id="6" name="Shape 3"/>
          <p:cNvSpPr/>
          <p:nvPr/>
        </p:nvSpPr>
        <p:spPr>
          <a:xfrm>
            <a:off x="566928" y="1828800"/>
            <a:ext cx="11057839" cy="603504"/>
          </a:xfrm>
          <a:prstGeom prst="roundRect">
            <a:avLst>
              <a:gd name="adj" fmla="val 13636"/>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7" name="Shape 4"/>
          <p:cNvSpPr/>
          <p:nvPr/>
        </p:nvSpPr>
        <p:spPr>
          <a:xfrm>
            <a:off x="786384" y="1965960"/>
            <a:ext cx="329184" cy="329184"/>
          </a:xfrm>
          <a:prstGeom prst="ellipse">
            <a:avLst/>
          </a:prstGeom>
          <a:solidFill>
            <a:srgbClr val="1466C0"/>
          </a:solidFill>
          <a:ln/>
        </p:spPr>
        <p:txBody>
          <a:bodyPr/>
          <a:lstStyle/>
          <a:p>
            <a:endParaRPr lang="en-US"/>
          </a:p>
        </p:txBody>
      </p:sp>
      <p:sp>
        <p:nvSpPr>
          <p:cNvPr id="8" name="Text 5"/>
          <p:cNvSpPr/>
          <p:nvPr/>
        </p:nvSpPr>
        <p:spPr>
          <a:xfrm>
            <a:off x="786384" y="196596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280160" y="1828800"/>
            <a:ext cx="3200400" cy="603504"/>
          </a:xfrm>
          <a:prstGeom prst="rect">
            <a:avLst/>
          </a:prstGeom>
          <a:noFill/>
          <a:ln/>
        </p:spPr>
        <p:txBody>
          <a:bodyPr wrap="square" lIns="0" tIns="0" rIns="0" bIns="0" rtlCol="0" anchor="ctr"/>
          <a:lstStyle/>
          <a:p>
            <a:pPr marL="0" indent="0">
              <a:buNone/>
            </a:pPr>
            <a:r>
              <a:rPr lang="en-US" sz="1300" b="1" dirty="0">
                <a:solidFill>
                  <a:srgbClr val="14243A"/>
                </a:solidFill>
                <a:latin typeface="Calibri" pitchFamily="34" charset="0"/>
                <a:ea typeface="Calibri" pitchFamily="34" charset="-122"/>
                <a:cs typeface="Calibri" pitchFamily="34" charset="-120"/>
              </a:rPr>
              <a:t>Phân loại → Generative</a:t>
            </a:r>
            <a:endParaRPr lang="en-US" sz="1300" dirty="0"/>
          </a:p>
        </p:txBody>
      </p:sp>
      <p:sp>
        <p:nvSpPr>
          <p:cNvPr id="10" name="Text 7"/>
          <p:cNvSpPr/>
          <p:nvPr/>
        </p:nvSpPr>
        <p:spPr>
          <a:xfrm>
            <a:off x="4608576" y="1828800"/>
            <a:ext cx="6833311" cy="603504"/>
          </a:xfrm>
          <a:prstGeom prst="rect">
            <a:avLst/>
          </a:prstGeom>
          <a:noFill/>
          <a:ln/>
        </p:spPr>
        <p:txBody>
          <a:bodyPr wrap="square" lIns="0" tIns="0" rIns="0" bIns="0" rtlCol="0" anchor="ctr"/>
          <a:lstStyle/>
          <a:p>
            <a:pPr marL="0" indent="0">
              <a:lnSpc>
                <a:spcPct val="108000"/>
              </a:lnSpc>
              <a:buNone/>
            </a:pPr>
            <a:r>
              <a:rPr lang="en-US" sz="1100" dirty="0">
                <a:solidFill>
                  <a:srgbClr val="4F637B"/>
                </a:solidFill>
                <a:latin typeface="Calibri" pitchFamily="34" charset="0"/>
                <a:ea typeface="Calibri" pitchFamily="34" charset="-122"/>
                <a:cs typeface="Calibri" pitchFamily="34" charset="-120"/>
              </a:rPr>
              <a:t>Bỏ MLP chọn lớp đáp án, chuyển sang decoder sinh answer token-by-token (GRU + cross-attention) để cùng dạng bài toán với Gemma.</a:t>
            </a:r>
            <a:endParaRPr lang="en-US" sz="1100" dirty="0"/>
          </a:p>
        </p:txBody>
      </p:sp>
      <p:sp>
        <p:nvSpPr>
          <p:cNvPr id="11" name="Shape 8"/>
          <p:cNvSpPr/>
          <p:nvPr/>
        </p:nvSpPr>
        <p:spPr>
          <a:xfrm>
            <a:off x="566928" y="2514600"/>
            <a:ext cx="11057839" cy="603504"/>
          </a:xfrm>
          <a:prstGeom prst="roundRect">
            <a:avLst>
              <a:gd name="adj" fmla="val 13636"/>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2" name="Shape 9"/>
          <p:cNvSpPr/>
          <p:nvPr/>
        </p:nvSpPr>
        <p:spPr>
          <a:xfrm>
            <a:off x="786384" y="2651760"/>
            <a:ext cx="329184" cy="329184"/>
          </a:xfrm>
          <a:prstGeom prst="ellipse">
            <a:avLst/>
          </a:prstGeom>
          <a:solidFill>
            <a:srgbClr val="1466C0"/>
          </a:solidFill>
          <a:ln/>
        </p:spPr>
        <p:txBody>
          <a:bodyPr/>
          <a:lstStyle/>
          <a:p>
            <a:endParaRPr lang="en-US"/>
          </a:p>
        </p:txBody>
      </p:sp>
      <p:sp>
        <p:nvSpPr>
          <p:cNvPr id="13" name="Text 10"/>
          <p:cNvSpPr/>
          <p:nvPr/>
        </p:nvSpPr>
        <p:spPr>
          <a:xfrm>
            <a:off x="786384" y="265176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p:cNvSpPr/>
          <p:nvPr/>
        </p:nvSpPr>
        <p:spPr>
          <a:xfrm>
            <a:off x="1280160" y="2514600"/>
            <a:ext cx="3200400" cy="603504"/>
          </a:xfrm>
          <a:prstGeom prst="rect">
            <a:avLst/>
          </a:prstGeom>
          <a:noFill/>
          <a:ln/>
        </p:spPr>
        <p:txBody>
          <a:bodyPr wrap="square" lIns="0" tIns="0" rIns="0" bIns="0" rtlCol="0" anchor="ctr"/>
          <a:lstStyle/>
          <a:p>
            <a:pPr marL="0" indent="0">
              <a:buNone/>
            </a:pPr>
            <a:r>
              <a:rPr lang="en-US" sz="1300" b="1" dirty="0">
                <a:solidFill>
                  <a:srgbClr val="14243A"/>
                </a:solidFill>
                <a:latin typeface="Calibri" pitchFamily="34" charset="0"/>
                <a:ea typeface="Calibri" pitchFamily="34" charset="-122"/>
                <a:cs typeface="Calibri" pitchFamily="34" charset="-120"/>
              </a:rPr>
              <a:t>Lõi PubMedCLIP + GPT-2</a:t>
            </a:r>
            <a:endParaRPr lang="en-US" sz="1300" dirty="0"/>
          </a:p>
        </p:txBody>
      </p:sp>
      <p:sp>
        <p:nvSpPr>
          <p:cNvPr id="15" name="Text 12"/>
          <p:cNvSpPr/>
          <p:nvPr/>
        </p:nvSpPr>
        <p:spPr>
          <a:xfrm>
            <a:off x="4608576" y="2514600"/>
            <a:ext cx="6833311" cy="603504"/>
          </a:xfrm>
          <a:prstGeom prst="rect">
            <a:avLst/>
          </a:prstGeom>
          <a:noFill/>
          <a:ln/>
        </p:spPr>
        <p:txBody>
          <a:bodyPr wrap="square" lIns="0" tIns="0" rIns="0" bIns="0" rtlCol="0" anchor="ctr"/>
          <a:lstStyle/>
          <a:p>
            <a:pPr marL="0" indent="0">
              <a:lnSpc>
                <a:spcPct val="108000"/>
              </a:lnSpc>
              <a:buNone/>
            </a:pPr>
            <a:r>
              <a:rPr lang="en-US" sz="1100" dirty="0">
                <a:solidFill>
                  <a:srgbClr val="4F637B"/>
                </a:solidFill>
                <a:latin typeface="Calibri" pitchFamily="34" charset="0"/>
                <a:ea typeface="Calibri" pitchFamily="34" charset="-122"/>
                <a:cs typeface="Calibri" pitchFamily="34" charset="-120"/>
              </a:rPr>
              <a:t>Encoder y khoa đóng băng + GPT-2; nối đặc trưng 192 chiều → một prefix token. Đây là mô hình lõi (nhóm P).</a:t>
            </a:r>
            <a:endParaRPr lang="en-US" sz="1100" dirty="0"/>
          </a:p>
        </p:txBody>
      </p:sp>
      <p:sp>
        <p:nvSpPr>
          <p:cNvPr id="16" name="Shape 13"/>
          <p:cNvSpPr/>
          <p:nvPr/>
        </p:nvSpPr>
        <p:spPr>
          <a:xfrm>
            <a:off x="566928" y="3200400"/>
            <a:ext cx="11057839" cy="603504"/>
          </a:xfrm>
          <a:prstGeom prst="roundRect">
            <a:avLst>
              <a:gd name="adj" fmla="val 13636"/>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7" name="Shape 14"/>
          <p:cNvSpPr/>
          <p:nvPr/>
        </p:nvSpPr>
        <p:spPr>
          <a:xfrm>
            <a:off x="786384" y="3337560"/>
            <a:ext cx="329184" cy="329184"/>
          </a:xfrm>
          <a:prstGeom prst="ellipse">
            <a:avLst/>
          </a:prstGeom>
          <a:solidFill>
            <a:srgbClr val="6B33C7"/>
          </a:solidFill>
          <a:ln/>
        </p:spPr>
        <p:txBody>
          <a:bodyPr/>
          <a:lstStyle/>
          <a:p>
            <a:endParaRPr lang="en-US"/>
          </a:p>
        </p:txBody>
      </p:sp>
      <p:sp>
        <p:nvSpPr>
          <p:cNvPr id="18" name="Text 15"/>
          <p:cNvSpPr/>
          <p:nvPr/>
        </p:nvSpPr>
        <p:spPr>
          <a:xfrm>
            <a:off x="786384" y="333756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6"/>
          <p:cNvSpPr/>
          <p:nvPr/>
        </p:nvSpPr>
        <p:spPr>
          <a:xfrm>
            <a:off x="1280160" y="3200400"/>
            <a:ext cx="3200400" cy="603504"/>
          </a:xfrm>
          <a:prstGeom prst="rect">
            <a:avLst/>
          </a:prstGeom>
          <a:noFill/>
          <a:ln/>
        </p:spPr>
        <p:txBody>
          <a:bodyPr wrap="square" lIns="0" tIns="0" rIns="0" bIns="0" rtlCol="0" anchor="ctr"/>
          <a:lstStyle/>
          <a:p>
            <a:pPr marL="0" indent="0">
              <a:buNone/>
            </a:pPr>
            <a:r>
              <a:rPr lang="en-US" sz="1300" b="1" dirty="0">
                <a:solidFill>
                  <a:srgbClr val="14243A"/>
                </a:solidFill>
                <a:latin typeface="Calibri" pitchFamily="34" charset="0"/>
                <a:ea typeface="Calibri" pitchFamily="34" charset="-122"/>
                <a:cs typeface="Calibri" pitchFamily="34" charset="-120"/>
              </a:rPr>
              <a:t>Tinh chỉnh siêu tham số (Tuned)</a:t>
            </a:r>
            <a:endParaRPr lang="en-US" sz="1300" dirty="0"/>
          </a:p>
        </p:txBody>
      </p:sp>
      <p:sp>
        <p:nvSpPr>
          <p:cNvPr id="20" name="Text 17"/>
          <p:cNvSpPr/>
          <p:nvPr/>
        </p:nvSpPr>
        <p:spPr>
          <a:xfrm>
            <a:off x="4608576" y="3200400"/>
            <a:ext cx="6833311" cy="603504"/>
          </a:xfrm>
          <a:prstGeom prst="rect">
            <a:avLst/>
          </a:prstGeom>
          <a:noFill/>
          <a:ln/>
        </p:spPr>
        <p:txBody>
          <a:bodyPr wrap="square" lIns="0" tIns="0" rIns="0" bIns="0" rtlCol="0" anchor="ctr"/>
          <a:lstStyle/>
          <a:p>
            <a:pPr marL="0" indent="0">
              <a:lnSpc>
                <a:spcPct val="108000"/>
              </a:lnSpc>
              <a:buNone/>
            </a:pPr>
            <a:r>
              <a:rPr lang="en-US" sz="1100" dirty="0">
                <a:solidFill>
                  <a:srgbClr val="4F637B"/>
                </a:solidFill>
                <a:latin typeface="Calibri" pitchFamily="34" charset="0"/>
                <a:ea typeface="Calibri" pitchFamily="34" charset="-122"/>
                <a:cs typeface="Calibri" pitchFamily="34" charset="-120"/>
              </a:rPr>
              <a:t>Learning rate 1e-4 và weight decay 1e-2 riêng cho GPT-2 → giảm học vẹt ảnh rò rỉ, điểm trên tập sạch tăng.</a:t>
            </a:r>
            <a:endParaRPr lang="en-US" sz="1100" dirty="0"/>
          </a:p>
        </p:txBody>
      </p:sp>
      <p:sp>
        <p:nvSpPr>
          <p:cNvPr id="21" name="Shape 18"/>
          <p:cNvSpPr/>
          <p:nvPr/>
        </p:nvSpPr>
        <p:spPr>
          <a:xfrm>
            <a:off x="566928" y="3886200"/>
            <a:ext cx="11057839" cy="603504"/>
          </a:xfrm>
          <a:prstGeom prst="roundRect">
            <a:avLst>
              <a:gd name="adj" fmla="val 13636"/>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22" name="Shape 19"/>
          <p:cNvSpPr/>
          <p:nvPr/>
        </p:nvSpPr>
        <p:spPr>
          <a:xfrm>
            <a:off x="786384" y="4023360"/>
            <a:ext cx="329184" cy="329184"/>
          </a:xfrm>
          <a:prstGeom prst="ellipse">
            <a:avLst/>
          </a:prstGeom>
          <a:solidFill>
            <a:srgbClr val="6B33C7"/>
          </a:solidFill>
          <a:ln/>
        </p:spPr>
        <p:txBody>
          <a:bodyPr/>
          <a:lstStyle/>
          <a:p>
            <a:endParaRPr lang="en-US"/>
          </a:p>
        </p:txBody>
      </p:sp>
      <p:sp>
        <p:nvSpPr>
          <p:cNvPr id="23" name="Text 20"/>
          <p:cNvSpPr/>
          <p:nvPr/>
        </p:nvSpPr>
        <p:spPr>
          <a:xfrm>
            <a:off x="786384" y="402336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1"/>
          <p:cNvSpPr/>
          <p:nvPr/>
        </p:nvSpPr>
        <p:spPr>
          <a:xfrm>
            <a:off x="1280160" y="3886200"/>
            <a:ext cx="3200400" cy="603504"/>
          </a:xfrm>
          <a:prstGeom prst="rect">
            <a:avLst/>
          </a:prstGeom>
          <a:noFill/>
          <a:ln/>
        </p:spPr>
        <p:txBody>
          <a:bodyPr wrap="square" lIns="0" tIns="0" rIns="0" bIns="0" rtlCol="0" anchor="ctr"/>
          <a:lstStyle/>
          <a:p>
            <a:pPr marL="0" indent="0">
              <a:buNone/>
            </a:pPr>
            <a:r>
              <a:rPr lang="en-US" sz="1300" b="1" dirty="0">
                <a:solidFill>
                  <a:srgbClr val="14243A"/>
                </a:solidFill>
                <a:latin typeface="Calibri" pitchFamily="34" charset="0"/>
                <a:ea typeface="Calibri" pitchFamily="34" charset="-122"/>
                <a:cs typeface="Calibri" pitchFamily="34" charset="-120"/>
              </a:rPr>
              <a:t>Q-Former</a:t>
            </a:r>
            <a:endParaRPr lang="en-US" sz="1300" dirty="0"/>
          </a:p>
        </p:txBody>
      </p:sp>
      <p:sp>
        <p:nvSpPr>
          <p:cNvPr id="25" name="Text 22"/>
          <p:cNvSpPr/>
          <p:nvPr/>
        </p:nvSpPr>
        <p:spPr>
          <a:xfrm>
            <a:off x="4608576" y="3886200"/>
            <a:ext cx="6833311" cy="603504"/>
          </a:xfrm>
          <a:prstGeom prst="rect">
            <a:avLst/>
          </a:prstGeom>
          <a:noFill/>
          <a:ln/>
        </p:spPr>
        <p:txBody>
          <a:bodyPr wrap="square" lIns="0" tIns="0" rIns="0" bIns="0" rtlCol="0" anchor="ctr"/>
          <a:lstStyle/>
          <a:p>
            <a:pPr marL="0" indent="0">
              <a:lnSpc>
                <a:spcPct val="108000"/>
              </a:lnSpc>
              <a:buNone/>
            </a:pPr>
            <a:r>
              <a:rPr lang="en-US" sz="1100" dirty="0">
                <a:solidFill>
                  <a:srgbClr val="4F637B"/>
                </a:solidFill>
                <a:latin typeface="Calibri" pitchFamily="34" charset="0"/>
                <a:ea typeface="Calibri" pitchFamily="34" charset="-122"/>
                <a:cs typeface="Calibri" pitchFamily="34" charset="-120"/>
              </a:rPr>
              <a:t>Giữ patch tokens của CLIP: một prefix token → 17 visual token, giữ chi tiết không gian ảnh (nhóm Q).</a:t>
            </a:r>
            <a:endParaRPr lang="en-US" sz="1100" dirty="0"/>
          </a:p>
        </p:txBody>
      </p:sp>
      <p:sp>
        <p:nvSpPr>
          <p:cNvPr id="26" name="Shape 23"/>
          <p:cNvSpPr/>
          <p:nvPr/>
        </p:nvSpPr>
        <p:spPr>
          <a:xfrm>
            <a:off x="566928" y="4572000"/>
            <a:ext cx="11057839" cy="603504"/>
          </a:xfrm>
          <a:prstGeom prst="roundRect">
            <a:avLst>
              <a:gd name="adj" fmla="val 13636"/>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27" name="Shape 24"/>
          <p:cNvSpPr/>
          <p:nvPr/>
        </p:nvSpPr>
        <p:spPr>
          <a:xfrm>
            <a:off x="786384" y="4709160"/>
            <a:ext cx="329184" cy="329184"/>
          </a:xfrm>
          <a:prstGeom prst="ellipse">
            <a:avLst/>
          </a:prstGeom>
          <a:solidFill>
            <a:srgbClr val="B26A00"/>
          </a:solidFill>
          <a:ln/>
        </p:spPr>
        <p:txBody>
          <a:bodyPr/>
          <a:lstStyle/>
          <a:p>
            <a:endParaRPr lang="en-US"/>
          </a:p>
        </p:txBody>
      </p:sp>
      <p:sp>
        <p:nvSpPr>
          <p:cNvPr id="28" name="Text 25"/>
          <p:cNvSpPr/>
          <p:nvPr/>
        </p:nvSpPr>
        <p:spPr>
          <a:xfrm>
            <a:off x="786384" y="470916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6"/>
          <p:cNvSpPr/>
          <p:nvPr/>
        </p:nvSpPr>
        <p:spPr>
          <a:xfrm>
            <a:off x="1280160" y="4572000"/>
            <a:ext cx="3200400" cy="603504"/>
          </a:xfrm>
          <a:prstGeom prst="rect">
            <a:avLst/>
          </a:prstGeom>
          <a:noFill/>
          <a:ln/>
        </p:spPr>
        <p:txBody>
          <a:bodyPr wrap="square" lIns="0" tIns="0" rIns="0" bIns="0" rtlCol="0" anchor="ctr"/>
          <a:lstStyle/>
          <a:p>
            <a:pPr marL="0" indent="0">
              <a:buNone/>
            </a:pPr>
            <a:r>
              <a:rPr lang="en-US" sz="1300" b="1" dirty="0">
                <a:solidFill>
                  <a:srgbClr val="14243A"/>
                </a:solidFill>
                <a:latin typeface="Calibri" pitchFamily="34" charset="0"/>
                <a:ea typeface="Calibri" pitchFamily="34" charset="-122"/>
                <a:cs typeface="Calibri" pitchFamily="34" charset="-120"/>
              </a:rPr>
              <a:t>Học tăng cường SCST</a:t>
            </a:r>
            <a:endParaRPr lang="en-US" sz="1300" dirty="0"/>
          </a:p>
        </p:txBody>
      </p:sp>
      <p:sp>
        <p:nvSpPr>
          <p:cNvPr id="30" name="Text 27"/>
          <p:cNvSpPr/>
          <p:nvPr/>
        </p:nvSpPr>
        <p:spPr>
          <a:xfrm>
            <a:off x="4608576" y="4572000"/>
            <a:ext cx="6833311" cy="603504"/>
          </a:xfrm>
          <a:prstGeom prst="rect">
            <a:avLst/>
          </a:prstGeom>
          <a:noFill/>
          <a:ln/>
        </p:spPr>
        <p:txBody>
          <a:bodyPr wrap="square" lIns="0" tIns="0" rIns="0" bIns="0" rtlCol="0" anchor="ctr"/>
          <a:lstStyle/>
          <a:p>
            <a:pPr marL="0" indent="0">
              <a:lnSpc>
                <a:spcPct val="108000"/>
              </a:lnSpc>
              <a:buNone/>
            </a:pPr>
            <a:r>
              <a:rPr lang="en-US" sz="1100" dirty="0">
                <a:solidFill>
                  <a:srgbClr val="4F637B"/>
                </a:solidFill>
                <a:latin typeface="Calibri" pitchFamily="34" charset="0"/>
                <a:ea typeface="Calibri" pitchFamily="34" charset="-122"/>
                <a:cs typeface="Calibri" pitchFamily="34" charset="-120"/>
              </a:rPr>
              <a:t>Reward từ vựng rồi reward ngữ nghĩa (nhóm D) — cả hai không vượt được SFT baseline, là finding phủ định hợp lệ.</a:t>
            </a:r>
            <a:endParaRPr lang="en-US" sz="1100" dirty="0"/>
          </a:p>
        </p:txBody>
      </p:sp>
      <p:sp>
        <p:nvSpPr>
          <p:cNvPr id="31" name="Shape 28"/>
          <p:cNvSpPr/>
          <p:nvPr/>
        </p:nvSpPr>
        <p:spPr>
          <a:xfrm>
            <a:off x="566928" y="5257800"/>
            <a:ext cx="11057839" cy="603504"/>
          </a:xfrm>
          <a:prstGeom prst="roundRect">
            <a:avLst>
              <a:gd name="adj" fmla="val 13636"/>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32" name="Shape 29"/>
          <p:cNvSpPr/>
          <p:nvPr/>
        </p:nvSpPr>
        <p:spPr>
          <a:xfrm>
            <a:off x="786384" y="5394960"/>
            <a:ext cx="329184" cy="329184"/>
          </a:xfrm>
          <a:prstGeom prst="ellipse">
            <a:avLst/>
          </a:prstGeom>
          <a:solidFill>
            <a:srgbClr val="0B8457"/>
          </a:solidFill>
          <a:ln/>
        </p:spPr>
        <p:txBody>
          <a:bodyPr/>
          <a:lstStyle/>
          <a:p>
            <a:endParaRPr lang="en-US"/>
          </a:p>
        </p:txBody>
      </p:sp>
      <p:sp>
        <p:nvSpPr>
          <p:cNvPr id="33" name="Text 30"/>
          <p:cNvSpPr/>
          <p:nvPr/>
        </p:nvSpPr>
        <p:spPr>
          <a:xfrm>
            <a:off x="786384" y="539496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1"/>
          <p:cNvSpPr/>
          <p:nvPr/>
        </p:nvSpPr>
        <p:spPr>
          <a:xfrm>
            <a:off x="1280160" y="5257800"/>
            <a:ext cx="3200400" cy="603504"/>
          </a:xfrm>
          <a:prstGeom prst="rect">
            <a:avLst/>
          </a:prstGeom>
          <a:noFill/>
          <a:ln/>
        </p:spPr>
        <p:txBody>
          <a:bodyPr wrap="square" lIns="0" tIns="0" rIns="0" bIns="0" rtlCol="0" anchor="ctr"/>
          <a:lstStyle/>
          <a:p>
            <a:pPr marL="0" indent="0">
              <a:buNone/>
            </a:pPr>
            <a:r>
              <a:rPr lang="en-US" sz="1300" b="1" dirty="0">
                <a:solidFill>
                  <a:srgbClr val="14243A"/>
                </a:solidFill>
                <a:latin typeface="Calibri" pitchFamily="34" charset="0"/>
                <a:ea typeface="Calibri" pitchFamily="34" charset="-122"/>
                <a:cs typeface="Calibri" pitchFamily="34" charset="-120"/>
              </a:rPr>
              <a:t>Large VLM — Gemma LoRA</a:t>
            </a:r>
            <a:endParaRPr lang="en-US" sz="1300" dirty="0"/>
          </a:p>
        </p:txBody>
      </p:sp>
      <p:sp>
        <p:nvSpPr>
          <p:cNvPr id="35" name="Text 32"/>
          <p:cNvSpPr/>
          <p:nvPr/>
        </p:nvSpPr>
        <p:spPr>
          <a:xfrm>
            <a:off x="4608576" y="5257800"/>
            <a:ext cx="6833311" cy="603504"/>
          </a:xfrm>
          <a:prstGeom prst="rect">
            <a:avLst/>
          </a:prstGeom>
          <a:noFill/>
          <a:ln/>
        </p:spPr>
        <p:txBody>
          <a:bodyPr wrap="square" lIns="0" tIns="0" rIns="0" bIns="0" rtlCol="0" anchor="ctr"/>
          <a:lstStyle/>
          <a:p>
            <a:pPr marL="0" indent="0">
              <a:lnSpc>
                <a:spcPct val="108000"/>
              </a:lnSpc>
              <a:buNone/>
            </a:pPr>
            <a:r>
              <a:rPr lang="en-US" sz="1100" dirty="0">
                <a:solidFill>
                  <a:srgbClr val="4F637B"/>
                </a:solidFill>
                <a:latin typeface="Calibri" pitchFamily="34" charset="0"/>
                <a:ea typeface="Calibri" pitchFamily="34" charset="-122"/>
                <a:cs typeface="Calibri" pitchFamily="34" charset="-120"/>
              </a:rPr>
              <a:t>Thay cả pipeline bằng VLM y khoa 2B/4B, tinh chỉnh QLoRA 4-bit — tổng quát hóa tốt nhất toàn báo cáo (nhóm G).</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4 · DỮ LIỆU</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VQA-RAD — tập huấn luyện chính</a:t>
            </a:r>
            <a:endParaRPr lang="en-US" sz="2900" dirty="0"/>
          </a:p>
        </p:txBody>
      </p:sp>
      <p:sp>
        <p:nvSpPr>
          <p:cNvPr id="5" name="Text 2"/>
          <p:cNvSpPr/>
          <p:nvPr/>
        </p:nvSpPr>
        <p:spPr>
          <a:xfrm>
            <a:off x="566928" y="1371600"/>
            <a:ext cx="6766560" cy="512064"/>
          </a:xfrm>
          <a:prstGeom prst="rect">
            <a:avLst/>
          </a:prstGeom>
          <a:noFill/>
          <a:ln/>
        </p:spPr>
        <p:txBody>
          <a:bodyPr wrap="square" lIns="0" tIns="0" rIns="0" bIns="0" rtlCol="0" anchor="ctr"/>
          <a:lstStyle/>
          <a:p>
            <a:pPr marL="0" indent="0">
              <a:lnSpc>
                <a:spcPct val="116000"/>
              </a:lnSpc>
              <a:buNone/>
            </a:pPr>
            <a:r>
              <a:rPr lang="en-US" sz="1300" dirty="0">
                <a:solidFill>
                  <a:srgbClr val="4F637B"/>
                </a:solidFill>
                <a:latin typeface="Calibri" pitchFamily="34" charset="0"/>
                <a:ea typeface="Calibri" pitchFamily="34" charset="-122"/>
                <a:cs typeface="Calibri" pitchFamily="34" charset="-120"/>
              </a:rPr>
              <a:t>Bộ dữ liệu Hỏi đáp ảnh X-quang do bác sĩ soạn (Lau và cộng sự, 2018). Đây là tập dùng để huấn luyện và để so sánh với các công bố trước.</a:t>
            </a:r>
            <a:endParaRPr lang="en-US" sz="1300" dirty="0"/>
          </a:p>
        </p:txBody>
      </p:sp>
      <p:sp>
        <p:nvSpPr>
          <p:cNvPr id="6" name="Text 3"/>
          <p:cNvSpPr/>
          <p:nvPr/>
        </p:nvSpPr>
        <p:spPr>
          <a:xfrm>
            <a:off x="566928" y="2212848"/>
            <a:ext cx="2103120" cy="713232"/>
          </a:xfrm>
          <a:prstGeom prst="rect">
            <a:avLst/>
          </a:prstGeom>
          <a:noFill/>
          <a:ln/>
        </p:spPr>
        <p:txBody>
          <a:bodyPr wrap="square" lIns="0" tIns="0" rIns="0" bIns="0" rtlCol="0" anchor="ctr"/>
          <a:lstStyle/>
          <a:p>
            <a:pPr marL="0" indent="0">
              <a:buNone/>
            </a:pPr>
            <a:r>
              <a:rPr lang="en-US" sz="4200" b="1" dirty="0">
                <a:solidFill>
                  <a:srgbClr val="1466C0"/>
                </a:solidFill>
                <a:latin typeface="Cambria" pitchFamily="34" charset="0"/>
                <a:ea typeface="Cambria" pitchFamily="34" charset="-122"/>
                <a:cs typeface="Cambria" pitchFamily="34" charset="-120"/>
              </a:rPr>
              <a:t>1.793</a:t>
            </a:r>
            <a:endParaRPr lang="en-US" sz="4200" dirty="0"/>
          </a:p>
        </p:txBody>
      </p:sp>
      <p:sp>
        <p:nvSpPr>
          <p:cNvPr id="7" name="Text 4"/>
          <p:cNvSpPr/>
          <p:nvPr/>
        </p:nvSpPr>
        <p:spPr>
          <a:xfrm>
            <a:off x="566928" y="2907792"/>
            <a:ext cx="2103120" cy="457200"/>
          </a:xfrm>
          <a:prstGeom prst="rect">
            <a:avLst/>
          </a:prstGeom>
          <a:noFill/>
          <a:ln/>
        </p:spPr>
        <p:txBody>
          <a:bodyPr wrap="square" lIns="0" tIns="0" rIns="0" bIns="0" rtlCol="0" anchor="ctr"/>
          <a:lstStyle/>
          <a:p>
            <a:pPr marL="0" indent="0">
              <a:lnSpc>
                <a:spcPct val="105000"/>
              </a:lnSpc>
              <a:buNone/>
            </a:pPr>
            <a:r>
              <a:rPr lang="en-US" sz="1100" dirty="0">
                <a:solidFill>
                  <a:srgbClr val="4F637B"/>
                </a:solidFill>
                <a:latin typeface="Calibri" pitchFamily="34" charset="0"/>
                <a:ea typeface="Calibri" pitchFamily="34" charset="-122"/>
                <a:cs typeface="Calibri" pitchFamily="34" charset="-120"/>
              </a:rPr>
              <a:t>cặp hỏi–đáp</a:t>
            </a:r>
            <a:endParaRPr lang="en-US" sz="1100" dirty="0"/>
          </a:p>
          <a:p>
            <a:pPr marL="0" indent="0">
              <a:lnSpc>
                <a:spcPct val="105000"/>
              </a:lnSpc>
              <a:buNone/>
            </a:pPr>
            <a:r>
              <a:rPr lang="en-US" sz="1100" dirty="0">
                <a:solidFill>
                  <a:srgbClr val="4F637B"/>
                </a:solidFill>
                <a:latin typeface="Calibri" pitchFamily="34" charset="0"/>
                <a:ea typeface="Calibri" pitchFamily="34" charset="-122"/>
                <a:cs typeface="Calibri" pitchFamily="34" charset="-120"/>
              </a:rPr>
              <a:t>trong tập train</a:t>
            </a:r>
            <a:endParaRPr lang="en-US" sz="1100" dirty="0"/>
          </a:p>
        </p:txBody>
      </p:sp>
      <p:sp>
        <p:nvSpPr>
          <p:cNvPr id="8" name="Text 5"/>
          <p:cNvSpPr/>
          <p:nvPr/>
        </p:nvSpPr>
        <p:spPr>
          <a:xfrm>
            <a:off x="2852928" y="2212848"/>
            <a:ext cx="2103120" cy="713232"/>
          </a:xfrm>
          <a:prstGeom prst="rect">
            <a:avLst/>
          </a:prstGeom>
          <a:noFill/>
          <a:ln/>
        </p:spPr>
        <p:txBody>
          <a:bodyPr wrap="square" lIns="0" tIns="0" rIns="0" bIns="0" rtlCol="0" anchor="ctr"/>
          <a:lstStyle/>
          <a:p>
            <a:pPr marL="0" indent="0">
              <a:buNone/>
            </a:pPr>
            <a:r>
              <a:rPr lang="en-US" sz="4200" b="1" dirty="0">
                <a:solidFill>
                  <a:srgbClr val="1466C0"/>
                </a:solidFill>
                <a:latin typeface="Cambria" pitchFamily="34" charset="0"/>
                <a:ea typeface="Cambria" pitchFamily="34" charset="-122"/>
                <a:cs typeface="Cambria" pitchFamily="34" charset="-120"/>
              </a:rPr>
              <a:t>451</a:t>
            </a:r>
            <a:endParaRPr lang="en-US" sz="4200" dirty="0"/>
          </a:p>
        </p:txBody>
      </p:sp>
      <p:sp>
        <p:nvSpPr>
          <p:cNvPr id="9" name="Text 6"/>
          <p:cNvSpPr/>
          <p:nvPr/>
        </p:nvSpPr>
        <p:spPr>
          <a:xfrm>
            <a:off x="2852928" y="2907792"/>
            <a:ext cx="2103120" cy="457200"/>
          </a:xfrm>
          <a:prstGeom prst="rect">
            <a:avLst/>
          </a:prstGeom>
          <a:noFill/>
          <a:ln/>
        </p:spPr>
        <p:txBody>
          <a:bodyPr wrap="square" lIns="0" tIns="0" rIns="0" bIns="0" rtlCol="0" anchor="ctr"/>
          <a:lstStyle/>
          <a:p>
            <a:pPr marL="0" indent="0">
              <a:lnSpc>
                <a:spcPct val="105000"/>
              </a:lnSpc>
              <a:buNone/>
            </a:pPr>
            <a:r>
              <a:rPr lang="en-US" sz="1100" dirty="0">
                <a:solidFill>
                  <a:srgbClr val="4F637B"/>
                </a:solidFill>
                <a:latin typeface="Calibri" pitchFamily="34" charset="0"/>
                <a:ea typeface="Calibri" pitchFamily="34" charset="-122"/>
                <a:cs typeface="Calibri" pitchFamily="34" charset="-120"/>
              </a:rPr>
              <a:t>cặp hỏi–đáp</a:t>
            </a:r>
            <a:endParaRPr lang="en-US" sz="1100" dirty="0"/>
          </a:p>
          <a:p>
            <a:pPr marL="0" indent="0">
              <a:lnSpc>
                <a:spcPct val="105000"/>
              </a:lnSpc>
              <a:buNone/>
            </a:pPr>
            <a:r>
              <a:rPr lang="en-US" sz="1100" dirty="0">
                <a:solidFill>
                  <a:srgbClr val="4F637B"/>
                </a:solidFill>
                <a:latin typeface="Calibri" pitchFamily="34" charset="0"/>
                <a:ea typeface="Calibri" pitchFamily="34" charset="-122"/>
                <a:cs typeface="Calibri" pitchFamily="34" charset="-120"/>
              </a:rPr>
              <a:t>trong tập test</a:t>
            </a:r>
            <a:endParaRPr lang="en-US" sz="1100" dirty="0"/>
          </a:p>
        </p:txBody>
      </p:sp>
      <p:sp>
        <p:nvSpPr>
          <p:cNvPr id="10" name="Text 7"/>
          <p:cNvSpPr/>
          <p:nvPr/>
        </p:nvSpPr>
        <p:spPr>
          <a:xfrm>
            <a:off x="5138928" y="2212848"/>
            <a:ext cx="2103120" cy="713232"/>
          </a:xfrm>
          <a:prstGeom prst="rect">
            <a:avLst/>
          </a:prstGeom>
          <a:noFill/>
          <a:ln/>
        </p:spPr>
        <p:txBody>
          <a:bodyPr wrap="square" lIns="0" tIns="0" rIns="0" bIns="0" rtlCol="0" anchor="ctr"/>
          <a:lstStyle/>
          <a:p>
            <a:pPr marL="0" indent="0">
              <a:buNone/>
            </a:pPr>
            <a:r>
              <a:rPr lang="en-US" sz="4200" b="1" dirty="0">
                <a:solidFill>
                  <a:srgbClr val="B26A00"/>
                </a:solidFill>
                <a:latin typeface="Cambria" pitchFamily="34" charset="0"/>
                <a:ea typeface="Cambria" pitchFamily="34" charset="-122"/>
                <a:cs typeface="Cambria" pitchFamily="34" charset="-120"/>
              </a:rPr>
              <a:t>314</a:t>
            </a:r>
            <a:endParaRPr lang="en-US" sz="4200" dirty="0"/>
          </a:p>
        </p:txBody>
      </p:sp>
      <p:sp>
        <p:nvSpPr>
          <p:cNvPr id="11" name="Text 8"/>
          <p:cNvSpPr/>
          <p:nvPr/>
        </p:nvSpPr>
        <p:spPr>
          <a:xfrm>
            <a:off x="5138928" y="2907792"/>
            <a:ext cx="2103120" cy="457200"/>
          </a:xfrm>
          <a:prstGeom prst="rect">
            <a:avLst/>
          </a:prstGeom>
          <a:noFill/>
          <a:ln/>
        </p:spPr>
        <p:txBody>
          <a:bodyPr wrap="square" lIns="0" tIns="0" rIns="0" bIns="0" rtlCol="0" anchor="ctr"/>
          <a:lstStyle/>
          <a:p>
            <a:pPr marL="0" indent="0">
              <a:lnSpc>
                <a:spcPct val="105000"/>
              </a:lnSpc>
              <a:buNone/>
            </a:pPr>
            <a:r>
              <a:rPr lang="en-US" sz="1100" dirty="0">
                <a:solidFill>
                  <a:srgbClr val="4F637B"/>
                </a:solidFill>
                <a:latin typeface="Calibri" pitchFamily="34" charset="0"/>
                <a:ea typeface="Calibri" pitchFamily="34" charset="-122"/>
                <a:cs typeface="Calibri" pitchFamily="34" charset="-120"/>
              </a:rPr>
              <a:t>ảnh riêng biệt</a:t>
            </a:r>
            <a:endParaRPr lang="en-US" sz="1100" dirty="0"/>
          </a:p>
          <a:p>
            <a:pPr marL="0" indent="0">
              <a:lnSpc>
                <a:spcPct val="105000"/>
              </a:lnSpc>
              <a:buNone/>
            </a:pPr>
            <a:r>
              <a:rPr lang="en-US" sz="1100" dirty="0">
                <a:solidFill>
                  <a:srgbClr val="4F637B"/>
                </a:solidFill>
                <a:latin typeface="Calibri" pitchFamily="34" charset="0"/>
                <a:ea typeface="Calibri" pitchFamily="34" charset="-122"/>
                <a:cs typeface="Calibri" pitchFamily="34" charset="-120"/>
              </a:rPr>
              <a:t>trên cả hai tập</a:t>
            </a:r>
            <a:endParaRPr lang="en-US" sz="1100" dirty="0"/>
          </a:p>
        </p:txBody>
      </p:sp>
      <p:sp>
        <p:nvSpPr>
          <p:cNvPr id="12" name="Shape 9"/>
          <p:cNvSpPr/>
          <p:nvPr/>
        </p:nvSpPr>
        <p:spPr>
          <a:xfrm>
            <a:off x="566928" y="3840480"/>
            <a:ext cx="6766560" cy="1700784"/>
          </a:xfrm>
          <a:prstGeom prst="roundRect">
            <a:avLst>
              <a:gd name="adj" fmla="val 4839"/>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3" name="Text 10"/>
          <p:cNvSpPr/>
          <p:nvPr/>
        </p:nvSpPr>
        <p:spPr>
          <a:xfrm>
            <a:off x="822960" y="4041648"/>
            <a:ext cx="6309360" cy="274320"/>
          </a:xfrm>
          <a:prstGeom prst="rect">
            <a:avLst/>
          </a:prstGeom>
          <a:noFill/>
          <a:ln/>
        </p:spPr>
        <p:txBody>
          <a:bodyPr wrap="square" lIns="0" tIns="0" rIns="0" bIns="0" rtlCol="0" anchor="ctr"/>
          <a:lstStyle/>
          <a:p>
            <a:pPr marL="0" indent="0">
              <a:buNone/>
            </a:pPr>
            <a:r>
              <a:rPr lang="en-US" sz="1350" b="1" dirty="0">
                <a:solidFill>
                  <a:srgbClr val="14243A"/>
                </a:solidFill>
                <a:latin typeface="Calibri" pitchFamily="34" charset="0"/>
                <a:ea typeface="Calibri" pitchFamily="34" charset="-122"/>
                <a:cs typeface="Calibri" pitchFamily="34" charset="-120"/>
              </a:rPr>
              <a:t>Phân bố đáp án lệch nặng về đuôi dài</a:t>
            </a:r>
            <a:endParaRPr lang="en-US" sz="1350" dirty="0"/>
          </a:p>
        </p:txBody>
      </p:sp>
      <p:sp>
        <p:nvSpPr>
          <p:cNvPr id="14" name="Text 11"/>
          <p:cNvSpPr/>
          <p:nvPr/>
        </p:nvSpPr>
        <p:spPr>
          <a:xfrm>
            <a:off x="822960" y="4370832"/>
            <a:ext cx="6309360" cy="1042416"/>
          </a:xfrm>
          <a:prstGeom prst="rect">
            <a:avLst/>
          </a:prstGeom>
          <a:noFill/>
          <a:ln/>
        </p:spPr>
        <p:txBody>
          <a:bodyPr wrap="square" lIns="0" tIns="0" rIns="0" bIns="0" rtlCol="0" anchor="ctr"/>
          <a:lstStyle/>
          <a:p>
            <a:pPr marL="0" indent="0">
              <a:lnSpc>
                <a:spcPct val="114000"/>
              </a:lnSpc>
              <a:buNone/>
            </a:pPr>
            <a:r>
              <a:rPr lang="en-US" sz="1150" dirty="0">
                <a:solidFill>
                  <a:srgbClr val="4F637B"/>
                </a:solidFill>
                <a:latin typeface="Calibri" pitchFamily="34" charset="0"/>
                <a:ea typeface="Calibri" pitchFamily="34" charset="-122"/>
                <a:cs typeface="Calibri" pitchFamily="34" charset="-120"/>
              </a:rPr>
              <a:t>Riêng hai đáp án yes và no đã chiếm khoảng một nửa toàn bộ cặp hỏi–đáp. Phần còn lại rải rác trên rất nhiều đáp án hiếm, nhiều đáp án chỉ xuất hiện một hoặc hai lần — đây là lý do phải ánh xạ token đáp án hiếm về token unknown khi dựng từ vựng. Sự mất cân bằng này tạo ra một tiên nghiệm ngôn ngữ mạnh mà mô hình có thể khai thác mà không cần nhìn ảnh, nên mọi điểm số đều phải đối chiếu với sàn tham chiếu.</a:t>
            </a:r>
            <a:endParaRPr lang="en-US" sz="1150" dirty="0"/>
          </a:p>
        </p:txBody>
      </p:sp>
      <p:sp>
        <p:nvSpPr>
          <p:cNvPr id="15" name="Shape 12"/>
          <p:cNvSpPr/>
          <p:nvPr/>
        </p:nvSpPr>
        <p:spPr>
          <a:xfrm>
            <a:off x="7607808" y="1371600"/>
            <a:ext cx="4023360" cy="4169664"/>
          </a:xfrm>
          <a:prstGeom prst="roundRect">
            <a:avLst>
              <a:gd name="adj" fmla="val 2045"/>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6" name="Shape 13"/>
          <p:cNvSpPr/>
          <p:nvPr/>
        </p:nvSpPr>
        <p:spPr>
          <a:xfrm>
            <a:off x="7827264" y="1609344"/>
            <a:ext cx="329184" cy="329184"/>
          </a:xfrm>
          <a:prstGeom prst="ellipse">
            <a:avLst/>
          </a:prstGeom>
          <a:solidFill>
            <a:srgbClr val="6B33C7"/>
          </a:solidFill>
          <a:ln/>
        </p:spPr>
        <p:txBody>
          <a:bodyPr/>
          <a:lstStyle/>
          <a:p>
            <a:endParaRPr lang="en-US"/>
          </a:p>
        </p:txBody>
      </p:sp>
      <p:sp>
        <p:nvSpPr>
          <p:cNvPr id="17" name="Text 14"/>
          <p:cNvSpPr/>
          <p:nvPr/>
        </p:nvSpPr>
        <p:spPr>
          <a:xfrm>
            <a:off x="7827264" y="160934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a:t>
            </a:r>
            <a:endParaRPr lang="en-US" sz="1300" dirty="0"/>
          </a:p>
        </p:txBody>
      </p:sp>
      <p:sp>
        <p:nvSpPr>
          <p:cNvPr id="18" name="Text 15"/>
          <p:cNvSpPr/>
          <p:nvPr/>
        </p:nvSpPr>
        <p:spPr>
          <a:xfrm>
            <a:off x="8284464" y="1591056"/>
            <a:ext cx="310896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Cấu tạo tập test</a:t>
            </a:r>
            <a:endParaRPr lang="en-US" sz="1450" dirty="0"/>
          </a:p>
        </p:txBody>
      </p:sp>
      <p:sp>
        <p:nvSpPr>
          <p:cNvPr id="19" name="Text 16"/>
          <p:cNvSpPr/>
          <p:nvPr/>
        </p:nvSpPr>
        <p:spPr>
          <a:xfrm>
            <a:off x="7827264" y="2157984"/>
            <a:ext cx="3566160" cy="1828800"/>
          </a:xfrm>
          <a:prstGeom prst="rect">
            <a:avLst/>
          </a:prstGeom>
          <a:noFill/>
          <a:ln/>
        </p:spPr>
        <p:txBody>
          <a:bodyPr wrap="square" lIns="0" tIns="0" rIns="0" bIns="0" rtlCol="0" anchor="ctr"/>
          <a:lstStyle/>
          <a:p>
            <a:pPr marL="0" indent="0">
              <a:lnSpc>
                <a:spcPct val="114000"/>
              </a:lnSpc>
              <a:buNone/>
            </a:pPr>
            <a:r>
              <a:rPr lang="en-US" sz="2200" b="1" dirty="0">
                <a:solidFill>
                  <a:srgbClr val="0B8457"/>
                </a:solidFill>
                <a:latin typeface="Cambria" pitchFamily="34" charset="0"/>
                <a:ea typeface="Cambria" pitchFamily="34" charset="-122"/>
                <a:cs typeface="Cambria" pitchFamily="34" charset="-120"/>
              </a:rPr>
              <a:t>251</a:t>
            </a:r>
            <a:r>
              <a:rPr lang="en-US" sz="1200" dirty="0">
                <a:solidFill>
                  <a:srgbClr val="4F637B"/>
                </a:solidFill>
                <a:latin typeface="Calibri" pitchFamily="34" charset="0"/>
                <a:ea typeface="Calibri" pitchFamily="34" charset="-122"/>
                <a:cs typeface="Calibri" pitchFamily="34" charset="-120"/>
              </a:rPr>
              <a:t>  câu đóng (yes / no)</a:t>
            </a:r>
            <a:endParaRPr lang="en-US" sz="2200" dirty="0"/>
          </a:p>
          <a:p>
            <a:pPr marL="0" indent="0">
              <a:lnSpc>
                <a:spcPct val="114000"/>
              </a:lnSpc>
              <a:buNone/>
            </a:pPr>
            <a:r>
              <a:rPr lang="en-US" sz="2200" b="1" dirty="0">
                <a:solidFill>
                  <a:srgbClr val="B26A00"/>
                </a:solidFill>
                <a:latin typeface="Cambria" pitchFamily="34" charset="0"/>
                <a:ea typeface="Cambria" pitchFamily="34" charset="-122"/>
                <a:cs typeface="Cambria" pitchFamily="34" charset="-120"/>
              </a:rPr>
              <a:t>200</a:t>
            </a:r>
            <a:r>
              <a:rPr lang="en-US" sz="1200" dirty="0">
                <a:solidFill>
                  <a:srgbClr val="4F637B"/>
                </a:solidFill>
                <a:latin typeface="Calibri" pitchFamily="34" charset="0"/>
                <a:ea typeface="Calibri" pitchFamily="34" charset="-122"/>
                <a:cs typeface="Calibri" pitchFamily="34" charset="-120"/>
              </a:rPr>
              <a:t>  câu mở (mô tả tự do)</a:t>
            </a:r>
            <a:endParaRPr lang="en-US" sz="2200" dirty="0"/>
          </a:p>
          <a:p>
            <a:pPr marL="0" indent="0">
              <a:lnSpc>
                <a:spcPct val="114000"/>
              </a:lnSpc>
              <a:buNone/>
            </a:pPr>
            <a:r>
              <a:rPr lang="en-US" sz="2200" b="1" dirty="0">
                <a:solidFill>
                  <a:srgbClr val="1466C0"/>
                </a:solidFill>
                <a:latin typeface="Cambria" pitchFamily="34" charset="0"/>
                <a:ea typeface="Cambria" pitchFamily="34" charset="-122"/>
                <a:cs typeface="Cambria" pitchFamily="34" charset="-120"/>
              </a:rPr>
              <a:t>203</a:t>
            </a:r>
            <a:r>
              <a:rPr lang="en-US" sz="1200" dirty="0">
                <a:solidFill>
                  <a:srgbClr val="4F637B"/>
                </a:solidFill>
                <a:latin typeface="Calibri" pitchFamily="34" charset="0"/>
                <a:ea typeface="Calibri" pitchFamily="34" charset="-122"/>
                <a:cs typeface="Calibri" pitchFamily="34" charset="-120"/>
              </a:rPr>
              <a:t>  ảnh riêng biệt — trung bình khoảng 7 câu hỏi trên mỗi ảnh</a:t>
            </a:r>
            <a:endParaRPr lang="en-US" sz="2200" dirty="0"/>
          </a:p>
        </p:txBody>
      </p:sp>
      <p:sp>
        <p:nvSpPr>
          <p:cNvPr id="20" name="Shape 17"/>
          <p:cNvSpPr/>
          <p:nvPr/>
        </p:nvSpPr>
        <p:spPr>
          <a:xfrm>
            <a:off x="7827264" y="4133088"/>
            <a:ext cx="3566160" cy="0"/>
          </a:xfrm>
          <a:prstGeom prst="line">
            <a:avLst/>
          </a:prstGeom>
          <a:noFill/>
          <a:ln w="12700">
            <a:solidFill>
              <a:srgbClr val="D3DEEA"/>
            </a:solidFill>
            <a:prstDash val="solid"/>
          </a:ln>
        </p:spPr>
        <p:txBody>
          <a:bodyPr/>
          <a:lstStyle/>
          <a:p>
            <a:endParaRPr lang="en-US"/>
          </a:p>
        </p:txBody>
      </p:sp>
      <p:sp>
        <p:nvSpPr>
          <p:cNvPr id="21" name="Text 18"/>
          <p:cNvSpPr/>
          <p:nvPr/>
        </p:nvSpPr>
        <p:spPr>
          <a:xfrm>
            <a:off x="7827264" y="4315968"/>
            <a:ext cx="3566160" cy="1060704"/>
          </a:xfrm>
          <a:prstGeom prst="rect">
            <a:avLst/>
          </a:prstGeom>
          <a:noFill/>
          <a:ln/>
        </p:spPr>
        <p:txBody>
          <a:bodyPr wrap="square" lIns="0" tIns="0" rIns="0" bIns="0" rtlCol="0" anchor="ctr"/>
          <a:lstStyle/>
          <a:p>
            <a:pPr marL="0" indent="0">
              <a:lnSpc>
                <a:spcPct val="114000"/>
              </a:lnSpc>
              <a:buNone/>
            </a:pPr>
            <a:r>
              <a:rPr lang="en-US" sz="1100" dirty="0">
                <a:solidFill>
                  <a:srgbClr val="4F637B"/>
                </a:solidFill>
                <a:latin typeface="Calibri" pitchFamily="34" charset="0"/>
                <a:ea typeface="Calibri" pitchFamily="34" charset="-122"/>
                <a:cs typeface="Calibri" pitchFamily="34" charset="-120"/>
              </a:rPr>
              <a:t>Tập validation là 10% tách theo ảnh: các câu hỏi được gom theo mã băm MD5 của ảnh rồi mới chia, nên không ảnh nào dùng cho dừng sớm lại xuất hiện trong bước cập nhật gradient. Nhờ vậy việc chọn checkpoint không bị nhiễm rò rỉ.</a:t>
            </a:r>
            <a:endParaRPr lang="en-US" sz="1100" dirty="0"/>
          </a:p>
        </p:txBody>
      </p:sp>
      <p:sp>
        <p:nvSpPr>
          <p:cNvPr id="22" name="Text 19"/>
          <p:cNvSpPr/>
          <p:nvPr/>
        </p:nvSpPr>
        <p:spPr>
          <a:xfrm>
            <a:off x="566928" y="6382512"/>
            <a:ext cx="11057839" cy="274320"/>
          </a:xfrm>
          <a:prstGeom prst="rect">
            <a:avLst/>
          </a:prstGeom>
          <a:noFill/>
          <a:ln/>
        </p:spPr>
        <p:txBody>
          <a:bodyPr wrap="square" lIns="0" tIns="0" rIns="0" bIns="0" rtlCol="0" anchor="ctr"/>
          <a:lstStyle/>
          <a:p>
            <a:pPr marL="0" indent="0">
              <a:buNone/>
            </a:pPr>
            <a:r>
              <a:rPr lang="en-US" sz="950" i="1" dirty="0">
                <a:solidFill>
                  <a:srgbClr val="8494A8"/>
                </a:solidFill>
                <a:latin typeface="Calibri" pitchFamily="34" charset="0"/>
                <a:ea typeface="Calibri" pitchFamily="34" charset="-122"/>
                <a:cs typeface="Calibri" pitchFamily="34" charset="-120"/>
              </a:rPr>
              <a:t>Mọi con số trong slide này được kiểm toán trực tiếp từ file dữ liệu bằng cách băm MD5 ma trận điểm ảnh.</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C62828"/>
                </a:solidFill>
                <a:latin typeface="Calibri" pitchFamily="34" charset="0"/>
                <a:ea typeface="Calibri" pitchFamily="34" charset="-122"/>
                <a:cs typeface="Calibri" pitchFamily="34" charset="-120"/>
              </a:rPr>
              <a:t>PHẦN 4 · KIỂM TOÁN DỮ LIỆU</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Vấn đề nghiêm trọng: ảnh test đã thấy khi train</a:t>
            </a:r>
            <a:endParaRPr lang="en-US" sz="2900" dirty="0"/>
          </a:p>
        </p:txBody>
      </p:sp>
      <p:sp>
        <p:nvSpPr>
          <p:cNvPr id="5" name="Shape 2"/>
          <p:cNvSpPr/>
          <p:nvPr/>
        </p:nvSpPr>
        <p:spPr>
          <a:xfrm>
            <a:off x="566928" y="1426464"/>
            <a:ext cx="5394960" cy="2286000"/>
          </a:xfrm>
          <a:prstGeom prst="roundRect">
            <a:avLst>
              <a:gd name="adj" fmla="val 3600"/>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6" name="Text 3"/>
          <p:cNvSpPr/>
          <p:nvPr/>
        </p:nvSpPr>
        <p:spPr>
          <a:xfrm>
            <a:off x="859536" y="1609344"/>
            <a:ext cx="4846320" cy="914400"/>
          </a:xfrm>
          <a:prstGeom prst="rect">
            <a:avLst/>
          </a:prstGeom>
          <a:noFill/>
          <a:ln/>
        </p:spPr>
        <p:txBody>
          <a:bodyPr wrap="square" lIns="0" tIns="0" rIns="0" bIns="0" rtlCol="0" anchor="ctr"/>
          <a:lstStyle/>
          <a:p>
            <a:pPr marL="0" indent="0">
              <a:buNone/>
            </a:pPr>
            <a:r>
              <a:rPr lang="en-US" sz="6200" b="1" dirty="0">
                <a:solidFill>
                  <a:srgbClr val="C62828"/>
                </a:solidFill>
                <a:latin typeface="Cambria" pitchFamily="34" charset="0"/>
                <a:ea typeface="Cambria" pitchFamily="34" charset="-122"/>
                <a:cs typeface="Cambria" pitchFamily="34" charset="-120"/>
              </a:rPr>
              <a:t>99,51%</a:t>
            </a:r>
            <a:endParaRPr lang="en-US" sz="6200" dirty="0"/>
          </a:p>
        </p:txBody>
      </p:sp>
      <p:sp>
        <p:nvSpPr>
          <p:cNvPr id="7" name="Text 4"/>
          <p:cNvSpPr/>
          <p:nvPr/>
        </p:nvSpPr>
        <p:spPr>
          <a:xfrm>
            <a:off x="859536" y="2615184"/>
            <a:ext cx="4846320" cy="877824"/>
          </a:xfrm>
          <a:prstGeom prst="rect">
            <a:avLst/>
          </a:prstGeom>
          <a:noFill/>
          <a:ln/>
        </p:spPr>
        <p:txBody>
          <a:bodyPr wrap="square" lIns="0" tIns="0" rIns="0" bIns="0" rtlCol="0" anchor="ctr"/>
          <a:lstStyle/>
          <a:p>
            <a:pPr marL="0" indent="0">
              <a:lnSpc>
                <a:spcPct val="116000"/>
              </a:lnSpc>
              <a:buNone/>
            </a:pPr>
            <a:r>
              <a:rPr lang="en-US" sz="1250" dirty="0">
                <a:solidFill>
                  <a:srgbClr val="4F637B"/>
                </a:solidFill>
                <a:latin typeface="Calibri" pitchFamily="34" charset="0"/>
                <a:ea typeface="Calibri" pitchFamily="34" charset="-122"/>
                <a:cs typeface="Calibri" pitchFamily="34" charset="-120"/>
              </a:rPr>
              <a:t>202 trong số 203 ảnh của tập test cũng xuất hiện trong tập train. Điểm số trên VQA-RAD vì thế phản ánh một phần khả năng học thuộc, không phải khả năng tổng quát hóa.</a:t>
            </a:r>
            <a:endParaRPr lang="en-US" sz="1250" dirty="0"/>
          </a:p>
        </p:txBody>
      </p:sp>
      <p:sp>
        <p:nvSpPr>
          <p:cNvPr id="8" name="Shape 5"/>
          <p:cNvSpPr/>
          <p:nvPr/>
        </p:nvSpPr>
        <p:spPr>
          <a:xfrm>
            <a:off x="6144768" y="1426464"/>
            <a:ext cx="5486400" cy="2286000"/>
          </a:xfrm>
          <a:prstGeom prst="roundRect">
            <a:avLst>
              <a:gd name="adj" fmla="val 3600"/>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9" name="Text 6"/>
          <p:cNvSpPr/>
          <p:nvPr/>
        </p:nvSpPr>
        <p:spPr>
          <a:xfrm>
            <a:off x="6437376" y="1609344"/>
            <a:ext cx="4937760" cy="914400"/>
          </a:xfrm>
          <a:prstGeom prst="rect">
            <a:avLst/>
          </a:prstGeom>
          <a:noFill/>
          <a:ln/>
        </p:spPr>
        <p:txBody>
          <a:bodyPr wrap="square" lIns="0" tIns="0" rIns="0" bIns="0" rtlCol="0" anchor="ctr"/>
          <a:lstStyle/>
          <a:p>
            <a:pPr marL="0" indent="0">
              <a:buNone/>
            </a:pPr>
            <a:r>
              <a:rPr lang="en-US" sz="6200" b="1" dirty="0">
                <a:solidFill>
                  <a:srgbClr val="B26A00"/>
                </a:solidFill>
                <a:latin typeface="Cambria" pitchFamily="34" charset="0"/>
                <a:ea typeface="Cambria" pitchFamily="34" charset="-122"/>
                <a:cs typeface="Cambria" pitchFamily="34" charset="-120"/>
              </a:rPr>
              <a:t>25,94%</a:t>
            </a:r>
            <a:endParaRPr lang="en-US" sz="6200" dirty="0"/>
          </a:p>
        </p:txBody>
      </p:sp>
      <p:sp>
        <p:nvSpPr>
          <p:cNvPr id="10" name="Text 7"/>
          <p:cNvSpPr/>
          <p:nvPr/>
        </p:nvSpPr>
        <p:spPr>
          <a:xfrm>
            <a:off x="6437376" y="2615184"/>
            <a:ext cx="4937760" cy="877824"/>
          </a:xfrm>
          <a:prstGeom prst="rect">
            <a:avLst/>
          </a:prstGeom>
          <a:noFill/>
          <a:ln/>
        </p:spPr>
        <p:txBody>
          <a:bodyPr wrap="square" lIns="0" tIns="0" rIns="0" bIns="0" rtlCol="0" anchor="ctr"/>
          <a:lstStyle/>
          <a:p>
            <a:pPr marL="0" indent="0">
              <a:lnSpc>
                <a:spcPct val="116000"/>
              </a:lnSpc>
              <a:buNone/>
            </a:pPr>
            <a:r>
              <a:rPr lang="en-US" sz="1250" dirty="0">
                <a:solidFill>
                  <a:srgbClr val="4F637B"/>
                </a:solidFill>
                <a:latin typeface="Calibri" pitchFamily="34" charset="0"/>
                <a:ea typeface="Calibri" pitchFamily="34" charset="-122"/>
                <a:cs typeface="Calibri" pitchFamily="34" charset="-120"/>
              </a:rPr>
              <a:t>117 trong 451 mẫu test có đáp án chưa từng xuất hiện khi huấn luyện. Đây là trần tuyệt đối cho mọi mô hình phân loại, và là trần Exact Match còn ngặt hơn cho mô hình sinh câu.</a:t>
            </a:r>
            <a:endParaRPr lang="en-US" sz="1250" dirty="0"/>
          </a:p>
        </p:txBody>
      </p:sp>
      <p:sp>
        <p:nvSpPr>
          <p:cNvPr id="11" name="Shape 8"/>
          <p:cNvSpPr/>
          <p:nvPr/>
        </p:nvSpPr>
        <p:spPr>
          <a:xfrm>
            <a:off x="566928" y="3986784"/>
            <a:ext cx="11057839" cy="1883664"/>
          </a:xfrm>
          <a:prstGeom prst="roundRect">
            <a:avLst>
              <a:gd name="adj" fmla="val 4369"/>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2" name="Shape 9"/>
          <p:cNvSpPr/>
          <p:nvPr/>
        </p:nvSpPr>
        <p:spPr>
          <a:xfrm>
            <a:off x="841248" y="4133088"/>
            <a:ext cx="329184" cy="329184"/>
          </a:xfrm>
          <a:prstGeom prst="ellipse">
            <a:avLst/>
          </a:prstGeom>
          <a:solidFill>
            <a:srgbClr val="0B8457"/>
          </a:solidFill>
          <a:ln/>
        </p:spPr>
        <p:txBody>
          <a:bodyPr/>
          <a:lstStyle/>
          <a:p>
            <a:endParaRPr lang="en-US"/>
          </a:p>
        </p:txBody>
      </p:sp>
      <p:sp>
        <p:nvSpPr>
          <p:cNvPr id="13" name="Text 10"/>
          <p:cNvSpPr/>
          <p:nvPr/>
        </p:nvSpPr>
        <p:spPr>
          <a:xfrm>
            <a:off x="841248" y="413308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4" name="Text 11"/>
          <p:cNvSpPr/>
          <p:nvPr/>
        </p:nvSpPr>
        <p:spPr>
          <a:xfrm>
            <a:off x="1298448" y="4114800"/>
            <a:ext cx="1014984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Cách xử lý: giao thức đánh giá kép, không giấu rò rỉ</a:t>
            </a:r>
            <a:endParaRPr lang="en-US" sz="1450" dirty="0"/>
          </a:p>
        </p:txBody>
      </p:sp>
      <p:sp>
        <p:nvSpPr>
          <p:cNvPr id="15" name="Text 12"/>
          <p:cNvSpPr/>
          <p:nvPr/>
        </p:nvSpPr>
        <p:spPr>
          <a:xfrm>
            <a:off x="841247" y="4480560"/>
            <a:ext cx="10692269" cy="1042416"/>
          </a:xfrm>
          <a:prstGeom prst="rect">
            <a:avLst/>
          </a:prstGeom>
          <a:noFill/>
          <a:ln/>
        </p:spPr>
        <p:txBody>
          <a:bodyPr wrap="square" lIns="0" tIns="0" rIns="0" bIns="0" rtlCol="0" anchor="ctr"/>
          <a:lstStyle/>
          <a:p>
            <a:pPr marL="0" indent="0">
              <a:lnSpc>
                <a:spcPct val="112000"/>
              </a:lnSpc>
              <a:buNone/>
            </a:pPr>
            <a:r>
              <a:rPr lang="en-US" sz="1300" b="1" dirty="0">
                <a:solidFill>
                  <a:srgbClr val="14243A"/>
                </a:solidFill>
                <a:latin typeface="Calibri" pitchFamily="34" charset="0"/>
                <a:ea typeface="Calibri" pitchFamily="34" charset="-122"/>
                <a:cs typeface="Calibri" pitchFamily="34" charset="-120"/>
              </a:rPr>
              <a:t>Giữ nguyên split chính thức </a:t>
            </a:r>
            <a:r>
              <a:rPr lang="en-US" sz="1300" dirty="0">
                <a:solidFill>
                  <a:srgbClr val="4F637B"/>
                </a:solidFill>
                <a:latin typeface="Calibri" pitchFamily="34" charset="0"/>
                <a:ea typeface="Calibri" pitchFamily="34" charset="-122"/>
                <a:cs typeface="Calibri" pitchFamily="34" charset="-120"/>
              </a:rPr>
              <a:t>để kết quả còn so sánh được với các công bố trước, nhưng công bố rõ tỉ lệ rò rỉ thay vì âm thầm bỏ qua.</a:t>
            </a:r>
            <a:endParaRPr lang="en-US" sz="1300" dirty="0"/>
          </a:p>
          <a:p>
            <a:pPr marL="0" indent="0">
              <a:lnSpc>
                <a:spcPct val="112000"/>
              </a:lnSpc>
              <a:buNone/>
            </a:pPr>
            <a:r>
              <a:rPr lang="en-US" sz="1300" b="1" dirty="0">
                <a:solidFill>
                  <a:srgbClr val="14243A"/>
                </a:solidFill>
                <a:latin typeface="Calibri" pitchFamily="34" charset="0"/>
                <a:ea typeface="Calibri" pitchFamily="34" charset="-122"/>
                <a:cs typeface="Calibri" pitchFamily="34" charset="-120"/>
              </a:rPr>
              <a:t>Bổ sung một tập kiểm thử sạch bên ngoài </a:t>
            </a:r>
            <a:r>
              <a:rPr lang="en-US" sz="1300" dirty="0">
                <a:solidFill>
                  <a:srgbClr val="4F637B"/>
                </a:solidFill>
                <a:latin typeface="Calibri" pitchFamily="34" charset="0"/>
                <a:ea typeface="Calibri" pitchFamily="34" charset="-122"/>
                <a:cs typeface="Calibri" pitchFamily="34" charset="-120"/>
              </a:rPr>
              <a:t>— RadImageNet-VQA — được chia theo bệnh nhân nên không ảnh nào trùng với tập train.</a:t>
            </a:r>
            <a:endParaRPr lang="en-US" sz="1300" dirty="0"/>
          </a:p>
          <a:p>
            <a:pPr marL="0" indent="0">
              <a:lnSpc>
                <a:spcPct val="112000"/>
              </a:lnSpc>
              <a:buNone/>
            </a:pPr>
            <a:r>
              <a:rPr lang="en-US" sz="1300" b="1" dirty="0">
                <a:solidFill>
                  <a:srgbClr val="B26A00"/>
                </a:solidFill>
                <a:latin typeface="Calibri" pitchFamily="34" charset="0"/>
                <a:ea typeface="Calibri" pitchFamily="34" charset="-122"/>
                <a:cs typeface="Calibri" pitchFamily="34" charset="-120"/>
              </a:rPr>
              <a:t>Lưu ý khi đọc kết quả: </a:t>
            </a:r>
            <a:r>
              <a:rPr lang="en-US" sz="1300" dirty="0">
                <a:solidFill>
                  <a:srgbClr val="4F637B"/>
                </a:solidFill>
                <a:latin typeface="Calibri" pitchFamily="34" charset="0"/>
                <a:ea typeface="Calibri" pitchFamily="34" charset="-122"/>
                <a:cs typeface="Calibri" pitchFamily="34" charset="-120"/>
              </a:rPr>
              <a:t>hai tập test khác nhau đồng thời ở cả tình trạng rò rỉ lẫn miền ảnh, nên chênh lệch điểm giữa chúng không thể quy hoàn toàn cho rò rỉ.</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0B8457"/>
                </a:solidFill>
                <a:latin typeface="Calibri" pitchFamily="34" charset="0"/>
                <a:ea typeface="Calibri" pitchFamily="34" charset="-122"/>
                <a:cs typeface="Calibri" pitchFamily="34" charset="-120"/>
              </a:rPr>
              <a:t>PHẦN 4 · DỮ LIỆU</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RadImageNet-VQA — tập kiểm thử sạch</a:t>
            </a:r>
            <a:endParaRPr lang="en-US" sz="2900" dirty="0"/>
          </a:p>
        </p:txBody>
      </p:sp>
      <p:sp>
        <p:nvSpPr>
          <p:cNvPr id="5" name="Text 2"/>
          <p:cNvSpPr/>
          <p:nvPr/>
        </p:nvSpPr>
        <p:spPr>
          <a:xfrm>
            <a:off x="566928" y="1371600"/>
            <a:ext cx="11057839" cy="512064"/>
          </a:xfrm>
          <a:prstGeom prst="rect">
            <a:avLst/>
          </a:prstGeom>
          <a:noFill/>
          <a:ln/>
        </p:spPr>
        <p:txBody>
          <a:bodyPr wrap="square" lIns="0" tIns="0" rIns="0" bIns="0" rtlCol="0" anchor="ctr"/>
          <a:lstStyle/>
          <a:p>
            <a:pPr marL="0" indent="0">
              <a:lnSpc>
                <a:spcPct val="116000"/>
              </a:lnSpc>
              <a:buNone/>
            </a:pPr>
            <a:r>
              <a:rPr lang="en-US" sz="1300" dirty="0">
                <a:solidFill>
                  <a:srgbClr val="4F637B"/>
                </a:solidFill>
                <a:latin typeface="Calibri" pitchFamily="34" charset="0"/>
                <a:ea typeface="Calibri" pitchFamily="34" charset="-122"/>
                <a:cs typeface="Calibri" pitchFamily="34" charset="-120"/>
              </a:rPr>
              <a:t>Không phải tập tự dựng. Đây là bộ raidium/RadImageNet-VQA công bố công khai, xây trên cơ sở dữ liệu RadImageNet, có split định nghĩa sẵn ở mức bệnh nhân bởi chính nhóm tác giả.</a:t>
            </a:r>
            <a:endParaRPr lang="en-US" sz="1300" dirty="0"/>
          </a:p>
        </p:txBody>
      </p:sp>
      <p:sp>
        <p:nvSpPr>
          <p:cNvPr id="6" name="Text 3"/>
          <p:cNvSpPr/>
          <p:nvPr/>
        </p:nvSpPr>
        <p:spPr>
          <a:xfrm>
            <a:off x="566928" y="2084832"/>
            <a:ext cx="2606040" cy="713232"/>
          </a:xfrm>
          <a:prstGeom prst="rect">
            <a:avLst/>
          </a:prstGeom>
          <a:noFill/>
          <a:ln/>
        </p:spPr>
        <p:txBody>
          <a:bodyPr wrap="square" lIns="0" tIns="0" rIns="0" bIns="0" rtlCol="0" anchor="ctr"/>
          <a:lstStyle/>
          <a:p>
            <a:pPr marL="0" indent="0">
              <a:buNone/>
            </a:pPr>
            <a:r>
              <a:rPr lang="en-US" sz="4000" b="1" dirty="0">
                <a:solidFill>
                  <a:srgbClr val="1466C0"/>
                </a:solidFill>
                <a:latin typeface="Cambria" pitchFamily="34" charset="0"/>
                <a:ea typeface="Cambria" pitchFamily="34" charset="-122"/>
                <a:cs typeface="Cambria" pitchFamily="34" charset="-120"/>
              </a:rPr>
              <a:t>500</a:t>
            </a:r>
            <a:endParaRPr lang="en-US" sz="4000" dirty="0"/>
          </a:p>
        </p:txBody>
      </p:sp>
      <p:sp>
        <p:nvSpPr>
          <p:cNvPr id="7" name="Text 4"/>
          <p:cNvSpPr/>
          <p:nvPr/>
        </p:nvSpPr>
        <p:spPr>
          <a:xfrm>
            <a:off x="566928" y="2779776"/>
            <a:ext cx="2606040" cy="457200"/>
          </a:xfrm>
          <a:prstGeom prst="rect">
            <a:avLst/>
          </a:prstGeom>
          <a:noFill/>
          <a:ln/>
        </p:spPr>
        <p:txBody>
          <a:bodyPr wrap="square" lIns="0" tIns="0" rIns="0" bIns="0" rtlCol="0" anchor="ctr"/>
          <a:lstStyle/>
          <a:p>
            <a:pPr marL="0" indent="0">
              <a:lnSpc>
                <a:spcPct val="105000"/>
              </a:lnSpc>
              <a:buNone/>
            </a:pPr>
            <a:r>
              <a:rPr lang="en-US" sz="1100" dirty="0">
                <a:solidFill>
                  <a:srgbClr val="4F637B"/>
                </a:solidFill>
                <a:latin typeface="Calibri" pitchFamily="34" charset="0"/>
                <a:ea typeface="Calibri" pitchFamily="34" charset="-122"/>
                <a:cs typeface="Calibri" pitchFamily="34" charset="-120"/>
              </a:rPr>
              <a:t>mẫu được rút ra</a:t>
            </a:r>
            <a:endParaRPr lang="en-US" sz="1100" dirty="0"/>
          </a:p>
          <a:p>
            <a:pPr marL="0" indent="0">
              <a:lnSpc>
                <a:spcPct val="105000"/>
              </a:lnSpc>
              <a:buNone/>
            </a:pPr>
            <a:r>
              <a:rPr lang="en-US" sz="1100" dirty="0">
                <a:solidFill>
                  <a:srgbClr val="4F637B"/>
                </a:solidFill>
                <a:latin typeface="Calibri" pitchFamily="34" charset="0"/>
                <a:ea typeface="Calibri" pitchFamily="34" charset="-122"/>
                <a:cs typeface="Calibri" pitchFamily="34" charset="-120"/>
              </a:rPr>
              <a:t>cân bằng, seed 42</a:t>
            </a:r>
            <a:endParaRPr lang="en-US" sz="1100" dirty="0"/>
          </a:p>
        </p:txBody>
      </p:sp>
      <p:sp>
        <p:nvSpPr>
          <p:cNvPr id="8" name="Text 5"/>
          <p:cNvSpPr/>
          <p:nvPr/>
        </p:nvSpPr>
        <p:spPr>
          <a:xfrm>
            <a:off x="3364992" y="2084832"/>
            <a:ext cx="2606040" cy="713232"/>
          </a:xfrm>
          <a:prstGeom prst="rect">
            <a:avLst/>
          </a:prstGeom>
          <a:noFill/>
          <a:ln/>
        </p:spPr>
        <p:txBody>
          <a:bodyPr wrap="square" lIns="0" tIns="0" rIns="0" bIns="0" rtlCol="0" anchor="ctr"/>
          <a:lstStyle/>
          <a:p>
            <a:pPr marL="0" indent="0">
              <a:buNone/>
            </a:pPr>
            <a:r>
              <a:rPr lang="en-US" sz="4000" b="1" dirty="0">
                <a:solidFill>
                  <a:srgbClr val="1466C0"/>
                </a:solidFill>
                <a:latin typeface="Cambria" pitchFamily="34" charset="0"/>
                <a:ea typeface="Cambria" pitchFamily="34" charset="-122"/>
                <a:cs typeface="Cambria" pitchFamily="34" charset="-120"/>
              </a:rPr>
              <a:t>403</a:t>
            </a:r>
            <a:endParaRPr lang="en-US" sz="4000" dirty="0"/>
          </a:p>
        </p:txBody>
      </p:sp>
      <p:sp>
        <p:nvSpPr>
          <p:cNvPr id="9" name="Text 6"/>
          <p:cNvSpPr/>
          <p:nvPr/>
        </p:nvSpPr>
        <p:spPr>
          <a:xfrm>
            <a:off x="3364992" y="2779776"/>
            <a:ext cx="2606040" cy="457200"/>
          </a:xfrm>
          <a:prstGeom prst="rect">
            <a:avLst/>
          </a:prstGeom>
          <a:noFill/>
          <a:ln/>
        </p:spPr>
        <p:txBody>
          <a:bodyPr wrap="square" lIns="0" tIns="0" rIns="0" bIns="0" rtlCol="0" anchor="ctr"/>
          <a:lstStyle/>
          <a:p>
            <a:pPr marL="0" indent="0">
              <a:lnSpc>
                <a:spcPct val="105000"/>
              </a:lnSpc>
              <a:buNone/>
            </a:pPr>
            <a:r>
              <a:rPr lang="en-US" sz="1100" dirty="0">
                <a:solidFill>
                  <a:srgbClr val="4F637B"/>
                </a:solidFill>
                <a:latin typeface="Calibri" pitchFamily="34" charset="0"/>
                <a:ea typeface="Calibri" pitchFamily="34" charset="-122"/>
                <a:cs typeface="Calibri" pitchFamily="34" charset="-120"/>
              </a:rPr>
              <a:t>ảnh riêng biệt</a:t>
            </a:r>
            <a:endParaRPr lang="en-US" sz="1100" dirty="0"/>
          </a:p>
        </p:txBody>
      </p:sp>
      <p:sp>
        <p:nvSpPr>
          <p:cNvPr id="10" name="Text 7"/>
          <p:cNvSpPr/>
          <p:nvPr/>
        </p:nvSpPr>
        <p:spPr>
          <a:xfrm>
            <a:off x="6163056" y="2084832"/>
            <a:ext cx="2606040" cy="713232"/>
          </a:xfrm>
          <a:prstGeom prst="rect">
            <a:avLst/>
          </a:prstGeom>
          <a:noFill/>
          <a:ln/>
        </p:spPr>
        <p:txBody>
          <a:bodyPr wrap="square" lIns="0" tIns="0" rIns="0" bIns="0" rtlCol="0" anchor="ctr"/>
          <a:lstStyle/>
          <a:p>
            <a:pPr marL="0" indent="0">
              <a:buNone/>
            </a:pPr>
            <a:r>
              <a:rPr lang="en-US" sz="3200" b="1" dirty="0">
                <a:solidFill>
                  <a:srgbClr val="6B33C7"/>
                </a:solidFill>
                <a:latin typeface="Cambria" pitchFamily="34" charset="0"/>
                <a:ea typeface="Cambria" pitchFamily="34" charset="-122"/>
                <a:cs typeface="Cambria" pitchFamily="34" charset="-120"/>
              </a:rPr>
              <a:t>250 / 250</a:t>
            </a:r>
            <a:endParaRPr lang="en-US" sz="3200" dirty="0"/>
          </a:p>
        </p:txBody>
      </p:sp>
      <p:sp>
        <p:nvSpPr>
          <p:cNvPr id="11" name="Text 8"/>
          <p:cNvSpPr/>
          <p:nvPr/>
        </p:nvSpPr>
        <p:spPr>
          <a:xfrm>
            <a:off x="6163056" y="2779776"/>
            <a:ext cx="2606040" cy="457200"/>
          </a:xfrm>
          <a:prstGeom prst="rect">
            <a:avLst/>
          </a:prstGeom>
          <a:noFill/>
          <a:ln/>
        </p:spPr>
        <p:txBody>
          <a:bodyPr wrap="square" lIns="0" tIns="0" rIns="0" bIns="0" rtlCol="0" anchor="ctr"/>
          <a:lstStyle/>
          <a:p>
            <a:pPr marL="0" indent="0">
              <a:lnSpc>
                <a:spcPct val="105000"/>
              </a:lnSpc>
              <a:buNone/>
            </a:pPr>
            <a:r>
              <a:rPr lang="en-US" sz="1100" dirty="0">
                <a:solidFill>
                  <a:srgbClr val="4F637B"/>
                </a:solidFill>
                <a:latin typeface="Calibri" pitchFamily="34" charset="0"/>
                <a:ea typeface="Calibri" pitchFamily="34" charset="-122"/>
                <a:cs typeface="Calibri" pitchFamily="34" charset="-120"/>
              </a:rPr>
              <a:t>câu đóng / câu mở</a:t>
            </a:r>
            <a:endParaRPr lang="en-US" sz="1100" dirty="0"/>
          </a:p>
        </p:txBody>
      </p:sp>
      <p:sp>
        <p:nvSpPr>
          <p:cNvPr id="12" name="Text 9"/>
          <p:cNvSpPr/>
          <p:nvPr/>
        </p:nvSpPr>
        <p:spPr>
          <a:xfrm>
            <a:off x="8961120" y="2084832"/>
            <a:ext cx="2606040" cy="713232"/>
          </a:xfrm>
          <a:prstGeom prst="rect">
            <a:avLst/>
          </a:prstGeom>
          <a:noFill/>
          <a:ln/>
        </p:spPr>
        <p:txBody>
          <a:bodyPr wrap="square" lIns="0" tIns="0" rIns="0" bIns="0" rtlCol="0" anchor="ctr"/>
          <a:lstStyle/>
          <a:p>
            <a:pPr marL="0" indent="0">
              <a:buNone/>
            </a:pPr>
            <a:r>
              <a:rPr lang="en-US" sz="4000" b="1" dirty="0">
                <a:solidFill>
                  <a:srgbClr val="0B8457"/>
                </a:solidFill>
                <a:latin typeface="Cambria" pitchFamily="34" charset="0"/>
                <a:ea typeface="Cambria" pitchFamily="34" charset="-122"/>
                <a:cs typeface="Cambria" pitchFamily="34" charset="-120"/>
              </a:rPr>
              <a:t>0%</a:t>
            </a:r>
            <a:endParaRPr lang="en-US" sz="4000" dirty="0"/>
          </a:p>
        </p:txBody>
      </p:sp>
      <p:sp>
        <p:nvSpPr>
          <p:cNvPr id="13" name="Text 10"/>
          <p:cNvSpPr/>
          <p:nvPr/>
        </p:nvSpPr>
        <p:spPr>
          <a:xfrm>
            <a:off x="8961120" y="2779776"/>
            <a:ext cx="2606040" cy="457200"/>
          </a:xfrm>
          <a:prstGeom prst="rect">
            <a:avLst/>
          </a:prstGeom>
          <a:noFill/>
          <a:ln/>
        </p:spPr>
        <p:txBody>
          <a:bodyPr wrap="square" lIns="0" tIns="0" rIns="0" bIns="0" rtlCol="0" anchor="ctr"/>
          <a:lstStyle/>
          <a:p>
            <a:pPr marL="0" indent="0">
              <a:lnSpc>
                <a:spcPct val="105000"/>
              </a:lnSpc>
              <a:buNone/>
            </a:pPr>
            <a:r>
              <a:rPr lang="en-US" sz="1100" dirty="0">
                <a:solidFill>
                  <a:srgbClr val="4F637B"/>
                </a:solidFill>
                <a:latin typeface="Calibri" pitchFamily="34" charset="0"/>
                <a:ea typeface="Calibri" pitchFamily="34" charset="-122"/>
                <a:cs typeface="Calibri" pitchFamily="34" charset="-120"/>
              </a:rPr>
              <a:t>ảnh rò rỉ từ</a:t>
            </a:r>
            <a:endParaRPr lang="en-US" sz="1100" dirty="0"/>
          </a:p>
          <a:p>
            <a:pPr marL="0" indent="0">
              <a:lnSpc>
                <a:spcPct val="105000"/>
              </a:lnSpc>
              <a:buNone/>
            </a:pPr>
            <a:r>
              <a:rPr lang="en-US" sz="1100" dirty="0">
                <a:solidFill>
                  <a:srgbClr val="4F637B"/>
                </a:solidFill>
                <a:latin typeface="Calibri" pitchFamily="34" charset="0"/>
                <a:ea typeface="Calibri" pitchFamily="34" charset="-122"/>
                <a:cs typeface="Calibri" pitchFamily="34" charset="-120"/>
              </a:rPr>
              <a:t>tập huấn luyện</a:t>
            </a:r>
            <a:endParaRPr lang="en-US" sz="1100" dirty="0"/>
          </a:p>
        </p:txBody>
      </p:sp>
      <p:sp>
        <p:nvSpPr>
          <p:cNvPr id="14" name="Shape 11"/>
          <p:cNvSpPr/>
          <p:nvPr/>
        </p:nvSpPr>
        <p:spPr>
          <a:xfrm>
            <a:off x="566928" y="3675888"/>
            <a:ext cx="5486400" cy="2121408"/>
          </a:xfrm>
          <a:prstGeom prst="roundRect">
            <a:avLst>
              <a:gd name="adj" fmla="val 3879"/>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5" name="Shape 12"/>
          <p:cNvSpPr/>
          <p:nvPr/>
        </p:nvSpPr>
        <p:spPr>
          <a:xfrm>
            <a:off x="822960" y="3895344"/>
            <a:ext cx="329184" cy="329184"/>
          </a:xfrm>
          <a:prstGeom prst="ellipse">
            <a:avLst/>
          </a:prstGeom>
          <a:solidFill>
            <a:srgbClr val="0B8457"/>
          </a:solidFill>
          <a:ln/>
        </p:spPr>
        <p:txBody>
          <a:bodyPr/>
          <a:lstStyle/>
          <a:p>
            <a:endParaRPr lang="en-US"/>
          </a:p>
        </p:txBody>
      </p:sp>
      <p:sp>
        <p:nvSpPr>
          <p:cNvPr id="16" name="Text 13"/>
          <p:cNvSpPr/>
          <p:nvPr/>
        </p:nvSpPr>
        <p:spPr>
          <a:xfrm>
            <a:off x="822960" y="389534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7" name="Text 14"/>
          <p:cNvSpPr/>
          <p:nvPr/>
        </p:nvSpPr>
        <p:spPr>
          <a:xfrm>
            <a:off x="1280160" y="3877056"/>
            <a:ext cx="457200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Cách rút mẫu &amp; kiểm chứng</a:t>
            </a:r>
            <a:endParaRPr lang="en-US" sz="1450" dirty="0"/>
          </a:p>
        </p:txBody>
      </p:sp>
      <p:sp>
        <p:nvSpPr>
          <p:cNvPr id="18" name="Text 15"/>
          <p:cNvSpPr/>
          <p:nvPr/>
        </p:nvSpPr>
        <p:spPr>
          <a:xfrm>
            <a:off x="822960" y="4352544"/>
            <a:ext cx="5029200" cy="1298448"/>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4F637B"/>
                </a:solidFill>
                <a:latin typeface="Calibri" pitchFamily="34" charset="0"/>
                <a:ea typeface="Calibri" pitchFamily="34" charset="-122"/>
                <a:cs typeface="Calibri" pitchFamily="34" charset="-120"/>
              </a:rPr>
              <a:t>Nguồn: cấu hình benchmark, split test gồm 9.000 mẫu.</a:t>
            </a:r>
            <a:endParaRPr lang="en-US" sz="1100" dirty="0"/>
          </a:p>
          <a:p>
            <a:pPr marL="342900" indent="-342900">
              <a:spcAft>
                <a:spcPts val="600"/>
              </a:spcAft>
              <a:buSzPct val="100000"/>
              <a:buChar char="•"/>
            </a:pPr>
            <a:r>
              <a:rPr lang="en-US" sz="1100" dirty="0">
                <a:solidFill>
                  <a:srgbClr val="4F637B"/>
                </a:solidFill>
                <a:latin typeface="Calibri" pitchFamily="34" charset="0"/>
                <a:ea typeface="Calibri" pitchFamily="34" charset="-122"/>
                <a:cs typeface="Calibri" pitchFamily="34" charset="-120"/>
              </a:rPr>
              <a:t>Loại bỏ dạng câu hỏi trắc nghiệm để khớp định dạng sinh câu tự do của nghiên cứu.</a:t>
            </a:r>
            <a:endParaRPr lang="en-US" sz="1100" dirty="0"/>
          </a:p>
          <a:p>
            <a:pPr marL="342900" indent="-342900">
              <a:spcAft>
                <a:spcPts val="600"/>
              </a:spcAft>
              <a:buSzPct val="100000"/>
              <a:buChar char="•"/>
            </a:pPr>
            <a:r>
              <a:rPr lang="en-US" sz="1100" dirty="0">
                <a:solidFill>
                  <a:srgbClr val="4F637B"/>
                </a:solidFill>
                <a:latin typeface="Calibri" pitchFamily="34" charset="0"/>
                <a:ea typeface="Calibri" pitchFamily="34" charset="-122"/>
                <a:cs typeface="Calibri" pitchFamily="34" charset="-120"/>
              </a:rPr>
              <a:t>Đối chiếu MD5 điểm ảnh với 15.000 dòng đầu dữ liệu train RadImageNet và toàn bộ ảnh train VQA-RAD: không có va chạm nào.</a:t>
            </a:r>
            <a:endParaRPr lang="en-US" sz="1100" dirty="0"/>
          </a:p>
        </p:txBody>
      </p:sp>
      <p:sp>
        <p:nvSpPr>
          <p:cNvPr id="19" name="Shape 16"/>
          <p:cNvSpPr/>
          <p:nvPr/>
        </p:nvSpPr>
        <p:spPr>
          <a:xfrm>
            <a:off x="6236208" y="3675888"/>
            <a:ext cx="5394960" cy="2121408"/>
          </a:xfrm>
          <a:prstGeom prst="roundRect">
            <a:avLst>
              <a:gd name="adj" fmla="val 3879"/>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20" name="Shape 17"/>
          <p:cNvSpPr/>
          <p:nvPr/>
        </p:nvSpPr>
        <p:spPr>
          <a:xfrm>
            <a:off x="6492240" y="3895344"/>
            <a:ext cx="329184" cy="329184"/>
          </a:xfrm>
          <a:prstGeom prst="ellipse">
            <a:avLst/>
          </a:prstGeom>
          <a:solidFill>
            <a:srgbClr val="B26A00"/>
          </a:solidFill>
          <a:ln/>
        </p:spPr>
        <p:txBody>
          <a:bodyPr/>
          <a:lstStyle/>
          <a:p>
            <a:endParaRPr lang="en-US"/>
          </a:p>
        </p:txBody>
      </p:sp>
      <p:sp>
        <p:nvSpPr>
          <p:cNvPr id="21" name="Text 18"/>
          <p:cNvSpPr/>
          <p:nvPr/>
        </p:nvSpPr>
        <p:spPr>
          <a:xfrm>
            <a:off x="6492240" y="389534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2" name="Text 19"/>
          <p:cNvSpPr/>
          <p:nvPr/>
        </p:nvSpPr>
        <p:spPr>
          <a:xfrm>
            <a:off x="6949440" y="3877056"/>
            <a:ext cx="448056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Hai điểm phải nhớ khi đọc kết quả</a:t>
            </a:r>
            <a:endParaRPr lang="en-US" sz="1450" dirty="0"/>
          </a:p>
        </p:txBody>
      </p:sp>
      <p:sp>
        <p:nvSpPr>
          <p:cNvPr id="23" name="Text 20"/>
          <p:cNvSpPr/>
          <p:nvPr/>
        </p:nvSpPr>
        <p:spPr>
          <a:xfrm>
            <a:off x="6492240" y="4352544"/>
            <a:ext cx="4937760" cy="1298448"/>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4F637B"/>
                </a:solidFill>
                <a:latin typeface="Calibri" pitchFamily="34" charset="0"/>
                <a:ea typeface="Calibri" pitchFamily="34" charset="-122"/>
                <a:cs typeface="Calibri" pitchFamily="34" charset="-120"/>
              </a:rPr>
              <a:t>Câu hỏi và đáp án đến từ bộ nguồn, không theo quy ước bác sĩ soạn của VQA-RAD, nên câu mở dùng lối diễn đạt khác hẳn.</a:t>
            </a:r>
            <a:endParaRPr lang="en-US" sz="1100" dirty="0"/>
          </a:p>
          <a:p>
            <a:pPr marL="342900" indent="-342900">
              <a:spcAft>
                <a:spcPts val="800"/>
              </a:spcAft>
              <a:buSzPct val="100000"/>
              <a:buChar char="•"/>
            </a:pPr>
            <a:r>
              <a:rPr lang="en-US" sz="1100" dirty="0">
                <a:solidFill>
                  <a:srgbClr val="4F637B"/>
                </a:solidFill>
                <a:latin typeface="Calibri" pitchFamily="34" charset="0"/>
                <a:ea typeface="Calibri" pitchFamily="34" charset="-122"/>
                <a:cs typeface="Calibri" pitchFamily="34" charset="-120"/>
              </a:rPr>
              <a:t>Miền ảnh nghiêng về MRI và CT vùng bụng, phổi, não; còn VQA-RAD là X-quang đầu, ngực, bụng.</a:t>
            </a:r>
            <a:endParaRPr lang="en-US" sz="1100" dirty="0"/>
          </a:p>
        </p:txBody>
      </p:sp>
      <p:sp>
        <p:nvSpPr>
          <p:cNvPr id="24" name="Text 21"/>
          <p:cNvSpPr/>
          <p:nvPr/>
        </p:nvSpPr>
        <p:spPr>
          <a:xfrm>
            <a:off x="566928" y="6382512"/>
            <a:ext cx="11057839" cy="274320"/>
          </a:xfrm>
          <a:prstGeom prst="rect">
            <a:avLst/>
          </a:prstGeom>
          <a:noFill/>
          <a:ln/>
        </p:spPr>
        <p:txBody>
          <a:bodyPr wrap="square" lIns="0" tIns="0" rIns="0" bIns="0" rtlCol="0" anchor="ctr"/>
          <a:lstStyle/>
          <a:p>
            <a:pPr marL="0" indent="0">
              <a:buNone/>
            </a:pPr>
            <a:r>
              <a:rPr lang="en-US" sz="950" i="1" dirty="0">
                <a:solidFill>
                  <a:srgbClr val="8494A8"/>
                </a:solidFill>
                <a:latin typeface="Calibri" pitchFamily="34" charset="0"/>
                <a:ea typeface="Calibri" pitchFamily="34" charset="-122"/>
                <a:cs typeface="Calibri" pitchFamily="34" charset="-120"/>
              </a:rPr>
              <a:t>Mô hình huấn luyện trên VQA-RAD do đó vừa gặp ảnh chưa từng thấy, vừa gặp từ vựng đáp án đã dịch chuyển.</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4 · DỮ LIỆU</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Ba phân vùng dữ liệu và sàn tham chiếu</a:t>
            </a:r>
            <a:endParaRPr lang="en-US" sz="2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426464"/>
          <a:ext cx="11064240" cy="1316736"/>
        </p:xfrm>
        <a:graphic>
          <a:graphicData uri="http://schemas.openxmlformats.org/drawingml/2006/table">
            <a:tbl>
              <a:tblPr/>
              <a:tblGrid>
                <a:gridCol w="27432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2834640">
                  <a:extLst>
                    <a:ext uri="{9D8B030D-6E8A-4147-A177-3AD203B41FA5}">
                      <a16:colId xmlns:a16="http://schemas.microsoft.com/office/drawing/2014/main" val="20005"/>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Phân vùng</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Số cặp</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Số ảnh</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Đóng / Mở</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Rò rỉ</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Vai trò</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extLst>
                  <a:ext uri="{0D108BD9-81ED-4DB2-BD59-A6C34878D82A}">
                    <a16:rowId xmlns:a16="http://schemas.microsoft.com/office/drawing/2014/main" val="10000"/>
                  </a:ext>
                </a:extLst>
              </a:tr>
              <a:tr h="329184">
                <a:tc>
                  <a:txBody>
                    <a:bodyPr/>
                    <a:lstStyle/>
                    <a:p>
                      <a:pPr marL="0" indent="0" algn="l">
                        <a:buNone/>
                      </a:pPr>
                      <a:r>
                        <a:rPr lang="en-US" sz="1100" b="1" dirty="0">
                          <a:solidFill>
                            <a:srgbClr val="14243A"/>
                          </a:solidFill>
                          <a:latin typeface="Calibri" pitchFamily="34" charset="0"/>
                          <a:ea typeface="Calibri" pitchFamily="34" charset="-122"/>
                          <a:cs typeface="Calibri" pitchFamily="34" charset="-120"/>
                        </a:rPr>
                        <a:t>VQA-RAD train</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1.793</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313</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940 / 853</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Huấn luyện</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1"/>
                  </a:ext>
                </a:extLst>
              </a:tr>
              <a:tr h="329184">
                <a:tc>
                  <a:txBody>
                    <a:bodyPr/>
                    <a:lstStyle/>
                    <a:p>
                      <a:pPr marL="0" indent="0" algn="l">
                        <a:buNone/>
                      </a:pPr>
                      <a:r>
                        <a:rPr lang="en-US" sz="1100" b="1" dirty="0">
                          <a:solidFill>
                            <a:srgbClr val="14243A"/>
                          </a:solidFill>
                          <a:latin typeface="Calibri" pitchFamily="34" charset="0"/>
                          <a:ea typeface="Calibri" pitchFamily="34" charset="-122"/>
                          <a:cs typeface="Calibri" pitchFamily="34" charset="-120"/>
                        </a:rPr>
                        <a:t>VQA-RAD test</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451</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203</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251 / 200</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100" b="1" dirty="0">
                          <a:solidFill>
                            <a:srgbClr val="C62828"/>
                          </a:solidFill>
                          <a:latin typeface="Calibri" pitchFamily="34" charset="0"/>
                          <a:ea typeface="Calibri" pitchFamily="34" charset="-122"/>
                          <a:cs typeface="Calibri" pitchFamily="34" charset="-120"/>
                        </a:rPr>
                        <a:t>99,51%</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Kiểm thử nội miền</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2"/>
                  </a:ext>
                </a:extLst>
              </a:tr>
              <a:tr h="329184">
                <a:tc>
                  <a:txBody>
                    <a:bodyPr/>
                    <a:lstStyle/>
                    <a:p>
                      <a:pPr marL="0" indent="0" algn="l">
                        <a:buNone/>
                      </a:pPr>
                      <a:r>
                        <a:rPr lang="en-US" sz="1100" b="1" dirty="0">
                          <a:solidFill>
                            <a:srgbClr val="14243A"/>
                          </a:solidFill>
                          <a:latin typeface="Calibri" pitchFamily="34" charset="0"/>
                          <a:ea typeface="Calibri" pitchFamily="34" charset="-122"/>
                          <a:cs typeface="Calibri" pitchFamily="34" charset="-120"/>
                        </a:rPr>
                        <a:t>RadImageNet-VQA test</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500</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403</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250 / 250</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100" b="1" dirty="0">
                          <a:solidFill>
                            <a:srgbClr val="0B8457"/>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Kiểm thử sạch</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3"/>
                  </a:ext>
                </a:extLst>
              </a:tr>
            </a:tbl>
          </a:graphicData>
        </a:graphic>
      </p:graphicFrame>
      <p:sp>
        <p:nvSpPr>
          <p:cNvPr id="6" name="Text 2"/>
          <p:cNvSpPr/>
          <p:nvPr/>
        </p:nvSpPr>
        <p:spPr>
          <a:xfrm>
            <a:off x="566928" y="2962656"/>
            <a:ext cx="11057839" cy="310896"/>
          </a:xfrm>
          <a:prstGeom prst="rect">
            <a:avLst/>
          </a:prstGeom>
          <a:noFill/>
          <a:ln/>
        </p:spPr>
        <p:txBody>
          <a:bodyPr wrap="square" lIns="0" tIns="0" rIns="0" bIns="0" rtlCol="0" anchor="ctr"/>
          <a:lstStyle/>
          <a:p>
            <a:pPr marL="0" indent="0">
              <a:buNone/>
            </a:pPr>
            <a:r>
              <a:rPr lang="en-US" sz="1500" b="1" dirty="0">
                <a:solidFill>
                  <a:srgbClr val="B26A00"/>
                </a:solidFill>
                <a:latin typeface="Calibri" pitchFamily="34" charset="0"/>
                <a:ea typeface="Calibri" pitchFamily="34" charset="-122"/>
                <a:cs typeface="Calibri" pitchFamily="34" charset="-120"/>
              </a:rPr>
              <a:t>Sàn tham chiếu: điểm mà một hệ thống vô dụng cũng đạt được</a:t>
            </a:r>
            <a:endParaRPr lang="en-US" sz="1500" dirty="0"/>
          </a:p>
        </p:txBody>
      </p:sp>
      <p:sp>
        <p:nvSpPr>
          <p:cNvPr id="7" name="Text 3"/>
          <p:cNvSpPr/>
          <p:nvPr/>
        </p:nvSpPr>
        <p:spPr>
          <a:xfrm>
            <a:off x="566928" y="3310128"/>
            <a:ext cx="11057839" cy="512064"/>
          </a:xfrm>
          <a:prstGeom prst="rect">
            <a:avLst/>
          </a:prstGeom>
          <a:noFill/>
          <a:ln/>
        </p:spPr>
        <p:txBody>
          <a:bodyPr wrap="square" lIns="0" tIns="0" rIns="0" bIns="0" rtlCol="0" anchor="ctr"/>
          <a:lstStyle/>
          <a:p>
            <a:pPr marL="0" indent="0">
              <a:lnSpc>
                <a:spcPct val="116000"/>
              </a:lnSpc>
              <a:buNone/>
            </a:pPr>
            <a:r>
              <a:rPr lang="en-US" sz="1250" dirty="0">
                <a:solidFill>
                  <a:srgbClr val="4F637B"/>
                </a:solidFill>
                <a:latin typeface="Calibri" pitchFamily="34" charset="0"/>
                <a:ea typeface="Calibri" pitchFamily="34" charset="-122"/>
                <a:cs typeface="Calibri" pitchFamily="34" charset="-120"/>
              </a:rPr>
              <a:t>Một hệ thống bỏ qua cả ảnh lẫn câu hỏi, luôn trả lời đúng một đáp án đóng, sẽ được 0% trên mọi câu mở nhưng vẫn chắc chắn đạt tối thiểu 50% trên câu đóng nhờ chọn phía đa số. Đây là mốc mà mọi cấu hình bắt buộc phải vượt qua.</a:t>
            </a:r>
            <a:endParaRPr lang="en-US" sz="1250" dirty="0"/>
          </a:p>
        </p:txBody>
      </p:sp>
      <p:sp>
        <p:nvSpPr>
          <p:cNvPr id="8" name="Shape 4"/>
          <p:cNvSpPr/>
          <p:nvPr/>
        </p:nvSpPr>
        <p:spPr>
          <a:xfrm>
            <a:off x="566928" y="3931920"/>
            <a:ext cx="3566160" cy="1170432"/>
          </a:xfrm>
          <a:prstGeom prst="roundRect">
            <a:avLst>
              <a:gd name="adj" fmla="val 7031"/>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9" name="Text 5"/>
          <p:cNvSpPr/>
          <p:nvPr/>
        </p:nvSpPr>
        <p:spPr>
          <a:xfrm>
            <a:off x="822960" y="4078224"/>
            <a:ext cx="3054096" cy="512064"/>
          </a:xfrm>
          <a:prstGeom prst="rect">
            <a:avLst/>
          </a:prstGeom>
          <a:noFill/>
          <a:ln/>
        </p:spPr>
        <p:txBody>
          <a:bodyPr wrap="square" lIns="0" tIns="0" rIns="0" bIns="0" rtlCol="0" anchor="ctr"/>
          <a:lstStyle/>
          <a:p>
            <a:pPr marL="0" indent="0">
              <a:buNone/>
            </a:pPr>
            <a:r>
              <a:rPr lang="en-US" sz="3000" b="1" dirty="0">
                <a:solidFill>
                  <a:srgbClr val="B26A00"/>
                </a:solidFill>
                <a:latin typeface="Cambria" pitchFamily="34" charset="0"/>
                <a:ea typeface="Cambria" pitchFamily="34" charset="-122"/>
                <a:cs typeface="Cambria" pitchFamily="34" charset="-120"/>
              </a:rPr>
              <a:t>≥ 27,83%</a:t>
            </a:r>
            <a:endParaRPr lang="en-US" sz="3000" dirty="0"/>
          </a:p>
        </p:txBody>
      </p:sp>
      <p:sp>
        <p:nvSpPr>
          <p:cNvPr id="10" name="Text 6"/>
          <p:cNvSpPr/>
          <p:nvPr/>
        </p:nvSpPr>
        <p:spPr>
          <a:xfrm>
            <a:off x="822960" y="4608576"/>
            <a:ext cx="3054096" cy="274320"/>
          </a:xfrm>
          <a:prstGeom prst="rect">
            <a:avLst/>
          </a:prstGeom>
          <a:noFill/>
          <a:ln/>
        </p:spPr>
        <p:txBody>
          <a:bodyPr wrap="square" lIns="0" tIns="0" rIns="0" bIns="0" rtlCol="0" anchor="ctr"/>
          <a:lstStyle/>
          <a:p>
            <a:pPr marL="0" indent="0">
              <a:buNone/>
            </a:pPr>
            <a:r>
              <a:rPr lang="en-US" sz="1150" dirty="0">
                <a:solidFill>
                  <a:srgbClr val="4F637B"/>
                </a:solidFill>
                <a:latin typeface="Calibri" pitchFamily="34" charset="0"/>
                <a:ea typeface="Calibri" pitchFamily="34" charset="-122"/>
                <a:cs typeface="Calibri" pitchFamily="34" charset="-120"/>
              </a:rPr>
              <a:t>sàn EM tổng thể trên VQA-RAD</a:t>
            </a:r>
            <a:endParaRPr lang="en-US" sz="1150" dirty="0"/>
          </a:p>
        </p:txBody>
      </p:sp>
      <p:sp>
        <p:nvSpPr>
          <p:cNvPr id="11" name="Shape 7"/>
          <p:cNvSpPr/>
          <p:nvPr/>
        </p:nvSpPr>
        <p:spPr>
          <a:xfrm>
            <a:off x="4279392" y="3931920"/>
            <a:ext cx="3566160" cy="1170432"/>
          </a:xfrm>
          <a:prstGeom prst="roundRect">
            <a:avLst>
              <a:gd name="adj" fmla="val 7031"/>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2" name="Text 8"/>
          <p:cNvSpPr/>
          <p:nvPr/>
        </p:nvSpPr>
        <p:spPr>
          <a:xfrm>
            <a:off x="4535424" y="4078224"/>
            <a:ext cx="3054096" cy="512064"/>
          </a:xfrm>
          <a:prstGeom prst="rect">
            <a:avLst/>
          </a:prstGeom>
          <a:noFill/>
          <a:ln/>
        </p:spPr>
        <p:txBody>
          <a:bodyPr wrap="square" lIns="0" tIns="0" rIns="0" bIns="0" rtlCol="0" anchor="ctr"/>
          <a:lstStyle/>
          <a:p>
            <a:pPr marL="0" indent="0">
              <a:buNone/>
            </a:pPr>
            <a:r>
              <a:rPr lang="en-US" sz="3000" b="1" dirty="0">
                <a:solidFill>
                  <a:srgbClr val="B26A00"/>
                </a:solidFill>
                <a:latin typeface="Cambria" pitchFamily="34" charset="0"/>
                <a:ea typeface="Cambria" pitchFamily="34" charset="-122"/>
                <a:cs typeface="Cambria" pitchFamily="34" charset="-120"/>
              </a:rPr>
              <a:t>≥ 25,00%</a:t>
            </a:r>
            <a:endParaRPr lang="en-US" sz="3000" dirty="0"/>
          </a:p>
        </p:txBody>
      </p:sp>
      <p:sp>
        <p:nvSpPr>
          <p:cNvPr id="13" name="Text 9"/>
          <p:cNvSpPr/>
          <p:nvPr/>
        </p:nvSpPr>
        <p:spPr>
          <a:xfrm>
            <a:off x="4535424" y="4608576"/>
            <a:ext cx="3054096" cy="274320"/>
          </a:xfrm>
          <a:prstGeom prst="rect">
            <a:avLst/>
          </a:prstGeom>
          <a:noFill/>
          <a:ln/>
        </p:spPr>
        <p:txBody>
          <a:bodyPr wrap="square" lIns="0" tIns="0" rIns="0" bIns="0" rtlCol="0" anchor="ctr"/>
          <a:lstStyle/>
          <a:p>
            <a:pPr marL="0" indent="0">
              <a:buNone/>
            </a:pPr>
            <a:r>
              <a:rPr lang="en-US" sz="1150" dirty="0">
                <a:solidFill>
                  <a:srgbClr val="4F637B"/>
                </a:solidFill>
                <a:latin typeface="Calibri" pitchFamily="34" charset="0"/>
                <a:ea typeface="Calibri" pitchFamily="34" charset="-122"/>
                <a:cs typeface="Calibri" pitchFamily="34" charset="-120"/>
              </a:rPr>
              <a:t>sàn EM tổng thể trên RadImageNet-VQA</a:t>
            </a:r>
            <a:endParaRPr lang="en-US" sz="1150" dirty="0"/>
          </a:p>
        </p:txBody>
      </p:sp>
      <p:sp>
        <p:nvSpPr>
          <p:cNvPr id="14" name="Shape 10"/>
          <p:cNvSpPr/>
          <p:nvPr/>
        </p:nvSpPr>
        <p:spPr>
          <a:xfrm>
            <a:off x="8010144" y="3931920"/>
            <a:ext cx="3621024" cy="1170432"/>
          </a:xfrm>
          <a:prstGeom prst="roundRect">
            <a:avLst>
              <a:gd name="adj" fmla="val 7031"/>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5" name="Text 11"/>
          <p:cNvSpPr/>
          <p:nvPr/>
        </p:nvSpPr>
        <p:spPr>
          <a:xfrm>
            <a:off x="8266176" y="4078224"/>
            <a:ext cx="3108960" cy="512064"/>
          </a:xfrm>
          <a:prstGeom prst="rect">
            <a:avLst/>
          </a:prstGeom>
          <a:noFill/>
          <a:ln/>
        </p:spPr>
        <p:txBody>
          <a:bodyPr wrap="square" lIns="0" tIns="0" rIns="0" bIns="0" rtlCol="0" anchor="ctr"/>
          <a:lstStyle/>
          <a:p>
            <a:pPr marL="0" indent="0">
              <a:buNone/>
            </a:pPr>
            <a:r>
              <a:rPr lang="en-US" sz="3000" b="1" dirty="0">
                <a:solidFill>
                  <a:srgbClr val="1466C0"/>
                </a:solidFill>
                <a:latin typeface="Cambria" pitchFamily="34" charset="0"/>
                <a:ea typeface="Cambria" pitchFamily="34" charset="-122"/>
                <a:cs typeface="Cambria" pitchFamily="34" charset="-120"/>
              </a:rPr>
              <a:t>± 4,5 điểm</a:t>
            </a:r>
            <a:endParaRPr lang="en-US" sz="3000" dirty="0"/>
          </a:p>
        </p:txBody>
      </p:sp>
      <p:sp>
        <p:nvSpPr>
          <p:cNvPr id="16" name="Text 12"/>
          <p:cNvSpPr/>
          <p:nvPr/>
        </p:nvSpPr>
        <p:spPr>
          <a:xfrm>
            <a:off x="8266176" y="4608576"/>
            <a:ext cx="3108960" cy="365760"/>
          </a:xfrm>
          <a:prstGeom prst="rect">
            <a:avLst/>
          </a:prstGeom>
          <a:noFill/>
          <a:ln/>
        </p:spPr>
        <p:txBody>
          <a:bodyPr wrap="square" lIns="0" tIns="0" rIns="0" bIns="0" rtlCol="0" anchor="ctr"/>
          <a:lstStyle/>
          <a:p>
            <a:pPr marL="0" indent="0">
              <a:lnSpc>
                <a:spcPct val="108000"/>
              </a:lnSpc>
              <a:buNone/>
            </a:pPr>
            <a:r>
              <a:rPr lang="en-US" sz="1150" dirty="0">
                <a:solidFill>
                  <a:srgbClr val="4F637B"/>
                </a:solidFill>
                <a:latin typeface="Calibri" pitchFamily="34" charset="0"/>
                <a:ea typeface="Calibri" pitchFamily="34" charset="-122"/>
                <a:cs typeface="Calibri" pitchFamily="34" charset="-120"/>
              </a:rPr>
              <a:t>khoảng tin cậy Wilson 95% (±3,9 trên tập 500)</a:t>
            </a:r>
            <a:endParaRPr lang="en-US" sz="1150" dirty="0"/>
          </a:p>
        </p:txBody>
      </p:sp>
      <p:sp>
        <p:nvSpPr>
          <p:cNvPr id="17" name="Text 13"/>
          <p:cNvSpPr/>
          <p:nvPr/>
        </p:nvSpPr>
        <p:spPr>
          <a:xfrm>
            <a:off x="566928" y="5285232"/>
            <a:ext cx="11057839" cy="548640"/>
          </a:xfrm>
          <a:prstGeom prst="rect">
            <a:avLst/>
          </a:prstGeom>
          <a:noFill/>
          <a:ln/>
        </p:spPr>
        <p:txBody>
          <a:bodyPr wrap="square" lIns="0" tIns="0" rIns="0" bIns="0" rtlCol="0" anchor="ctr"/>
          <a:lstStyle/>
          <a:p>
            <a:pPr marL="0" indent="0">
              <a:lnSpc>
                <a:spcPct val="114000"/>
              </a:lnSpc>
              <a:buNone/>
            </a:pPr>
            <a:r>
              <a:rPr lang="en-US" sz="1200" i="1" dirty="0">
                <a:solidFill>
                  <a:srgbClr val="B26A00"/>
                </a:solidFill>
                <a:latin typeface="Calibri" pitchFamily="34" charset="0"/>
                <a:ea typeface="Calibri" pitchFamily="34" charset="-122"/>
                <a:cs typeface="Calibri" pitchFamily="34" charset="-120"/>
              </a:rPr>
              <a:t>Hệ quả: chênh lệch hai hoặc ba điểm phần trăm là không phân biệt được với nhiễu lấy mẫu. Trên các tập con đóng/mở khoảng tin cậy còn nới rộng tới khoảng ±6 điểm, và giao thức chỉ chạy một seed nên không có ước lượng phương sai giữa các lần khởi tạo.</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5 · BỘ CHỈ SỐ</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Một bộ chấm dùng chung cho mọi cấu hình</a:t>
            </a:r>
            <a:endParaRPr lang="en-US" sz="2900" dirty="0"/>
          </a:p>
        </p:txBody>
      </p:sp>
      <p:sp>
        <p:nvSpPr>
          <p:cNvPr id="5" name="Text 2"/>
          <p:cNvSpPr/>
          <p:nvPr/>
        </p:nvSpPr>
        <p:spPr>
          <a:xfrm>
            <a:off x="621792" y="1325880"/>
            <a:ext cx="11057839" cy="512064"/>
          </a:xfrm>
          <a:prstGeom prst="rect">
            <a:avLst/>
          </a:prstGeom>
          <a:noFill/>
          <a:ln/>
        </p:spPr>
        <p:txBody>
          <a:bodyPr wrap="square" lIns="0" tIns="0" rIns="0" bIns="0" rtlCol="0" anchor="ctr"/>
          <a:lstStyle/>
          <a:p>
            <a:pPr marL="0" indent="0">
              <a:lnSpc>
                <a:spcPct val="116000"/>
              </a:lnSpc>
              <a:buNone/>
            </a:pPr>
            <a:r>
              <a:rPr lang="en-US" sz="1400" dirty="0">
                <a:solidFill>
                  <a:srgbClr val="4F637B"/>
                </a:solidFill>
                <a:latin typeface="Calibri" pitchFamily="34" charset="0"/>
                <a:ea typeface="Calibri" pitchFamily="34" charset="-122"/>
                <a:cs typeface="Calibri" pitchFamily="34" charset="-120"/>
              </a:rPr>
              <a:t>Toàn bộ run được chấm bởi cùng một module (src/train/metrics.py), sinh đúng cùng một bộ cột — nên các con số so sánh trực tiếp được, không lệch cột. Câu trả lời được chuẩn hóa trước khi chấm và chia hai loại để đo riêng.</a:t>
            </a:r>
            <a:endParaRPr lang="en-US" sz="1400" dirty="0"/>
          </a:p>
        </p:txBody>
      </p:sp>
      <p:sp>
        <p:nvSpPr>
          <p:cNvPr id="6" name="Shape 3"/>
          <p:cNvSpPr/>
          <p:nvPr/>
        </p:nvSpPr>
        <p:spPr>
          <a:xfrm>
            <a:off x="566928" y="2011680"/>
            <a:ext cx="5394960" cy="1975104"/>
          </a:xfrm>
          <a:prstGeom prst="roundRect">
            <a:avLst>
              <a:gd name="adj" fmla="val 4167"/>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sz="1400"/>
          </a:p>
        </p:txBody>
      </p:sp>
      <p:sp>
        <p:nvSpPr>
          <p:cNvPr id="7" name="Shape 4"/>
          <p:cNvSpPr/>
          <p:nvPr/>
        </p:nvSpPr>
        <p:spPr>
          <a:xfrm>
            <a:off x="822960" y="2231136"/>
            <a:ext cx="329184" cy="329184"/>
          </a:xfrm>
          <a:prstGeom prst="ellipse">
            <a:avLst/>
          </a:prstGeom>
          <a:solidFill>
            <a:srgbClr val="1466C0"/>
          </a:solidFill>
          <a:ln/>
        </p:spPr>
        <p:txBody>
          <a:bodyPr/>
          <a:lstStyle/>
          <a:p>
            <a:endParaRPr lang="en-US" sz="1400"/>
          </a:p>
        </p:txBody>
      </p:sp>
      <p:sp>
        <p:nvSpPr>
          <p:cNvPr id="8" name="Text 5"/>
          <p:cNvSpPr/>
          <p:nvPr/>
        </p:nvSpPr>
        <p:spPr>
          <a:xfrm>
            <a:off x="822960" y="2231136"/>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a:t>
            </a:r>
            <a:endParaRPr lang="en-US" sz="1400" dirty="0"/>
          </a:p>
        </p:txBody>
      </p:sp>
      <p:sp>
        <p:nvSpPr>
          <p:cNvPr id="9" name="Text 6"/>
          <p:cNvSpPr/>
          <p:nvPr/>
        </p:nvSpPr>
        <p:spPr>
          <a:xfrm>
            <a:off x="1280160" y="2212848"/>
            <a:ext cx="4480560" cy="365760"/>
          </a:xfrm>
          <a:prstGeom prst="rect">
            <a:avLst/>
          </a:prstGeom>
          <a:noFill/>
          <a:ln/>
        </p:spPr>
        <p:txBody>
          <a:bodyPr wrap="square" lIns="0" tIns="0" rIns="0" bIns="0" rtlCol="0" anchor="ctr"/>
          <a:lstStyle/>
          <a:p>
            <a:pPr marL="0" indent="0">
              <a:buNone/>
            </a:pPr>
            <a:r>
              <a:rPr lang="en-US" sz="1400" b="1" dirty="0">
                <a:solidFill>
                  <a:srgbClr val="14243A"/>
                </a:solidFill>
                <a:latin typeface="Calibri" pitchFamily="34" charset="0"/>
                <a:ea typeface="Calibri" pitchFamily="34" charset="-122"/>
                <a:cs typeface="Calibri" pitchFamily="34" charset="-120"/>
              </a:rPr>
              <a:t>Chuẩn hóa: normalize_answer()</a:t>
            </a:r>
            <a:endParaRPr lang="en-US" sz="1400" dirty="0"/>
          </a:p>
        </p:txBody>
      </p:sp>
      <p:sp>
        <p:nvSpPr>
          <p:cNvPr id="10" name="Text 7"/>
          <p:cNvSpPr/>
          <p:nvPr/>
        </p:nvSpPr>
        <p:spPr>
          <a:xfrm>
            <a:off x="822960" y="2724912"/>
            <a:ext cx="493776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F637B"/>
                </a:solidFill>
                <a:latin typeface="Calibri" pitchFamily="34" charset="0"/>
                <a:ea typeface="Calibri" pitchFamily="34" charset="-122"/>
                <a:cs typeface="Calibri" pitchFamily="34" charset="-120"/>
              </a:rPr>
              <a:t>Chuyển chữ thường (lowercase).</a:t>
            </a:r>
            <a:endParaRPr lang="en-US" sz="1400" dirty="0"/>
          </a:p>
          <a:p>
            <a:pPr marL="342900" indent="-342900">
              <a:spcAft>
                <a:spcPts val="600"/>
              </a:spcAft>
              <a:buSzPct val="100000"/>
              <a:buChar char="•"/>
            </a:pPr>
            <a:r>
              <a:rPr lang="en-US" sz="1400" dirty="0">
                <a:solidFill>
                  <a:srgbClr val="4F637B"/>
                </a:solidFill>
                <a:latin typeface="Calibri" pitchFamily="34" charset="0"/>
                <a:ea typeface="Calibri" pitchFamily="34" charset="-122"/>
                <a:cs typeface="Calibri" pitchFamily="34" charset="-120"/>
              </a:rPr>
              <a:t>Bỏ dấu câu cuối và ký tự đặc biệt.</a:t>
            </a:r>
            <a:endParaRPr lang="en-US" sz="1400" dirty="0"/>
          </a:p>
          <a:p>
            <a:pPr marL="342900" indent="-342900">
              <a:spcAft>
                <a:spcPts val="600"/>
              </a:spcAft>
              <a:buSzPct val="100000"/>
              <a:buChar char="•"/>
            </a:pPr>
            <a:r>
              <a:rPr lang="en-US" sz="1400" dirty="0">
                <a:solidFill>
                  <a:srgbClr val="4F637B"/>
                </a:solidFill>
                <a:latin typeface="Calibri" pitchFamily="34" charset="0"/>
                <a:ea typeface="Calibri" pitchFamily="34" charset="-122"/>
                <a:cs typeface="Calibri" pitchFamily="34" charset="-120"/>
              </a:rPr>
              <a:t>Gộp khoảng trắng thừa, rồi so sánh bằng “==”.</a:t>
            </a:r>
            <a:endParaRPr lang="en-US" sz="1400" dirty="0"/>
          </a:p>
        </p:txBody>
      </p:sp>
      <p:sp>
        <p:nvSpPr>
          <p:cNvPr id="11" name="Shape 8"/>
          <p:cNvSpPr/>
          <p:nvPr/>
        </p:nvSpPr>
        <p:spPr>
          <a:xfrm>
            <a:off x="6236208" y="2011680"/>
            <a:ext cx="5394960" cy="1975104"/>
          </a:xfrm>
          <a:prstGeom prst="roundRect">
            <a:avLst>
              <a:gd name="adj" fmla="val 4167"/>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sz="1400"/>
          </a:p>
        </p:txBody>
      </p:sp>
      <p:sp>
        <p:nvSpPr>
          <p:cNvPr id="12" name="Shape 9"/>
          <p:cNvSpPr/>
          <p:nvPr/>
        </p:nvSpPr>
        <p:spPr>
          <a:xfrm>
            <a:off x="6492240" y="2231136"/>
            <a:ext cx="329184" cy="329184"/>
          </a:xfrm>
          <a:prstGeom prst="ellipse">
            <a:avLst/>
          </a:prstGeom>
          <a:solidFill>
            <a:srgbClr val="6B33C7"/>
          </a:solidFill>
          <a:ln/>
        </p:spPr>
        <p:txBody>
          <a:bodyPr/>
          <a:lstStyle/>
          <a:p>
            <a:endParaRPr lang="en-US" sz="1400"/>
          </a:p>
        </p:txBody>
      </p:sp>
      <p:sp>
        <p:nvSpPr>
          <p:cNvPr id="13" name="Text 10"/>
          <p:cNvSpPr/>
          <p:nvPr/>
        </p:nvSpPr>
        <p:spPr>
          <a:xfrm>
            <a:off x="6492240" y="2231136"/>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6949440" y="2212848"/>
            <a:ext cx="4480560" cy="365760"/>
          </a:xfrm>
          <a:prstGeom prst="rect">
            <a:avLst/>
          </a:prstGeom>
          <a:noFill/>
          <a:ln/>
        </p:spPr>
        <p:txBody>
          <a:bodyPr wrap="square" lIns="0" tIns="0" rIns="0" bIns="0" rtlCol="0" anchor="ctr"/>
          <a:lstStyle/>
          <a:p>
            <a:pPr marL="0" indent="0">
              <a:buNone/>
            </a:pPr>
            <a:r>
              <a:rPr lang="en-US" sz="1400" b="1" dirty="0">
                <a:solidFill>
                  <a:srgbClr val="14243A"/>
                </a:solidFill>
                <a:latin typeface="Calibri" pitchFamily="34" charset="0"/>
                <a:ea typeface="Calibri" pitchFamily="34" charset="-122"/>
                <a:cs typeface="Calibri" pitchFamily="34" charset="-120"/>
              </a:rPr>
              <a:t>Tách câu đóng và câu mở</a:t>
            </a:r>
            <a:endParaRPr lang="en-US" sz="1400" dirty="0"/>
          </a:p>
        </p:txBody>
      </p:sp>
      <p:sp>
        <p:nvSpPr>
          <p:cNvPr id="15" name="Text 12"/>
          <p:cNvSpPr/>
          <p:nvPr/>
        </p:nvSpPr>
        <p:spPr>
          <a:xfrm>
            <a:off x="6492240" y="2724912"/>
            <a:ext cx="4937760" cy="1188720"/>
          </a:xfrm>
          <a:prstGeom prst="rect">
            <a:avLst/>
          </a:prstGeom>
          <a:noFill/>
          <a:ln/>
        </p:spPr>
        <p:txBody>
          <a:bodyPr wrap="square" lIns="0" tIns="0" rIns="0" bIns="0" rtlCol="0" anchor="ctr"/>
          <a:lstStyle/>
          <a:p>
            <a:pPr marL="0" indent="0">
              <a:lnSpc>
                <a:spcPct val="116000"/>
              </a:lnSpc>
              <a:buNone/>
            </a:pPr>
            <a:r>
              <a:rPr lang="en-US" sz="1400" b="1" dirty="0">
                <a:solidFill>
                  <a:srgbClr val="0B8457"/>
                </a:solidFill>
                <a:latin typeface="Calibri" pitchFamily="34" charset="0"/>
                <a:ea typeface="Calibri" pitchFamily="34" charset="-122"/>
                <a:cs typeface="Calibri" pitchFamily="34" charset="-120"/>
              </a:rPr>
              <a:t>Câu đóng  </a:t>
            </a:r>
            <a:r>
              <a:rPr lang="en-US" sz="1400" dirty="0">
                <a:solidFill>
                  <a:srgbClr val="4F637B"/>
                </a:solidFill>
                <a:latin typeface="Calibri" pitchFamily="34" charset="0"/>
                <a:ea typeface="Calibri" pitchFamily="34" charset="-122"/>
                <a:cs typeface="Calibri" pitchFamily="34" charset="-120"/>
              </a:rPr>
              <a:t>(answer ∈ {yes, no}) → đo như phân loại nhị phân y tế: EM closed + Sens/Spec/Balanced-Acc/AUC.</a:t>
            </a:r>
            <a:endParaRPr lang="en-US" sz="1400" dirty="0"/>
          </a:p>
          <a:p>
            <a:pPr marL="0" indent="0">
              <a:lnSpc>
                <a:spcPct val="116000"/>
              </a:lnSpc>
              <a:buNone/>
            </a:pPr>
            <a:r>
              <a:rPr lang="en-US" sz="1400" b="1" dirty="0">
                <a:solidFill>
                  <a:srgbClr val="B26A00"/>
                </a:solidFill>
                <a:latin typeface="Calibri" pitchFamily="34" charset="0"/>
                <a:ea typeface="Calibri" pitchFamily="34" charset="-122"/>
                <a:cs typeface="Calibri" pitchFamily="34" charset="-120"/>
              </a:rPr>
              <a:t>Câu mở  </a:t>
            </a:r>
            <a:r>
              <a:rPr lang="en-US" sz="1400" dirty="0">
                <a:solidFill>
                  <a:srgbClr val="4F637B"/>
                </a:solidFill>
                <a:latin typeface="Calibri" pitchFamily="34" charset="0"/>
                <a:ea typeface="Calibri" pitchFamily="34" charset="-122"/>
                <a:cs typeface="Calibri" pitchFamily="34" charset="-120"/>
              </a:rPr>
              <a:t>(còn lại, tự do — “right lung”, “pneumonia”, “2 cm”) → cần thước đo mềm hơn EM: Token-F1 và Semantic.</a:t>
            </a:r>
            <a:endParaRPr lang="en-US" sz="1400" dirty="0"/>
          </a:p>
        </p:txBody>
      </p:sp>
      <p:sp>
        <p:nvSpPr>
          <p:cNvPr id="16" name="Text 13"/>
          <p:cNvSpPr/>
          <p:nvPr/>
        </p:nvSpPr>
        <p:spPr>
          <a:xfrm>
            <a:off x="566928" y="4187952"/>
            <a:ext cx="11057839" cy="274320"/>
          </a:xfrm>
          <a:prstGeom prst="rect">
            <a:avLst/>
          </a:prstGeom>
          <a:noFill/>
          <a:ln/>
        </p:spPr>
        <p:txBody>
          <a:bodyPr wrap="square" lIns="0" tIns="0" rIns="0" bIns="0" rtlCol="0" anchor="ctr"/>
          <a:lstStyle/>
          <a:p>
            <a:pPr marL="0" indent="0">
              <a:buNone/>
            </a:pPr>
            <a:r>
              <a:rPr lang="en-US" sz="1400" b="1" dirty="0">
                <a:solidFill>
                  <a:srgbClr val="14243A"/>
                </a:solidFill>
                <a:latin typeface="Calibri" pitchFamily="34" charset="0"/>
                <a:ea typeface="Calibri" pitchFamily="34" charset="-122"/>
                <a:cs typeface="Calibri" pitchFamily="34" charset="-120"/>
              </a:rPr>
              <a:t>Bộ cột đầy đủ — mọi run giống nhau</a:t>
            </a:r>
            <a:endParaRPr lang="en-US" sz="1400" dirty="0"/>
          </a:p>
        </p:txBody>
      </p:sp>
      <p:sp>
        <p:nvSpPr>
          <p:cNvPr id="17" name="Shape 14"/>
          <p:cNvSpPr/>
          <p:nvPr/>
        </p:nvSpPr>
        <p:spPr>
          <a:xfrm>
            <a:off x="566928" y="4535424"/>
            <a:ext cx="2682164" cy="1316736"/>
          </a:xfrm>
          <a:prstGeom prst="roundRect">
            <a:avLst>
              <a:gd name="adj" fmla="val 6250"/>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sz="1400"/>
          </a:p>
        </p:txBody>
      </p:sp>
      <p:sp>
        <p:nvSpPr>
          <p:cNvPr id="18" name="Text 15"/>
          <p:cNvSpPr/>
          <p:nvPr/>
        </p:nvSpPr>
        <p:spPr>
          <a:xfrm>
            <a:off x="768096" y="4700016"/>
            <a:ext cx="2279828" cy="274320"/>
          </a:xfrm>
          <a:prstGeom prst="rect">
            <a:avLst/>
          </a:prstGeom>
          <a:noFill/>
          <a:ln/>
        </p:spPr>
        <p:txBody>
          <a:bodyPr wrap="square" lIns="0" tIns="0" rIns="0" bIns="0" rtlCol="0" anchor="ctr"/>
          <a:lstStyle/>
          <a:p>
            <a:pPr marL="0" indent="0">
              <a:buNone/>
            </a:pPr>
            <a:r>
              <a:rPr lang="en-US" sz="1400" b="1" dirty="0">
                <a:solidFill>
                  <a:srgbClr val="1466C0"/>
                </a:solidFill>
                <a:latin typeface="Calibri" pitchFamily="34" charset="0"/>
                <a:ea typeface="Calibri" pitchFamily="34" charset="-122"/>
                <a:cs typeface="Calibri" pitchFamily="34" charset="-120"/>
              </a:rPr>
              <a:t>Accuracy</a:t>
            </a:r>
            <a:endParaRPr lang="en-US" sz="1400" dirty="0"/>
          </a:p>
        </p:txBody>
      </p:sp>
      <p:sp>
        <p:nvSpPr>
          <p:cNvPr id="19" name="Text 16"/>
          <p:cNvSpPr/>
          <p:nvPr/>
        </p:nvSpPr>
        <p:spPr>
          <a:xfrm>
            <a:off x="768096" y="5029200"/>
            <a:ext cx="2279828" cy="749808"/>
          </a:xfrm>
          <a:prstGeom prst="rect">
            <a:avLst/>
          </a:prstGeom>
          <a:noFill/>
          <a:ln/>
        </p:spPr>
        <p:txBody>
          <a:bodyPr wrap="square" lIns="0" tIns="0" rIns="0" bIns="0" rtlCol="0" anchor="ctr"/>
          <a:lstStyle/>
          <a:p>
            <a:pPr marL="0" indent="0">
              <a:lnSpc>
                <a:spcPct val="116000"/>
              </a:lnSpc>
              <a:buNone/>
            </a:pPr>
            <a:r>
              <a:rPr lang="en-US" sz="1400" dirty="0">
                <a:solidFill>
                  <a:srgbClr val="4F637B"/>
                </a:solidFill>
                <a:latin typeface="Courier New" pitchFamily="34" charset="0"/>
                <a:ea typeface="Courier New" pitchFamily="34" charset="-122"/>
                <a:cs typeface="Courier New" pitchFamily="34" charset="-120"/>
              </a:rPr>
              <a:t>em_overall · em_closed · em_open</a:t>
            </a:r>
            <a:endParaRPr lang="en-US" sz="1400" dirty="0"/>
          </a:p>
        </p:txBody>
      </p:sp>
      <p:sp>
        <p:nvSpPr>
          <p:cNvPr id="20" name="Shape 17"/>
          <p:cNvSpPr/>
          <p:nvPr/>
        </p:nvSpPr>
        <p:spPr>
          <a:xfrm>
            <a:off x="3358820" y="4535424"/>
            <a:ext cx="2682164" cy="1316736"/>
          </a:xfrm>
          <a:prstGeom prst="roundRect">
            <a:avLst>
              <a:gd name="adj" fmla="val 6250"/>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sz="1400"/>
          </a:p>
        </p:txBody>
      </p:sp>
      <p:sp>
        <p:nvSpPr>
          <p:cNvPr id="21" name="Text 18"/>
          <p:cNvSpPr/>
          <p:nvPr/>
        </p:nvSpPr>
        <p:spPr>
          <a:xfrm>
            <a:off x="3559988" y="4700016"/>
            <a:ext cx="2279828" cy="274320"/>
          </a:xfrm>
          <a:prstGeom prst="rect">
            <a:avLst/>
          </a:prstGeom>
          <a:noFill/>
          <a:ln/>
        </p:spPr>
        <p:txBody>
          <a:bodyPr wrap="square" lIns="0" tIns="0" rIns="0" bIns="0" rtlCol="0" anchor="ctr"/>
          <a:lstStyle/>
          <a:p>
            <a:pPr marL="0" indent="0">
              <a:buNone/>
            </a:pPr>
            <a:r>
              <a:rPr lang="en-US" sz="1400" b="1" dirty="0">
                <a:solidFill>
                  <a:srgbClr val="6B33C7"/>
                </a:solidFill>
                <a:latin typeface="Calibri" pitchFamily="34" charset="0"/>
                <a:ea typeface="Calibri" pitchFamily="34" charset="-122"/>
                <a:cs typeface="Calibri" pitchFamily="34" charset="-120"/>
              </a:rPr>
              <a:t>Generation</a:t>
            </a:r>
            <a:endParaRPr lang="en-US" sz="1400" dirty="0"/>
          </a:p>
        </p:txBody>
      </p:sp>
      <p:sp>
        <p:nvSpPr>
          <p:cNvPr id="22" name="Text 19"/>
          <p:cNvSpPr/>
          <p:nvPr/>
        </p:nvSpPr>
        <p:spPr>
          <a:xfrm>
            <a:off x="3559988" y="5029200"/>
            <a:ext cx="2279828" cy="749808"/>
          </a:xfrm>
          <a:prstGeom prst="rect">
            <a:avLst/>
          </a:prstGeom>
          <a:noFill/>
          <a:ln/>
        </p:spPr>
        <p:txBody>
          <a:bodyPr wrap="square" lIns="0" tIns="0" rIns="0" bIns="0" rtlCol="0" anchor="ctr"/>
          <a:lstStyle/>
          <a:p>
            <a:pPr marL="0" indent="0">
              <a:lnSpc>
                <a:spcPct val="116000"/>
              </a:lnSpc>
              <a:buNone/>
            </a:pPr>
            <a:r>
              <a:rPr lang="en-US" sz="1400" dirty="0">
                <a:solidFill>
                  <a:srgbClr val="4F637B"/>
                </a:solidFill>
                <a:latin typeface="Courier New" pitchFamily="34" charset="0"/>
                <a:ea typeface="Courier New" pitchFamily="34" charset="-122"/>
                <a:cs typeface="Courier New" pitchFamily="34" charset="-120"/>
              </a:rPr>
              <a:t>token_f1 · bleu1 · sem_open</a:t>
            </a:r>
            <a:endParaRPr lang="en-US" sz="1400" dirty="0"/>
          </a:p>
        </p:txBody>
      </p:sp>
      <p:sp>
        <p:nvSpPr>
          <p:cNvPr id="23" name="Shape 20"/>
          <p:cNvSpPr/>
          <p:nvPr/>
        </p:nvSpPr>
        <p:spPr>
          <a:xfrm>
            <a:off x="6150712" y="4535424"/>
            <a:ext cx="2682164" cy="1316736"/>
          </a:xfrm>
          <a:prstGeom prst="roundRect">
            <a:avLst>
              <a:gd name="adj" fmla="val 6250"/>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sz="1400"/>
          </a:p>
        </p:txBody>
      </p:sp>
      <p:sp>
        <p:nvSpPr>
          <p:cNvPr id="24" name="Text 21"/>
          <p:cNvSpPr/>
          <p:nvPr/>
        </p:nvSpPr>
        <p:spPr>
          <a:xfrm>
            <a:off x="6351880" y="4700016"/>
            <a:ext cx="2279828" cy="274320"/>
          </a:xfrm>
          <a:prstGeom prst="rect">
            <a:avLst/>
          </a:prstGeom>
          <a:noFill/>
          <a:ln/>
        </p:spPr>
        <p:txBody>
          <a:bodyPr wrap="square" lIns="0" tIns="0" rIns="0" bIns="0" rtlCol="0" anchor="ctr"/>
          <a:lstStyle/>
          <a:p>
            <a:pPr marL="0" indent="0">
              <a:buNone/>
            </a:pPr>
            <a:r>
              <a:rPr lang="en-US" sz="1400" b="1" dirty="0">
                <a:solidFill>
                  <a:srgbClr val="0B8457"/>
                </a:solidFill>
                <a:latin typeface="Calibri" pitchFamily="34" charset="0"/>
                <a:ea typeface="Calibri" pitchFamily="34" charset="-122"/>
                <a:cs typeface="Calibri" pitchFamily="34" charset="-120"/>
              </a:rPr>
              <a:t>Lâm sàng</a:t>
            </a:r>
            <a:endParaRPr lang="en-US" sz="1400" dirty="0"/>
          </a:p>
        </p:txBody>
      </p:sp>
      <p:sp>
        <p:nvSpPr>
          <p:cNvPr id="25" name="Text 22"/>
          <p:cNvSpPr/>
          <p:nvPr/>
        </p:nvSpPr>
        <p:spPr>
          <a:xfrm>
            <a:off x="6351880" y="5029200"/>
            <a:ext cx="2279828" cy="749808"/>
          </a:xfrm>
          <a:prstGeom prst="rect">
            <a:avLst/>
          </a:prstGeom>
          <a:noFill/>
          <a:ln/>
        </p:spPr>
        <p:txBody>
          <a:bodyPr wrap="square" lIns="0" tIns="0" rIns="0" bIns="0" rtlCol="0" anchor="ctr"/>
          <a:lstStyle/>
          <a:p>
            <a:pPr marL="0" indent="0">
              <a:lnSpc>
                <a:spcPct val="116000"/>
              </a:lnSpc>
              <a:buNone/>
            </a:pPr>
            <a:r>
              <a:rPr lang="en-US" sz="1400" dirty="0">
                <a:solidFill>
                  <a:srgbClr val="4F637B"/>
                </a:solidFill>
                <a:latin typeface="Courier New" pitchFamily="34" charset="0"/>
                <a:ea typeface="Courier New" pitchFamily="34" charset="-122"/>
                <a:cs typeface="Courier New" pitchFamily="34" charset="-120"/>
              </a:rPr>
              <a:t>sensitivity · specificity · balanced_acc · f1 · auc</a:t>
            </a:r>
            <a:endParaRPr lang="en-US" sz="1400" dirty="0"/>
          </a:p>
        </p:txBody>
      </p:sp>
      <p:sp>
        <p:nvSpPr>
          <p:cNvPr id="26" name="Shape 23"/>
          <p:cNvSpPr/>
          <p:nvPr/>
        </p:nvSpPr>
        <p:spPr>
          <a:xfrm>
            <a:off x="8942603" y="4535424"/>
            <a:ext cx="2682164" cy="1316736"/>
          </a:xfrm>
          <a:prstGeom prst="roundRect">
            <a:avLst>
              <a:gd name="adj" fmla="val 6250"/>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sz="1400"/>
          </a:p>
        </p:txBody>
      </p:sp>
      <p:sp>
        <p:nvSpPr>
          <p:cNvPr id="27" name="Text 24"/>
          <p:cNvSpPr/>
          <p:nvPr/>
        </p:nvSpPr>
        <p:spPr>
          <a:xfrm>
            <a:off x="9143771" y="4700016"/>
            <a:ext cx="2279828" cy="274320"/>
          </a:xfrm>
          <a:prstGeom prst="rect">
            <a:avLst/>
          </a:prstGeom>
          <a:noFill/>
          <a:ln/>
        </p:spPr>
        <p:txBody>
          <a:bodyPr wrap="square" lIns="0" tIns="0" rIns="0" bIns="0" rtlCol="0" anchor="ctr"/>
          <a:lstStyle/>
          <a:p>
            <a:pPr marL="0" indent="0">
              <a:buNone/>
            </a:pPr>
            <a:r>
              <a:rPr lang="en-US" sz="1400" b="1" dirty="0">
                <a:solidFill>
                  <a:srgbClr val="B26A00"/>
                </a:solidFill>
                <a:latin typeface="Calibri" pitchFamily="34" charset="0"/>
                <a:ea typeface="Calibri" pitchFamily="34" charset="-122"/>
                <a:cs typeface="Calibri" pitchFamily="34" charset="-120"/>
              </a:rPr>
              <a:t>Meta / chi phí</a:t>
            </a:r>
            <a:endParaRPr lang="en-US" sz="1400" dirty="0"/>
          </a:p>
        </p:txBody>
      </p:sp>
      <p:sp>
        <p:nvSpPr>
          <p:cNvPr id="28" name="Text 25"/>
          <p:cNvSpPr/>
          <p:nvPr/>
        </p:nvSpPr>
        <p:spPr>
          <a:xfrm>
            <a:off x="9143771" y="5029200"/>
            <a:ext cx="2279828" cy="749808"/>
          </a:xfrm>
          <a:prstGeom prst="rect">
            <a:avLst/>
          </a:prstGeom>
          <a:noFill/>
          <a:ln/>
        </p:spPr>
        <p:txBody>
          <a:bodyPr wrap="square" lIns="0" tIns="0" rIns="0" bIns="0" rtlCol="0" anchor="ctr"/>
          <a:lstStyle/>
          <a:p>
            <a:pPr marL="0" indent="0">
              <a:lnSpc>
                <a:spcPct val="116000"/>
              </a:lnSpc>
              <a:buNone/>
            </a:pPr>
            <a:r>
              <a:rPr lang="en-US" sz="1400" dirty="0">
                <a:solidFill>
                  <a:srgbClr val="4F637B"/>
                </a:solidFill>
                <a:latin typeface="Courier New" pitchFamily="34" charset="0"/>
                <a:ea typeface="Courier New" pitchFamily="34" charset="-122"/>
                <a:cs typeface="Courier New" pitchFamily="34" charset="-120"/>
              </a:rPr>
              <a:t>params_total · params_trainable · inference_time</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5 · BỘ CHỈ SỐ</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Exact Match và Token-F1</a:t>
            </a:r>
            <a:endParaRPr lang="en-US" sz="2900" dirty="0"/>
          </a:p>
        </p:txBody>
      </p:sp>
      <p:sp>
        <p:nvSpPr>
          <p:cNvPr id="5" name="Shape 2"/>
          <p:cNvSpPr/>
          <p:nvPr/>
        </p:nvSpPr>
        <p:spPr>
          <a:xfrm>
            <a:off x="566928" y="1426464"/>
            <a:ext cx="5394960" cy="4297680"/>
          </a:xfrm>
          <a:prstGeom prst="roundRect">
            <a:avLst>
              <a:gd name="adj" fmla="val 1915"/>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6" name="Shape 3"/>
          <p:cNvSpPr/>
          <p:nvPr/>
        </p:nvSpPr>
        <p:spPr>
          <a:xfrm>
            <a:off x="822960" y="1645920"/>
            <a:ext cx="329184" cy="329184"/>
          </a:xfrm>
          <a:prstGeom prst="ellipse">
            <a:avLst/>
          </a:prstGeom>
          <a:solidFill>
            <a:srgbClr val="1466C0"/>
          </a:solidFill>
          <a:ln/>
        </p:spPr>
        <p:txBody>
          <a:bodyPr/>
          <a:lstStyle/>
          <a:p>
            <a:endParaRPr lang="en-US"/>
          </a:p>
        </p:txBody>
      </p:sp>
      <p:sp>
        <p:nvSpPr>
          <p:cNvPr id="7" name="Text 4"/>
          <p:cNvSpPr/>
          <p:nvPr/>
        </p:nvSpPr>
        <p:spPr>
          <a:xfrm>
            <a:off x="822960" y="164592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EM</a:t>
            </a:r>
            <a:endParaRPr lang="en-US" sz="1300" dirty="0"/>
          </a:p>
        </p:txBody>
      </p:sp>
      <p:sp>
        <p:nvSpPr>
          <p:cNvPr id="8" name="Text 5"/>
          <p:cNvSpPr/>
          <p:nvPr/>
        </p:nvSpPr>
        <p:spPr>
          <a:xfrm>
            <a:off x="1280160" y="1627632"/>
            <a:ext cx="448056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Exact Match — chỉ số chính</a:t>
            </a:r>
            <a:endParaRPr lang="en-US" sz="1450" dirty="0"/>
          </a:p>
        </p:txBody>
      </p:sp>
      <p:sp>
        <p:nvSpPr>
          <p:cNvPr id="9" name="Shape 6"/>
          <p:cNvSpPr/>
          <p:nvPr/>
        </p:nvSpPr>
        <p:spPr>
          <a:xfrm>
            <a:off x="822960" y="2139696"/>
            <a:ext cx="4974336" cy="457200"/>
          </a:xfrm>
          <a:prstGeom prst="roundRect">
            <a:avLst>
              <a:gd name="adj" fmla="val 12000"/>
            </a:avLst>
          </a:prstGeom>
          <a:solidFill>
            <a:srgbClr val="F1F6FC"/>
          </a:solidFill>
          <a:ln w="12700">
            <a:solidFill>
              <a:srgbClr val="D3DEEA"/>
            </a:solidFill>
            <a:prstDash val="solid"/>
          </a:ln>
        </p:spPr>
        <p:txBody>
          <a:bodyPr/>
          <a:lstStyle/>
          <a:p>
            <a:endParaRPr lang="en-US"/>
          </a:p>
        </p:txBody>
      </p:sp>
      <p:sp>
        <p:nvSpPr>
          <p:cNvPr id="10" name="Text 7"/>
          <p:cNvSpPr/>
          <p:nvPr/>
        </p:nvSpPr>
        <p:spPr>
          <a:xfrm>
            <a:off x="950976" y="2139696"/>
            <a:ext cx="4718304" cy="457200"/>
          </a:xfrm>
          <a:prstGeom prst="rect">
            <a:avLst/>
          </a:prstGeom>
          <a:noFill/>
          <a:ln/>
        </p:spPr>
        <p:txBody>
          <a:bodyPr wrap="square" lIns="0" tIns="0" rIns="0" bIns="0" rtlCol="0" anchor="ctr"/>
          <a:lstStyle/>
          <a:p>
            <a:pPr marL="0" indent="0" algn="l">
              <a:buNone/>
            </a:pPr>
            <a:r>
              <a:rPr lang="en-US" sz="1150" b="1" dirty="0">
                <a:solidFill>
                  <a:srgbClr val="1466C0"/>
                </a:solidFill>
                <a:latin typeface="Courier New" pitchFamily="34" charset="0"/>
                <a:ea typeface="Courier New" pitchFamily="34" charset="-122"/>
                <a:cs typeface="Courier New" pitchFamily="34" charset="-120"/>
              </a:rPr>
              <a:t>em = Σ ( norm(ref) == norm(pred) ) / N</a:t>
            </a:r>
            <a:endParaRPr lang="en-US" sz="1150" dirty="0"/>
          </a:p>
        </p:txBody>
      </p:sp>
      <p:sp>
        <p:nvSpPr>
          <p:cNvPr id="11" name="Text 8"/>
          <p:cNvSpPr/>
          <p:nvPr/>
        </p:nvSpPr>
        <p:spPr>
          <a:xfrm>
            <a:off x="822960" y="2724912"/>
            <a:ext cx="4974336" cy="548640"/>
          </a:xfrm>
          <a:prstGeom prst="rect">
            <a:avLst/>
          </a:prstGeom>
          <a:noFill/>
          <a:ln/>
        </p:spPr>
        <p:txBody>
          <a:bodyPr wrap="square" lIns="0" tIns="0" rIns="0" bIns="0" rtlCol="0" anchor="ctr"/>
          <a:lstStyle/>
          <a:p>
            <a:pPr marL="0" indent="0">
              <a:lnSpc>
                <a:spcPct val="116000"/>
              </a:lnSpc>
              <a:buNone/>
            </a:pPr>
            <a:r>
              <a:rPr lang="en-US" sz="1200" dirty="0">
                <a:solidFill>
                  <a:srgbClr val="4F637B"/>
                </a:solidFill>
                <a:latin typeface="Calibri" pitchFamily="34" charset="0"/>
                <a:ea typeface="Calibri" pitchFamily="34" charset="-122"/>
                <a:cs typeface="Calibri" pitchFamily="34" charset="-120"/>
              </a:rPr>
              <a:t>Tỉ lệ câu trả lời khớp đúng từng ký tự với đáp án tham chiếu sau khi chuẩn hóa. Cài bằng Python thuần.</a:t>
            </a:r>
            <a:endParaRPr lang="en-US" sz="1200" dirty="0"/>
          </a:p>
        </p:txBody>
      </p:sp>
      <p:sp>
        <p:nvSpPr>
          <p:cNvPr id="12" name="Text 9"/>
          <p:cNvSpPr/>
          <p:nvPr/>
        </p:nvSpPr>
        <p:spPr>
          <a:xfrm>
            <a:off x="822960" y="3310128"/>
            <a:ext cx="4974336" cy="786384"/>
          </a:xfrm>
          <a:prstGeom prst="rect">
            <a:avLst/>
          </a:prstGeom>
          <a:noFill/>
          <a:ln/>
        </p:spPr>
        <p:txBody>
          <a:bodyPr wrap="square" lIns="0" tIns="0" rIns="0" bIns="0" rtlCol="0" anchor="ctr"/>
          <a:lstStyle/>
          <a:p>
            <a:pPr marL="0" indent="0">
              <a:lnSpc>
                <a:spcPct val="116000"/>
              </a:lnSpc>
              <a:buNone/>
            </a:pPr>
            <a:r>
              <a:rPr lang="en-US" sz="1200" b="1" dirty="0">
                <a:solidFill>
                  <a:srgbClr val="14243A"/>
                </a:solidFill>
                <a:latin typeface="Calibri" pitchFamily="34" charset="0"/>
                <a:ea typeface="Calibri" pitchFamily="34" charset="-122"/>
                <a:cs typeface="Calibri" pitchFamily="34" charset="-120"/>
              </a:rPr>
              <a:t>Ví dụ.  </a:t>
            </a:r>
            <a:r>
              <a:rPr lang="en-US" sz="1200" dirty="0">
                <a:solidFill>
                  <a:srgbClr val="4F637B"/>
                </a:solidFill>
                <a:latin typeface="Calibri" pitchFamily="34" charset="0"/>
                <a:ea typeface="Calibri" pitchFamily="34" charset="-122"/>
                <a:cs typeface="Calibri" pitchFamily="34" charset="-120"/>
              </a:rPr>
              <a:t>ref “yes” · pred “yes” → 1.  ref “right lung” · pred “left lung” → 0.  ref “pleural effusion” · pred “effusion” → 0 (thiếu một chữ là trượt).</a:t>
            </a:r>
            <a:endParaRPr lang="en-US" sz="1200" dirty="0"/>
          </a:p>
        </p:txBody>
      </p:sp>
      <p:sp>
        <p:nvSpPr>
          <p:cNvPr id="13" name="Shape 10"/>
          <p:cNvSpPr/>
          <p:nvPr/>
        </p:nvSpPr>
        <p:spPr>
          <a:xfrm>
            <a:off x="822960" y="4187952"/>
            <a:ext cx="4974336" cy="0"/>
          </a:xfrm>
          <a:prstGeom prst="line">
            <a:avLst/>
          </a:prstGeom>
          <a:noFill/>
          <a:ln w="12700">
            <a:solidFill>
              <a:srgbClr val="D3DEEA"/>
            </a:solidFill>
            <a:prstDash val="solid"/>
          </a:ln>
        </p:spPr>
        <p:txBody>
          <a:bodyPr/>
          <a:lstStyle/>
          <a:p>
            <a:endParaRPr lang="en-US"/>
          </a:p>
        </p:txBody>
      </p:sp>
      <p:sp>
        <p:nvSpPr>
          <p:cNvPr id="14" name="Text 11"/>
          <p:cNvSpPr/>
          <p:nvPr/>
        </p:nvSpPr>
        <p:spPr>
          <a:xfrm>
            <a:off x="822960" y="4334256"/>
            <a:ext cx="4974336" cy="1280160"/>
          </a:xfrm>
          <a:prstGeom prst="rect">
            <a:avLst/>
          </a:prstGeom>
          <a:noFill/>
          <a:ln/>
        </p:spPr>
        <p:txBody>
          <a:bodyPr wrap="square" lIns="0" tIns="0" rIns="0" bIns="0" rtlCol="0" anchor="ctr"/>
          <a:lstStyle/>
          <a:p>
            <a:pPr marL="0" indent="0">
              <a:lnSpc>
                <a:spcPct val="116000"/>
              </a:lnSpc>
              <a:buNone/>
            </a:pPr>
            <a:r>
              <a:rPr lang="en-US" sz="1200" b="1" dirty="0">
                <a:solidFill>
                  <a:srgbClr val="B26A00"/>
                </a:solidFill>
                <a:latin typeface="Calibri" pitchFamily="34" charset="0"/>
                <a:ea typeface="Calibri" pitchFamily="34" charset="-122"/>
                <a:cs typeface="Calibri" pitchFamily="34" charset="-120"/>
              </a:rPr>
              <a:t>Hạn chế.  </a:t>
            </a:r>
            <a:r>
              <a:rPr lang="en-US" sz="1200" dirty="0">
                <a:solidFill>
                  <a:srgbClr val="4F637B"/>
                </a:solidFill>
                <a:latin typeface="Calibri" pitchFamily="34" charset="0"/>
                <a:ea typeface="Calibri" pitchFamily="34" charset="-122"/>
                <a:cs typeface="Calibri" pitchFamily="34" charset="-120"/>
              </a:rPr>
              <a:t>Với câu mở, EM quá khắt khe — đúng gần hết vẫn bị 0. Trong kết quả, em_open gần như bằng 0 ở mọi mô hình; dùng để so câu đóng thì tốt, câu mở phải nhìn Token-F1 / Semantic.</a:t>
            </a:r>
            <a:endParaRPr lang="en-US" sz="1200" dirty="0"/>
          </a:p>
        </p:txBody>
      </p:sp>
      <p:sp>
        <p:nvSpPr>
          <p:cNvPr id="15" name="Shape 12"/>
          <p:cNvSpPr/>
          <p:nvPr/>
        </p:nvSpPr>
        <p:spPr>
          <a:xfrm>
            <a:off x="6236208" y="1426464"/>
            <a:ext cx="5394960" cy="4297680"/>
          </a:xfrm>
          <a:prstGeom prst="roundRect">
            <a:avLst>
              <a:gd name="adj" fmla="val 1915"/>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6" name="Shape 13"/>
          <p:cNvSpPr/>
          <p:nvPr/>
        </p:nvSpPr>
        <p:spPr>
          <a:xfrm>
            <a:off x="6492240" y="1645920"/>
            <a:ext cx="329184" cy="329184"/>
          </a:xfrm>
          <a:prstGeom prst="ellipse">
            <a:avLst/>
          </a:prstGeom>
          <a:solidFill>
            <a:srgbClr val="6B33C7"/>
          </a:solidFill>
          <a:ln/>
        </p:spPr>
        <p:txBody>
          <a:bodyPr/>
          <a:lstStyle/>
          <a:p>
            <a:endParaRPr lang="en-US"/>
          </a:p>
        </p:txBody>
      </p:sp>
      <p:sp>
        <p:nvSpPr>
          <p:cNvPr id="17" name="Text 14"/>
          <p:cNvSpPr/>
          <p:nvPr/>
        </p:nvSpPr>
        <p:spPr>
          <a:xfrm>
            <a:off x="6492240" y="164592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F1</a:t>
            </a:r>
            <a:endParaRPr lang="en-US" sz="1300" dirty="0"/>
          </a:p>
        </p:txBody>
      </p:sp>
      <p:sp>
        <p:nvSpPr>
          <p:cNvPr id="18" name="Text 15"/>
          <p:cNvSpPr/>
          <p:nvPr/>
        </p:nvSpPr>
        <p:spPr>
          <a:xfrm>
            <a:off x="6949440" y="1627632"/>
            <a:ext cx="448056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Token-F1 (kiểu SQuAD)</a:t>
            </a:r>
            <a:endParaRPr lang="en-US" sz="1450" dirty="0"/>
          </a:p>
        </p:txBody>
      </p:sp>
      <p:sp>
        <p:nvSpPr>
          <p:cNvPr id="19" name="Shape 16"/>
          <p:cNvSpPr/>
          <p:nvPr/>
        </p:nvSpPr>
        <p:spPr>
          <a:xfrm>
            <a:off x="6492240" y="2139696"/>
            <a:ext cx="4974336" cy="658368"/>
          </a:xfrm>
          <a:prstGeom prst="roundRect">
            <a:avLst>
              <a:gd name="adj" fmla="val 8333"/>
            </a:avLst>
          </a:prstGeom>
          <a:solidFill>
            <a:srgbClr val="F1F6FC"/>
          </a:solidFill>
          <a:ln w="12700">
            <a:solidFill>
              <a:srgbClr val="D3DEEA"/>
            </a:solidFill>
            <a:prstDash val="solid"/>
          </a:ln>
        </p:spPr>
        <p:txBody>
          <a:bodyPr/>
          <a:lstStyle/>
          <a:p>
            <a:endParaRPr lang="en-US"/>
          </a:p>
        </p:txBody>
      </p:sp>
      <p:sp>
        <p:nvSpPr>
          <p:cNvPr id="20" name="Text 17"/>
          <p:cNvSpPr/>
          <p:nvPr/>
        </p:nvSpPr>
        <p:spPr>
          <a:xfrm>
            <a:off x="6620256" y="2139696"/>
            <a:ext cx="4718304" cy="658368"/>
          </a:xfrm>
          <a:prstGeom prst="rect">
            <a:avLst/>
          </a:prstGeom>
          <a:noFill/>
          <a:ln/>
        </p:spPr>
        <p:txBody>
          <a:bodyPr wrap="square" lIns="0" tIns="0" rIns="0" bIns="0" rtlCol="0" anchor="ctr"/>
          <a:lstStyle/>
          <a:p>
            <a:pPr marL="0" indent="0" algn="l">
              <a:buNone/>
            </a:pPr>
            <a:r>
              <a:rPr lang="en-US" sz="1150" b="1" dirty="0">
                <a:solidFill>
                  <a:srgbClr val="6B33C7"/>
                </a:solidFill>
                <a:latin typeface="Courier New" pitchFamily="34" charset="0"/>
                <a:ea typeface="Courier New" pitchFamily="34" charset="-122"/>
                <a:cs typeface="Courier New" pitchFamily="34" charset="-120"/>
              </a:rPr>
              <a:t>P = |trùng| / |pred|</a:t>
            </a:r>
            <a:endParaRPr lang="en-US" sz="1150" dirty="0"/>
          </a:p>
          <a:p>
            <a:pPr marL="0" indent="0" algn="l">
              <a:buNone/>
            </a:pPr>
            <a:r>
              <a:rPr lang="en-US" sz="1150" b="1" dirty="0">
                <a:solidFill>
                  <a:srgbClr val="6B33C7"/>
                </a:solidFill>
                <a:latin typeface="Courier New" pitchFamily="34" charset="0"/>
                <a:ea typeface="Courier New" pitchFamily="34" charset="-122"/>
                <a:cs typeface="Courier New" pitchFamily="34" charset="-120"/>
              </a:rPr>
              <a:t>R = |trùng| / |ref|     F1 = 2·P·R / (P+R)</a:t>
            </a:r>
            <a:endParaRPr lang="en-US" sz="1150" dirty="0"/>
          </a:p>
        </p:txBody>
      </p:sp>
      <p:sp>
        <p:nvSpPr>
          <p:cNvPr id="21" name="Text 18"/>
          <p:cNvSpPr/>
          <p:nvPr/>
        </p:nvSpPr>
        <p:spPr>
          <a:xfrm>
            <a:off x="6492240" y="2926080"/>
            <a:ext cx="4974336" cy="566928"/>
          </a:xfrm>
          <a:prstGeom prst="rect">
            <a:avLst/>
          </a:prstGeom>
          <a:noFill/>
          <a:ln/>
        </p:spPr>
        <p:txBody>
          <a:bodyPr wrap="square" lIns="0" tIns="0" rIns="0" bIns="0" rtlCol="0" anchor="ctr"/>
          <a:lstStyle/>
          <a:p>
            <a:pPr marL="0" indent="0">
              <a:lnSpc>
                <a:spcPct val="116000"/>
              </a:lnSpc>
              <a:buNone/>
            </a:pPr>
            <a:r>
              <a:rPr lang="en-US" sz="1200" dirty="0">
                <a:solidFill>
                  <a:srgbClr val="4F637B"/>
                </a:solidFill>
                <a:latin typeface="Calibri" pitchFamily="34" charset="0"/>
                <a:ea typeface="Calibri" pitchFamily="34" charset="-122"/>
                <a:cs typeface="Calibri" pitchFamily="34" charset="-120"/>
              </a:rPr>
              <a:t>Đo mức trùng khớp cấp TỪ. Tách cả ref và pred thành tập từ (bag of words) rồi tính precision, recall, F1. Chỉ dùng cho câu mở.</a:t>
            </a:r>
            <a:endParaRPr lang="en-US" sz="1200" dirty="0"/>
          </a:p>
        </p:txBody>
      </p:sp>
      <p:sp>
        <p:nvSpPr>
          <p:cNvPr id="22" name="Text 19"/>
          <p:cNvSpPr/>
          <p:nvPr/>
        </p:nvSpPr>
        <p:spPr>
          <a:xfrm>
            <a:off x="6492240" y="3566160"/>
            <a:ext cx="4974336" cy="786384"/>
          </a:xfrm>
          <a:prstGeom prst="rect">
            <a:avLst/>
          </a:prstGeom>
          <a:noFill/>
          <a:ln/>
        </p:spPr>
        <p:txBody>
          <a:bodyPr wrap="square" lIns="0" tIns="0" rIns="0" bIns="0" rtlCol="0" anchor="ctr"/>
          <a:lstStyle/>
          <a:p>
            <a:pPr marL="0" indent="0">
              <a:lnSpc>
                <a:spcPct val="116000"/>
              </a:lnSpc>
              <a:buNone/>
            </a:pPr>
            <a:r>
              <a:rPr lang="en-US" sz="1200" b="1" dirty="0">
                <a:solidFill>
                  <a:srgbClr val="14243A"/>
                </a:solidFill>
                <a:latin typeface="Calibri" pitchFamily="34" charset="0"/>
                <a:ea typeface="Calibri" pitchFamily="34" charset="-122"/>
                <a:cs typeface="Calibri" pitchFamily="34" charset="-120"/>
              </a:rPr>
              <a:t>Ví dụ.  </a:t>
            </a:r>
            <a:r>
              <a:rPr lang="en-US" sz="1200" dirty="0">
                <a:solidFill>
                  <a:srgbClr val="4F637B"/>
                </a:solidFill>
                <a:latin typeface="Calibri" pitchFamily="34" charset="0"/>
                <a:ea typeface="Calibri" pitchFamily="34" charset="-122"/>
                <a:cs typeface="Calibri" pitchFamily="34" charset="-120"/>
              </a:rPr>
              <a:t>ref “left upper lobe” (3 từ) · pred “left lobe” (2 từ) → trùng 2. P = 2/2 = 1,0; R = 2/3 ≈ 0,67 → F1 ≈ 0,80.</a:t>
            </a:r>
            <a:endParaRPr lang="en-US" sz="1200" dirty="0"/>
          </a:p>
        </p:txBody>
      </p:sp>
      <p:sp>
        <p:nvSpPr>
          <p:cNvPr id="23" name="Shape 20"/>
          <p:cNvSpPr/>
          <p:nvPr/>
        </p:nvSpPr>
        <p:spPr>
          <a:xfrm>
            <a:off x="6492240" y="4407408"/>
            <a:ext cx="4974336" cy="0"/>
          </a:xfrm>
          <a:prstGeom prst="line">
            <a:avLst/>
          </a:prstGeom>
          <a:noFill/>
          <a:ln w="12700">
            <a:solidFill>
              <a:srgbClr val="D3DEEA"/>
            </a:solidFill>
            <a:prstDash val="solid"/>
          </a:ln>
        </p:spPr>
        <p:txBody>
          <a:bodyPr/>
          <a:lstStyle/>
          <a:p>
            <a:endParaRPr lang="en-US"/>
          </a:p>
        </p:txBody>
      </p:sp>
      <p:sp>
        <p:nvSpPr>
          <p:cNvPr id="24" name="Text 21"/>
          <p:cNvSpPr/>
          <p:nvPr/>
        </p:nvSpPr>
        <p:spPr>
          <a:xfrm>
            <a:off x="6492240" y="4553712"/>
            <a:ext cx="4974336" cy="1097280"/>
          </a:xfrm>
          <a:prstGeom prst="rect">
            <a:avLst/>
          </a:prstGeom>
          <a:noFill/>
          <a:ln/>
        </p:spPr>
        <p:txBody>
          <a:bodyPr wrap="square" lIns="0" tIns="0" rIns="0" bIns="0" rtlCol="0" anchor="ctr"/>
          <a:lstStyle/>
          <a:p>
            <a:pPr marL="0" indent="0">
              <a:lnSpc>
                <a:spcPct val="116000"/>
              </a:lnSpc>
              <a:buNone/>
            </a:pPr>
            <a:r>
              <a:rPr lang="en-US" sz="1200" b="1" dirty="0">
                <a:solidFill>
                  <a:srgbClr val="0B8457"/>
                </a:solidFill>
                <a:latin typeface="Calibri" pitchFamily="34" charset="0"/>
                <a:ea typeface="Calibri" pitchFamily="34" charset="-122"/>
                <a:cs typeface="Calibri" pitchFamily="34" charset="-120"/>
              </a:rPr>
              <a:t>Vai trò.  </a:t>
            </a:r>
            <a:r>
              <a:rPr lang="en-US" sz="1200" dirty="0">
                <a:solidFill>
                  <a:srgbClr val="4F637B"/>
                </a:solidFill>
                <a:latin typeface="Calibri" pitchFamily="34" charset="0"/>
                <a:ea typeface="Calibri" pitchFamily="34" charset="-122"/>
                <a:cs typeface="Calibri" pitchFamily="34" charset="-120"/>
              </a:rPr>
              <a:t>Là thước đo bề mặt tốt hơn EM cho câu mở — thấy được mô hình “đúng một phần”. Nhưng vẫn không hiểu từ đồng nghĩa (cần Semantic).</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6B33C7"/>
                </a:solidFill>
                <a:latin typeface="Calibri" pitchFamily="34" charset="0"/>
                <a:ea typeface="Calibri" pitchFamily="34" charset="-122"/>
                <a:cs typeface="Calibri" pitchFamily="34" charset="-120"/>
              </a:rPr>
              <a:t>PHẦN 5 · BỘ CHỈ SỐ</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BLEU-1 và Semantic Similarity</a:t>
            </a:r>
            <a:endParaRPr lang="en-US" sz="2900" dirty="0"/>
          </a:p>
        </p:txBody>
      </p:sp>
      <p:sp>
        <p:nvSpPr>
          <p:cNvPr id="5" name="Shape 2"/>
          <p:cNvSpPr/>
          <p:nvPr/>
        </p:nvSpPr>
        <p:spPr>
          <a:xfrm>
            <a:off x="566928" y="1426464"/>
            <a:ext cx="5394960" cy="4297680"/>
          </a:xfrm>
          <a:prstGeom prst="roundRect">
            <a:avLst>
              <a:gd name="adj" fmla="val 1915"/>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6" name="Shape 3"/>
          <p:cNvSpPr/>
          <p:nvPr/>
        </p:nvSpPr>
        <p:spPr>
          <a:xfrm>
            <a:off x="822960" y="1645920"/>
            <a:ext cx="329184" cy="329184"/>
          </a:xfrm>
          <a:prstGeom prst="ellipse">
            <a:avLst/>
          </a:prstGeom>
          <a:solidFill>
            <a:srgbClr val="8494A8"/>
          </a:solidFill>
          <a:ln/>
        </p:spPr>
        <p:txBody>
          <a:bodyPr/>
          <a:lstStyle/>
          <a:p>
            <a:endParaRPr lang="en-US"/>
          </a:p>
        </p:txBody>
      </p:sp>
      <p:sp>
        <p:nvSpPr>
          <p:cNvPr id="7" name="Text 4"/>
          <p:cNvSpPr/>
          <p:nvPr/>
        </p:nvSpPr>
        <p:spPr>
          <a:xfrm>
            <a:off x="822960" y="164592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8" name="Text 5"/>
          <p:cNvSpPr/>
          <p:nvPr/>
        </p:nvSpPr>
        <p:spPr>
          <a:xfrm>
            <a:off x="1280160" y="1627632"/>
            <a:ext cx="448056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BLEU-1 (chỉ số phụ)</a:t>
            </a:r>
            <a:endParaRPr lang="en-US" sz="1450" dirty="0"/>
          </a:p>
        </p:txBody>
      </p:sp>
      <p:sp>
        <p:nvSpPr>
          <p:cNvPr id="9" name="Shape 6"/>
          <p:cNvSpPr/>
          <p:nvPr/>
        </p:nvSpPr>
        <p:spPr>
          <a:xfrm>
            <a:off x="822960" y="2139696"/>
            <a:ext cx="4974336" cy="457200"/>
          </a:xfrm>
          <a:prstGeom prst="roundRect">
            <a:avLst>
              <a:gd name="adj" fmla="val 12000"/>
            </a:avLst>
          </a:prstGeom>
          <a:solidFill>
            <a:srgbClr val="F1F6FC"/>
          </a:solidFill>
          <a:ln w="12700">
            <a:solidFill>
              <a:srgbClr val="D3DEEA"/>
            </a:solidFill>
            <a:prstDash val="solid"/>
          </a:ln>
        </p:spPr>
        <p:txBody>
          <a:bodyPr/>
          <a:lstStyle/>
          <a:p>
            <a:endParaRPr lang="en-US"/>
          </a:p>
        </p:txBody>
      </p:sp>
      <p:sp>
        <p:nvSpPr>
          <p:cNvPr id="10" name="Text 7"/>
          <p:cNvSpPr/>
          <p:nvPr/>
        </p:nvSpPr>
        <p:spPr>
          <a:xfrm>
            <a:off x="950976" y="2139696"/>
            <a:ext cx="4718304" cy="457200"/>
          </a:xfrm>
          <a:prstGeom prst="rect">
            <a:avLst/>
          </a:prstGeom>
          <a:noFill/>
          <a:ln/>
        </p:spPr>
        <p:txBody>
          <a:bodyPr wrap="square" lIns="0" tIns="0" rIns="0" bIns="0" rtlCol="0" anchor="ctr"/>
          <a:lstStyle/>
          <a:p>
            <a:pPr marL="0" indent="0" algn="l">
              <a:buNone/>
            </a:pPr>
            <a:r>
              <a:rPr lang="en-US" sz="1150" b="1" dirty="0">
                <a:solidFill>
                  <a:srgbClr val="14243A"/>
                </a:solidFill>
                <a:latin typeface="Courier New" pitchFamily="34" charset="0"/>
                <a:ea typeface="Courier New" pitchFamily="34" charset="-122"/>
                <a:cs typeface="Courier New" pitchFamily="34" charset="-120"/>
              </a:rPr>
              <a:t>BLEU-1 = BP × (token pred trùng ref, clip) / |pred|</a:t>
            </a:r>
            <a:endParaRPr lang="en-US" sz="1150" dirty="0"/>
          </a:p>
        </p:txBody>
      </p:sp>
      <p:sp>
        <p:nvSpPr>
          <p:cNvPr id="11" name="Text 8"/>
          <p:cNvSpPr/>
          <p:nvPr/>
        </p:nvSpPr>
        <p:spPr>
          <a:xfrm>
            <a:off x="822960" y="2724912"/>
            <a:ext cx="4974336" cy="603504"/>
          </a:xfrm>
          <a:prstGeom prst="rect">
            <a:avLst/>
          </a:prstGeom>
          <a:noFill/>
          <a:ln/>
        </p:spPr>
        <p:txBody>
          <a:bodyPr wrap="square" lIns="0" tIns="0" rIns="0" bIns="0" rtlCol="0" anchor="ctr"/>
          <a:lstStyle/>
          <a:p>
            <a:pPr marL="0" indent="0">
              <a:lnSpc>
                <a:spcPct val="116000"/>
              </a:lnSpc>
              <a:buNone/>
            </a:pPr>
            <a:r>
              <a:rPr lang="en-US" sz="1200" dirty="0">
                <a:solidFill>
                  <a:srgbClr val="4F637B"/>
                </a:solidFill>
                <a:latin typeface="Calibri" pitchFamily="34" charset="0"/>
                <a:ea typeface="Calibri" pitchFamily="34" charset="-122"/>
                <a:cs typeface="Calibri" pitchFamily="34" charset="-120"/>
              </a:rPr>
              <a:t>Unigram precision kèm phạt độ dài (Brevity Penalty) để mô hình không sinh câu quá ngắn nhằm ăn điểm. Cài Python thuần, không phụ thuộc nltk.</a:t>
            </a:r>
            <a:endParaRPr lang="en-US" sz="1200" dirty="0"/>
          </a:p>
        </p:txBody>
      </p:sp>
      <p:sp>
        <p:nvSpPr>
          <p:cNvPr id="12" name="Text 9"/>
          <p:cNvSpPr/>
          <p:nvPr/>
        </p:nvSpPr>
        <p:spPr>
          <a:xfrm>
            <a:off x="822960" y="3383280"/>
            <a:ext cx="4974336" cy="640080"/>
          </a:xfrm>
          <a:prstGeom prst="rect">
            <a:avLst/>
          </a:prstGeom>
          <a:noFill/>
          <a:ln/>
        </p:spPr>
        <p:txBody>
          <a:bodyPr wrap="square" lIns="0" tIns="0" rIns="0" bIns="0" rtlCol="0" anchor="ctr"/>
          <a:lstStyle/>
          <a:p>
            <a:pPr marL="0" indent="0">
              <a:lnSpc>
                <a:spcPct val="116000"/>
              </a:lnSpc>
              <a:buNone/>
            </a:pPr>
            <a:r>
              <a:rPr lang="en-US" sz="1200" b="1" dirty="0">
                <a:solidFill>
                  <a:srgbClr val="14243A"/>
                </a:solidFill>
                <a:latin typeface="Calibri" pitchFamily="34" charset="0"/>
                <a:ea typeface="Calibri" pitchFamily="34" charset="-122"/>
                <a:cs typeface="Calibri" pitchFamily="34" charset="-120"/>
              </a:rPr>
              <a:t>Ví dụ.  </a:t>
            </a:r>
            <a:r>
              <a:rPr lang="en-US" sz="1200" dirty="0">
                <a:solidFill>
                  <a:srgbClr val="4F637B"/>
                </a:solidFill>
                <a:latin typeface="Calibri" pitchFamily="34" charset="0"/>
                <a:ea typeface="Calibri" pitchFamily="34" charset="-122"/>
                <a:cs typeface="Calibri" pitchFamily="34" charset="-120"/>
              </a:rPr>
              <a:t>ref “right lung” · pred “lung” → precision 1/1 nhưng pred ngắn hơn → BP phạt → điểm &lt; 1.</a:t>
            </a:r>
            <a:endParaRPr lang="en-US" sz="1200" dirty="0"/>
          </a:p>
        </p:txBody>
      </p:sp>
      <p:sp>
        <p:nvSpPr>
          <p:cNvPr id="13" name="Shape 10"/>
          <p:cNvSpPr/>
          <p:nvPr/>
        </p:nvSpPr>
        <p:spPr>
          <a:xfrm>
            <a:off x="822960" y="4114800"/>
            <a:ext cx="4974336" cy="0"/>
          </a:xfrm>
          <a:prstGeom prst="line">
            <a:avLst/>
          </a:prstGeom>
          <a:noFill/>
          <a:ln w="12700">
            <a:solidFill>
              <a:srgbClr val="D3DEEA"/>
            </a:solidFill>
            <a:prstDash val="solid"/>
          </a:ln>
        </p:spPr>
        <p:txBody>
          <a:bodyPr/>
          <a:lstStyle/>
          <a:p>
            <a:endParaRPr lang="en-US"/>
          </a:p>
        </p:txBody>
      </p:sp>
      <p:sp>
        <p:nvSpPr>
          <p:cNvPr id="14" name="Text 11"/>
          <p:cNvSpPr/>
          <p:nvPr/>
        </p:nvSpPr>
        <p:spPr>
          <a:xfrm>
            <a:off x="822960" y="4261104"/>
            <a:ext cx="4974336" cy="1371600"/>
          </a:xfrm>
          <a:prstGeom prst="rect">
            <a:avLst/>
          </a:prstGeom>
          <a:noFill/>
          <a:ln/>
        </p:spPr>
        <p:txBody>
          <a:bodyPr wrap="square" lIns="0" tIns="0" rIns="0" bIns="0" rtlCol="0" anchor="ctr"/>
          <a:lstStyle/>
          <a:p>
            <a:pPr marL="0" indent="0">
              <a:lnSpc>
                <a:spcPct val="116000"/>
              </a:lnSpc>
              <a:buNone/>
            </a:pPr>
            <a:r>
              <a:rPr lang="en-US" sz="1200" b="1" dirty="0">
                <a:solidFill>
                  <a:srgbClr val="B26A00"/>
                </a:solidFill>
                <a:latin typeface="Calibri" pitchFamily="34" charset="0"/>
                <a:ea typeface="Calibri" pitchFamily="34" charset="-122"/>
                <a:cs typeface="Calibri" pitchFamily="34" charset="-120"/>
              </a:rPr>
              <a:t>Lưu ý.  </a:t>
            </a:r>
            <a:r>
              <a:rPr lang="en-US" sz="1200" dirty="0">
                <a:solidFill>
                  <a:srgbClr val="4F637B"/>
                </a:solidFill>
                <a:latin typeface="Calibri" pitchFamily="34" charset="0"/>
                <a:ea typeface="Calibri" pitchFamily="34" charset="-122"/>
                <a:cs typeface="Calibri" pitchFamily="34" charset="-120"/>
              </a:rPr>
              <a:t>Đáp án VQA-RAD rất ngắn (1–3 từ) nên BLEU-1 gần trùng thông tin với Token-F1 và khá nhiễu → giữ làm phụ, không dùng làm chỉ số chính.</a:t>
            </a:r>
            <a:endParaRPr lang="en-US" sz="1200" dirty="0"/>
          </a:p>
        </p:txBody>
      </p:sp>
      <p:sp>
        <p:nvSpPr>
          <p:cNvPr id="15" name="Shape 12"/>
          <p:cNvSpPr/>
          <p:nvPr/>
        </p:nvSpPr>
        <p:spPr>
          <a:xfrm>
            <a:off x="6236208" y="1426464"/>
            <a:ext cx="5394960" cy="4297680"/>
          </a:xfrm>
          <a:prstGeom prst="roundRect">
            <a:avLst>
              <a:gd name="adj" fmla="val 1915"/>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6" name="Shape 13"/>
          <p:cNvSpPr/>
          <p:nvPr/>
        </p:nvSpPr>
        <p:spPr>
          <a:xfrm>
            <a:off x="6492240" y="1645920"/>
            <a:ext cx="329184" cy="329184"/>
          </a:xfrm>
          <a:prstGeom prst="ellipse">
            <a:avLst/>
          </a:prstGeom>
          <a:solidFill>
            <a:srgbClr val="0B8457"/>
          </a:solidFill>
          <a:ln/>
        </p:spPr>
        <p:txBody>
          <a:bodyPr/>
          <a:lstStyle/>
          <a:p>
            <a:endParaRPr lang="en-US"/>
          </a:p>
        </p:txBody>
      </p:sp>
      <p:sp>
        <p:nvSpPr>
          <p:cNvPr id="17" name="Text 14"/>
          <p:cNvSpPr/>
          <p:nvPr/>
        </p:nvSpPr>
        <p:spPr>
          <a:xfrm>
            <a:off x="6492240" y="164592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a:t>
            </a:r>
            <a:endParaRPr lang="en-US" sz="1300" dirty="0"/>
          </a:p>
        </p:txBody>
      </p:sp>
      <p:sp>
        <p:nvSpPr>
          <p:cNvPr id="18" name="Text 15"/>
          <p:cNvSpPr/>
          <p:nvPr/>
        </p:nvSpPr>
        <p:spPr>
          <a:xfrm>
            <a:off x="6949440" y="1627632"/>
            <a:ext cx="448056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Semantic Similarity (điểm nhấn)</a:t>
            </a:r>
            <a:endParaRPr lang="en-US" sz="1450" dirty="0"/>
          </a:p>
        </p:txBody>
      </p:sp>
      <p:sp>
        <p:nvSpPr>
          <p:cNvPr id="19" name="Shape 16"/>
          <p:cNvSpPr/>
          <p:nvPr/>
        </p:nvSpPr>
        <p:spPr>
          <a:xfrm>
            <a:off x="6492240" y="2139696"/>
            <a:ext cx="4974336" cy="457200"/>
          </a:xfrm>
          <a:prstGeom prst="roundRect">
            <a:avLst>
              <a:gd name="adj" fmla="val 12000"/>
            </a:avLst>
          </a:prstGeom>
          <a:solidFill>
            <a:srgbClr val="F1F6FC"/>
          </a:solidFill>
          <a:ln w="12700">
            <a:solidFill>
              <a:srgbClr val="D3DEEA"/>
            </a:solidFill>
            <a:prstDash val="solid"/>
          </a:ln>
        </p:spPr>
        <p:txBody>
          <a:bodyPr/>
          <a:lstStyle/>
          <a:p>
            <a:endParaRPr lang="en-US"/>
          </a:p>
        </p:txBody>
      </p:sp>
      <p:sp>
        <p:nvSpPr>
          <p:cNvPr id="20" name="Text 17"/>
          <p:cNvSpPr/>
          <p:nvPr/>
        </p:nvSpPr>
        <p:spPr>
          <a:xfrm>
            <a:off x="6620256" y="2139696"/>
            <a:ext cx="4718304" cy="457200"/>
          </a:xfrm>
          <a:prstGeom prst="rect">
            <a:avLst/>
          </a:prstGeom>
          <a:noFill/>
          <a:ln/>
        </p:spPr>
        <p:txBody>
          <a:bodyPr wrap="square" lIns="0" tIns="0" rIns="0" bIns="0" rtlCol="0" anchor="ctr"/>
          <a:lstStyle/>
          <a:p>
            <a:pPr marL="0" indent="0" algn="l">
              <a:buNone/>
            </a:pPr>
            <a:r>
              <a:rPr lang="en-US" sz="1150" b="1" dirty="0">
                <a:solidFill>
                  <a:srgbClr val="0B8457"/>
                </a:solidFill>
                <a:latin typeface="Courier New" pitchFamily="34" charset="0"/>
                <a:ea typeface="Courier New" pitchFamily="34" charset="-122"/>
                <a:cs typeface="Courier New" pitchFamily="34" charset="-120"/>
              </a:rPr>
              <a:t>sem = trung bình cosine( emb(ref), emb(pred) )</a:t>
            </a:r>
            <a:endParaRPr lang="en-US" sz="1150" dirty="0"/>
          </a:p>
        </p:txBody>
      </p:sp>
      <p:sp>
        <p:nvSpPr>
          <p:cNvPr id="21" name="Text 18"/>
          <p:cNvSpPr/>
          <p:nvPr/>
        </p:nvSpPr>
        <p:spPr>
          <a:xfrm>
            <a:off x="6492240" y="2724912"/>
            <a:ext cx="4974336" cy="603504"/>
          </a:xfrm>
          <a:prstGeom prst="rect">
            <a:avLst/>
          </a:prstGeom>
          <a:noFill/>
          <a:ln/>
        </p:spPr>
        <p:txBody>
          <a:bodyPr wrap="square" lIns="0" tIns="0" rIns="0" bIns="0" rtlCol="0" anchor="ctr"/>
          <a:lstStyle/>
          <a:p>
            <a:pPr marL="0" indent="0">
              <a:lnSpc>
                <a:spcPct val="116000"/>
              </a:lnSpc>
              <a:buNone/>
            </a:pPr>
            <a:r>
              <a:rPr lang="en-US" sz="1200" dirty="0">
                <a:solidFill>
                  <a:srgbClr val="4F637B"/>
                </a:solidFill>
                <a:latin typeface="Calibri" pitchFamily="34" charset="0"/>
                <a:ea typeface="Calibri" pitchFamily="34" charset="-122"/>
                <a:cs typeface="Calibri" pitchFamily="34" charset="-120"/>
              </a:rPr>
              <a:t>Dùng SentenceTransformer all-MiniLM-L6-v2: nhúng ref và pred (đã chuẩn hóa L2), cosine = tích vô hướng, rồi lấy trung bình trên toàn bộ câu mở.</a:t>
            </a:r>
            <a:endParaRPr lang="en-US" sz="1200" dirty="0"/>
          </a:p>
        </p:txBody>
      </p:sp>
      <p:sp>
        <p:nvSpPr>
          <p:cNvPr id="22" name="Text 19"/>
          <p:cNvSpPr/>
          <p:nvPr/>
        </p:nvSpPr>
        <p:spPr>
          <a:xfrm>
            <a:off x="6492240" y="3383280"/>
            <a:ext cx="4974336" cy="786384"/>
          </a:xfrm>
          <a:prstGeom prst="rect">
            <a:avLst/>
          </a:prstGeom>
          <a:noFill/>
          <a:ln/>
        </p:spPr>
        <p:txBody>
          <a:bodyPr wrap="square" lIns="0" tIns="0" rIns="0" bIns="0" rtlCol="0" anchor="ctr"/>
          <a:lstStyle/>
          <a:p>
            <a:pPr marL="0" indent="0">
              <a:lnSpc>
                <a:spcPct val="116000"/>
              </a:lnSpc>
              <a:buNone/>
            </a:pPr>
            <a:r>
              <a:rPr lang="en-US" sz="1200" b="1" dirty="0">
                <a:solidFill>
                  <a:srgbClr val="14243A"/>
                </a:solidFill>
                <a:latin typeface="Calibri" pitchFamily="34" charset="0"/>
                <a:ea typeface="Calibri" pitchFamily="34" charset="-122"/>
                <a:cs typeface="Calibri" pitchFamily="34" charset="-120"/>
              </a:rPr>
              <a:t>Ví dụ.  </a:t>
            </a:r>
            <a:r>
              <a:rPr lang="en-US" sz="1200" dirty="0">
                <a:solidFill>
                  <a:srgbClr val="4F637B"/>
                </a:solidFill>
                <a:latin typeface="Calibri" pitchFamily="34" charset="0"/>
                <a:ea typeface="Calibri" pitchFamily="34" charset="-122"/>
                <a:cs typeface="Calibri" pitchFamily="34" charset="-120"/>
              </a:rPr>
              <a:t>ref “pneumonia” · pred “infection” → EM = 0, F1 = 0, nhưng semantic ≈ 0,6–0,7 (gần nghĩa). ref “left lung” · pred “lung on the left” → ≈ 0,9.</a:t>
            </a:r>
            <a:endParaRPr lang="en-US" sz="1200" dirty="0"/>
          </a:p>
        </p:txBody>
      </p:sp>
      <p:sp>
        <p:nvSpPr>
          <p:cNvPr id="23" name="Shape 20"/>
          <p:cNvSpPr/>
          <p:nvPr/>
        </p:nvSpPr>
        <p:spPr>
          <a:xfrm>
            <a:off x="6492240" y="4261104"/>
            <a:ext cx="4974336" cy="0"/>
          </a:xfrm>
          <a:prstGeom prst="line">
            <a:avLst/>
          </a:prstGeom>
          <a:noFill/>
          <a:ln w="12700">
            <a:solidFill>
              <a:srgbClr val="D3DEEA"/>
            </a:solidFill>
            <a:prstDash val="solid"/>
          </a:ln>
        </p:spPr>
        <p:txBody>
          <a:bodyPr/>
          <a:lstStyle/>
          <a:p>
            <a:endParaRPr lang="en-US"/>
          </a:p>
        </p:txBody>
      </p:sp>
      <p:sp>
        <p:nvSpPr>
          <p:cNvPr id="24" name="Text 21"/>
          <p:cNvSpPr/>
          <p:nvPr/>
        </p:nvSpPr>
        <p:spPr>
          <a:xfrm>
            <a:off x="6492240" y="4407408"/>
            <a:ext cx="4974336" cy="1243584"/>
          </a:xfrm>
          <a:prstGeom prst="rect">
            <a:avLst/>
          </a:prstGeom>
          <a:noFill/>
          <a:ln/>
        </p:spPr>
        <p:txBody>
          <a:bodyPr wrap="square" lIns="0" tIns="0" rIns="0" bIns="0" rtlCol="0" anchor="ctr"/>
          <a:lstStyle/>
          <a:p>
            <a:pPr marL="0" indent="0">
              <a:lnSpc>
                <a:spcPct val="116000"/>
              </a:lnSpc>
              <a:buNone/>
            </a:pPr>
            <a:r>
              <a:rPr lang="en-US" sz="1200" b="1" dirty="0">
                <a:solidFill>
                  <a:srgbClr val="0B8457"/>
                </a:solidFill>
                <a:latin typeface="Calibri" pitchFamily="34" charset="0"/>
                <a:ea typeface="Calibri" pitchFamily="34" charset="-122"/>
                <a:cs typeface="Calibri" pitchFamily="34" charset="-120"/>
              </a:rPr>
              <a:t>Vì sao thêm.  </a:t>
            </a:r>
            <a:r>
              <a:rPr lang="en-US" sz="1200" dirty="0">
                <a:solidFill>
                  <a:srgbClr val="4F637B"/>
                </a:solidFill>
                <a:latin typeface="Calibri" pitchFamily="34" charset="0"/>
                <a:ea typeface="Calibri" pitchFamily="34" charset="-122"/>
                <a:cs typeface="Calibri" pitchFamily="34" charset="-120"/>
              </a:rPr>
              <a:t>EM-open bằng 0 ở mọi mô hình che mất khác biệt; Semantic cho điểm theo nghĩa → các mô hình tách hạng rõ ràng. Chỉ tính lúc eval; lỗi tải model → null, không hỏng pipeline.</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5 · BỘ CHỈ SỐ</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Chỉ số lâm sàng (yes/no) và cách tính p_yes</a:t>
            </a:r>
            <a:endParaRPr lang="en-US" sz="2900" dirty="0"/>
          </a:p>
        </p:txBody>
      </p:sp>
      <p:sp>
        <p:nvSpPr>
          <p:cNvPr id="5" name="Text 2"/>
          <p:cNvSpPr/>
          <p:nvPr/>
        </p:nvSpPr>
        <p:spPr>
          <a:xfrm>
            <a:off x="566928" y="1353312"/>
            <a:ext cx="11057839" cy="384048"/>
          </a:xfrm>
          <a:prstGeom prst="rect">
            <a:avLst/>
          </a:prstGeom>
          <a:noFill/>
          <a:ln/>
        </p:spPr>
        <p:txBody>
          <a:bodyPr wrap="square" lIns="0" tIns="0" rIns="0" bIns="0" rtlCol="0" anchor="ctr"/>
          <a:lstStyle/>
          <a:p>
            <a:pPr marL="0" indent="0">
              <a:lnSpc>
                <a:spcPct val="114000"/>
              </a:lnSpc>
              <a:buNone/>
            </a:pPr>
            <a:r>
              <a:rPr lang="en-US" sz="1300" dirty="0">
                <a:solidFill>
                  <a:srgbClr val="4F637B"/>
                </a:solidFill>
                <a:latin typeface="Calibri" pitchFamily="34" charset="0"/>
                <a:ea typeface="Calibri" pitchFamily="34" charset="-122"/>
                <a:cs typeface="Calibri" pitchFamily="34" charset="-120"/>
              </a:rPr>
              <a:t>Tính trên tập con câu đóng bằng scikit-learn: lấy yes làm lớp dương (1), no là âm (0); từ ma trận nhầm lẫn suy ra các chỉ số truyền thống.</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104701261"/>
              </p:ext>
            </p:extLst>
          </p:nvPr>
        </p:nvGraphicFramePr>
        <p:xfrm>
          <a:off x="566928" y="1828800"/>
          <a:ext cx="6583680" cy="2468880"/>
        </p:xfrm>
        <a:graphic>
          <a:graphicData uri="http://schemas.openxmlformats.org/drawingml/2006/table">
            <a:tbl>
              <a:tblPr/>
              <a:tblGrid>
                <a:gridCol w="17373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10896">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Chỉ số</a:t>
                      </a:r>
                      <a:endParaRPr lang="en-US" sz="12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Công thức</a:t>
                      </a:r>
                      <a:endParaRPr lang="en-US" sz="12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Ý nghĩa</a:t>
                      </a:r>
                      <a:endParaRPr lang="en-US" sz="12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extLst>
                  <a:ext uri="{0D108BD9-81ED-4DB2-BD59-A6C34878D82A}">
                    <a16:rowId xmlns:a16="http://schemas.microsoft.com/office/drawing/2014/main" val="10000"/>
                  </a:ext>
                </a:extLst>
              </a:tr>
              <a:tr h="310896">
                <a:tc>
                  <a:txBody>
                    <a:bodyPr/>
                    <a:lstStyle/>
                    <a:p>
                      <a:pPr marL="0" indent="0" algn="l">
                        <a:buNone/>
                      </a:pPr>
                      <a:r>
                        <a:rPr lang="en-US" sz="1200" b="1" dirty="0">
                          <a:solidFill>
                            <a:srgbClr val="14243A"/>
                          </a:solidFill>
                          <a:latin typeface="Courier New" pitchFamily="34" charset="0"/>
                          <a:ea typeface="Courier New" pitchFamily="34" charset="-122"/>
                          <a:cs typeface="Courier New" pitchFamily="34" charset="-120"/>
                        </a:rPr>
                        <a:t>clin_sensitivity</a:t>
                      </a:r>
                      <a:endParaRPr lang="en-US" sz="1200" dirty="0">
                        <a:latin typeface="Courier New" charset="0"/>
                        <a:ea typeface="Courier New" charset="0"/>
                        <a:cs typeface="Courier New"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200" dirty="0">
                          <a:solidFill>
                            <a:srgbClr val="4F637B"/>
                          </a:solidFill>
                          <a:latin typeface="Courier New" pitchFamily="34" charset="0"/>
                          <a:ea typeface="Courier New" pitchFamily="34" charset="-122"/>
                          <a:cs typeface="Courier New" pitchFamily="34" charset="-120"/>
                        </a:rPr>
                        <a:t>TP / (TP+FN)</a:t>
                      </a:r>
                      <a:endParaRPr lang="en-US" sz="1200" dirty="0">
                        <a:latin typeface="Courier New" charset="0"/>
                        <a:ea typeface="Courier New" charset="0"/>
                        <a:cs typeface="Courier New"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200" dirty="0">
                          <a:solidFill>
                            <a:srgbClr val="4F637B"/>
                          </a:solidFill>
                          <a:latin typeface="Calibri" pitchFamily="34" charset="0"/>
                          <a:ea typeface="Calibri" pitchFamily="34" charset="-122"/>
                          <a:cs typeface="Calibri" pitchFamily="34" charset="-120"/>
                        </a:rPr>
                        <a:t>Bắt đúng bao nhiêu ca “yes” (recall lớp yes)</a:t>
                      </a:r>
                      <a:endParaRPr lang="en-US" sz="12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1"/>
                  </a:ext>
                </a:extLst>
              </a:tr>
              <a:tr h="310896">
                <a:tc>
                  <a:txBody>
                    <a:bodyPr/>
                    <a:lstStyle/>
                    <a:p>
                      <a:pPr marL="0" indent="0" algn="l">
                        <a:buNone/>
                      </a:pPr>
                      <a:r>
                        <a:rPr lang="en-US" sz="1200" b="1" dirty="0">
                          <a:solidFill>
                            <a:srgbClr val="14243A"/>
                          </a:solidFill>
                          <a:latin typeface="Courier New" pitchFamily="34" charset="0"/>
                          <a:ea typeface="Courier New" pitchFamily="34" charset="-122"/>
                          <a:cs typeface="Courier New" pitchFamily="34" charset="-120"/>
                        </a:rPr>
                        <a:t>clin_specificity</a:t>
                      </a:r>
                      <a:endParaRPr lang="en-US" sz="1200" dirty="0">
                        <a:latin typeface="Courier New" charset="0"/>
                        <a:ea typeface="Courier New" charset="0"/>
                        <a:cs typeface="Courier New"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200" dirty="0">
                          <a:solidFill>
                            <a:srgbClr val="4F637B"/>
                          </a:solidFill>
                          <a:latin typeface="Courier New" pitchFamily="34" charset="0"/>
                          <a:ea typeface="Courier New" pitchFamily="34" charset="-122"/>
                          <a:cs typeface="Courier New" pitchFamily="34" charset="-120"/>
                        </a:rPr>
                        <a:t>TN / (TN+FP)</a:t>
                      </a:r>
                      <a:endParaRPr lang="en-US" sz="1200" dirty="0">
                        <a:latin typeface="Courier New" charset="0"/>
                        <a:ea typeface="Courier New" charset="0"/>
                        <a:cs typeface="Courier New"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200" dirty="0">
                          <a:solidFill>
                            <a:srgbClr val="4F637B"/>
                          </a:solidFill>
                          <a:latin typeface="Calibri" pitchFamily="34" charset="0"/>
                          <a:ea typeface="Calibri" pitchFamily="34" charset="-122"/>
                          <a:cs typeface="Calibri" pitchFamily="34" charset="-120"/>
                        </a:rPr>
                        <a:t>Bắt đúng bao nhiêu ca “no”</a:t>
                      </a:r>
                      <a:endParaRPr lang="en-US" sz="12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2"/>
                  </a:ext>
                </a:extLst>
              </a:tr>
              <a:tr h="310896">
                <a:tc>
                  <a:txBody>
                    <a:bodyPr/>
                    <a:lstStyle/>
                    <a:p>
                      <a:pPr marL="0" indent="0" algn="l">
                        <a:buNone/>
                      </a:pPr>
                      <a:r>
                        <a:rPr lang="en-US" sz="1200" b="1" dirty="0">
                          <a:solidFill>
                            <a:srgbClr val="14243A"/>
                          </a:solidFill>
                          <a:latin typeface="Courier New" pitchFamily="34" charset="0"/>
                          <a:ea typeface="Courier New" pitchFamily="34" charset="-122"/>
                          <a:cs typeface="Courier New" pitchFamily="34" charset="-120"/>
                        </a:rPr>
                        <a:t>clin_precision</a:t>
                      </a:r>
                      <a:endParaRPr lang="en-US" sz="1200" dirty="0">
                        <a:latin typeface="Courier New" charset="0"/>
                        <a:ea typeface="Courier New" charset="0"/>
                        <a:cs typeface="Courier New"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200" dirty="0">
                          <a:solidFill>
                            <a:srgbClr val="4F637B"/>
                          </a:solidFill>
                          <a:latin typeface="Courier New" pitchFamily="34" charset="0"/>
                          <a:ea typeface="Courier New" pitchFamily="34" charset="-122"/>
                          <a:cs typeface="Courier New" pitchFamily="34" charset="-120"/>
                        </a:rPr>
                        <a:t>TP / (TP+FP)</a:t>
                      </a:r>
                      <a:endParaRPr lang="en-US" sz="1200" dirty="0">
                        <a:latin typeface="Courier New" charset="0"/>
                        <a:ea typeface="Courier New" charset="0"/>
                        <a:cs typeface="Courier New"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200" dirty="0">
                          <a:solidFill>
                            <a:srgbClr val="4F637B"/>
                          </a:solidFill>
                          <a:latin typeface="Calibri" pitchFamily="34" charset="0"/>
                          <a:ea typeface="Calibri" pitchFamily="34" charset="-122"/>
                          <a:cs typeface="Calibri" pitchFamily="34" charset="-120"/>
                        </a:rPr>
                        <a:t>Trong các lần đoán “yes”, đúng bao nhiêu</a:t>
                      </a:r>
                      <a:endParaRPr lang="en-US" sz="12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3"/>
                  </a:ext>
                </a:extLst>
              </a:tr>
              <a:tr h="310896">
                <a:tc>
                  <a:txBody>
                    <a:bodyPr/>
                    <a:lstStyle/>
                    <a:p>
                      <a:pPr marL="0" indent="0" algn="l">
                        <a:buNone/>
                      </a:pPr>
                      <a:r>
                        <a:rPr lang="en-US" sz="1200" b="1" dirty="0">
                          <a:solidFill>
                            <a:srgbClr val="14243A"/>
                          </a:solidFill>
                          <a:latin typeface="Courier New" pitchFamily="34" charset="0"/>
                          <a:ea typeface="Courier New" pitchFamily="34" charset="-122"/>
                          <a:cs typeface="Courier New" pitchFamily="34" charset="-120"/>
                        </a:rPr>
                        <a:t>clin_balanced_acc</a:t>
                      </a:r>
                      <a:endParaRPr lang="en-US" sz="1200" dirty="0">
                        <a:latin typeface="Courier New" charset="0"/>
                        <a:ea typeface="Courier New" charset="0"/>
                        <a:cs typeface="Courier New"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200" dirty="0">
                          <a:solidFill>
                            <a:srgbClr val="4F637B"/>
                          </a:solidFill>
                          <a:latin typeface="Courier New" pitchFamily="34" charset="0"/>
                          <a:ea typeface="Courier New" pitchFamily="34" charset="-122"/>
                          <a:cs typeface="Courier New" pitchFamily="34" charset="-120"/>
                        </a:rPr>
                        <a:t>(Sens + Spec) / 2</a:t>
                      </a:r>
                      <a:endParaRPr lang="en-US" sz="1200" dirty="0">
                        <a:latin typeface="Courier New" charset="0"/>
                        <a:ea typeface="Courier New" charset="0"/>
                        <a:cs typeface="Courier New"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200" dirty="0">
                          <a:solidFill>
                            <a:srgbClr val="4F637B"/>
                          </a:solidFill>
                          <a:latin typeface="Calibri" pitchFamily="34" charset="0"/>
                          <a:ea typeface="Calibri" pitchFamily="34" charset="-122"/>
                          <a:cs typeface="Calibri" pitchFamily="34" charset="-120"/>
                        </a:rPr>
                        <a:t>Cân bằng khi tỉ lệ yes/no lệch</a:t>
                      </a:r>
                      <a:endParaRPr lang="en-US" sz="12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4"/>
                  </a:ext>
                </a:extLst>
              </a:tr>
              <a:tr h="310896">
                <a:tc>
                  <a:txBody>
                    <a:bodyPr/>
                    <a:lstStyle/>
                    <a:p>
                      <a:pPr marL="0" indent="0" algn="l">
                        <a:buNone/>
                      </a:pPr>
                      <a:r>
                        <a:rPr lang="en-US" sz="1200" b="1" dirty="0">
                          <a:solidFill>
                            <a:srgbClr val="14243A"/>
                          </a:solidFill>
                          <a:latin typeface="Courier New" pitchFamily="34" charset="0"/>
                          <a:ea typeface="Courier New" pitchFamily="34" charset="-122"/>
                          <a:cs typeface="Courier New" pitchFamily="34" charset="-120"/>
                        </a:rPr>
                        <a:t>clin_f1</a:t>
                      </a:r>
                      <a:endParaRPr lang="en-US" sz="1200" dirty="0">
                        <a:latin typeface="Courier New" charset="0"/>
                        <a:ea typeface="Courier New" charset="0"/>
                        <a:cs typeface="Courier New"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200" dirty="0">
                          <a:solidFill>
                            <a:srgbClr val="4F637B"/>
                          </a:solidFill>
                          <a:latin typeface="Courier New" pitchFamily="34" charset="0"/>
                          <a:ea typeface="Courier New" pitchFamily="34" charset="-122"/>
                          <a:cs typeface="Courier New" pitchFamily="34" charset="-120"/>
                        </a:rPr>
                        <a:t>2·P·R / (P+R)</a:t>
                      </a:r>
                      <a:endParaRPr lang="en-US" sz="1200" dirty="0">
                        <a:latin typeface="Courier New" charset="0"/>
                        <a:ea typeface="Courier New" charset="0"/>
                        <a:cs typeface="Courier New"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200" dirty="0">
                          <a:solidFill>
                            <a:srgbClr val="4F637B"/>
                          </a:solidFill>
                          <a:latin typeface="Calibri" pitchFamily="34" charset="0"/>
                          <a:ea typeface="Calibri" pitchFamily="34" charset="-122"/>
                          <a:cs typeface="Calibri" pitchFamily="34" charset="-120"/>
                        </a:rPr>
                        <a:t>Hài hòa precision và recall lớp yes</a:t>
                      </a:r>
                      <a:endParaRPr lang="en-US" sz="12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5"/>
                  </a:ext>
                </a:extLst>
              </a:tr>
              <a:tr h="310896">
                <a:tc>
                  <a:txBody>
                    <a:bodyPr/>
                    <a:lstStyle/>
                    <a:p>
                      <a:pPr marL="0" indent="0" algn="l">
                        <a:buNone/>
                      </a:pPr>
                      <a:r>
                        <a:rPr lang="en-US" sz="1200" b="1" dirty="0">
                          <a:solidFill>
                            <a:srgbClr val="14243A"/>
                          </a:solidFill>
                          <a:latin typeface="Courier New" pitchFamily="34" charset="0"/>
                          <a:ea typeface="Courier New" pitchFamily="34" charset="-122"/>
                          <a:cs typeface="Courier New" pitchFamily="34" charset="-120"/>
                        </a:rPr>
                        <a:t>clin_auc</a:t>
                      </a:r>
                      <a:endParaRPr lang="en-US" sz="1200" dirty="0">
                        <a:latin typeface="Courier New" charset="0"/>
                        <a:ea typeface="Courier New" charset="0"/>
                        <a:cs typeface="Courier New"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200" dirty="0">
                          <a:solidFill>
                            <a:srgbClr val="4F637B"/>
                          </a:solidFill>
                          <a:latin typeface="Courier New" pitchFamily="34" charset="0"/>
                          <a:ea typeface="Courier New" pitchFamily="34" charset="-122"/>
                          <a:cs typeface="Courier New" pitchFamily="34" charset="-120"/>
                        </a:rPr>
                        <a:t>ROC-AUC</a:t>
                      </a:r>
                      <a:endParaRPr lang="en-US" sz="1200" dirty="0">
                        <a:latin typeface="Courier New" charset="0"/>
                        <a:ea typeface="Courier New" charset="0"/>
                        <a:cs typeface="Courier New"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200" dirty="0">
                          <a:solidFill>
                            <a:srgbClr val="4F637B"/>
                          </a:solidFill>
                          <a:latin typeface="Calibri" pitchFamily="34" charset="0"/>
                          <a:ea typeface="Calibri" pitchFamily="34" charset="-122"/>
                          <a:cs typeface="Calibri" pitchFamily="34" charset="-120"/>
                        </a:rPr>
                        <a:t>Phân biệt yes/no ở mọi ngưỡng; 0,5 = ngẫu nhiên</a:t>
                      </a:r>
                      <a:endParaRPr lang="en-US" sz="12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6"/>
                  </a:ext>
                </a:extLst>
              </a:tr>
            </a:tbl>
          </a:graphicData>
        </a:graphic>
      </p:graphicFrame>
      <p:sp>
        <p:nvSpPr>
          <p:cNvPr id="7" name="Shape 3"/>
          <p:cNvSpPr/>
          <p:nvPr/>
        </p:nvSpPr>
        <p:spPr>
          <a:xfrm>
            <a:off x="7360920" y="1828800"/>
            <a:ext cx="4270248" cy="2212848"/>
          </a:xfrm>
          <a:prstGeom prst="roundRect">
            <a:avLst>
              <a:gd name="adj" fmla="val 3719"/>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sz="1300"/>
          </a:p>
        </p:txBody>
      </p:sp>
      <p:sp>
        <p:nvSpPr>
          <p:cNvPr id="8" name="Shape 4"/>
          <p:cNvSpPr/>
          <p:nvPr/>
        </p:nvSpPr>
        <p:spPr>
          <a:xfrm>
            <a:off x="7580376" y="2048256"/>
            <a:ext cx="329184" cy="329184"/>
          </a:xfrm>
          <a:prstGeom prst="ellipse">
            <a:avLst/>
          </a:prstGeom>
          <a:solidFill>
            <a:srgbClr val="6B33C7"/>
          </a:solidFill>
          <a:ln/>
        </p:spPr>
        <p:txBody>
          <a:bodyPr/>
          <a:lstStyle/>
          <a:p>
            <a:endParaRPr lang="en-US" sz="1300"/>
          </a:p>
        </p:txBody>
      </p:sp>
      <p:sp>
        <p:nvSpPr>
          <p:cNvPr id="9" name="Text 5"/>
          <p:cNvSpPr/>
          <p:nvPr/>
        </p:nvSpPr>
        <p:spPr>
          <a:xfrm>
            <a:off x="7580376" y="204825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t>
            </a:r>
            <a:endParaRPr lang="en-US" sz="1300" dirty="0"/>
          </a:p>
        </p:txBody>
      </p:sp>
      <p:sp>
        <p:nvSpPr>
          <p:cNvPr id="10" name="Text 6"/>
          <p:cNvSpPr/>
          <p:nvPr/>
        </p:nvSpPr>
        <p:spPr>
          <a:xfrm>
            <a:off x="8037576" y="2029968"/>
            <a:ext cx="3383280" cy="365760"/>
          </a:xfrm>
          <a:prstGeom prst="rect">
            <a:avLst/>
          </a:prstGeom>
          <a:noFill/>
          <a:ln/>
        </p:spPr>
        <p:txBody>
          <a:bodyPr wrap="square" lIns="0" tIns="0" rIns="0" bIns="0" rtlCol="0" anchor="ctr"/>
          <a:lstStyle/>
          <a:p>
            <a:pPr marL="0" indent="0">
              <a:buNone/>
            </a:pPr>
            <a:r>
              <a:rPr lang="en-US" sz="1300" b="1" dirty="0">
                <a:solidFill>
                  <a:srgbClr val="14243A"/>
                </a:solidFill>
                <a:latin typeface="Calibri" pitchFamily="34" charset="0"/>
                <a:ea typeface="Calibri" pitchFamily="34" charset="-122"/>
                <a:cs typeface="Calibri" pitchFamily="34" charset="-120"/>
              </a:rPr>
              <a:t>p_yes được lấy thế nào</a:t>
            </a:r>
            <a:endParaRPr lang="en-US" sz="1300" dirty="0"/>
          </a:p>
        </p:txBody>
      </p:sp>
      <p:sp>
        <p:nvSpPr>
          <p:cNvPr id="11" name="Text 7"/>
          <p:cNvSpPr/>
          <p:nvPr/>
        </p:nvSpPr>
        <p:spPr>
          <a:xfrm>
            <a:off x="7580376" y="2436100"/>
            <a:ext cx="3840480" cy="1463040"/>
          </a:xfrm>
          <a:prstGeom prst="rect">
            <a:avLst/>
          </a:prstGeom>
          <a:noFill/>
          <a:ln/>
        </p:spPr>
        <p:txBody>
          <a:bodyPr wrap="square" lIns="0" tIns="0" rIns="0" bIns="0" rtlCol="0" anchor="ctr"/>
          <a:lstStyle/>
          <a:p>
            <a:pPr marL="0" indent="0">
              <a:lnSpc>
                <a:spcPct val="114000"/>
              </a:lnSpc>
              <a:buNone/>
            </a:pPr>
            <a:r>
              <a:rPr lang="en-US" sz="1300" b="1" dirty="0">
                <a:solidFill>
                  <a:srgbClr val="14243A"/>
                </a:solidFill>
                <a:latin typeface="Calibri" pitchFamily="34" charset="0"/>
                <a:ea typeface="Calibri" pitchFamily="34" charset="-122"/>
                <a:cs typeface="Calibri" pitchFamily="34" charset="-120"/>
              </a:rPr>
              <a:t>MLP (nhóm A, P_pubmed_mlp):  </a:t>
            </a:r>
            <a:r>
              <a:rPr lang="en-US" sz="1300" dirty="0">
                <a:solidFill>
                  <a:srgbClr val="4F637B"/>
                </a:solidFill>
                <a:latin typeface="Calibri" pitchFamily="34" charset="0"/>
                <a:ea typeface="Calibri" pitchFamily="34" charset="-122"/>
                <a:cs typeface="Calibri" pitchFamily="34" charset="-120"/>
              </a:rPr>
              <a:t>softmax của hai lớp yes/no.</a:t>
            </a:r>
            <a:endParaRPr lang="en-US" sz="1300" dirty="0"/>
          </a:p>
          <a:p>
            <a:pPr marL="0" indent="0">
              <a:lnSpc>
                <a:spcPct val="114000"/>
              </a:lnSpc>
              <a:buNone/>
            </a:pPr>
            <a:r>
              <a:rPr lang="en-US" sz="1300" b="1" dirty="0">
                <a:solidFill>
                  <a:srgbClr val="14243A"/>
                </a:solidFill>
                <a:latin typeface="Calibri" pitchFamily="34" charset="0"/>
                <a:ea typeface="Calibri" pitchFamily="34" charset="-122"/>
                <a:cs typeface="Calibri" pitchFamily="34" charset="-120"/>
              </a:rPr>
              <a:t>GPT-2 &amp; Gemma:  </a:t>
            </a:r>
            <a:r>
              <a:rPr lang="en-US" sz="1300" dirty="0">
                <a:solidFill>
                  <a:srgbClr val="4F637B"/>
                </a:solidFill>
                <a:latin typeface="Calibri" pitchFamily="34" charset="0"/>
                <a:ea typeface="Calibri" pitchFamily="34" charset="-122"/>
                <a:cs typeface="Calibri" pitchFamily="34" charset="-120"/>
              </a:rPr>
              <a:t>softmax logit token đầu tiên trên cặp yes/no — p_yes = σ(ℓ_yes − ℓ_no).</a:t>
            </a:r>
            <a:endParaRPr lang="en-US" sz="1300" dirty="0"/>
          </a:p>
          <a:p>
            <a:pPr marL="0" indent="0">
              <a:lnSpc>
                <a:spcPct val="114000"/>
              </a:lnSpc>
              <a:buNone/>
            </a:pPr>
            <a:r>
              <a:rPr lang="en-US" sz="1300" b="1" dirty="0">
                <a:solidFill>
                  <a:srgbClr val="14243A"/>
                </a:solidFill>
                <a:latin typeface="Calibri" pitchFamily="34" charset="0"/>
                <a:ea typeface="Calibri" pitchFamily="34" charset="-122"/>
                <a:cs typeface="Calibri" pitchFamily="34" charset="-120"/>
              </a:rPr>
              <a:t>Gemma từ CSV (không có logits):  </a:t>
            </a:r>
            <a:r>
              <a:rPr lang="en-US" sz="1300" dirty="0">
                <a:solidFill>
                  <a:srgbClr val="4F637B"/>
                </a:solidFill>
                <a:latin typeface="Calibri" pitchFamily="34" charset="0"/>
                <a:ea typeface="Calibri" pitchFamily="34" charset="-122"/>
                <a:cs typeface="Calibri" pitchFamily="34" charset="-120"/>
              </a:rPr>
              <a:t>quy đổi thô — yes → 1, no → 0, còn lại → 0,5.</a:t>
            </a:r>
            <a:endParaRPr lang="en-US" sz="1300" dirty="0"/>
          </a:p>
        </p:txBody>
      </p:sp>
      <p:sp>
        <p:nvSpPr>
          <p:cNvPr id="12" name="Shape 8"/>
          <p:cNvSpPr/>
          <p:nvPr/>
        </p:nvSpPr>
        <p:spPr>
          <a:xfrm>
            <a:off x="7360920" y="4169664"/>
            <a:ext cx="4270248" cy="1682496"/>
          </a:xfrm>
          <a:prstGeom prst="roundRect">
            <a:avLst>
              <a:gd name="adj" fmla="val 4891"/>
            </a:avLst>
          </a:prstGeom>
          <a:solidFill>
            <a:srgbClr val="FBF1DE"/>
          </a:solidFill>
          <a:ln w="12700">
            <a:solidFill>
              <a:srgbClr val="B26A00"/>
            </a:solidFill>
            <a:prstDash val="solid"/>
          </a:ln>
          <a:effectLst>
            <a:outerShdw blurRad="114300" dist="25400" dir="5400000" algn="bl" rotWithShape="0">
              <a:srgbClr val="B9C6D6">
                <a:alpha val="50000"/>
              </a:srgbClr>
            </a:outerShdw>
          </a:effectLst>
        </p:spPr>
        <p:txBody>
          <a:bodyPr/>
          <a:lstStyle/>
          <a:p>
            <a:endParaRPr lang="en-US" sz="1300" dirty="0"/>
          </a:p>
        </p:txBody>
      </p:sp>
      <p:sp>
        <p:nvSpPr>
          <p:cNvPr id="13" name="Shape 9"/>
          <p:cNvSpPr/>
          <p:nvPr/>
        </p:nvSpPr>
        <p:spPr>
          <a:xfrm>
            <a:off x="7580376" y="4319764"/>
            <a:ext cx="329184" cy="365760"/>
          </a:xfrm>
          <a:prstGeom prst="ellipse">
            <a:avLst/>
          </a:prstGeom>
          <a:solidFill>
            <a:srgbClr val="B26A00"/>
          </a:solidFill>
          <a:ln/>
        </p:spPr>
        <p:txBody>
          <a:bodyPr/>
          <a:lstStyle/>
          <a:p>
            <a:endParaRPr lang="en-US" sz="1300"/>
          </a:p>
        </p:txBody>
      </p:sp>
      <p:sp>
        <p:nvSpPr>
          <p:cNvPr id="14" name="Text 10"/>
          <p:cNvSpPr/>
          <p:nvPr/>
        </p:nvSpPr>
        <p:spPr>
          <a:xfrm>
            <a:off x="7580376" y="43197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5" name="Text 11"/>
          <p:cNvSpPr/>
          <p:nvPr/>
        </p:nvSpPr>
        <p:spPr>
          <a:xfrm>
            <a:off x="8037576" y="4276632"/>
            <a:ext cx="3383280" cy="365760"/>
          </a:xfrm>
          <a:prstGeom prst="rect">
            <a:avLst/>
          </a:prstGeom>
          <a:noFill/>
          <a:ln/>
        </p:spPr>
        <p:txBody>
          <a:bodyPr wrap="square" lIns="0" tIns="0" rIns="0" bIns="0" rtlCol="0" anchor="ctr"/>
          <a:lstStyle/>
          <a:p>
            <a:pPr marL="0" indent="0">
              <a:buNone/>
            </a:pPr>
            <a:r>
              <a:rPr lang="en-US" sz="1300" b="1" dirty="0">
                <a:solidFill>
                  <a:srgbClr val="14243A"/>
                </a:solidFill>
                <a:latin typeface="Calibri" pitchFamily="34" charset="0"/>
                <a:ea typeface="Calibri" pitchFamily="34" charset="-122"/>
                <a:cs typeface="Calibri" pitchFamily="34" charset="-120"/>
              </a:rPr>
              <a:t>Đọc AUC cho đúng</a:t>
            </a:r>
            <a:endParaRPr lang="en-US" sz="1300" dirty="0"/>
          </a:p>
        </p:txBody>
      </p:sp>
      <p:sp>
        <p:nvSpPr>
          <p:cNvPr id="16" name="Text 12"/>
          <p:cNvSpPr/>
          <p:nvPr/>
        </p:nvSpPr>
        <p:spPr>
          <a:xfrm>
            <a:off x="7580376" y="4770408"/>
            <a:ext cx="3840480" cy="932688"/>
          </a:xfrm>
          <a:prstGeom prst="rect">
            <a:avLst/>
          </a:prstGeom>
          <a:noFill/>
          <a:ln/>
        </p:spPr>
        <p:txBody>
          <a:bodyPr wrap="square" lIns="0" tIns="0" rIns="0" bIns="0" rtlCol="0" anchor="ctr"/>
          <a:lstStyle/>
          <a:p>
            <a:pPr marL="0" indent="0">
              <a:lnSpc>
                <a:spcPct val="114000"/>
              </a:lnSpc>
              <a:buNone/>
            </a:pPr>
            <a:r>
              <a:rPr lang="en-US" sz="1300" dirty="0">
                <a:solidFill>
                  <a:srgbClr val="4F637B"/>
                </a:solidFill>
                <a:latin typeface="Calibri" pitchFamily="34" charset="0"/>
                <a:ea typeface="Calibri" pitchFamily="34" charset="-122"/>
                <a:cs typeface="Calibri" pitchFamily="34" charset="-120"/>
              </a:rPr>
              <a:t>Giá trị dưới 0,5 nghĩa là thứ tự bị đảo — mô hình gán p_yes cao hơn cho ca thật là no. Đó là dấu hiệu mô hình chưa hiệu chỉnh, học lệch một phía, chứ không phải mức chất lượng lâm sàng. Kết luận của báo cáo dựa trên EM, không dựa trên AUC.</a:t>
            </a:r>
            <a:endParaRPr lang="en-US" sz="1300" dirty="0"/>
          </a:p>
        </p:txBody>
      </p:sp>
      <p:sp>
        <p:nvSpPr>
          <p:cNvPr id="17" name="Text 13"/>
          <p:cNvSpPr/>
          <p:nvPr/>
        </p:nvSpPr>
        <p:spPr>
          <a:xfrm>
            <a:off x="560832" y="4328908"/>
            <a:ext cx="6583680" cy="640080"/>
          </a:xfrm>
          <a:prstGeom prst="rect">
            <a:avLst/>
          </a:prstGeom>
          <a:noFill/>
          <a:ln/>
        </p:spPr>
        <p:txBody>
          <a:bodyPr wrap="square" lIns="0" tIns="0" rIns="0" bIns="0" rtlCol="0" anchor="ctr"/>
          <a:lstStyle/>
          <a:p>
            <a:pPr marL="0" indent="0">
              <a:lnSpc>
                <a:spcPct val="116000"/>
              </a:lnSpc>
              <a:buNone/>
            </a:pPr>
            <a:r>
              <a:rPr lang="en-US" sz="1300" i="1" dirty="0">
                <a:solidFill>
                  <a:srgbClr val="4F637B"/>
                </a:solidFill>
                <a:latin typeface="Calibri" pitchFamily="34" charset="0"/>
                <a:ea typeface="Calibri" pitchFamily="34" charset="-122"/>
                <a:cs typeface="Calibri" pitchFamily="34" charset="-120"/>
              </a:rPr>
              <a:t>Ví dụ: thật = [yes, yes, no, no], đoán = [yes, no, no, yes] → Sens = 1/2, Spec = 1/2 → Balanced-Acc = 0,5. Chi phí đo bằng params_trainable (không phải params_total) và inference_time_sec.</a:t>
            </a:r>
            <a:endParaRPr lang="en-US" sz="1300" dirty="0"/>
          </a:p>
        </p:txBody>
      </p:sp>
      <p:sp>
        <p:nvSpPr>
          <p:cNvPr id="18" name="Text 14"/>
          <p:cNvSpPr/>
          <p:nvPr/>
        </p:nvSpPr>
        <p:spPr>
          <a:xfrm>
            <a:off x="566928" y="4864608"/>
            <a:ext cx="6583680" cy="914400"/>
          </a:xfrm>
          <a:prstGeom prst="rect">
            <a:avLst/>
          </a:prstGeom>
          <a:noFill/>
          <a:ln/>
        </p:spPr>
        <p:txBody>
          <a:bodyPr wrap="square" lIns="0" tIns="0" rIns="0" bIns="0" rtlCol="0" anchor="ctr"/>
          <a:lstStyle/>
          <a:p>
            <a:pPr marL="0" indent="0">
              <a:lnSpc>
                <a:spcPct val="116000"/>
              </a:lnSpc>
              <a:buNone/>
            </a:pPr>
            <a:r>
              <a:rPr lang="en-US" sz="1300" b="1" dirty="0">
                <a:solidFill>
                  <a:srgbClr val="1466C0"/>
                </a:solidFill>
                <a:latin typeface="Calibri" pitchFamily="34" charset="0"/>
                <a:ea typeface="Calibri" pitchFamily="34" charset="-122"/>
                <a:cs typeface="Calibri" pitchFamily="34" charset="-120"/>
              </a:rPr>
              <a:t>Đọc kết quả cho đúng:  </a:t>
            </a:r>
            <a:r>
              <a:rPr lang="en-US" sz="1300" dirty="0">
                <a:solidFill>
                  <a:srgbClr val="4F637B"/>
                </a:solidFill>
                <a:latin typeface="Calibri" pitchFamily="34" charset="0"/>
                <a:ea typeface="Calibri" pitchFamily="34" charset="-122"/>
                <a:cs typeface="Calibri" pitchFamily="34" charset="-120"/>
              </a:rPr>
              <a:t>câu đóng dùng em_closed + balanced_acc; câu mở đừng chỉ nhìn em_open (là sàn, gần 0) mà nhìn token_f1_open và sem_open; so đánh đổi bằng params_trainable.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logo"/>
          <p:cNvPicPr>
            <a:picLocks noChangeAspect="1"/>
          </p:cNvPicPr>
          <p:nvPr/>
        </p:nvPicPr>
        <p:blipFill>
          <a:blip r:embed="rId2"/>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5 · BỘ CHỈ SỐ</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500" b="1" kern="0" spc="0" dirty="0">
                <a:solidFill>
                  <a:srgbClr val="14243A"/>
                </a:solidFill>
                <a:latin typeface="Calibri" pitchFamily="34" charset="0"/>
                <a:ea typeface="Calibri" pitchFamily="34" charset="-122"/>
                <a:cs typeface="Calibri" pitchFamily="34" charset="-120"/>
              </a:rPr>
              <a:t>Bảng 4.7 — Định nghĩa và công thức các chỉ số</a:t>
            </a:r>
            <a:endParaRPr lang="en-US" sz="2500" dirty="0"/>
          </a:p>
        </p:txBody>
      </p:sp>
      <p:sp>
        <p:nvSpPr>
          <p:cNvPr id="5" name="Text 2"/>
          <p:cNvSpPr/>
          <p:nvPr/>
        </p:nvSpPr>
        <p:spPr>
          <a:xfrm>
            <a:off x="566928" y="1188720"/>
            <a:ext cx="10515911" cy="274320"/>
          </a:xfrm>
          <a:prstGeom prst="rect">
            <a:avLst/>
          </a:prstGeom>
          <a:noFill/>
          <a:ln/>
        </p:spPr>
        <p:txBody>
          <a:bodyPr wrap="square" lIns="0" tIns="0" rIns="0" bIns="0" rtlCol="0" anchor="ctr"/>
          <a:lstStyle/>
          <a:p>
            <a:pPr marL="0" indent="0">
              <a:buNone/>
            </a:pPr>
            <a:r>
              <a:rPr lang="en-US" sz="1000" b="0" kern="0" spc="0" dirty="0">
                <a:solidFill>
                  <a:srgbClr val="5A6577"/>
                </a:solidFill>
                <a:latin typeface="Calibri" pitchFamily="34" charset="0"/>
                <a:ea typeface="Calibri" pitchFamily="34" charset="-122"/>
                <a:cs typeface="Calibri" pitchFamily="34" charset="-120"/>
              </a:rPr>
              <a:t>Mọi cấu hình chấm bằng cùng module src/train/metrics.py. Câu trả lời được normalize trước khi chấm, tách riêng closed và open.</a:t>
            </a:r>
            <a:endParaRPr lang="en-US" sz="1000" dirty="0"/>
          </a:p>
        </p:txBody>
      </p:sp>
      <p:graphicFrame>
        <p:nvGraphicFramePr>
          <p:cNvPr id="6" name="Table 0"/>
          <p:cNvGraphicFramePr>
            <a:graphicFrameLocks noGrp="1"/>
          </p:cNvGraphicFramePr>
          <p:nvPr/>
        </p:nvGraphicFramePr>
        <p:xfrm>
          <a:off x="566928" y="1554480"/>
          <a:ext cx="11057839" cy="4320000"/>
        </p:xfrm>
        <a:graphic>
          <a:graphicData uri="http://schemas.openxmlformats.org/drawingml/2006/table">
            <a:tbl>
              <a:tblPr/>
              <a:tblGrid>
                <a:gridCol w="1350000">
                  <a:extLst>
                    <a:ext uri="{9D8B030D-6E8A-4147-A177-3AD203B41FA5}">
                      <a16:colId xmlns:a16="http://schemas.microsoft.com/office/drawing/2014/main" val="20000"/>
                    </a:ext>
                  </a:extLst>
                </a:gridCol>
                <a:gridCol w="3750000">
                  <a:extLst>
                    <a:ext uri="{9D8B030D-6E8A-4147-A177-3AD203B41FA5}">
                      <a16:colId xmlns:a16="http://schemas.microsoft.com/office/drawing/2014/main" val="20001"/>
                    </a:ext>
                  </a:extLst>
                </a:gridCol>
                <a:gridCol w="1150000">
                  <a:extLst>
                    <a:ext uri="{9D8B030D-6E8A-4147-A177-3AD203B41FA5}">
                      <a16:colId xmlns:a16="http://schemas.microsoft.com/office/drawing/2014/main" val="20002"/>
                    </a:ext>
                  </a:extLst>
                </a:gridCol>
                <a:gridCol w="2350000">
                  <a:extLst>
                    <a:ext uri="{9D8B030D-6E8A-4147-A177-3AD203B41FA5}">
                      <a16:colId xmlns:a16="http://schemas.microsoft.com/office/drawing/2014/main" val="20003"/>
                    </a:ext>
                  </a:extLst>
                </a:gridCol>
                <a:gridCol w="2457839">
                  <a:extLst>
                    <a:ext uri="{9D8B030D-6E8A-4147-A177-3AD203B41FA5}">
                      <a16:colId xmlns:a16="http://schemas.microsoft.com/office/drawing/2014/main" val="20004"/>
                    </a:ext>
                  </a:extLst>
                </a:gridCol>
              </a:tblGrid>
              <a:tr h="480000">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Chỉ số</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Công thức</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Miền</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Đo cái gì</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Hạn chế</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extLst>
                  <a:ext uri="{0D108BD9-81ED-4DB2-BD59-A6C34878D82A}">
                    <a16:rowId xmlns:a16="http://schemas.microsoft.com/office/drawing/2014/main" val="10000"/>
                  </a:ext>
                </a:extLst>
              </a:tr>
              <a:tr h="480000">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EM</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EM = 1 nếu normalize(ref) == normalize(hyp)</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0 hoặc 1</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Khớp chuỗi tuyệt đối sau chuẩn hóa</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Quá khắt khe với câu mở</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1"/>
                  </a:ext>
                </a:extLst>
              </a:tr>
              <a:tr h="480000">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Token-F1</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chung = Counter(ref) ∩ Counter(hyp) · P = chung / len(hyp) · R = chung / len(ref) · F1 = 2PR / (P+R)</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0 → 1</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Trùng lặp từ vựng, có thưởng bán phần</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Bỏ qua thứ tự từ và ngữ nghĩa</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2"/>
                  </a:ext>
                </a:extLst>
              </a:tr>
              <a:tr h="480000">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BLEU-1</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clipped = Σ min(count_hyp, count_ref) · BLEU-1 = BP × clipped / len(hyp) · BP = 1 nếu len(hyp) ≥ len(ref)</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0 → 1</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Chính xác unigram, phạt câu quá ngắn</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Chỉ 1-gram, không đo ngữ nghĩa</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3"/>
                  </a:ext>
                </a:extLst>
              </a:tr>
              <a:tr h="480000">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Semantic Open</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cosine( Encode(ref) , Encode(hyp) ) · embedding all-MiniLM-L6-v2</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−1 → 1</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Tương đồng ngữ nghĩa, bắt được từ đồng nghĩa</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Chỉ tính trên tập con open</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4"/>
                  </a:ext>
                </a:extLst>
              </a:tr>
              <a:tr h="480000">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Sensitivity</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TP / (TP + FN)</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0 → 1</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Bắt đúng ca bất thường — bỏ sót là nguy hiểm nhất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Chỉ trên câu đóng</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5"/>
                  </a:ext>
                </a:extLst>
              </a:tr>
              <a:tr h="480000">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Specificity</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TN / (TN + FP)</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0 → 1</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Loại đúng ca bình thường — tránh báo động giả</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Chỉ trên câu đóng</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6"/>
                  </a:ext>
                </a:extLst>
              </a:tr>
              <a:tr h="480000">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Balanced Acc</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(Sensitivity + Specificity) / 2</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0 → 1</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Công bằng khi yes/no lệch tỷ lệ</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7"/>
                  </a:ext>
                </a:extLst>
              </a:tr>
              <a:tr h="480000">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Clinical AUC</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roc_auc_score(y_true, p_yes) · ngưỡng 0,5</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0 → 1</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Phân biệt độc lập ngưỡng — chỉ số chính</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Trả 0,5 khi chỉ có một lớp</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5 · THIẾT LẬP</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Khung pipeline dùng chung cho mọi cấu hình</a:t>
            </a:r>
            <a:endParaRPr lang="en-US" sz="2900" dirty="0"/>
          </a:p>
        </p:txBody>
      </p:sp>
      <p:sp>
        <p:nvSpPr>
          <p:cNvPr id="5" name="Text 2"/>
          <p:cNvSpPr/>
          <p:nvPr/>
        </p:nvSpPr>
        <p:spPr>
          <a:xfrm>
            <a:off x="566928" y="1371600"/>
            <a:ext cx="11057839" cy="457200"/>
          </a:xfrm>
          <a:prstGeom prst="rect">
            <a:avLst/>
          </a:prstGeom>
          <a:noFill/>
          <a:ln/>
        </p:spPr>
        <p:txBody>
          <a:bodyPr wrap="square" lIns="0" tIns="0" rIns="0" bIns="0" rtlCol="0" anchor="ctr"/>
          <a:lstStyle/>
          <a:p>
            <a:pPr marL="0" indent="0">
              <a:lnSpc>
                <a:spcPct val="116000"/>
              </a:lnSpc>
              <a:buNone/>
            </a:pPr>
            <a:r>
              <a:rPr lang="en-US" sz="1300" dirty="0">
                <a:solidFill>
                  <a:srgbClr val="4F637B"/>
                </a:solidFill>
                <a:latin typeface="Calibri" pitchFamily="34" charset="0"/>
                <a:ea typeface="Calibri" pitchFamily="34" charset="-122"/>
                <a:cs typeface="Calibri" pitchFamily="34" charset="-120"/>
              </a:rPr>
              <a:t>Một run được định nghĩa bằng cách chọn một phương án trên mỗi trục của nhà máy mô hình. Bốn trục đó là: bộ mã hóa ảnh, bộ mã hóa câu hỏi, cơ chế chú ý, và bộ giải mã.</a:t>
            </a:r>
            <a:endParaRPr lang="en-US" sz="1300" dirty="0"/>
          </a:p>
        </p:txBody>
      </p:sp>
      <p:sp>
        <p:nvSpPr>
          <p:cNvPr id="6" name="Shape 3"/>
          <p:cNvSpPr/>
          <p:nvPr/>
        </p:nvSpPr>
        <p:spPr>
          <a:xfrm>
            <a:off x="566928" y="1956816"/>
            <a:ext cx="2682164" cy="2651760"/>
          </a:xfrm>
          <a:prstGeom prst="roundRect">
            <a:avLst>
              <a:gd name="adj" fmla="val 3103"/>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sz="1300"/>
          </a:p>
        </p:txBody>
      </p:sp>
      <p:sp>
        <p:nvSpPr>
          <p:cNvPr id="7" name="Shape 4"/>
          <p:cNvSpPr/>
          <p:nvPr/>
        </p:nvSpPr>
        <p:spPr>
          <a:xfrm>
            <a:off x="786384" y="2176272"/>
            <a:ext cx="365760" cy="365760"/>
          </a:xfrm>
          <a:prstGeom prst="ellipse">
            <a:avLst/>
          </a:prstGeom>
          <a:solidFill>
            <a:srgbClr val="1466C0"/>
          </a:solidFill>
          <a:ln/>
        </p:spPr>
        <p:txBody>
          <a:bodyPr/>
          <a:lstStyle/>
          <a:p>
            <a:endParaRPr lang="en-US" sz="1300"/>
          </a:p>
        </p:txBody>
      </p:sp>
      <p:sp>
        <p:nvSpPr>
          <p:cNvPr id="8" name="Text 5"/>
          <p:cNvSpPr/>
          <p:nvPr/>
        </p:nvSpPr>
        <p:spPr>
          <a:xfrm>
            <a:off x="786384" y="21762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225296" y="2157984"/>
            <a:ext cx="1804340" cy="402336"/>
          </a:xfrm>
          <a:prstGeom prst="rect">
            <a:avLst/>
          </a:prstGeom>
          <a:noFill/>
          <a:ln/>
        </p:spPr>
        <p:txBody>
          <a:bodyPr wrap="square" lIns="0" tIns="0" rIns="0" bIns="0" rtlCol="0" anchor="ctr"/>
          <a:lstStyle/>
          <a:p>
            <a:pPr marL="0" indent="0">
              <a:buNone/>
            </a:pPr>
            <a:r>
              <a:rPr lang="en-US" sz="1300" b="1" dirty="0">
                <a:solidFill>
                  <a:srgbClr val="14243A"/>
                </a:solidFill>
                <a:latin typeface="Calibri" pitchFamily="34" charset="0"/>
                <a:ea typeface="Calibri" pitchFamily="34" charset="-122"/>
                <a:cs typeface="Calibri" pitchFamily="34" charset="-120"/>
              </a:rPr>
              <a:t>Bộ mã hóa ảnh</a:t>
            </a:r>
            <a:endParaRPr lang="en-US" sz="1300" dirty="0"/>
          </a:p>
        </p:txBody>
      </p:sp>
      <p:sp>
        <p:nvSpPr>
          <p:cNvPr id="10" name="Text 7"/>
          <p:cNvSpPr/>
          <p:nvPr/>
        </p:nvSpPr>
        <p:spPr>
          <a:xfrm>
            <a:off x="786384" y="2688336"/>
            <a:ext cx="2243252" cy="17373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4F637B"/>
                </a:solidFill>
                <a:latin typeface="Calibri" pitchFamily="34" charset="0"/>
                <a:ea typeface="Calibri" pitchFamily="34" charset="-122"/>
                <a:cs typeface="Calibri" pitchFamily="34" charset="-120"/>
              </a:rPr>
              <a:t>CustomCNN — tự viết, huấn luyện từ đầu</a:t>
            </a:r>
            <a:endParaRPr lang="en-US" sz="1300" dirty="0"/>
          </a:p>
          <a:p>
            <a:pPr marL="342900" indent="-342900">
              <a:spcAft>
                <a:spcPts val="800"/>
              </a:spcAft>
              <a:buSzPct val="100000"/>
              <a:buChar char="•"/>
            </a:pPr>
            <a:r>
              <a:rPr lang="en-US" sz="1300" dirty="0">
                <a:solidFill>
                  <a:srgbClr val="4F637B"/>
                </a:solidFill>
                <a:latin typeface="Calibri" pitchFamily="34" charset="0"/>
                <a:ea typeface="Calibri" pitchFamily="34" charset="-122"/>
                <a:cs typeface="Calibri" pitchFamily="34" charset="-120"/>
              </a:rPr>
              <a:t>ResNet-18 — đóng băng</a:t>
            </a:r>
            <a:endParaRPr lang="en-US" sz="1300" dirty="0"/>
          </a:p>
          <a:p>
            <a:pPr marL="342900" indent="-342900">
              <a:spcAft>
                <a:spcPts val="800"/>
              </a:spcAft>
              <a:buSzPct val="100000"/>
              <a:buChar char="•"/>
            </a:pPr>
            <a:r>
              <a:rPr lang="en-US" sz="1300" dirty="0">
                <a:solidFill>
                  <a:srgbClr val="4F637B"/>
                </a:solidFill>
                <a:latin typeface="Calibri" pitchFamily="34" charset="0"/>
                <a:ea typeface="Calibri" pitchFamily="34" charset="-122"/>
                <a:cs typeface="Calibri" pitchFamily="34" charset="-120"/>
              </a:rPr>
              <a:t>PubMedCLIP — encoder ảnh y khoa</a:t>
            </a:r>
            <a:endParaRPr lang="en-US" sz="1300" dirty="0"/>
          </a:p>
        </p:txBody>
      </p:sp>
      <p:sp>
        <p:nvSpPr>
          <p:cNvPr id="11" name="Shape 8"/>
          <p:cNvSpPr/>
          <p:nvPr/>
        </p:nvSpPr>
        <p:spPr>
          <a:xfrm>
            <a:off x="3253664" y="3200400"/>
            <a:ext cx="68580" cy="0"/>
          </a:xfrm>
          <a:prstGeom prst="line">
            <a:avLst/>
          </a:prstGeom>
          <a:noFill/>
          <a:ln w="19050">
            <a:solidFill>
              <a:srgbClr val="8494A8"/>
            </a:solidFill>
            <a:prstDash val="solid"/>
            <a:tailEnd type="triangle"/>
          </a:ln>
        </p:spPr>
        <p:txBody>
          <a:bodyPr/>
          <a:lstStyle/>
          <a:p>
            <a:endParaRPr lang="en-US" sz="1300"/>
          </a:p>
        </p:txBody>
      </p:sp>
      <p:sp>
        <p:nvSpPr>
          <p:cNvPr id="12" name="Shape 9"/>
          <p:cNvSpPr/>
          <p:nvPr/>
        </p:nvSpPr>
        <p:spPr>
          <a:xfrm>
            <a:off x="3358820" y="1956816"/>
            <a:ext cx="2682164" cy="2651760"/>
          </a:xfrm>
          <a:prstGeom prst="roundRect">
            <a:avLst>
              <a:gd name="adj" fmla="val 3103"/>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sz="1300"/>
          </a:p>
        </p:txBody>
      </p:sp>
      <p:sp>
        <p:nvSpPr>
          <p:cNvPr id="13" name="Shape 10"/>
          <p:cNvSpPr/>
          <p:nvPr/>
        </p:nvSpPr>
        <p:spPr>
          <a:xfrm>
            <a:off x="3578276" y="2176272"/>
            <a:ext cx="365760" cy="365760"/>
          </a:xfrm>
          <a:prstGeom prst="ellipse">
            <a:avLst/>
          </a:prstGeom>
          <a:solidFill>
            <a:srgbClr val="1466C0"/>
          </a:solidFill>
          <a:ln/>
        </p:spPr>
        <p:txBody>
          <a:bodyPr/>
          <a:lstStyle/>
          <a:p>
            <a:endParaRPr lang="en-US" sz="1300"/>
          </a:p>
        </p:txBody>
      </p:sp>
      <p:sp>
        <p:nvSpPr>
          <p:cNvPr id="14" name="Text 11"/>
          <p:cNvSpPr/>
          <p:nvPr/>
        </p:nvSpPr>
        <p:spPr>
          <a:xfrm>
            <a:off x="3578276" y="21762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p:nvPr/>
        </p:nvSpPr>
        <p:spPr>
          <a:xfrm>
            <a:off x="4017188" y="2157984"/>
            <a:ext cx="1804340" cy="402336"/>
          </a:xfrm>
          <a:prstGeom prst="rect">
            <a:avLst/>
          </a:prstGeom>
          <a:noFill/>
          <a:ln/>
        </p:spPr>
        <p:txBody>
          <a:bodyPr wrap="square" lIns="0" tIns="0" rIns="0" bIns="0" rtlCol="0" anchor="ctr"/>
          <a:lstStyle/>
          <a:p>
            <a:pPr marL="0" indent="0">
              <a:buNone/>
            </a:pPr>
            <a:r>
              <a:rPr lang="en-US" sz="1300" b="1" dirty="0">
                <a:solidFill>
                  <a:srgbClr val="14243A"/>
                </a:solidFill>
                <a:latin typeface="Calibri" pitchFamily="34" charset="0"/>
                <a:ea typeface="Calibri" pitchFamily="34" charset="-122"/>
                <a:cs typeface="Calibri" pitchFamily="34" charset="-120"/>
              </a:rPr>
              <a:t>Bộ mã hóa câu hỏi</a:t>
            </a:r>
            <a:endParaRPr lang="en-US" sz="1300" dirty="0"/>
          </a:p>
        </p:txBody>
      </p:sp>
      <p:sp>
        <p:nvSpPr>
          <p:cNvPr id="16" name="Text 13"/>
          <p:cNvSpPr/>
          <p:nvPr/>
        </p:nvSpPr>
        <p:spPr>
          <a:xfrm>
            <a:off x="3578276" y="2688336"/>
            <a:ext cx="2243252" cy="17373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4F637B"/>
                </a:solidFill>
                <a:latin typeface="Calibri" pitchFamily="34" charset="0"/>
                <a:ea typeface="Calibri" pitchFamily="34" charset="-122"/>
                <a:cs typeface="Calibri" pitchFamily="34" charset="-120"/>
              </a:rPr>
              <a:t>BiLSTM hai chiều</a:t>
            </a:r>
            <a:endParaRPr lang="en-US" sz="1300" dirty="0"/>
          </a:p>
          <a:p>
            <a:pPr marL="342900" indent="-342900">
              <a:spcAft>
                <a:spcPts val="800"/>
              </a:spcAft>
              <a:buSzPct val="100000"/>
              <a:buChar char="•"/>
            </a:pPr>
            <a:r>
              <a:rPr lang="en-US" sz="1300" dirty="0">
                <a:solidFill>
                  <a:srgbClr val="4F637B"/>
                </a:solidFill>
                <a:latin typeface="Calibri" pitchFamily="34" charset="0"/>
                <a:ea typeface="Calibri" pitchFamily="34" charset="-122"/>
                <a:cs typeface="Calibri" pitchFamily="34" charset="-120"/>
              </a:rPr>
              <a:t>Transformer encoder</a:t>
            </a:r>
            <a:endParaRPr lang="en-US" sz="1300" dirty="0"/>
          </a:p>
          <a:p>
            <a:pPr marL="342900" indent="-342900">
              <a:spcAft>
                <a:spcPts val="800"/>
              </a:spcAft>
              <a:buSzPct val="100000"/>
              <a:buChar char="•"/>
            </a:pPr>
            <a:r>
              <a:rPr lang="en-US" sz="1300" dirty="0">
                <a:solidFill>
                  <a:srgbClr val="4F637B"/>
                </a:solidFill>
                <a:latin typeface="Calibri" pitchFamily="34" charset="0"/>
                <a:ea typeface="Calibri" pitchFamily="34" charset="-122"/>
                <a:cs typeface="Calibri" pitchFamily="34" charset="-120"/>
              </a:rPr>
              <a:t>PubMedBERT — encoder chữ y khoa</a:t>
            </a:r>
            <a:endParaRPr lang="en-US" sz="1300" dirty="0"/>
          </a:p>
        </p:txBody>
      </p:sp>
      <p:sp>
        <p:nvSpPr>
          <p:cNvPr id="17" name="Shape 14"/>
          <p:cNvSpPr/>
          <p:nvPr/>
        </p:nvSpPr>
        <p:spPr>
          <a:xfrm>
            <a:off x="6045556" y="3200400"/>
            <a:ext cx="68580" cy="0"/>
          </a:xfrm>
          <a:prstGeom prst="line">
            <a:avLst/>
          </a:prstGeom>
          <a:noFill/>
          <a:ln w="19050">
            <a:solidFill>
              <a:srgbClr val="8494A8"/>
            </a:solidFill>
            <a:prstDash val="solid"/>
            <a:tailEnd type="triangle"/>
          </a:ln>
        </p:spPr>
        <p:txBody>
          <a:bodyPr/>
          <a:lstStyle/>
          <a:p>
            <a:endParaRPr lang="en-US" sz="1300"/>
          </a:p>
        </p:txBody>
      </p:sp>
      <p:sp>
        <p:nvSpPr>
          <p:cNvPr id="18" name="Shape 15"/>
          <p:cNvSpPr/>
          <p:nvPr/>
        </p:nvSpPr>
        <p:spPr>
          <a:xfrm>
            <a:off x="6150712" y="1956816"/>
            <a:ext cx="2682164" cy="2651760"/>
          </a:xfrm>
          <a:prstGeom prst="roundRect">
            <a:avLst>
              <a:gd name="adj" fmla="val 3103"/>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sz="1300"/>
          </a:p>
        </p:txBody>
      </p:sp>
      <p:sp>
        <p:nvSpPr>
          <p:cNvPr id="19" name="Shape 16"/>
          <p:cNvSpPr/>
          <p:nvPr/>
        </p:nvSpPr>
        <p:spPr>
          <a:xfrm>
            <a:off x="6370168" y="2176272"/>
            <a:ext cx="365760" cy="365760"/>
          </a:xfrm>
          <a:prstGeom prst="ellipse">
            <a:avLst/>
          </a:prstGeom>
          <a:solidFill>
            <a:srgbClr val="6B33C7"/>
          </a:solidFill>
          <a:ln/>
        </p:spPr>
        <p:txBody>
          <a:bodyPr/>
          <a:lstStyle/>
          <a:p>
            <a:endParaRPr lang="en-US" sz="1300"/>
          </a:p>
        </p:txBody>
      </p:sp>
      <p:sp>
        <p:nvSpPr>
          <p:cNvPr id="20" name="Text 17"/>
          <p:cNvSpPr/>
          <p:nvPr/>
        </p:nvSpPr>
        <p:spPr>
          <a:xfrm>
            <a:off x="6370168" y="21762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8"/>
          <p:cNvSpPr/>
          <p:nvPr/>
        </p:nvSpPr>
        <p:spPr>
          <a:xfrm>
            <a:off x="6809080" y="2157984"/>
            <a:ext cx="1804340" cy="402336"/>
          </a:xfrm>
          <a:prstGeom prst="rect">
            <a:avLst/>
          </a:prstGeom>
          <a:noFill/>
          <a:ln/>
        </p:spPr>
        <p:txBody>
          <a:bodyPr wrap="square" lIns="0" tIns="0" rIns="0" bIns="0" rtlCol="0" anchor="ctr"/>
          <a:lstStyle/>
          <a:p>
            <a:pPr marL="0" indent="0">
              <a:buNone/>
            </a:pPr>
            <a:r>
              <a:rPr lang="en-US" sz="1300" b="1" dirty="0">
                <a:solidFill>
                  <a:srgbClr val="14243A"/>
                </a:solidFill>
                <a:latin typeface="Calibri" pitchFamily="34" charset="0"/>
                <a:ea typeface="Calibri" pitchFamily="34" charset="-122"/>
                <a:cs typeface="Calibri" pitchFamily="34" charset="-120"/>
              </a:rPr>
              <a:t>Chú ý &amp; hợp nhất</a:t>
            </a:r>
            <a:endParaRPr lang="en-US" sz="1300" dirty="0"/>
          </a:p>
        </p:txBody>
      </p:sp>
      <p:sp>
        <p:nvSpPr>
          <p:cNvPr id="22" name="Text 19"/>
          <p:cNvSpPr/>
          <p:nvPr/>
        </p:nvSpPr>
        <p:spPr>
          <a:xfrm>
            <a:off x="6370168" y="2688336"/>
            <a:ext cx="2243252" cy="17373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4F637B"/>
                </a:solidFill>
                <a:latin typeface="Calibri" pitchFamily="34" charset="0"/>
                <a:ea typeface="Calibri" pitchFamily="34" charset="-122"/>
                <a:cs typeface="Calibri" pitchFamily="34" charset="-120"/>
              </a:rPr>
              <a:t>SE-block trên nhánh ảnh</a:t>
            </a:r>
            <a:endParaRPr lang="en-US" sz="1300" dirty="0"/>
          </a:p>
          <a:p>
            <a:pPr marL="342900" indent="-342900">
              <a:spcAft>
                <a:spcPts val="800"/>
              </a:spcAft>
              <a:buSzPct val="100000"/>
              <a:buChar char="•"/>
            </a:pPr>
            <a:r>
              <a:rPr lang="en-US" sz="1300" dirty="0">
                <a:solidFill>
                  <a:srgbClr val="4F637B"/>
                </a:solidFill>
                <a:latin typeface="Calibri" pitchFamily="34" charset="0"/>
                <a:ea typeface="Calibri" pitchFamily="34" charset="-122"/>
                <a:cs typeface="Calibri" pitchFamily="34" charset="-120"/>
              </a:rPr>
              <a:t>Temporal attention trên nhánh chữ</a:t>
            </a:r>
            <a:endParaRPr lang="en-US" sz="1300" dirty="0"/>
          </a:p>
          <a:p>
            <a:pPr marL="342900" indent="-342900">
              <a:spcAft>
                <a:spcPts val="800"/>
              </a:spcAft>
              <a:buSzPct val="100000"/>
              <a:buChar char="•"/>
            </a:pPr>
            <a:r>
              <a:rPr lang="en-US" sz="1300" dirty="0">
                <a:solidFill>
                  <a:srgbClr val="4F637B"/>
                </a:solidFill>
                <a:latin typeface="Calibri" pitchFamily="34" charset="0"/>
                <a:ea typeface="Calibri" pitchFamily="34" charset="-122"/>
                <a:cs typeface="Calibri" pitchFamily="34" charset="-120"/>
              </a:rPr>
              <a:t>Nối đặc trưng rồi chiếu về decoder</a:t>
            </a:r>
            <a:endParaRPr lang="en-US" sz="1300" dirty="0"/>
          </a:p>
        </p:txBody>
      </p:sp>
      <p:sp>
        <p:nvSpPr>
          <p:cNvPr id="23" name="Shape 20"/>
          <p:cNvSpPr/>
          <p:nvPr/>
        </p:nvSpPr>
        <p:spPr>
          <a:xfrm>
            <a:off x="8837447" y="3200400"/>
            <a:ext cx="68580" cy="0"/>
          </a:xfrm>
          <a:prstGeom prst="line">
            <a:avLst/>
          </a:prstGeom>
          <a:noFill/>
          <a:ln w="19050">
            <a:solidFill>
              <a:srgbClr val="8494A8"/>
            </a:solidFill>
            <a:prstDash val="solid"/>
            <a:tailEnd type="triangle"/>
          </a:ln>
        </p:spPr>
        <p:txBody>
          <a:bodyPr/>
          <a:lstStyle/>
          <a:p>
            <a:endParaRPr lang="en-US" sz="1300"/>
          </a:p>
        </p:txBody>
      </p:sp>
      <p:sp>
        <p:nvSpPr>
          <p:cNvPr id="24" name="Shape 21"/>
          <p:cNvSpPr/>
          <p:nvPr/>
        </p:nvSpPr>
        <p:spPr>
          <a:xfrm>
            <a:off x="8942603" y="1956816"/>
            <a:ext cx="2682164" cy="2651760"/>
          </a:xfrm>
          <a:prstGeom prst="roundRect">
            <a:avLst>
              <a:gd name="adj" fmla="val 3103"/>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sz="1300"/>
          </a:p>
        </p:txBody>
      </p:sp>
      <p:sp>
        <p:nvSpPr>
          <p:cNvPr id="25" name="Shape 22"/>
          <p:cNvSpPr/>
          <p:nvPr/>
        </p:nvSpPr>
        <p:spPr>
          <a:xfrm>
            <a:off x="9162059" y="2176272"/>
            <a:ext cx="365760" cy="365760"/>
          </a:xfrm>
          <a:prstGeom prst="ellipse">
            <a:avLst/>
          </a:prstGeom>
          <a:solidFill>
            <a:srgbClr val="0B8457"/>
          </a:solidFill>
          <a:ln/>
        </p:spPr>
        <p:txBody>
          <a:bodyPr/>
          <a:lstStyle/>
          <a:p>
            <a:endParaRPr lang="en-US" sz="1300"/>
          </a:p>
        </p:txBody>
      </p:sp>
      <p:sp>
        <p:nvSpPr>
          <p:cNvPr id="26" name="Text 23"/>
          <p:cNvSpPr/>
          <p:nvPr/>
        </p:nvSpPr>
        <p:spPr>
          <a:xfrm>
            <a:off x="9162059" y="21762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4"/>
          <p:cNvSpPr/>
          <p:nvPr/>
        </p:nvSpPr>
        <p:spPr>
          <a:xfrm>
            <a:off x="9600971" y="2157984"/>
            <a:ext cx="1804340" cy="402336"/>
          </a:xfrm>
          <a:prstGeom prst="rect">
            <a:avLst/>
          </a:prstGeom>
          <a:noFill/>
          <a:ln/>
        </p:spPr>
        <p:txBody>
          <a:bodyPr wrap="square" lIns="0" tIns="0" rIns="0" bIns="0" rtlCol="0" anchor="ctr"/>
          <a:lstStyle/>
          <a:p>
            <a:pPr marL="0" indent="0">
              <a:buNone/>
            </a:pPr>
            <a:r>
              <a:rPr lang="en-US" sz="1300" b="1" dirty="0">
                <a:solidFill>
                  <a:srgbClr val="14243A"/>
                </a:solidFill>
                <a:latin typeface="Calibri" pitchFamily="34" charset="0"/>
                <a:ea typeface="Calibri" pitchFamily="34" charset="-122"/>
                <a:cs typeface="Calibri" pitchFamily="34" charset="-120"/>
              </a:rPr>
              <a:t>Bộ giải mã</a:t>
            </a:r>
            <a:endParaRPr lang="en-US" sz="1300" dirty="0"/>
          </a:p>
        </p:txBody>
      </p:sp>
      <p:sp>
        <p:nvSpPr>
          <p:cNvPr id="28" name="Text 25"/>
          <p:cNvSpPr/>
          <p:nvPr/>
        </p:nvSpPr>
        <p:spPr>
          <a:xfrm>
            <a:off x="9162059" y="2688336"/>
            <a:ext cx="2243252" cy="17373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4F637B"/>
                </a:solidFill>
                <a:latin typeface="Calibri" pitchFamily="34" charset="0"/>
                <a:ea typeface="Calibri" pitchFamily="34" charset="-122"/>
                <a:cs typeface="Calibri" pitchFamily="34" charset="-120"/>
              </a:rPr>
              <a:t>MLP — phân loại đáp án</a:t>
            </a:r>
            <a:endParaRPr lang="en-US" sz="1300" dirty="0"/>
          </a:p>
          <a:p>
            <a:pPr marL="342900" indent="-342900">
              <a:spcAft>
                <a:spcPts val="800"/>
              </a:spcAft>
              <a:buSzPct val="100000"/>
              <a:buChar char="•"/>
            </a:pPr>
            <a:r>
              <a:rPr lang="en-US" sz="1300" dirty="0">
                <a:solidFill>
                  <a:srgbClr val="4F637B"/>
                </a:solidFill>
                <a:latin typeface="Calibri" pitchFamily="34" charset="0"/>
                <a:ea typeface="Calibri" pitchFamily="34" charset="-122"/>
                <a:cs typeface="Calibri" pitchFamily="34" charset="-120"/>
              </a:rPr>
              <a:t>GPT-2 124M — sinh câu</a:t>
            </a:r>
            <a:endParaRPr lang="en-US" sz="1300" dirty="0"/>
          </a:p>
          <a:p>
            <a:pPr marL="342900" indent="-342900">
              <a:spcAft>
                <a:spcPts val="800"/>
              </a:spcAft>
              <a:buSzPct val="100000"/>
              <a:buChar char="•"/>
            </a:pPr>
            <a:r>
              <a:rPr lang="en-US" sz="1300" dirty="0">
                <a:solidFill>
                  <a:srgbClr val="4F637B"/>
                </a:solidFill>
                <a:latin typeface="Calibri" pitchFamily="34" charset="0"/>
                <a:ea typeface="Calibri" pitchFamily="34" charset="-122"/>
                <a:cs typeface="Calibri" pitchFamily="34" charset="-120"/>
              </a:rPr>
              <a:t>Gemma + LoRA — LLM sinh câu</a:t>
            </a:r>
            <a:endParaRPr lang="en-US" sz="1300" dirty="0"/>
          </a:p>
        </p:txBody>
      </p:sp>
      <p:sp>
        <p:nvSpPr>
          <p:cNvPr id="29" name="Shape 26"/>
          <p:cNvSpPr/>
          <p:nvPr/>
        </p:nvSpPr>
        <p:spPr>
          <a:xfrm>
            <a:off x="566928" y="4828032"/>
            <a:ext cx="11057839" cy="1005840"/>
          </a:xfrm>
          <a:prstGeom prst="roundRect">
            <a:avLst>
              <a:gd name="adj" fmla="val 8182"/>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sz="1300"/>
          </a:p>
        </p:txBody>
      </p:sp>
      <p:sp>
        <p:nvSpPr>
          <p:cNvPr id="30" name="Text 27"/>
          <p:cNvSpPr/>
          <p:nvPr/>
        </p:nvSpPr>
        <p:spPr>
          <a:xfrm>
            <a:off x="841248" y="5029200"/>
            <a:ext cx="10509199" cy="621792"/>
          </a:xfrm>
          <a:prstGeom prst="rect">
            <a:avLst/>
          </a:prstGeom>
          <a:noFill/>
          <a:ln/>
        </p:spPr>
        <p:txBody>
          <a:bodyPr wrap="square" lIns="0" tIns="0" rIns="0" bIns="0" rtlCol="0" anchor="ctr"/>
          <a:lstStyle/>
          <a:p>
            <a:pPr marL="0" indent="0">
              <a:lnSpc>
                <a:spcPct val="114000"/>
              </a:lnSpc>
              <a:buNone/>
            </a:pPr>
            <a:r>
              <a:rPr lang="en-US" sz="1300" b="1" dirty="0">
                <a:solidFill>
                  <a:srgbClr val="14243A"/>
                </a:solidFill>
                <a:latin typeface="Calibri" pitchFamily="34" charset="0"/>
                <a:ea typeface="Calibri" pitchFamily="34" charset="-122"/>
                <a:cs typeface="Calibri" pitchFamily="34" charset="-120"/>
              </a:rPr>
              <a:t>Điểm chung của mọi nhánh sinh câu:  </a:t>
            </a:r>
            <a:r>
              <a:rPr lang="en-US" sz="1300" dirty="0">
                <a:solidFill>
                  <a:srgbClr val="4F637B"/>
                </a:solidFill>
                <a:latin typeface="Calibri" pitchFamily="34" charset="0"/>
                <a:ea typeface="Calibri" pitchFamily="34" charset="-122"/>
                <a:cs typeface="Calibri" pitchFamily="34" charset="-120"/>
              </a:rPr>
              <a:t>đặc trưng ảnh và đặc trưng câu hỏi được nối lại rồi chiếu thành prefix token đưa vào decoder. Số lượng prefix token chính là biến số then chốt của toàn bộ báo cáo — một token với Average Pooling, mười bảy token với Q-Former.</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5 · THIẾT LẬP</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Bảy nhóm thí nghiệm — từ nhẹ đến LLM</a:t>
            </a:r>
            <a:endParaRPr lang="en-US" sz="2900" dirty="0"/>
          </a:p>
        </p:txBody>
      </p:sp>
      <p:graphicFrame>
        <p:nvGraphicFramePr>
          <p:cNvPr id="30" name="Table 0"/>
          <p:cNvGraphicFramePr>
            <a:graphicFrameLocks noGrp="1"/>
          </p:cNvGraphicFramePr>
          <p:nvPr>
            <p:extLst>
              <p:ext uri="{D42A27DB-BD31-4B8C-83A1-F6EECF244321}">
                <p14:modId xmlns:p14="http://schemas.microsoft.com/office/powerpoint/2010/main" val="3712171698"/>
              </p:ext>
            </p:extLst>
          </p:nvPr>
        </p:nvGraphicFramePr>
        <p:xfrm>
          <a:off x="388416" y="1495818"/>
          <a:ext cx="11415165" cy="3658233"/>
        </p:xfrm>
        <a:graphic>
          <a:graphicData uri="http://schemas.openxmlformats.org/drawingml/2006/table">
            <a:tbl>
              <a:tblPr/>
              <a:tblGrid>
                <a:gridCol w="1415103">
                  <a:extLst>
                    <a:ext uri="{9D8B030D-6E8A-4147-A177-3AD203B41FA5}">
                      <a16:colId xmlns:a16="http://schemas.microsoft.com/office/drawing/2014/main" val="20000"/>
                    </a:ext>
                  </a:extLst>
                </a:gridCol>
                <a:gridCol w="3962289">
                  <a:extLst>
                    <a:ext uri="{9D8B030D-6E8A-4147-A177-3AD203B41FA5}">
                      <a16:colId xmlns:a16="http://schemas.microsoft.com/office/drawing/2014/main" val="20001"/>
                    </a:ext>
                  </a:extLst>
                </a:gridCol>
                <a:gridCol w="4622670">
                  <a:extLst>
                    <a:ext uri="{9D8B030D-6E8A-4147-A177-3AD203B41FA5}">
                      <a16:colId xmlns:a16="http://schemas.microsoft.com/office/drawing/2014/main" val="20002"/>
                    </a:ext>
                  </a:extLst>
                </a:gridCol>
                <a:gridCol w="1415103">
                  <a:extLst>
                    <a:ext uri="{9D8B030D-6E8A-4147-A177-3AD203B41FA5}">
                      <a16:colId xmlns:a16="http://schemas.microsoft.com/office/drawing/2014/main" val="20003"/>
                    </a:ext>
                  </a:extLst>
                </a:gridCol>
              </a:tblGrid>
              <a:tr h="406611">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Nhóm</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Là gì</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Kiến trúc: Ảnh → Chữ → Giải mã</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Số cấu hình</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extLst>
                  <a:ext uri="{0D108BD9-81ED-4DB2-BD59-A6C34878D82A}">
                    <a16:rowId xmlns:a16="http://schemas.microsoft.com/office/drawing/2014/main" val="10000"/>
                  </a:ext>
                </a:extLst>
              </a:tr>
              <a:tr h="406611">
                <a:tc>
                  <a:txBody>
                    <a:bodyPr/>
                    <a:lstStyle/>
                    <a:p>
                      <a:pPr marL="0" indent="0" algn="l">
                        <a:buNone/>
                      </a:pPr>
                      <a:r>
                        <a:rPr lang="en-US" sz="1300" b="1" dirty="0">
                          <a:solidFill>
                            <a:srgbClr val="14243A"/>
                          </a:solidFill>
                          <a:latin typeface="Calibri" pitchFamily="34" charset="0"/>
                          <a:ea typeface="Calibri" pitchFamily="34" charset="-122"/>
                          <a:cs typeface="Calibri" pitchFamily="34" charset="-120"/>
                        </a:rPr>
                        <a:t>A1 · SFT</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300" dirty="0">
                          <a:solidFill>
                            <a:srgbClr val="4F637B"/>
                          </a:solidFill>
                          <a:latin typeface="Calibri" pitchFamily="34" charset="0"/>
                          <a:ea typeface="Calibri" pitchFamily="34" charset="-122"/>
                          <a:cs typeface="Calibri" pitchFamily="34" charset="-120"/>
                        </a:rPr>
                        <a:t>Baseline nhẹ, KHÔNG dùng chú ý</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300" dirty="0">
                          <a:solidFill>
                            <a:srgbClr val="4F637B"/>
                          </a:solidFill>
                          <a:latin typeface="Calibri" pitchFamily="34" charset="0"/>
                          <a:ea typeface="Calibri" pitchFamily="34" charset="-122"/>
                          <a:cs typeface="Calibri" pitchFamily="34" charset="-120"/>
                        </a:rPr>
                        <a:t>CustomCNN → BiLSTM/Transformer → MLP</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300" dirty="0">
                          <a:solidFill>
                            <a:srgbClr val="4F637B"/>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1"/>
                  </a:ext>
                </a:extLst>
              </a:tr>
              <a:tr h="406611">
                <a:tc>
                  <a:txBody>
                    <a:bodyPr/>
                    <a:lstStyle/>
                    <a:p>
                      <a:pPr marL="0" indent="0" algn="l">
                        <a:buNone/>
                      </a:pPr>
                      <a:r>
                        <a:rPr lang="en-US" sz="1300" b="1" dirty="0">
                          <a:solidFill>
                            <a:srgbClr val="14243A"/>
                          </a:solidFill>
                          <a:latin typeface="Calibri" pitchFamily="34" charset="0"/>
                          <a:ea typeface="Calibri" pitchFamily="34" charset="-122"/>
                          <a:cs typeface="Calibri" pitchFamily="34" charset="-120"/>
                        </a:rPr>
                        <a:t>A2 · SFT</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300" dirty="0">
                          <a:solidFill>
                            <a:srgbClr val="4F637B"/>
                          </a:solidFill>
                          <a:latin typeface="Calibri" pitchFamily="34" charset="0"/>
                          <a:ea typeface="Calibri" pitchFamily="34" charset="-122"/>
                          <a:cs typeface="Calibri" pitchFamily="34" charset="-120"/>
                        </a:rPr>
                        <a:t>Như A1 nhưng BẬT chú ý (SE-block ảnh + Temporal chữ)</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300" dirty="0">
                          <a:solidFill>
                            <a:srgbClr val="4F637B"/>
                          </a:solidFill>
                          <a:latin typeface="Calibri" pitchFamily="34" charset="0"/>
                          <a:ea typeface="Calibri" pitchFamily="34" charset="-122"/>
                          <a:cs typeface="Calibri" pitchFamily="34" charset="-120"/>
                        </a:rPr>
                        <a:t>CustomCNN +attn → BiLSTM/Transformer +attn → MLP</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300" dirty="0">
                          <a:solidFill>
                            <a:srgbClr val="4F637B"/>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2"/>
                  </a:ext>
                </a:extLst>
              </a:tr>
              <a:tr h="457437">
                <a:tc>
                  <a:txBody>
                    <a:bodyPr/>
                    <a:lstStyle/>
                    <a:p>
                      <a:pPr marL="0" indent="0" algn="l">
                        <a:buNone/>
                      </a:pPr>
                      <a:r>
                        <a:rPr lang="en-US" sz="1300" b="1" dirty="0">
                          <a:solidFill>
                            <a:srgbClr val="14243A"/>
                          </a:solidFill>
                          <a:latin typeface="Calibri" pitchFamily="34" charset="0"/>
                          <a:ea typeface="Calibri" pitchFamily="34" charset="-122"/>
                          <a:cs typeface="Calibri" pitchFamily="34" charset="-120"/>
                        </a:rPr>
                        <a:t>P · SFT</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300" dirty="0">
                          <a:solidFill>
                            <a:srgbClr val="4F637B"/>
                          </a:solidFill>
                          <a:latin typeface="Calibri" pitchFamily="34" charset="0"/>
                          <a:ea typeface="Calibri" pitchFamily="34" charset="-122"/>
                          <a:cs typeface="Calibri" pitchFamily="34" charset="-120"/>
                        </a:rPr>
                        <a:t>Mô hình chính, encoder mạnh hơn: ResNet đóng băng hoặc encoder y khoa</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300" dirty="0">
                          <a:solidFill>
                            <a:srgbClr val="4F637B"/>
                          </a:solidFill>
                          <a:latin typeface="Calibri" pitchFamily="34" charset="0"/>
                          <a:ea typeface="Calibri" pitchFamily="34" charset="-122"/>
                          <a:cs typeface="Calibri" pitchFamily="34" charset="-120"/>
                        </a:rPr>
                        <a:t>ResNet-18 / PubMedCLIP → LSTM/Trans / PubMedBERT → MLP hoặc GPT-2</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300" dirty="0">
                          <a:solidFill>
                            <a:srgbClr val="4F637B"/>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3"/>
                  </a:ext>
                </a:extLst>
              </a:tr>
              <a:tr h="457437">
                <a:tc>
                  <a:txBody>
                    <a:bodyPr/>
                    <a:lstStyle/>
                    <a:p>
                      <a:pPr marL="0" indent="0" algn="l">
                        <a:buNone/>
                      </a:pPr>
                      <a:r>
                        <a:rPr lang="en-US" sz="1300" b="1" dirty="0">
                          <a:solidFill>
                            <a:srgbClr val="14243A"/>
                          </a:solidFill>
                          <a:latin typeface="Calibri" pitchFamily="34" charset="0"/>
                          <a:ea typeface="Calibri" pitchFamily="34" charset="-122"/>
                          <a:cs typeface="Calibri" pitchFamily="34" charset="-120"/>
                        </a:rPr>
                        <a:t>R · Rules</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300" dirty="0">
                          <a:solidFill>
                            <a:srgbClr val="4F637B"/>
                          </a:solidFill>
                          <a:latin typeface="Calibri" pitchFamily="34" charset="0"/>
                          <a:ea typeface="Calibri" pitchFamily="34" charset="-122"/>
                          <a:cs typeface="Calibri" pitchFamily="34" charset="-120"/>
                        </a:rPr>
                        <a:t>Lấy checkpoint P_pubmed_gpt2 rồi ràng buộc giải mã cho câu đóng về yes/no</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300" dirty="0">
                          <a:solidFill>
                            <a:srgbClr val="4F637B"/>
                          </a:solidFill>
                          <a:latin typeface="Calibri" pitchFamily="34" charset="0"/>
                          <a:ea typeface="Calibri" pitchFamily="34" charset="-122"/>
                          <a:cs typeface="Calibri" pitchFamily="34" charset="-120"/>
                        </a:rPr>
                        <a:t>PubMedCLIP → PubMedBERT → GPT-2 + luật giải mã</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300" dirty="0">
                          <a:solidFill>
                            <a:srgbClr val="4F637B"/>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4"/>
                  </a:ext>
                </a:extLst>
              </a:tr>
              <a:tr h="457437">
                <a:tc>
                  <a:txBody>
                    <a:bodyPr/>
                    <a:lstStyle/>
                    <a:p>
                      <a:pPr marL="0" indent="0" algn="l">
                        <a:buNone/>
                      </a:pPr>
                      <a:r>
                        <a:rPr lang="en-US" sz="1300" b="1" dirty="0">
                          <a:solidFill>
                            <a:srgbClr val="14243A"/>
                          </a:solidFill>
                          <a:latin typeface="Calibri" pitchFamily="34" charset="0"/>
                          <a:ea typeface="Calibri" pitchFamily="34" charset="-122"/>
                          <a:cs typeface="Calibri" pitchFamily="34" charset="-120"/>
                        </a:rPr>
                        <a:t>D · RL</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300" dirty="0">
                          <a:solidFill>
                            <a:srgbClr val="4F637B"/>
                          </a:solidFill>
                          <a:latin typeface="Calibri" pitchFamily="34" charset="0"/>
                          <a:ea typeface="Calibri" pitchFamily="34" charset="-122"/>
                          <a:cs typeface="Calibri" pitchFamily="34" charset="-120"/>
                        </a:rPr>
                        <a:t>Học tăng cường SCST trên checkpoint SFT (reward từ vựng hoặc ngữ nghĩa)</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300" dirty="0">
                          <a:solidFill>
                            <a:srgbClr val="4F637B"/>
                          </a:solidFill>
                          <a:latin typeface="Calibri" pitchFamily="34" charset="0"/>
                          <a:ea typeface="Calibri" pitchFamily="34" charset="-122"/>
                          <a:cs typeface="Calibri" pitchFamily="34" charset="-120"/>
                        </a:rPr>
                        <a:t>PubMedCLIP → PubMedBERT → GPT-2 + policy gradient</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300" dirty="0">
                          <a:solidFill>
                            <a:srgbClr val="4F637B"/>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5"/>
                  </a:ext>
                </a:extLst>
              </a:tr>
              <a:tr h="406611">
                <a:tc>
                  <a:txBody>
                    <a:bodyPr/>
                    <a:lstStyle/>
                    <a:p>
                      <a:pPr marL="0" indent="0" algn="l">
                        <a:buNone/>
                      </a:pPr>
                      <a:r>
                        <a:rPr lang="en-US" sz="1300" b="1" dirty="0">
                          <a:solidFill>
                            <a:srgbClr val="14243A"/>
                          </a:solidFill>
                          <a:latin typeface="Calibri" pitchFamily="34" charset="0"/>
                          <a:ea typeface="Calibri" pitchFamily="34" charset="-122"/>
                          <a:cs typeface="Calibri" pitchFamily="34" charset="-120"/>
                        </a:rPr>
                        <a:t>Q · SFT</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300" dirty="0">
                          <a:solidFill>
                            <a:srgbClr val="4F637B"/>
                          </a:solidFill>
                          <a:latin typeface="Calibri" pitchFamily="34" charset="0"/>
                          <a:ea typeface="Calibri" pitchFamily="34" charset="-122"/>
                          <a:cs typeface="Calibri" pitchFamily="34" charset="-120"/>
                        </a:rPr>
                        <a:t>Ablation bộ chiếu ảnh: gộp 1 token so với Q-Former 17 token</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300" dirty="0">
                          <a:solidFill>
                            <a:srgbClr val="4F637B"/>
                          </a:solidFill>
                          <a:latin typeface="Calibri" pitchFamily="34" charset="0"/>
                          <a:ea typeface="Calibri" pitchFamily="34" charset="-122"/>
                          <a:cs typeface="Calibri" pitchFamily="34" charset="-120"/>
                        </a:rPr>
                        <a:t>PubMedCLIP → PubMedBERT → Q-Former → GPT-2</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300" dirty="0">
                          <a:solidFill>
                            <a:srgbClr val="4F637B"/>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6"/>
                  </a:ext>
                </a:extLst>
              </a:tr>
              <a:tr h="406611">
                <a:tc>
                  <a:txBody>
                    <a:bodyPr/>
                    <a:lstStyle/>
                    <a:p>
                      <a:pPr marL="0" indent="0" algn="l">
                        <a:buNone/>
                      </a:pPr>
                      <a:r>
                        <a:rPr lang="en-US" sz="1300" b="1" dirty="0">
                          <a:solidFill>
                            <a:srgbClr val="14243A"/>
                          </a:solidFill>
                          <a:latin typeface="Calibri" pitchFamily="34" charset="0"/>
                          <a:ea typeface="Calibri" pitchFamily="34" charset="-122"/>
                          <a:cs typeface="Calibri" pitchFamily="34" charset="-120"/>
                        </a:rPr>
                        <a:t>G · LoRA-LLM</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300" dirty="0">
                          <a:solidFill>
                            <a:srgbClr val="4F637B"/>
                          </a:solidFill>
                          <a:latin typeface="Calibri" pitchFamily="34" charset="0"/>
                          <a:ea typeface="Calibri" pitchFamily="34" charset="-122"/>
                          <a:cs typeface="Calibri" pitchFamily="34" charset="-120"/>
                        </a:rPr>
                        <a:t>Mô hình ngôn ngữ lớn, tinh chỉnh nhẹ bằng LoRA (2B và 4B)</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300" dirty="0">
                          <a:solidFill>
                            <a:srgbClr val="4F637B"/>
                          </a:solidFill>
                          <a:latin typeface="Calibri" pitchFamily="34" charset="0"/>
                          <a:ea typeface="Calibri" pitchFamily="34" charset="-122"/>
                          <a:cs typeface="Calibri" pitchFamily="34" charset="-120"/>
                        </a:rPr>
                        <a:t>VLM hợp nhất (Gemma) + adapter LoRA</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300" dirty="0">
                          <a:solidFill>
                            <a:srgbClr val="4F637B"/>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7"/>
                  </a:ext>
                </a:extLst>
              </a:tr>
            </a:tbl>
          </a:graphicData>
        </a:graphic>
      </p:graphicFrame>
      <p:sp>
        <p:nvSpPr>
          <p:cNvPr id="6" name="Text 2"/>
          <p:cNvSpPr/>
          <p:nvPr/>
        </p:nvSpPr>
        <p:spPr>
          <a:xfrm>
            <a:off x="567080" y="5343140"/>
            <a:ext cx="11057839" cy="786384"/>
          </a:xfrm>
          <a:prstGeom prst="rect">
            <a:avLst/>
          </a:prstGeom>
          <a:noFill/>
          <a:ln/>
        </p:spPr>
        <p:txBody>
          <a:bodyPr wrap="square" lIns="0" tIns="0" rIns="0" bIns="0" rtlCol="0" anchor="ctr"/>
          <a:lstStyle/>
          <a:p>
            <a:pPr marL="0" indent="0">
              <a:lnSpc>
                <a:spcPct val="114000"/>
              </a:lnSpc>
              <a:buNone/>
            </a:pPr>
            <a:r>
              <a:rPr lang="en-US" sz="1150" i="1" dirty="0">
                <a:solidFill>
                  <a:srgbClr val="8494A8"/>
                </a:solidFill>
                <a:latin typeface="Calibri" pitchFamily="34" charset="0"/>
                <a:ea typeface="Calibri" pitchFamily="34" charset="-122"/>
                <a:cs typeface="Calibri" pitchFamily="34" charset="-120"/>
              </a:rPr>
              <a:t>Nhóm A1 đến Q được huấn luyện trong cùng một track; nhóm G được tinh chỉnh ở giai đoạn trước rồi chấm lại bằng chính bộ chấm này để mọi con số nằm chung bảng trên cùng điều kiện. Lưu ý Q_pooled thực chất là tên gọi khác của P_pubmed_gpt2 bản Tuned, và các run RL đều quay về checkpoint SFT của chúng — nên số bộ trọng số thật sự ít hơn số tên run.</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5 · THIẾT LẬP</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Đọc tên mô hình như thế nào</a:t>
            </a:r>
            <a:endParaRPr lang="en-US" sz="2900" dirty="0"/>
          </a:p>
        </p:txBody>
      </p:sp>
      <p:sp>
        <p:nvSpPr>
          <p:cNvPr id="5" name="Shape 2"/>
          <p:cNvSpPr/>
          <p:nvPr/>
        </p:nvSpPr>
        <p:spPr>
          <a:xfrm>
            <a:off x="566928" y="1408176"/>
            <a:ext cx="11057839" cy="1225296"/>
          </a:xfrm>
          <a:prstGeom prst="roundRect">
            <a:avLst>
              <a:gd name="adj" fmla="val 6716"/>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6" name="Text 3"/>
          <p:cNvSpPr/>
          <p:nvPr/>
        </p:nvSpPr>
        <p:spPr>
          <a:xfrm>
            <a:off x="841248" y="1591056"/>
            <a:ext cx="10509199" cy="402336"/>
          </a:xfrm>
          <a:prstGeom prst="rect">
            <a:avLst/>
          </a:prstGeom>
          <a:noFill/>
          <a:ln/>
        </p:spPr>
        <p:txBody>
          <a:bodyPr wrap="square" lIns="0" tIns="0" rIns="0" bIns="0" rtlCol="0" anchor="ctr"/>
          <a:lstStyle/>
          <a:p>
            <a:pPr marL="0" indent="0" algn="ctr">
              <a:buNone/>
            </a:pPr>
            <a:r>
              <a:rPr lang="en-US" sz="2000" b="1" dirty="0">
                <a:solidFill>
                  <a:srgbClr val="1466C0"/>
                </a:solidFill>
                <a:latin typeface="Courier New" pitchFamily="34" charset="0"/>
                <a:ea typeface="Courier New" pitchFamily="34" charset="-122"/>
                <a:cs typeface="Courier New" pitchFamily="34" charset="-120"/>
              </a:rPr>
              <a:t>Tiền_tố  _  Thành_phần_chính  _  Biến_thể</a:t>
            </a:r>
            <a:endParaRPr lang="en-US" sz="2000" dirty="0"/>
          </a:p>
        </p:txBody>
      </p:sp>
      <p:sp>
        <p:nvSpPr>
          <p:cNvPr id="7" name="Text 4"/>
          <p:cNvSpPr/>
          <p:nvPr/>
        </p:nvSpPr>
        <p:spPr>
          <a:xfrm>
            <a:off x="841248" y="2048256"/>
            <a:ext cx="10509199" cy="402336"/>
          </a:xfrm>
          <a:prstGeom prst="rect">
            <a:avLst/>
          </a:prstGeom>
          <a:noFill/>
          <a:ln/>
        </p:spPr>
        <p:txBody>
          <a:bodyPr wrap="square" lIns="0" tIns="0" rIns="0" bIns="0" rtlCol="0" anchor="ctr"/>
          <a:lstStyle/>
          <a:p>
            <a:pPr marL="0" indent="0" algn="ctr">
              <a:lnSpc>
                <a:spcPct val="110000"/>
              </a:lnSpc>
              <a:buNone/>
            </a:pPr>
            <a:r>
              <a:rPr lang="en-US" sz="1150" dirty="0">
                <a:solidFill>
                  <a:srgbClr val="4F637B"/>
                </a:solidFill>
                <a:latin typeface="Calibri" pitchFamily="34" charset="0"/>
                <a:ea typeface="Calibri" pitchFamily="34" charset="-122"/>
                <a:cs typeface="Calibri" pitchFamily="34" charset="-120"/>
              </a:rPr>
              <a:t>Ví dụ:  P_pubmed_gpt2  =  nhóm P  ·  encoder PubMed (CLIP + BERT)  ·  decoder GPT-2          |          A1_lstm_all  =  nhóm A1  ·  encoder chữ LSTM  ·  biến thể train toàn bộ</a:t>
            </a:r>
            <a:endParaRPr lang="en-US" sz="1150" dirty="0"/>
          </a:p>
        </p:txBody>
      </p:sp>
      <p:sp>
        <p:nvSpPr>
          <p:cNvPr id="8" name="Shape 5"/>
          <p:cNvSpPr/>
          <p:nvPr/>
        </p:nvSpPr>
        <p:spPr>
          <a:xfrm>
            <a:off x="566928" y="2798064"/>
            <a:ext cx="2682164" cy="2139696"/>
          </a:xfrm>
          <a:prstGeom prst="roundRect">
            <a:avLst>
              <a:gd name="adj" fmla="val 3846"/>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9" name="Text 6"/>
          <p:cNvSpPr/>
          <p:nvPr/>
        </p:nvSpPr>
        <p:spPr>
          <a:xfrm>
            <a:off x="786384" y="2962656"/>
            <a:ext cx="2243252" cy="274320"/>
          </a:xfrm>
          <a:prstGeom prst="rect">
            <a:avLst/>
          </a:prstGeom>
          <a:noFill/>
          <a:ln/>
        </p:spPr>
        <p:txBody>
          <a:bodyPr wrap="square" lIns="0" tIns="0" rIns="0" bIns="0" rtlCol="0" anchor="ctr"/>
          <a:lstStyle/>
          <a:p>
            <a:pPr marL="0" indent="0">
              <a:buNone/>
            </a:pPr>
            <a:r>
              <a:rPr lang="en-US" sz="1300" b="1" dirty="0">
                <a:solidFill>
                  <a:srgbClr val="1466C0"/>
                </a:solidFill>
                <a:latin typeface="Calibri" pitchFamily="34" charset="0"/>
                <a:ea typeface="Calibri" pitchFamily="34" charset="-122"/>
                <a:cs typeface="Calibri" pitchFamily="34" charset="-120"/>
              </a:rPr>
              <a:t>Ảnh</a:t>
            </a:r>
            <a:endParaRPr lang="en-US" sz="1300" dirty="0"/>
          </a:p>
        </p:txBody>
      </p:sp>
      <p:sp>
        <p:nvSpPr>
          <p:cNvPr id="10" name="Shape 7"/>
          <p:cNvSpPr/>
          <p:nvPr/>
        </p:nvSpPr>
        <p:spPr>
          <a:xfrm>
            <a:off x="786384" y="3328416"/>
            <a:ext cx="1060704" cy="256032"/>
          </a:xfrm>
          <a:prstGeom prst="roundRect">
            <a:avLst>
              <a:gd name="adj" fmla="val 21429"/>
            </a:avLst>
          </a:prstGeom>
          <a:solidFill>
            <a:srgbClr val="F1F6FC"/>
          </a:solidFill>
          <a:ln w="12700">
            <a:solidFill>
              <a:srgbClr val="1466C0"/>
            </a:solidFill>
            <a:prstDash val="solid"/>
          </a:ln>
        </p:spPr>
        <p:txBody>
          <a:bodyPr/>
          <a:lstStyle/>
          <a:p>
            <a:endParaRPr lang="en-US"/>
          </a:p>
        </p:txBody>
      </p:sp>
      <p:sp>
        <p:nvSpPr>
          <p:cNvPr id="11" name="Text 8"/>
          <p:cNvSpPr/>
          <p:nvPr/>
        </p:nvSpPr>
        <p:spPr>
          <a:xfrm>
            <a:off x="786384" y="3328416"/>
            <a:ext cx="1060704" cy="256032"/>
          </a:xfrm>
          <a:prstGeom prst="rect">
            <a:avLst/>
          </a:prstGeom>
          <a:noFill/>
          <a:ln/>
        </p:spPr>
        <p:txBody>
          <a:bodyPr wrap="square" lIns="0" tIns="0" rIns="0" bIns="0" rtlCol="0" anchor="ctr"/>
          <a:lstStyle/>
          <a:p>
            <a:pPr marL="0" indent="0" algn="ctr">
              <a:buNone/>
            </a:pPr>
            <a:r>
              <a:rPr lang="en-US" sz="1000" b="1" dirty="0">
                <a:solidFill>
                  <a:srgbClr val="1466C0"/>
                </a:solidFill>
                <a:latin typeface="Courier New" pitchFamily="34" charset="0"/>
                <a:ea typeface="Courier New" pitchFamily="34" charset="-122"/>
                <a:cs typeface="Courier New" pitchFamily="34" charset="-120"/>
              </a:rPr>
              <a:t>cnn</a:t>
            </a:r>
            <a:endParaRPr lang="en-US" sz="1000" dirty="0"/>
          </a:p>
        </p:txBody>
      </p:sp>
      <p:sp>
        <p:nvSpPr>
          <p:cNvPr id="12" name="Text 9"/>
          <p:cNvSpPr/>
          <p:nvPr/>
        </p:nvSpPr>
        <p:spPr>
          <a:xfrm>
            <a:off x="1901952" y="3328416"/>
            <a:ext cx="1127684" cy="256032"/>
          </a:xfrm>
          <a:prstGeom prst="rect">
            <a:avLst/>
          </a:prstGeom>
          <a:noFill/>
          <a:ln/>
        </p:spPr>
        <p:txBody>
          <a:bodyPr wrap="square" lIns="0" tIns="0" rIns="0" bIns="0" rtlCol="0" anchor="ctr"/>
          <a:lstStyle/>
          <a:p>
            <a:pPr marL="0" indent="0">
              <a:buNone/>
            </a:pPr>
            <a:r>
              <a:rPr lang="en-US" sz="1050" dirty="0">
                <a:solidFill>
                  <a:srgbClr val="4F637B"/>
                </a:solidFill>
                <a:latin typeface="Calibri" pitchFamily="34" charset="0"/>
                <a:ea typeface="Calibri" pitchFamily="34" charset="-122"/>
                <a:cs typeface="Calibri" pitchFamily="34" charset="-120"/>
              </a:rPr>
              <a:t>CNN tự viết</a:t>
            </a:r>
            <a:endParaRPr lang="en-US" sz="1050" dirty="0"/>
          </a:p>
        </p:txBody>
      </p:sp>
      <p:sp>
        <p:nvSpPr>
          <p:cNvPr id="13" name="Shape 10"/>
          <p:cNvSpPr/>
          <p:nvPr/>
        </p:nvSpPr>
        <p:spPr>
          <a:xfrm>
            <a:off x="786384" y="3712464"/>
            <a:ext cx="1060704" cy="256032"/>
          </a:xfrm>
          <a:prstGeom prst="roundRect">
            <a:avLst>
              <a:gd name="adj" fmla="val 21429"/>
            </a:avLst>
          </a:prstGeom>
          <a:solidFill>
            <a:srgbClr val="F1F6FC"/>
          </a:solidFill>
          <a:ln w="12700">
            <a:solidFill>
              <a:srgbClr val="1466C0"/>
            </a:solidFill>
            <a:prstDash val="solid"/>
          </a:ln>
        </p:spPr>
        <p:txBody>
          <a:bodyPr/>
          <a:lstStyle/>
          <a:p>
            <a:endParaRPr lang="en-US"/>
          </a:p>
        </p:txBody>
      </p:sp>
      <p:sp>
        <p:nvSpPr>
          <p:cNvPr id="14" name="Text 11"/>
          <p:cNvSpPr/>
          <p:nvPr/>
        </p:nvSpPr>
        <p:spPr>
          <a:xfrm>
            <a:off x="786384" y="3712464"/>
            <a:ext cx="1060704" cy="256032"/>
          </a:xfrm>
          <a:prstGeom prst="rect">
            <a:avLst/>
          </a:prstGeom>
          <a:noFill/>
          <a:ln/>
        </p:spPr>
        <p:txBody>
          <a:bodyPr wrap="square" lIns="0" tIns="0" rIns="0" bIns="0" rtlCol="0" anchor="ctr"/>
          <a:lstStyle/>
          <a:p>
            <a:pPr marL="0" indent="0" algn="ctr">
              <a:buNone/>
            </a:pPr>
            <a:r>
              <a:rPr lang="en-US" sz="1000" b="1" dirty="0">
                <a:solidFill>
                  <a:srgbClr val="1466C0"/>
                </a:solidFill>
                <a:latin typeface="Courier New" pitchFamily="34" charset="0"/>
                <a:ea typeface="Courier New" pitchFamily="34" charset="-122"/>
                <a:cs typeface="Courier New" pitchFamily="34" charset="-120"/>
              </a:rPr>
              <a:t>resnet</a:t>
            </a:r>
            <a:endParaRPr lang="en-US" sz="1000" dirty="0"/>
          </a:p>
        </p:txBody>
      </p:sp>
      <p:sp>
        <p:nvSpPr>
          <p:cNvPr id="15" name="Text 12"/>
          <p:cNvSpPr/>
          <p:nvPr/>
        </p:nvSpPr>
        <p:spPr>
          <a:xfrm>
            <a:off x="1901952" y="3712464"/>
            <a:ext cx="1127684" cy="256032"/>
          </a:xfrm>
          <a:prstGeom prst="rect">
            <a:avLst/>
          </a:prstGeom>
          <a:noFill/>
          <a:ln/>
        </p:spPr>
        <p:txBody>
          <a:bodyPr wrap="square" lIns="0" tIns="0" rIns="0" bIns="0" rtlCol="0" anchor="ctr"/>
          <a:lstStyle/>
          <a:p>
            <a:pPr marL="0" indent="0">
              <a:buNone/>
            </a:pPr>
            <a:r>
              <a:rPr lang="en-US" sz="1050" dirty="0">
                <a:solidFill>
                  <a:srgbClr val="4F637B"/>
                </a:solidFill>
                <a:latin typeface="Calibri" pitchFamily="34" charset="0"/>
                <a:ea typeface="Calibri" pitchFamily="34" charset="-122"/>
                <a:cs typeface="Calibri" pitchFamily="34" charset="-120"/>
              </a:rPr>
              <a:t>ResNet-18 đóng băng</a:t>
            </a:r>
            <a:endParaRPr lang="en-US" sz="1050" dirty="0"/>
          </a:p>
        </p:txBody>
      </p:sp>
      <p:sp>
        <p:nvSpPr>
          <p:cNvPr id="16" name="Shape 13"/>
          <p:cNvSpPr/>
          <p:nvPr/>
        </p:nvSpPr>
        <p:spPr>
          <a:xfrm>
            <a:off x="786384" y="4096512"/>
            <a:ext cx="1060704" cy="256032"/>
          </a:xfrm>
          <a:prstGeom prst="roundRect">
            <a:avLst>
              <a:gd name="adj" fmla="val 21429"/>
            </a:avLst>
          </a:prstGeom>
          <a:solidFill>
            <a:srgbClr val="F1F6FC"/>
          </a:solidFill>
          <a:ln w="12700">
            <a:solidFill>
              <a:srgbClr val="1466C0"/>
            </a:solidFill>
            <a:prstDash val="solid"/>
          </a:ln>
        </p:spPr>
        <p:txBody>
          <a:bodyPr/>
          <a:lstStyle/>
          <a:p>
            <a:endParaRPr lang="en-US"/>
          </a:p>
        </p:txBody>
      </p:sp>
      <p:sp>
        <p:nvSpPr>
          <p:cNvPr id="17" name="Text 14"/>
          <p:cNvSpPr/>
          <p:nvPr/>
        </p:nvSpPr>
        <p:spPr>
          <a:xfrm>
            <a:off x="786384" y="4096512"/>
            <a:ext cx="1060704" cy="256032"/>
          </a:xfrm>
          <a:prstGeom prst="rect">
            <a:avLst/>
          </a:prstGeom>
          <a:noFill/>
          <a:ln/>
        </p:spPr>
        <p:txBody>
          <a:bodyPr wrap="square" lIns="0" tIns="0" rIns="0" bIns="0" rtlCol="0" anchor="ctr"/>
          <a:lstStyle/>
          <a:p>
            <a:pPr marL="0" indent="0" algn="ctr">
              <a:buNone/>
            </a:pPr>
            <a:r>
              <a:rPr lang="en-US" sz="1000" b="1" dirty="0">
                <a:solidFill>
                  <a:srgbClr val="1466C0"/>
                </a:solidFill>
                <a:latin typeface="Courier New" pitchFamily="34" charset="0"/>
                <a:ea typeface="Courier New" pitchFamily="34" charset="-122"/>
                <a:cs typeface="Courier New" pitchFamily="34" charset="-120"/>
              </a:rPr>
              <a:t>pubmed</a:t>
            </a:r>
            <a:endParaRPr lang="en-US" sz="1000" dirty="0"/>
          </a:p>
        </p:txBody>
      </p:sp>
      <p:sp>
        <p:nvSpPr>
          <p:cNvPr id="18" name="Text 15"/>
          <p:cNvSpPr/>
          <p:nvPr/>
        </p:nvSpPr>
        <p:spPr>
          <a:xfrm>
            <a:off x="1901952" y="4096512"/>
            <a:ext cx="1127684" cy="256032"/>
          </a:xfrm>
          <a:prstGeom prst="rect">
            <a:avLst/>
          </a:prstGeom>
          <a:noFill/>
          <a:ln/>
        </p:spPr>
        <p:txBody>
          <a:bodyPr wrap="square" lIns="0" tIns="0" rIns="0" bIns="0" rtlCol="0" anchor="ctr"/>
          <a:lstStyle/>
          <a:p>
            <a:pPr marL="0" indent="0">
              <a:buNone/>
            </a:pPr>
            <a:r>
              <a:rPr lang="en-US" sz="1050" dirty="0">
                <a:solidFill>
                  <a:srgbClr val="4F637B"/>
                </a:solidFill>
                <a:latin typeface="Calibri" pitchFamily="34" charset="0"/>
                <a:ea typeface="Calibri" pitchFamily="34" charset="-122"/>
                <a:cs typeface="Calibri" pitchFamily="34" charset="-120"/>
              </a:rPr>
              <a:t>PubMedCLIP y khoa</a:t>
            </a:r>
            <a:endParaRPr lang="en-US" sz="1050" dirty="0"/>
          </a:p>
        </p:txBody>
      </p:sp>
      <p:sp>
        <p:nvSpPr>
          <p:cNvPr id="19" name="Shape 16"/>
          <p:cNvSpPr/>
          <p:nvPr/>
        </p:nvSpPr>
        <p:spPr>
          <a:xfrm>
            <a:off x="3358820" y="2798064"/>
            <a:ext cx="2682164" cy="2139696"/>
          </a:xfrm>
          <a:prstGeom prst="roundRect">
            <a:avLst>
              <a:gd name="adj" fmla="val 3846"/>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20" name="Text 17"/>
          <p:cNvSpPr/>
          <p:nvPr/>
        </p:nvSpPr>
        <p:spPr>
          <a:xfrm>
            <a:off x="3578276" y="2962656"/>
            <a:ext cx="2243252" cy="274320"/>
          </a:xfrm>
          <a:prstGeom prst="rect">
            <a:avLst/>
          </a:prstGeom>
          <a:noFill/>
          <a:ln/>
        </p:spPr>
        <p:txBody>
          <a:bodyPr wrap="square" lIns="0" tIns="0" rIns="0" bIns="0" rtlCol="0" anchor="ctr"/>
          <a:lstStyle/>
          <a:p>
            <a:pPr marL="0" indent="0">
              <a:buNone/>
            </a:pPr>
            <a:r>
              <a:rPr lang="en-US" sz="1300" b="1" dirty="0">
                <a:solidFill>
                  <a:srgbClr val="1466C0"/>
                </a:solidFill>
                <a:latin typeface="Calibri" pitchFamily="34" charset="0"/>
                <a:ea typeface="Calibri" pitchFamily="34" charset="-122"/>
                <a:cs typeface="Calibri" pitchFamily="34" charset="-120"/>
              </a:rPr>
              <a:t>Chữ</a:t>
            </a:r>
            <a:endParaRPr lang="en-US" sz="1300" dirty="0"/>
          </a:p>
        </p:txBody>
      </p:sp>
      <p:sp>
        <p:nvSpPr>
          <p:cNvPr id="21" name="Shape 18"/>
          <p:cNvSpPr/>
          <p:nvPr/>
        </p:nvSpPr>
        <p:spPr>
          <a:xfrm>
            <a:off x="3578276" y="3328416"/>
            <a:ext cx="1060704" cy="256032"/>
          </a:xfrm>
          <a:prstGeom prst="roundRect">
            <a:avLst>
              <a:gd name="adj" fmla="val 21429"/>
            </a:avLst>
          </a:prstGeom>
          <a:solidFill>
            <a:srgbClr val="F1F6FC"/>
          </a:solidFill>
          <a:ln w="12700">
            <a:solidFill>
              <a:srgbClr val="1466C0"/>
            </a:solidFill>
            <a:prstDash val="solid"/>
          </a:ln>
        </p:spPr>
        <p:txBody>
          <a:bodyPr/>
          <a:lstStyle/>
          <a:p>
            <a:endParaRPr lang="en-US"/>
          </a:p>
        </p:txBody>
      </p:sp>
      <p:sp>
        <p:nvSpPr>
          <p:cNvPr id="22" name="Text 19"/>
          <p:cNvSpPr/>
          <p:nvPr/>
        </p:nvSpPr>
        <p:spPr>
          <a:xfrm>
            <a:off x="3578276" y="3328416"/>
            <a:ext cx="1060704" cy="256032"/>
          </a:xfrm>
          <a:prstGeom prst="rect">
            <a:avLst/>
          </a:prstGeom>
          <a:noFill/>
          <a:ln/>
        </p:spPr>
        <p:txBody>
          <a:bodyPr wrap="square" lIns="0" tIns="0" rIns="0" bIns="0" rtlCol="0" anchor="ctr"/>
          <a:lstStyle/>
          <a:p>
            <a:pPr marL="0" indent="0" algn="ctr">
              <a:buNone/>
            </a:pPr>
            <a:r>
              <a:rPr lang="en-US" sz="1000" b="1" dirty="0">
                <a:solidFill>
                  <a:srgbClr val="1466C0"/>
                </a:solidFill>
                <a:latin typeface="Courier New" pitchFamily="34" charset="0"/>
                <a:ea typeface="Courier New" pitchFamily="34" charset="-122"/>
                <a:cs typeface="Courier New" pitchFamily="34" charset="-120"/>
              </a:rPr>
              <a:t>lstm</a:t>
            </a:r>
            <a:endParaRPr lang="en-US" sz="1000" dirty="0"/>
          </a:p>
        </p:txBody>
      </p:sp>
      <p:sp>
        <p:nvSpPr>
          <p:cNvPr id="23" name="Text 20"/>
          <p:cNvSpPr/>
          <p:nvPr/>
        </p:nvSpPr>
        <p:spPr>
          <a:xfrm>
            <a:off x="4693844" y="3328416"/>
            <a:ext cx="1127684" cy="256032"/>
          </a:xfrm>
          <a:prstGeom prst="rect">
            <a:avLst/>
          </a:prstGeom>
          <a:noFill/>
          <a:ln/>
        </p:spPr>
        <p:txBody>
          <a:bodyPr wrap="square" lIns="0" tIns="0" rIns="0" bIns="0" rtlCol="0" anchor="ctr"/>
          <a:lstStyle/>
          <a:p>
            <a:pPr marL="0" indent="0">
              <a:buNone/>
            </a:pPr>
            <a:r>
              <a:rPr lang="en-US" sz="1050" dirty="0">
                <a:solidFill>
                  <a:srgbClr val="4F637B"/>
                </a:solidFill>
                <a:latin typeface="Calibri" pitchFamily="34" charset="0"/>
                <a:ea typeface="Calibri" pitchFamily="34" charset="-122"/>
                <a:cs typeface="Calibri" pitchFamily="34" charset="-120"/>
              </a:rPr>
              <a:t>BiLSTM</a:t>
            </a:r>
            <a:endParaRPr lang="en-US" sz="1050" dirty="0"/>
          </a:p>
        </p:txBody>
      </p:sp>
      <p:sp>
        <p:nvSpPr>
          <p:cNvPr id="24" name="Shape 21"/>
          <p:cNvSpPr/>
          <p:nvPr/>
        </p:nvSpPr>
        <p:spPr>
          <a:xfrm>
            <a:off x="3578276" y="3712464"/>
            <a:ext cx="1060704" cy="256032"/>
          </a:xfrm>
          <a:prstGeom prst="roundRect">
            <a:avLst>
              <a:gd name="adj" fmla="val 21429"/>
            </a:avLst>
          </a:prstGeom>
          <a:solidFill>
            <a:srgbClr val="F1F6FC"/>
          </a:solidFill>
          <a:ln w="12700">
            <a:solidFill>
              <a:srgbClr val="1466C0"/>
            </a:solidFill>
            <a:prstDash val="solid"/>
          </a:ln>
        </p:spPr>
        <p:txBody>
          <a:bodyPr/>
          <a:lstStyle/>
          <a:p>
            <a:endParaRPr lang="en-US"/>
          </a:p>
        </p:txBody>
      </p:sp>
      <p:sp>
        <p:nvSpPr>
          <p:cNvPr id="25" name="Text 22"/>
          <p:cNvSpPr/>
          <p:nvPr/>
        </p:nvSpPr>
        <p:spPr>
          <a:xfrm>
            <a:off x="3578276" y="3712464"/>
            <a:ext cx="1060704" cy="256032"/>
          </a:xfrm>
          <a:prstGeom prst="rect">
            <a:avLst/>
          </a:prstGeom>
          <a:noFill/>
          <a:ln/>
        </p:spPr>
        <p:txBody>
          <a:bodyPr wrap="square" lIns="0" tIns="0" rIns="0" bIns="0" rtlCol="0" anchor="ctr"/>
          <a:lstStyle/>
          <a:p>
            <a:pPr marL="0" indent="0" algn="ctr">
              <a:buNone/>
            </a:pPr>
            <a:r>
              <a:rPr lang="en-US" sz="1000" b="1" dirty="0">
                <a:solidFill>
                  <a:srgbClr val="1466C0"/>
                </a:solidFill>
                <a:latin typeface="Courier New" pitchFamily="34" charset="0"/>
                <a:ea typeface="Courier New" pitchFamily="34" charset="-122"/>
                <a:cs typeface="Courier New" pitchFamily="34" charset="-120"/>
              </a:rPr>
              <a:t>trans</a:t>
            </a:r>
            <a:endParaRPr lang="en-US" sz="1000" dirty="0"/>
          </a:p>
        </p:txBody>
      </p:sp>
      <p:sp>
        <p:nvSpPr>
          <p:cNvPr id="26" name="Text 23"/>
          <p:cNvSpPr/>
          <p:nvPr/>
        </p:nvSpPr>
        <p:spPr>
          <a:xfrm>
            <a:off x="4693844" y="3712464"/>
            <a:ext cx="1127684" cy="256032"/>
          </a:xfrm>
          <a:prstGeom prst="rect">
            <a:avLst/>
          </a:prstGeom>
          <a:noFill/>
          <a:ln/>
        </p:spPr>
        <p:txBody>
          <a:bodyPr wrap="square" lIns="0" tIns="0" rIns="0" bIns="0" rtlCol="0" anchor="ctr"/>
          <a:lstStyle/>
          <a:p>
            <a:pPr marL="0" indent="0">
              <a:buNone/>
            </a:pPr>
            <a:r>
              <a:rPr lang="en-US" sz="1050" dirty="0">
                <a:solidFill>
                  <a:srgbClr val="4F637B"/>
                </a:solidFill>
                <a:latin typeface="Calibri" pitchFamily="34" charset="0"/>
                <a:ea typeface="Calibri" pitchFamily="34" charset="-122"/>
                <a:cs typeface="Calibri" pitchFamily="34" charset="-120"/>
              </a:rPr>
              <a:t>Transformer</a:t>
            </a:r>
            <a:endParaRPr lang="en-US" sz="1050" dirty="0"/>
          </a:p>
        </p:txBody>
      </p:sp>
      <p:sp>
        <p:nvSpPr>
          <p:cNvPr id="27" name="Shape 24"/>
          <p:cNvSpPr/>
          <p:nvPr/>
        </p:nvSpPr>
        <p:spPr>
          <a:xfrm>
            <a:off x="3578276" y="4096512"/>
            <a:ext cx="1060704" cy="256032"/>
          </a:xfrm>
          <a:prstGeom prst="roundRect">
            <a:avLst>
              <a:gd name="adj" fmla="val 21429"/>
            </a:avLst>
          </a:prstGeom>
          <a:solidFill>
            <a:srgbClr val="F1F6FC"/>
          </a:solidFill>
          <a:ln w="12700">
            <a:solidFill>
              <a:srgbClr val="1466C0"/>
            </a:solidFill>
            <a:prstDash val="solid"/>
          </a:ln>
        </p:spPr>
        <p:txBody>
          <a:bodyPr/>
          <a:lstStyle/>
          <a:p>
            <a:endParaRPr lang="en-US"/>
          </a:p>
        </p:txBody>
      </p:sp>
      <p:sp>
        <p:nvSpPr>
          <p:cNvPr id="28" name="Text 25"/>
          <p:cNvSpPr/>
          <p:nvPr/>
        </p:nvSpPr>
        <p:spPr>
          <a:xfrm>
            <a:off x="3578276" y="4096512"/>
            <a:ext cx="1060704" cy="256032"/>
          </a:xfrm>
          <a:prstGeom prst="rect">
            <a:avLst/>
          </a:prstGeom>
          <a:noFill/>
          <a:ln/>
        </p:spPr>
        <p:txBody>
          <a:bodyPr wrap="square" lIns="0" tIns="0" rIns="0" bIns="0" rtlCol="0" anchor="ctr"/>
          <a:lstStyle/>
          <a:p>
            <a:pPr marL="0" indent="0" algn="ctr">
              <a:buNone/>
            </a:pPr>
            <a:r>
              <a:rPr lang="en-US" sz="1000" b="1" dirty="0">
                <a:solidFill>
                  <a:srgbClr val="1466C0"/>
                </a:solidFill>
                <a:latin typeface="Courier New" pitchFamily="34" charset="0"/>
                <a:ea typeface="Courier New" pitchFamily="34" charset="-122"/>
                <a:cs typeface="Courier New" pitchFamily="34" charset="-120"/>
              </a:rPr>
              <a:t>pubmed</a:t>
            </a:r>
            <a:endParaRPr lang="en-US" sz="1000" dirty="0"/>
          </a:p>
        </p:txBody>
      </p:sp>
      <p:sp>
        <p:nvSpPr>
          <p:cNvPr id="29" name="Text 26"/>
          <p:cNvSpPr/>
          <p:nvPr/>
        </p:nvSpPr>
        <p:spPr>
          <a:xfrm>
            <a:off x="4693844" y="4096512"/>
            <a:ext cx="1127684" cy="256032"/>
          </a:xfrm>
          <a:prstGeom prst="rect">
            <a:avLst/>
          </a:prstGeom>
          <a:noFill/>
          <a:ln/>
        </p:spPr>
        <p:txBody>
          <a:bodyPr wrap="square" lIns="0" tIns="0" rIns="0" bIns="0" rtlCol="0" anchor="ctr"/>
          <a:lstStyle/>
          <a:p>
            <a:pPr marL="0" indent="0">
              <a:buNone/>
            </a:pPr>
            <a:r>
              <a:rPr lang="en-US" sz="1050" dirty="0">
                <a:solidFill>
                  <a:srgbClr val="4F637B"/>
                </a:solidFill>
                <a:latin typeface="Calibri" pitchFamily="34" charset="0"/>
                <a:ea typeface="Calibri" pitchFamily="34" charset="-122"/>
                <a:cs typeface="Calibri" pitchFamily="34" charset="-120"/>
              </a:rPr>
              <a:t>PubMedBERT y khoa</a:t>
            </a:r>
            <a:endParaRPr lang="en-US" sz="1050" dirty="0"/>
          </a:p>
        </p:txBody>
      </p:sp>
      <p:sp>
        <p:nvSpPr>
          <p:cNvPr id="30" name="Shape 27"/>
          <p:cNvSpPr/>
          <p:nvPr/>
        </p:nvSpPr>
        <p:spPr>
          <a:xfrm>
            <a:off x="6150712" y="2798064"/>
            <a:ext cx="2682164" cy="2139696"/>
          </a:xfrm>
          <a:prstGeom prst="roundRect">
            <a:avLst>
              <a:gd name="adj" fmla="val 3846"/>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31" name="Text 28"/>
          <p:cNvSpPr/>
          <p:nvPr/>
        </p:nvSpPr>
        <p:spPr>
          <a:xfrm>
            <a:off x="6370168" y="2962656"/>
            <a:ext cx="2243252" cy="274320"/>
          </a:xfrm>
          <a:prstGeom prst="rect">
            <a:avLst/>
          </a:prstGeom>
          <a:noFill/>
          <a:ln/>
        </p:spPr>
        <p:txBody>
          <a:bodyPr wrap="square" lIns="0" tIns="0" rIns="0" bIns="0" rtlCol="0" anchor="ctr"/>
          <a:lstStyle/>
          <a:p>
            <a:pPr marL="0" indent="0">
              <a:buNone/>
            </a:pPr>
            <a:r>
              <a:rPr lang="en-US" sz="1300" b="1" dirty="0">
                <a:solidFill>
                  <a:srgbClr val="0B8457"/>
                </a:solidFill>
                <a:latin typeface="Calibri" pitchFamily="34" charset="0"/>
                <a:ea typeface="Calibri" pitchFamily="34" charset="-122"/>
                <a:cs typeface="Calibri" pitchFamily="34" charset="-120"/>
              </a:rPr>
              <a:t>Giải mã</a:t>
            </a:r>
            <a:endParaRPr lang="en-US" sz="1300" dirty="0"/>
          </a:p>
        </p:txBody>
      </p:sp>
      <p:sp>
        <p:nvSpPr>
          <p:cNvPr id="32" name="Shape 29"/>
          <p:cNvSpPr/>
          <p:nvPr/>
        </p:nvSpPr>
        <p:spPr>
          <a:xfrm>
            <a:off x="6370168" y="3328416"/>
            <a:ext cx="1060704" cy="256032"/>
          </a:xfrm>
          <a:prstGeom prst="roundRect">
            <a:avLst>
              <a:gd name="adj" fmla="val 21429"/>
            </a:avLst>
          </a:prstGeom>
          <a:solidFill>
            <a:srgbClr val="F1F6FC"/>
          </a:solidFill>
          <a:ln w="12700">
            <a:solidFill>
              <a:srgbClr val="0B8457"/>
            </a:solidFill>
            <a:prstDash val="solid"/>
          </a:ln>
        </p:spPr>
        <p:txBody>
          <a:bodyPr/>
          <a:lstStyle/>
          <a:p>
            <a:endParaRPr lang="en-US"/>
          </a:p>
        </p:txBody>
      </p:sp>
      <p:sp>
        <p:nvSpPr>
          <p:cNvPr id="33" name="Text 30"/>
          <p:cNvSpPr/>
          <p:nvPr/>
        </p:nvSpPr>
        <p:spPr>
          <a:xfrm>
            <a:off x="6370168" y="3328416"/>
            <a:ext cx="1060704" cy="256032"/>
          </a:xfrm>
          <a:prstGeom prst="rect">
            <a:avLst/>
          </a:prstGeom>
          <a:noFill/>
          <a:ln/>
        </p:spPr>
        <p:txBody>
          <a:bodyPr wrap="square" lIns="0" tIns="0" rIns="0" bIns="0" rtlCol="0" anchor="ctr"/>
          <a:lstStyle/>
          <a:p>
            <a:pPr marL="0" indent="0" algn="ctr">
              <a:buNone/>
            </a:pPr>
            <a:r>
              <a:rPr lang="en-US" sz="1000" b="1" dirty="0">
                <a:solidFill>
                  <a:srgbClr val="0B8457"/>
                </a:solidFill>
                <a:latin typeface="Courier New" pitchFamily="34" charset="0"/>
                <a:ea typeface="Courier New" pitchFamily="34" charset="-122"/>
                <a:cs typeface="Courier New" pitchFamily="34" charset="-120"/>
              </a:rPr>
              <a:t>mlp</a:t>
            </a:r>
            <a:endParaRPr lang="en-US" sz="1000" dirty="0"/>
          </a:p>
        </p:txBody>
      </p:sp>
      <p:sp>
        <p:nvSpPr>
          <p:cNvPr id="34" name="Text 31"/>
          <p:cNvSpPr/>
          <p:nvPr/>
        </p:nvSpPr>
        <p:spPr>
          <a:xfrm>
            <a:off x="7485736" y="3328416"/>
            <a:ext cx="1127684" cy="256032"/>
          </a:xfrm>
          <a:prstGeom prst="rect">
            <a:avLst/>
          </a:prstGeom>
          <a:noFill/>
          <a:ln/>
        </p:spPr>
        <p:txBody>
          <a:bodyPr wrap="square" lIns="0" tIns="0" rIns="0" bIns="0" rtlCol="0" anchor="ctr"/>
          <a:lstStyle/>
          <a:p>
            <a:pPr marL="0" indent="0">
              <a:buNone/>
            </a:pPr>
            <a:r>
              <a:rPr lang="en-US" sz="1050" dirty="0">
                <a:solidFill>
                  <a:srgbClr val="4F637B"/>
                </a:solidFill>
                <a:latin typeface="Calibri" pitchFamily="34" charset="0"/>
                <a:ea typeface="Calibri" pitchFamily="34" charset="-122"/>
                <a:cs typeface="Calibri" pitchFamily="34" charset="-120"/>
              </a:rPr>
              <a:t>phân loại / chiếu</a:t>
            </a:r>
            <a:endParaRPr lang="en-US" sz="1050" dirty="0"/>
          </a:p>
        </p:txBody>
      </p:sp>
      <p:sp>
        <p:nvSpPr>
          <p:cNvPr id="35" name="Shape 32"/>
          <p:cNvSpPr/>
          <p:nvPr/>
        </p:nvSpPr>
        <p:spPr>
          <a:xfrm>
            <a:off x="6370168" y="3712464"/>
            <a:ext cx="1060704" cy="256032"/>
          </a:xfrm>
          <a:prstGeom prst="roundRect">
            <a:avLst>
              <a:gd name="adj" fmla="val 21429"/>
            </a:avLst>
          </a:prstGeom>
          <a:solidFill>
            <a:srgbClr val="F1F6FC"/>
          </a:solidFill>
          <a:ln w="12700">
            <a:solidFill>
              <a:srgbClr val="0B8457"/>
            </a:solidFill>
            <a:prstDash val="solid"/>
          </a:ln>
        </p:spPr>
        <p:txBody>
          <a:bodyPr/>
          <a:lstStyle/>
          <a:p>
            <a:endParaRPr lang="en-US"/>
          </a:p>
        </p:txBody>
      </p:sp>
      <p:sp>
        <p:nvSpPr>
          <p:cNvPr id="36" name="Text 33"/>
          <p:cNvSpPr/>
          <p:nvPr/>
        </p:nvSpPr>
        <p:spPr>
          <a:xfrm>
            <a:off x="6370168" y="3712464"/>
            <a:ext cx="1060704" cy="256032"/>
          </a:xfrm>
          <a:prstGeom prst="rect">
            <a:avLst/>
          </a:prstGeom>
          <a:noFill/>
          <a:ln/>
        </p:spPr>
        <p:txBody>
          <a:bodyPr wrap="square" lIns="0" tIns="0" rIns="0" bIns="0" rtlCol="0" anchor="ctr"/>
          <a:lstStyle/>
          <a:p>
            <a:pPr marL="0" indent="0" algn="ctr">
              <a:buNone/>
            </a:pPr>
            <a:r>
              <a:rPr lang="en-US" sz="1000" b="1" dirty="0">
                <a:solidFill>
                  <a:srgbClr val="0B8457"/>
                </a:solidFill>
                <a:latin typeface="Courier New" pitchFamily="34" charset="0"/>
                <a:ea typeface="Courier New" pitchFamily="34" charset="-122"/>
                <a:cs typeface="Courier New" pitchFamily="34" charset="-120"/>
              </a:rPr>
              <a:t>gpt2</a:t>
            </a:r>
            <a:endParaRPr lang="en-US" sz="1000" dirty="0"/>
          </a:p>
        </p:txBody>
      </p:sp>
      <p:sp>
        <p:nvSpPr>
          <p:cNvPr id="37" name="Text 34"/>
          <p:cNvSpPr/>
          <p:nvPr/>
        </p:nvSpPr>
        <p:spPr>
          <a:xfrm>
            <a:off x="7485736" y="3712464"/>
            <a:ext cx="1127684" cy="256032"/>
          </a:xfrm>
          <a:prstGeom prst="rect">
            <a:avLst/>
          </a:prstGeom>
          <a:noFill/>
          <a:ln/>
        </p:spPr>
        <p:txBody>
          <a:bodyPr wrap="square" lIns="0" tIns="0" rIns="0" bIns="0" rtlCol="0" anchor="ctr"/>
          <a:lstStyle/>
          <a:p>
            <a:pPr marL="0" indent="0">
              <a:buNone/>
            </a:pPr>
            <a:r>
              <a:rPr lang="en-US" sz="1050" dirty="0">
                <a:solidFill>
                  <a:srgbClr val="4F637B"/>
                </a:solidFill>
                <a:latin typeface="Calibri" pitchFamily="34" charset="0"/>
                <a:ea typeface="Calibri" pitchFamily="34" charset="-122"/>
                <a:cs typeface="Calibri" pitchFamily="34" charset="-120"/>
              </a:rPr>
              <a:t>sinh câu</a:t>
            </a:r>
            <a:endParaRPr lang="en-US" sz="1050" dirty="0"/>
          </a:p>
        </p:txBody>
      </p:sp>
      <p:sp>
        <p:nvSpPr>
          <p:cNvPr id="38" name="Shape 35"/>
          <p:cNvSpPr/>
          <p:nvPr/>
        </p:nvSpPr>
        <p:spPr>
          <a:xfrm>
            <a:off x="6370168" y="4096512"/>
            <a:ext cx="1060704" cy="256032"/>
          </a:xfrm>
          <a:prstGeom prst="roundRect">
            <a:avLst>
              <a:gd name="adj" fmla="val 21429"/>
            </a:avLst>
          </a:prstGeom>
          <a:solidFill>
            <a:srgbClr val="F1F6FC"/>
          </a:solidFill>
          <a:ln w="12700">
            <a:solidFill>
              <a:srgbClr val="0B8457"/>
            </a:solidFill>
            <a:prstDash val="solid"/>
          </a:ln>
        </p:spPr>
        <p:txBody>
          <a:bodyPr/>
          <a:lstStyle/>
          <a:p>
            <a:endParaRPr lang="en-US"/>
          </a:p>
        </p:txBody>
      </p:sp>
      <p:sp>
        <p:nvSpPr>
          <p:cNvPr id="39" name="Text 36"/>
          <p:cNvSpPr/>
          <p:nvPr/>
        </p:nvSpPr>
        <p:spPr>
          <a:xfrm>
            <a:off x="6370168" y="4096512"/>
            <a:ext cx="1060704" cy="256032"/>
          </a:xfrm>
          <a:prstGeom prst="rect">
            <a:avLst/>
          </a:prstGeom>
          <a:noFill/>
          <a:ln/>
        </p:spPr>
        <p:txBody>
          <a:bodyPr wrap="square" lIns="0" tIns="0" rIns="0" bIns="0" rtlCol="0" anchor="ctr"/>
          <a:lstStyle/>
          <a:p>
            <a:pPr marL="0" indent="0" algn="ctr">
              <a:buNone/>
            </a:pPr>
            <a:r>
              <a:rPr lang="en-US" sz="1000" b="1" dirty="0">
                <a:solidFill>
                  <a:srgbClr val="0B8457"/>
                </a:solidFill>
                <a:latin typeface="Courier New" pitchFamily="34" charset="0"/>
                <a:ea typeface="Courier New" pitchFamily="34" charset="-122"/>
                <a:cs typeface="Courier New" pitchFamily="34" charset="-120"/>
              </a:rPr>
              <a:t>gemma</a:t>
            </a:r>
            <a:endParaRPr lang="en-US" sz="1000" dirty="0"/>
          </a:p>
        </p:txBody>
      </p:sp>
      <p:sp>
        <p:nvSpPr>
          <p:cNvPr id="40" name="Text 37"/>
          <p:cNvSpPr/>
          <p:nvPr/>
        </p:nvSpPr>
        <p:spPr>
          <a:xfrm>
            <a:off x="7485736" y="4096512"/>
            <a:ext cx="1127684" cy="256032"/>
          </a:xfrm>
          <a:prstGeom prst="rect">
            <a:avLst/>
          </a:prstGeom>
          <a:noFill/>
          <a:ln/>
        </p:spPr>
        <p:txBody>
          <a:bodyPr wrap="square" lIns="0" tIns="0" rIns="0" bIns="0" rtlCol="0" anchor="ctr"/>
          <a:lstStyle/>
          <a:p>
            <a:pPr marL="0" indent="0">
              <a:buNone/>
            </a:pPr>
            <a:r>
              <a:rPr lang="en-US" sz="1050" dirty="0">
                <a:solidFill>
                  <a:srgbClr val="4F637B"/>
                </a:solidFill>
                <a:latin typeface="Calibri" pitchFamily="34" charset="0"/>
                <a:ea typeface="Calibri" pitchFamily="34" charset="-122"/>
                <a:cs typeface="Calibri" pitchFamily="34" charset="-120"/>
              </a:rPr>
              <a:t>LLM sinh câu</a:t>
            </a:r>
            <a:endParaRPr lang="en-US" sz="1050" dirty="0"/>
          </a:p>
        </p:txBody>
      </p:sp>
      <p:sp>
        <p:nvSpPr>
          <p:cNvPr id="41" name="Shape 38"/>
          <p:cNvSpPr/>
          <p:nvPr/>
        </p:nvSpPr>
        <p:spPr>
          <a:xfrm>
            <a:off x="8942603" y="2798064"/>
            <a:ext cx="2682164" cy="2139696"/>
          </a:xfrm>
          <a:prstGeom prst="roundRect">
            <a:avLst>
              <a:gd name="adj" fmla="val 3846"/>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42" name="Text 39"/>
          <p:cNvSpPr/>
          <p:nvPr/>
        </p:nvSpPr>
        <p:spPr>
          <a:xfrm>
            <a:off x="9162059" y="2962656"/>
            <a:ext cx="2243252" cy="274320"/>
          </a:xfrm>
          <a:prstGeom prst="rect">
            <a:avLst/>
          </a:prstGeom>
          <a:noFill/>
          <a:ln/>
        </p:spPr>
        <p:txBody>
          <a:bodyPr wrap="square" lIns="0" tIns="0" rIns="0" bIns="0" rtlCol="0" anchor="ctr"/>
          <a:lstStyle/>
          <a:p>
            <a:pPr marL="0" indent="0">
              <a:buNone/>
            </a:pPr>
            <a:r>
              <a:rPr lang="en-US" sz="1300" b="1" dirty="0">
                <a:solidFill>
                  <a:srgbClr val="6B33C7"/>
                </a:solidFill>
                <a:latin typeface="Calibri" pitchFamily="34" charset="0"/>
                <a:ea typeface="Calibri" pitchFamily="34" charset="-122"/>
                <a:cs typeface="Calibri" pitchFamily="34" charset="-120"/>
              </a:rPr>
              <a:t>Hậu tố A1/A2</a:t>
            </a:r>
            <a:endParaRPr lang="en-US" sz="1300" dirty="0"/>
          </a:p>
        </p:txBody>
      </p:sp>
      <p:sp>
        <p:nvSpPr>
          <p:cNvPr id="43" name="Shape 40"/>
          <p:cNvSpPr/>
          <p:nvPr/>
        </p:nvSpPr>
        <p:spPr>
          <a:xfrm>
            <a:off x="9162059" y="3328416"/>
            <a:ext cx="1060704" cy="256032"/>
          </a:xfrm>
          <a:prstGeom prst="roundRect">
            <a:avLst>
              <a:gd name="adj" fmla="val 21429"/>
            </a:avLst>
          </a:prstGeom>
          <a:solidFill>
            <a:srgbClr val="F1F6FC"/>
          </a:solidFill>
          <a:ln w="12700">
            <a:solidFill>
              <a:srgbClr val="6B33C7"/>
            </a:solidFill>
            <a:prstDash val="solid"/>
          </a:ln>
        </p:spPr>
        <p:txBody>
          <a:bodyPr/>
          <a:lstStyle/>
          <a:p>
            <a:endParaRPr lang="en-US"/>
          </a:p>
        </p:txBody>
      </p:sp>
      <p:sp>
        <p:nvSpPr>
          <p:cNvPr id="44" name="Text 41"/>
          <p:cNvSpPr/>
          <p:nvPr/>
        </p:nvSpPr>
        <p:spPr>
          <a:xfrm>
            <a:off x="9162059" y="3328416"/>
            <a:ext cx="1060704" cy="256032"/>
          </a:xfrm>
          <a:prstGeom prst="rect">
            <a:avLst/>
          </a:prstGeom>
          <a:noFill/>
          <a:ln/>
        </p:spPr>
        <p:txBody>
          <a:bodyPr wrap="square" lIns="0" tIns="0" rIns="0" bIns="0" rtlCol="0" anchor="ctr"/>
          <a:lstStyle/>
          <a:p>
            <a:pPr marL="0" indent="0" algn="ctr">
              <a:buNone/>
            </a:pPr>
            <a:r>
              <a:rPr lang="en-US" sz="1000" b="1" dirty="0">
                <a:solidFill>
                  <a:srgbClr val="6B33C7"/>
                </a:solidFill>
                <a:latin typeface="Courier New" pitchFamily="34" charset="0"/>
                <a:ea typeface="Courier New" pitchFamily="34" charset="-122"/>
                <a:cs typeface="Courier New" pitchFamily="34" charset="-120"/>
              </a:rPr>
              <a:t>_all</a:t>
            </a:r>
            <a:endParaRPr lang="en-US" sz="1000" dirty="0"/>
          </a:p>
        </p:txBody>
      </p:sp>
      <p:sp>
        <p:nvSpPr>
          <p:cNvPr id="45" name="Text 42"/>
          <p:cNvSpPr/>
          <p:nvPr/>
        </p:nvSpPr>
        <p:spPr>
          <a:xfrm>
            <a:off x="10277627" y="3328416"/>
            <a:ext cx="1127684" cy="256032"/>
          </a:xfrm>
          <a:prstGeom prst="rect">
            <a:avLst/>
          </a:prstGeom>
          <a:noFill/>
          <a:ln/>
        </p:spPr>
        <p:txBody>
          <a:bodyPr wrap="square" lIns="0" tIns="0" rIns="0" bIns="0" rtlCol="0" anchor="ctr"/>
          <a:lstStyle/>
          <a:p>
            <a:pPr marL="0" indent="0">
              <a:buNone/>
            </a:pPr>
            <a:r>
              <a:rPr lang="en-US" sz="1050" dirty="0">
                <a:solidFill>
                  <a:srgbClr val="4F637B"/>
                </a:solidFill>
                <a:latin typeface="Calibri" pitchFamily="34" charset="0"/>
                <a:ea typeface="Calibri" pitchFamily="34" charset="-122"/>
                <a:cs typeface="Calibri" pitchFamily="34" charset="-120"/>
              </a:rPr>
              <a:t>train toàn bộ</a:t>
            </a:r>
            <a:endParaRPr lang="en-US" sz="1050" dirty="0"/>
          </a:p>
        </p:txBody>
      </p:sp>
      <p:sp>
        <p:nvSpPr>
          <p:cNvPr id="46" name="Shape 43"/>
          <p:cNvSpPr/>
          <p:nvPr/>
        </p:nvSpPr>
        <p:spPr>
          <a:xfrm>
            <a:off x="9162059" y="3712464"/>
            <a:ext cx="1060704" cy="256032"/>
          </a:xfrm>
          <a:prstGeom prst="roundRect">
            <a:avLst>
              <a:gd name="adj" fmla="val 21429"/>
            </a:avLst>
          </a:prstGeom>
          <a:solidFill>
            <a:srgbClr val="F1F6FC"/>
          </a:solidFill>
          <a:ln w="12700">
            <a:solidFill>
              <a:srgbClr val="6B33C7"/>
            </a:solidFill>
            <a:prstDash val="solid"/>
          </a:ln>
        </p:spPr>
        <p:txBody>
          <a:bodyPr/>
          <a:lstStyle/>
          <a:p>
            <a:endParaRPr lang="en-US"/>
          </a:p>
        </p:txBody>
      </p:sp>
      <p:sp>
        <p:nvSpPr>
          <p:cNvPr id="47" name="Text 44"/>
          <p:cNvSpPr/>
          <p:nvPr/>
        </p:nvSpPr>
        <p:spPr>
          <a:xfrm>
            <a:off x="9162059" y="3712464"/>
            <a:ext cx="1060704" cy="256032"/>
          </a:xfrm>
          <a:prstGeom prst="rect">
            <a:avLst/>
          </a:prstGeom>
          <a:noFill/>
          <a:ln/>
        </p:spPr>
        <p:txBody>
          <a:bodyPr wrap="square" lIns="0" tIns="0" rIns="0" bIns="0" rtlCol="0" anchor="ctr"/>
          <a:lstStyle/>
          <a:p>
            <a:pPr marL="0" indent="0" algn="ctr">
              <a:buNone/>
            </a:pPr>
            <a:r>
              <a:rPr lang="en-US" sz="1000" b="1" dirty="0">
                <a:solidFill>
                  <a:srgbClr val="6B33C7"/>
                </a:solidFill>
                <a:latin typeface="Courier New" pitchFamily="34" charset="0"/>
                <a:ea typeface="Courier New" pitchFamily="34" charset="-122"/>
                <a:cs typeface="Courier New" pitchFamily="34" charset="-120"/>
              </a:rPr>
              <a:t>_img</a:t>
            </a:r>
            <a:endParaRPr lang="en-US" sz="1000" dirty="0"/>
          </a:p>
        </p:txBody>
      </p:sp>
      <p:sp>
        <p:nvSpPr>
          <p:cNvPr id="48" name="Text 45"/>
          <p:cNvSpPr/>
          <p:nvPr/>
        </p:nvSpPr>
        <p:spPr>
          <a:xfrm>
            <a:off x="10277627" y="3712464"/>
            <a:ext cx="1127684" cy="256032"/>
          </a:xfrm>
          <a:prstGeom prst="rect">
            <a:avLst/>
          </a:prstGeom>
          <a:noFill/>
          <a:ln/>
        </p:spPr>
        <p:txBody>
          <a:bodyPr wrap="square" lIns="0" tIns="0" rIns="0" bIns="0" rtlCol="0" anchor="ctr"/>
          <a:lstStyle/>
          <a:p>
            <a:pPr marL="0" indent="0">
              <a:buNone/>
            </a:pPr>
            <a:r>
              <a:rPr lang="en-US" sz="1050" dirty="0">
                <a:solidFill>
                  <a:srgbClr val="4F637B"/>
                </a:solidFill>
                <a:latin typeface="Calibri" pitchFamily="34" charset="0"/>
                <a:ea typeface="Calibri" pitchFamily="34" charset="-122"/>
                <a:cs typeface="Calibri" pitchFamily="34" charset="-120"/>
              </a:rPr>
              <a:t>đóng băng encoder ảnh</a:t>
            </a:r>
            <a:endParaRPr lang="en-US" sz="1050" dirty="0"/>
          </a:p>
        </p:txBody>
      </p:sp>
      <p:sp>
        <p:nvSpPr>
          <p:cNvPr id="49" name="Shape 46"/>
          <p:cNvSpPr/>
          <p:nvPr/>
        </p:nvSpPr>
        <p:spPr>
          <a:xfrm>
            <a:off x="9162059" y="4096512"/>
            <a:ext cx="1060704" cy="256032"/>
          </a:xfrm>
          <a:prstGeom prst="roundRect">
            <a:avLst>
              <a:gd name="adj" fmla="val 21429"/>
            </a:avLst>
          </a:prstGeom>
          <a:solidFill>
            <a:srgbClr val="F1F6FC"/>
          </a:solidFill>
          <a:ln w="12700">
            <a:solidFill>
              <a:srgbClr val="6B33C7"/>
            </a:solidFill>
            <a:prstDash val="solid"/>
          </a:ln>
        </p:spPr>
        <p:txBody>
          <a:bodyPr/>
          <a:lstStyle/>
          <a:p>
            <a:endParaRPr lang="en-US"/>
          </a:p>
        </p:txBody>
      </p:sp>
      <p:sp>
        <p:nvSpPr>
          <p:cNvPr id="50" name="Text 47"/>
          <p:cNvSpPr/>
          <p:nvPr/>
        </p:nvSpPr>
        <p:spPr>
          <a:xfrm>
            <a:off x="9162059" y="4096512"/>
            <a:ext cx="1060704" cy="256032"/>
          </a:xfrm>
          <a:prstGeom prst="rect">
            <a:avLst/>
          </a:prstGeom>
          <a:noFill/>
          <a:ln/>
        </p:spPr>
        <p:txBody>
          <a:bodyPr wrap="square" lIns="0" tIns="0" rIns="0" bIns="0" rtlCol="0" anchor="ctr"/>
          <a:lstStyle/>
          <a:p>
            <a:pPr marL="0" indent="0" algn="ctr">
              <a:buNone/>
            </a:pPr>
            <a:r>
              <a:rPr lang="en-US" sz="1000" b="1" dirty="0">
                <a:solidFill>
                  <a:srgbClr val="6B33C7"/>
                </a:solidFill>
                <a:latin typeface="Courier New" pitchFamily="34" charset="0"/>
                <a:ea typeface="Courier New" pitchFamily="34" charset="-122"/>
                <a:cs typeface="Courier New" pitchFamily="34" charset="-120"/>
              </a:rPr>
              <a:t>_txt</a:t>
            </a:r>
            <a:endParaRPr lang="en-US" sz="1000" dirty="0"/>
          </a:p>
        </p:txBody>
      </p:sp>
      <p:sp>
        <p:nvSpPr>
          <p:cNvPr id="51" name="Text 48"/>
          <p:cNvSpPr/>
          <p:nvPr/>
        </p:nvSpPr>
        <p:spPr>
          <a:xfrm>
            <a:off x="10277627" y="4096512"/>
            <a:ext cx="1127684" cy="256032"/>
          </a:xfrm>
          <a:prstGeom prst="rect">
            <a:avLst/>
          </a:prstGeom>
          <a:noFill/>
          <a:ln/>
        </p:spPr>
        <p:txBody>
          <a:bodyPr wrap="square" lIns="0" tIns="0" rIns="0" bIns="0" rtlCol="0" anchor="ctr"/>
          <a:lstStyle/>
          <a:p>
            <a:pPr marL="0" indent="0">
              <a:buNone/>
            </a:pPr>
            <a:r>
              <a:rPr lang="en-US" sz="1050" dirty="0">
                <a:solidFill>
                  <a:srgbClr val="4F637B"/>
                </a:solidFill>
                <a:latin typeface="Calibri" pitchFamily="34" charset="0"/>
                <a:ea typeface="Calibri" pitchFamily="34" charset="-122"/>
                <a:cs typeface="Calibri" pitchFamily="34" charset="-120"/>
              </a:rPr>
              <a:t>đóng băng encoder chữ</a:t>
            </a:r>
            <a:endParaRPr lang="en-US" sz="1050" dirty="0"/>
          </a:p>
        </p:txBody>
      </p:sp>
      <p:sp>
        <p:nvSpPr>
          <p:cNvPr id="52" name="Shape 49"/>
          <p:cNvSpPr/>
          <p:nvPr/>
        </p:nvSpPr>
        <p:spPr>
          <a:xfrm>
            <a:off x="9162059" y="4480560"/>
            <a:ext cx="1060704" cy="256032"/>
          </a:xfrm>
          <a:prstGeom prst="roundRect">
            <a:avLst>
              <a:gd name="adj" fmla="val 21429"/>
            </a:avLst>
          </a:prstGeom>
          <a:solidFill>
            <a:srgbClr val="F1F6FC"/>
          </a:solidFill>
          <a:ln w="12700">
            <a:solidFill>
              <a:srgbClr val="6B33C7"/>
            </a:solidFill>
            <a:prstDash val="solid"/>
          </a:ln>
        </p:spPr>
        <p:txBody>
          <a:bodyPr/>
          <a:lstStyle/>
          <a:p>
            <a:endParaRPr lang="en-US"/>
          </a:p>
        </p:txBody>
      </p:sp>
      <p:sp>
        <p:nvSpPr>
          <p:cNvPr id="53" name="Text 50"/>
          <p:cNvSpPr/>
          <p:nvPr/>
        </p:nvSpPr>
        <p:spPr>
          <a:xfrm>
            <a:off x="9162059" y="4480560"/>
            <a:ext cx="1060704" cy="256032"/>
          </a:xfrm>
          <a:prstGeom prst="rect">
            <a:avLst/>
          </a:prstGeom>
          <a:noFill/>
          <a:ln/>
        </p:spPr>
        <p:txBody>
          <a:bodyPr wrap="square" lIns="0" tIns="0" rIns="0" bIns="0" rtlCol="0" anchor="ctr"/>
          <a:lstStyle/>
          <a:p>
            <a:pPr marL="0" indent="0" algn="ctr">
              <a:buNone/>
            </a:pPr>
            <a:r>
              <a:rPr lang="en-US" sz="1000" b="1" dirty="0">
                <a:solidFill>
                  <a:srgbClr val="6B33C7"/>
                </a:solidFill>
                <a:latin typeface="Courier New" pitchFamily="34" charset="0"/>
                <a:ea typeface="Courier New" pitchFamily="34" charset="-122"/>
                <a:cs typeface="Courier New" pitchFamily="34" charset="-120"/>
              </a:rPr>
              <a:t>_dec</a:t>
            </a:r>
            <a:endParaRPr lang="en-US" sz="1000" dirty="0"/>
          </a:p>
        </p:txBody>
      </p:sp>
      <p:sp>
        <p:nvSpPr>
          <p:cNvPr id="54" name="Text 51"/>
          <p:cNvSpPr/>
          <p:nvPr/>
        </p:nvSpPr>
        <p:spPr>
          <a:xfrm>
            <a:off x="10277627" y="4480560"/>
            <a:ext cx="1127684" cy="256032"/>
          </a:xfrm>
          <a:prstGeom prst="rect">
            <a:avLst/>
          </a:prstGeom>
          <a:noFill/>
          <a:ln/>
        </p:spPr>
        <p:txBody>
          <a:bodyPr wrap="square" lIns="0" tIns="0" rIns="0" bIns="0" rtlCol="0" anchor="ctr"/>
          <a:lstStyle/>
          <a:p>
            <a:pPr marL="0" indent="0">
              <a:buNone/>
            </a:pPr>
            <a:r>
              <a:rPr lang="en-US" sz="1050" dirty="0">
                <a:solidFill>
                  <a:srgbClr val="4F637B"/>
                </a:solidFill>
                <a:latin typeface="Calibri" pitchFamily="34" charset="0"/>
                <a:ea typeface="Calibri" pitchFamily="34" charset="-122"/>
                <a:cs typeface="Calibri" pitchFamily="34" charset="-120"/>
              </a:rPr>
              <a:t>đóng băng decoder</a:t>
            </a:r>
            <a:endParaRPr lang="en-US" sz="1050" dirty="0"/>
          </a:p>
        </p:txBody>
      </p:sp>
      <p:sp>
        <p:nvSpPr>
          <p:cNvPr id="55" name="Shape 52"/>
          <p:cNvSpPr/>
          <p:nvPr/>
        </p:nvSpPr>
        <p:spPr>
          <a:xfrm>
            <a:off x="566928" y="5102352"/>
            <a:ext cx="11057839" cy="749808"/>
          </a:xfrm>
          <a:prstGeom prst="roundRect">
            <a:avLst>
              <a:gd name="adj" fmla="val 10976"/>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56" name="Text 53"/>
          <p:cNvSpPr/>
          <p:nvPr/>
        </p:nvSpPr>
        <p:spPr>
          <a:xfrm>
            <a:off x="841248" y="5266944"/>
            <a:ext cx="10509199" cy="457200"/>
          </a:xfrm>
          <a:prstGeom prst="rect">
            <a:avLst/>
          </a:prstGeom>
          <a:noFill/>
          <a:ln/>
        </p:spPr>
        <p:txBody>
          <a:bodyPr wrap="square" lIns="0" tIns="0" rIns="0" bIns="0" rtlCol="0" anchor="ctr"/>
          <a:lstStyle/>
          <a:p>
            <a:pPr marL="0" indent="0">
              <a:lnSpc>
                <a:spcPct val="112000"/>
              </a:lnSpc>
              <a:buNone/>
            </a:pPr>
            <a:r>
              <a:rPr lang="en-US" sz="1200" b="1" dirty="0">
                <a:solidFill>
                  <a:srgbClr val="B26A00"/>
                </a:solidFill>
                <a:latin typeface="Calibri" pitchFamily="34" charset="0"/>
                <a:ea typeface="Calibri" pitchFamily="34" charset="-122"/>
                <a:cs typeface="Calibri" pitchFamily="34" charset="-120"/>
              </a:rPr>
              <a:t>Nhãn Baseline / Tuned:  </a:t>
            </a:r>
            <a:r>
              <a:rPr lang="en-US" sz="1200" dirty="0">
                <a:solidFill>
                  <a:srgbClr val="4F637B"/>
                </a:solidFill>
                <a:latin typeface="Calibri" pitchFamily="34" charset="0"/>
                <a:ea typeface="Calibri" pitchFamily="34" charset="-122"/>
                <a:cs typeface="Calibri" pitchFamily="34" charset="-120"/>
              </a:rPr>
              <a:t>Baseline dùng siêu tham số gốc (learning rate 1e-3 chung cho mọi thành phần); Tuned là bản đã chỉnh riêng cho GPT-2 — learning rate 1e-4 và weight decay 1e-2. Không đổi kiến trúc, chỉ đổi công thức huấn luyện.</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5 · CẤU HÌNH</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Siêu tham số dùng chung và hai công thức huấn luyện</a:t>
            </a:r>
            <a:endParaRPr lang="en-US" sz="2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5486400" cy="2560320"/>
        </p:xfrm>
        <a:graphic>
          <a:graphicData uri="http://schemas.openxmlformats.org/drawingml/2006/table">
            <a:tbl>
              <a:tblPr/>
              <a:tblGrid>
                <a:gridCol w="24688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36576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Thiết lập</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Giá trị</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extLst>
                  <a:ext uri="{0D108BD9-81ED-4DB2-BD59-A6C34878D82A}">
                    <a16:rowId xmlns:a16="http://schemas.microsoft.com/office/drawing/2014/main" val="10000"/>
                  </a:ext>
                </a:extLst>
              </a:tr>
              <a:tr h="365760">
                <a:tc>
                  <a:txBody>
                    <a:bodyPr/>
                    <a:lstStyle/>
                    <a:p>
                      <a:pPr marL="0" indent="0" algn="l">
                        <a:buNone/>
                      </a:pPr>
                      <a:r>
                        <a:rPr lang="en-US" sz="1100" b="1" dirty="0">
                          <a:solidFill>
                            <a:srgbClr val="14243A"/>
                          </a:solidFill>
                          <a:latin typeface="Calibri" pitchFamily="34" charset="0"/>
                          <a:ea typeface="Calibri" pitchFamily="34" charset="-122"/>
                          <a:cs typeface="Calibri" pitchFamily="34" charset="-120"/>
                        </a:rPr>
                        <a:t>Kích thước ảnh đầu vào</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224 × 224</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1"/>
                  </a:ext>
                </a:extLst>
              </a:tr>
              <a:tr h="365760">
                <a:tc>
                  <a:txBody>
                    <a:bodyPr/>
                    <a:lstStyle/>
                    <a:p>
                      <a:pPr marL="0" indent="0" algn="l">
                        <a:buNone/>
                      </a:pPr>
                      <a:r>
                        <a:rPr lang="en-US" sz="1100" b="1" dirty="0">
                          <a:solidFill>
                            <a:srgbClr val="14243A"/>
                          </a:solidFill>
                          <a:latin typeface="Calibri" pitchFamily="34" charset="0"/>
                          <a:ea typeface="Calibri" pitchFamily="34" charset="-122"/>
                          <a:cs typeface="Calibri" pitchFamily="34" charset="-120"/>
                        </a:rPr>
                        <a:t>Số epoch tối đa</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100, dừng sớm với patience 15</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2"/>
                  </a:ext>
                </a:extLst>
              </a:tr>
              <a:tr h="365760">
                <a:tc>
                  <a:txBody>
                    <a:bodyPr/>
                    <a:lstStyle/>
                    <a:p>
                      <a:pPr marL="0" indent="0" algn="l">
                        <a:buNone/>
                      </a:pPr>
                      <a:r>
                        <a:rPr lang="en-US" sz="1100" b="1" dirty="0">
                          <a:solidFill>
                            <a:srgbClr val="14243A"/>
                          </a:solidFill>
                          <a:latin typeface="Calibri" pitchFamily="34" charset="0"/>
                          <a:ea typeface="Calibri" pitchFamily="34" charset="-122"/>
                          <a:cs typeface="Calibri" pitchFamily="34" charset="-120"/>
                        </a:rPr>
                        <a:t>Bộ tối ưu</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AdamW</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3"/>
                  </a:ext>
                </a:extLst>
              </a:tr>
              <a:tr h="365760">
                <a:tc>
                  <a:txBody>
                    <a:bodyPr/>
                    <a:lstStyle/>
                    <a:p>
                      <a:pPr marL="0" indent="0" algn="l">
                        <a:buNone/>
                      </a:pPr>
                      <a:r>
                        <a:rPr lang="en-US" sz="1100" b="1" dirty="0">
                          <a:solidFill>
                            <a:srgbClr val="14243A"/>
                          </a:solidFill>
                          <a:latin typeface="Calibri" pitchFamily="34" charset="0"/>
                          <a:ea typeface="Calibri" pitchFamily="34" charset="-122"/>
                          <a:cs typeface="Calibri" pitchFamily="34" charset="-120"/>
                        </a:rPr>
                        <a:t>Tiêu chí chọn checkpoint</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Exact Match trên tập validation</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4"/>
                  </a:ext>
                </a:extLst>
              </a:tr>
              <a:tr h="365760">
                <a:tc>
                  <a:txBody>
                    <a:bodyPr/>
                    <a:lstStyle/>
                    <a:p>
                      <a:pPr marL="0" indent="0" algn="l">
                        <a:buNone/>
                      </a:pPr>
                      <a:r>
                        <a:rPr lang="en-US" sz="1100" b="1" dirty="0">
                          <a:solidFill>
                            <a:srgbClr val="14243A"/>
                          </a:solidFill>
                          <a:latin typeface="Calibri" pitchFamily="34" charset="0"/>
                          <a:ea typeface="Calibri" pitchFamily="34" charset="-122"/>
                          <a:cs typeface="Calibri" pitchFamily="34" charset="-120"/>
                        </a:rPr>
                        <a:t>Phần thưởng học tăng cường</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0,5·EM + 0,5·F1  hoặc  độ tương đồng ngữ nghĩa</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5"/>
                  </a:ext>
                </a:extLst>
              </a:tr>
              <a:tr h="365760">
                <a:tc>
                  <a:txBody>
                    <a:bodyPr/>
                    <a:lstStyle/>
                    <a:p>
                      <a:pPr marL="0" indent="0" algn="l">
                        <a:buNone/>
                      </a:pPr>
                      <a:r>
                        <a:rPr lang="en-US" sz="1100" b="1" dirty="0">
                          <a:solidFill>
                            <a:srgbClr val="14243A"/>
                          </a:solidFill>
                          <a:latin typeface="Calibri" pitchFamily="34" charset="0"/>
                          <a:ea typeface="Calibri" pitchFamily="34" charset="-122"/>
                          <a:cs typeface="Calibri" pitchFamily="34" charset="-120"/>
                        </a:rPr>
                        <a:t>Chiến lược giải mã</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100" dirty="0">
                          <a:solidFill>
                            <a:srgbClr val="4F637B"/>
                          </a:solidFill>
                          <a:latin typeface="Calibri" pitchFamily="34" charset="0"/>
                          <a:ea typeface="Calibri" pitchFamily="34" charset="-122"/>
                          <a:cs typeface="Calibri" pitchFamily="34" charset="-120"/>
                        </a:rPr>
                        <a:t>greedy mặc định; beam search là biến thể</a:t>
                      </a:r>
                      <a:endParaRPr lang="en-US" sz="11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6"/>
                  </a:ext>
                </a:extLst>
              </a:tr>
            </a:tbl>
          </a:graphicData>
        </a:graphic>
      </p:graphicFrame>
      <p:sp>
        <p:nvSpPr>
          <p:cNvPr id="6" name="Shape 2"/>
          <p:cNvSpPr/>
          <p:nvPr/>
        </p:nvSpPr>
        <p:spPr>
          <a:xfrm>
            <a:off x="6236208" y="1389888"/>
            <a:ext cx="5394960" cy="1572768"/>
          </a:xfrm>
          <a:prstGeom prst="roundRect">
            <a:avLst>
              <a:gd name="adj" fmla="val 5233"/>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7" name="Shape 3"/>
          <p:cNvSpPr/>
          <p:nvPr/>
        </p:nvSpPr>
        <p:spPr>
          <a:xfrm>
            <a:off x="6492240" y="1609344"/>
            <a:ext cx="329184" cy="329184"/>
          </a:xfrm>
          <a:prstGeom prst="ellipse">
            <a:avLst/>
          </a:prstGeom>
          <a:solidFill>
            <a:srgbClr val="8494A8"/>
          </a:solidFill>
          <a:ln/>
        </p:spPr>
        <p:txBody>
          <a:bodyPr/>
          <a:lstStyle/>
          <a:p>
            <a:endParaRPr lang="en-US"/>
          </a:p>
        </p:txBody>
      </p:sp>
      <p:sp>
        <p:nvSpPr>
          <p:cNvPr id="8" name="Text 4"/>
          <p:cNvSpPr/>
          <p:nvPr/>
        </p:nvSpPr>
        <p:spPr>
          <a:xfrm>
            <a:off x="6492240" y="160934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9" name="Text 5"/>
          <p:cNvSpPr/>
          <p:nvPr/>
        </p:nvSpPr>
        <p:spPr>
          <a:xfrm>
            <a:off x="6949440" y="1591056"/>
            <a:ext cx="448056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Công thức Baseline</a:t>
            </a:r>
            <a:endParaRPr lang="en-US" sz="1450" dirty="0"/>
          </a:p>
        </p:txBody>
      </p:sp>
      <p:sp>
        <p:nvSpPr>
          <p:cNvPr id="10" name="Text 6"/>
          <p:cNvSpPr/>
          <p:nvPr/>
        </p:nvSpPr>
        <p:spPr>
          <a:xfrm>
            <a:off x="6492240" y="2084832"/>
            <a:ext cx="4937760" cy="512064"/>
          </a:xfrm>
          <a:prstGeom prst="rect">
            <a:avLst/>
          </a:prstGeom>
          <a:noFill/>
          <a:ln/>
        </p:spPr>
        <p:txBody>
          <a:bodyPr wrap="square" lIns="0" tIns="0" rIns="0" bIns="0" rtlCol="0" anchor="ctr"/>
          <a:lstStyle/>
          <a:p>
            <a:pPr marL="0" indent="0">
              <a:lnSpc>
                <a:spcPct val="114000"/>
              </a:lnSpc>
              <a:buNone/>
            </a:pPr>
            <a:r>
              <a:rPr lang="en-US" sz="1150" dirty="0">
                <a:solidFill>
                  <a:srgbClr val="4F637B"/>
                </a:solidFill>
                <a:latin typeface="Calibri" pitchFamily="34" charset="0"/>
                <a:ea typeface="Calibri" pitchFamily="34" charset="-122"/>
                <a:cs typeface="Calibri" pitchFamily="34" charset="-120"/>
              </a:rPr>
              <a:t>Một learning rate duy nhất 1e-3 và weight decay 1e-4 áp cho toàn bộ thành phần, kể cả GPT-2 đã pretrain.</a:t>
            </a:r>
            <a:endParaRPr lang="en-US" sz="1150" dirty="0"/>
          </a:p>
        </p:txBody>
      </p:sp>
      <p:sp>
        <p:nvSpPr>
          <p:cNvPr id="11" name="Text 7"/>
          <p:cNvSpPr/>
          <p:nvPr/>
        </p:nvSpPr>
        <p:spPr>
          <a:xfrm>
            <a:off x="6492240" y="2615184"/>
            <a:ext cx="4937760" cy="256032"/>
          </a:xfrm>
          <a:prstGeom prst="rect">
            <a:avLst/>
          </a:prstGeom>
          <a:noFill/>
          <a:ln/>
        </p:spPr>
        <p:txBody>
          <a:bodyPr wrap="square" lIns="0" tIns="0" rIns="0" bIns="0" rtlCol="0" anchor="ctr"/>
          <a:lstStyle/>
          <a:p>
            <a:pPr marL="0" indent="0">
              <a:buNone/>
            </a:pPr>
            <a:r>
              <a:rPr lang="en-US" sz="1200" b="1" dirty="0">
                <a:solidFill>
                  <a:srgbClr val="8494A8"/>
                </a:solidFill>
                <a:latin typeface="Courier New" pitchFamily="34" charset="0"/>
                <a:ea typeface="Courier New" pitchFamily="34" charset="-122"/>
                <a:cs typeface="Courier New" pitchFamily="34" charset="-120"/>
              </a:rPr>
              <a:t>LR = 1e-3     ·     WD = 1e-4</a:t>
            </a:r>
            <a:endParaRPr lang="en-US" sz="1200" dirty="0"/>
          </a:p>
        </p:txBody>
      </p:sp>
      <p:sp>
        <p:nvSpPr>
          <p:cNvPr id="12" name="Shape 8"/>
          <p:cNvSpPr/>
          <p:nvPr/>
        </p:nvSpPr>
        <p:spPr>
          <a:xfrm>
            <a:off x="6236208" y="3072384"/>
            <a:ext cx="5394960" cy="1883664"/>
          </a:xfrm>
          <a:prstGeom prst="roundRect">
            <a:avLst>
              <a:gd name="adj" fmla="val 4369"/>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3" name="Shape 9"/>
          <p:cNvSpPr/>
          <p:nvPr/>
        </p:nvSpPr>
        <p:spPr>
          <a:xfrm>
            <a:off x="6492240" y="3291840"/>
            <a:ext cx="329184" cy="329184"/>
          </a:xfrm>
          <a:prstGeom prst="ellipse">
            <a:avLst/>
          </a:prstGeom>
          <a:solidFill>
            <a:srgbClr val="0B8457"/>
          </a:solidFill>
          <a:ln/>
        </p:spPr>
        <p:txBody>
          <a:bodyPr/>
          <a:lstStyle/>
          <a:p>
            <a:endParaRPr lang="en-US"/>
          </a:p>
        </p:txBody>
      </p:sp>
      <p:sp>
        <p:nvSpPr>
          <p:cNvPr id="14" name="Text 10"/>
          <p:cNvSpPr/>
          <p:nvPr/>
        </p:nvSpPr>
        <p:spPr>
          <a:xfrm>
            <a:off x="6492240" y="329184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a:t>
            </a:r>
            <a:endParaRPr lang="en-US" sz="1300" dirty="0"/>
          </a:p>
        </p:txBody>
      </p:sp>
      <p:sp>
        <p:nvSpPr>
          <p:cNvPr id="15" name="Text 11"/>
          <p:cNvSpPr/>
          <p:nvPr/>
        </p:nvSpPr>
        <p:spPr>
          <a:xfrm>
            <a:off x="6949440" y="3273552"/>
            <a:ext cx="448056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Công thức Tuned</a:t>
            </a:r>
            <a:endParaRPr lang="en-US" sz="1450" dirty="0"/>
          </a:p>
        </p:txBody>
      </p:sp>
      <p:sp>
        <p:nvSpPr>
          <p:cNvPr id="16" name="Text 12"/>
          <p:cNvSpPr/>
          <p:nvPr/>
        </p:nvSpPr>
        <p:spPr>
          <a:xfrm>
            <a:off x="6492240" y="3767328"/>
            <a:ext cx="4937760" cy="676656"/>
          </a:xfrm>
          <a:prstGeom prst="rect">
            <a:avLst/>
          </a:prstGeom>
          <a:noFill/>
          <a:ln/>
        </p:spPr>
        <p:txBody>
          <a:bodyPr wrap="square" lIns="0" tIns="0" rIns="0" bIns="0" rtlCol="0" anchor="ctr"/>
          <a:lstStyle/>
          <a:p>
            <a:pPr marL="0" indent="0">
              <a:lnSpc>
                <a:spcPct val="114000"/>
              </a:lnSpc>
              <a:buNone/>
            </a:pPr>
            <a:r>
              <a:rPr lang="en-US" sz="1150" dirty="0">
                <a:solidFill>
                  <a:srgbClr val="4F637B"/>
                </a:solidFill>
                <a:latin typeface="Calibri" pitchFamily="34" charset="0"/>
                <a:ea typeface="Calibri" pitchFamily="34" charset="-122"/>
                <a:cs typeface="Calibri" pitchFamily="34" charset="-120"/>
              </a:rPr>
              <a:t>Giữ nguyên cho các thành phần nhẹ, nhưng dành riêng cho GPT-2 một learning rate nhỏ hơn để không phá tri thức ngôn ngữ đã pretrain, và weight decay lớn hơn để kiểm soát quá khớp.</a:t>
            </a:r>
            <a:endParaRPr lang="en-US" sz="1150" dirty="0"/>
          </a:p>
        </p:txBody>
      </p:sp>
      <p:sp>
        <p:nvSpPr>
          <p:cNvPr id="17" name="Text 13"/>
          <p:cNvSpPr/>
          <p:nvPr/>
        </p:nvSpPr>
        <p:spPr>
          <a:xfrm>
            <a:off x="6492240" y="4480560"/>
            <a:ext cx="4937760" cy="256032"/>
          </a:xfrm>
          <a:prstGeom prst="rect">
            <a:avLst/>
          </a:prstGeom>
          <a:noFill/>
          <a:ln/>
        </p:spPr>
        <p:txBody>
          <a:bodyPr wrap="square" lIns="0" tIns="0" rIns="0" bIns="0" rtlCol="0" anchor="ctr"/>
          <a:lstStyle/>
          <a:p>
            <a:pPr marL="0" indent="0">
              <a:buNone/>
            </a:pPr>
            <a:r>
              <a:rPr lang="en-US" sz="1200" b="1" dirty="0">
                <a:solidFill>
                  <a:srgbClr val="0B8457"/>
                </a:solidFill>
                <a:latin typeface="Courier New" pitchFamily="34" charset="0"/>
                <a:ea typeface="Courier New" pitchFamily="34" charset="-122"/>
                <a:cs typeface="Courier New" pitchFamily="34" charset="-120"/>
              </a:rPr>
              <a:t>LR_GPT2 = 1e-4     ·     WD_GPT2 = 1e-2</a:t>
            </a:r>
            <a:endParaRPr lang="en-US" sz="1200" dirty="0"/>
          </a:p>
        </p:txBody>
      </p:sp>
      <p:sp>
        <p:nvSpPr>
          <p:cNvPr id="18" name="Shape 14"/>
          <p:cNvSpPr/>
          <p:nvPr/>
        </p:nvSpPr>
        <p:spPr>
          <a:xfrm>
            <a:off x="566928" y="4133088"/>
            <a:ext cx="5486400" cy="1719072"/>
          </a:xfrm>
          <a:prstGeom prst="roundRect">
            <a:avLst>
              <a:gd name="adj" fmla="val 4787"/>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9" name="Text 15"/>
          <p:cNvSpPr/>
          <p:nvPr/>
        </p:nvSpPr>
        <p:spPr>
          <a:xfrm>
            <a:off x="822960" y="4315968"/>
            <a:ext cx="5029200" cy="274320"/>
          </a:xfrm>
          <a:prstGeom prst="rect">
            <a:avLst/>
          </a:prstGeom>
          <a:noFill/>
          <a:ln/>
        </p:spPr>
        <p:txBody>
          <a:bodyPr wrap="square" lIns="0" tIns="0" rIns="0" bIns="0" rtlCol="0" anchor="ctr"/>
          <a:lstStyle/>
          <a:p>
            <a:pPr marL="0" indent="0">
              <a:buNone/>
            </a:pPr>
            <a:r>
              <a:rPr lang="en-US" sz="1350" b="1" dirty="0">
                <a:solidFill>
                  <a:srgbClr val="B26A00"/>
                </a:solidFill>
                <a:latin typeface="Calibri" pitchFamily="34" charset="0"/>
                <a:ea typeface="Calibri" pitchFamily="34" charset="-122"/>
                <a:cs typeface="Calibri" pitchFamily="34" charset="-120"/>
              </a:rPr>
              <a:t>“Tuned” thực chất chỉnh cái gì?</a:t>
            </a:r>
            <a:endParaRPr lang="en-US" sz="1350" dirty="0"/>
          </a:p>
        </p:txBody>
      </p:sp>
      <p:sp>
        <p:nvSpPr>
          <p:cNvPr id="20" name="Text 16"/>
          <p:cNvSpPr/>
          <p:nvPr/>
        </p:nvSpPr>
        <p:spPr>
          <a:xfrm>
            <a:off x="822960" y="4626864"/>
            <a:ext cx="5029200" cy="1060704"/>
          </a:xfrm>
          <a:prstGeom prst="rect">
            <a:avLst/>
          </a:prstGeom>
          <a:noFill/>
          <a:ln/>
        </p:spPr>
        <p:txBody>
          <a:bodyPr wrap="square" lIns="0" tIns="0" rIns="0" bIns="0" rtlCol="0" anchor="ctr"/>
          <a:lstStyle/>
          <a:p>
            <a:pPr marL="0" indent="0">
              <a:lnSpc>
                <a:spcPct val="114000"/>
              </a:lnSpc>
              <a:buNone/>
            </a:pPr>
            <a:r>
              <a:rPr lang="en-US" sz="1150" dirty="0">
                <a:solidFill>
                  <a:srgbClr val="4F637B"/>
                </a:solidFill>
                <a:latin typeface="Calibri" pitchFamily="34" charset="0"/>
                <a:ea typeface="Calibri" pitchFamily="34" charset="-122"/>
                <a:cs typeface="Calibri" pitchFamily="34" charset="-120"/>
              </a:rPr>
              <a:t>Không đổi kiến trúc, chỉ đổi siêu tham số huấn luyện để bớt học thuộc lòng trên tập train chỉ 1.793 mẫu. Hệ quả đúng như kỳ vọng: điểm nội miền trên VQA-RAD giảm nhẹ vì bớt học vẹt ảnh rò rỉ, nhưng điểm trên tập sạch RadImageNet lại tăng. Vì tinh chỉnh chỉ chạm vào GPT-2 nên các run thuần phân loại gần như không đổi giữa hai công thức.</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logo"/>
          <p:cNvPicPr>
            <a:picLocks noChangeAspect="1"/>
          </p:cNvPicPr>
          <p:nvPr/>
        </p:nvPicPr>
        <p:blipFill>
          <a:blip r:embed="rId2"/>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5 · CẤU HÌNH</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500" b="1" kern="0" spc="0" dirty="0">
                <a:solidFill>
                  <a:srgbClr val="14243A"/>
                </a:solidFill>
                <a:latin typeface="Calibri" pitchFamily="34" charset="0"/>
                <a:ea typeface="Calibri" pitchFamily="34" charset="-122"/>
                <a:cs typeface="Calibri" pitchFamily="34" charset="-120"/>
              </a:rPr>
              <a:t>Bảng 4.5 — Siêu tham số: Baseline so với Tuned</a:t>
            </a:r>
            <a:endParaRPr lang="en-US" sz="2500" dirty="0"/>
          </a:p>
        </p:txBody>
      </p:sp>
      <p:sp>
        <p:nvSpPr>
          <p:cNvPr id="5" name="Text 2"/>
          <p:cNvSpPr/>
          <p:nvPr/>
        </p:nvSpPr>
        <p:spPr>
          <a:xfrm>
            <a:off x="566928" y="1188720"/>
            <a:ext cx="10515911" cy="274320"/>
          </a:xfrm>
          <a:prstGeom prst="rect">
            <a:avLst/>
          </a:prstGeom>
          <a:noFill/>
          <a:ln/>
        </p:spPr>
        <p:txBody>
          <a:bodyPr wrap="square" lIns="0" tIns="0" rIns="0" bIns="0" rtlCol="0" anchor="ctr"/>
          <a:lstStyle/>
          <a:p>
            <a:pPr marL="0" indent="0">
              <a:buNone/>
            </a:pPr>
            <a:r>
              <a:rPr lang="en-US" sz="1000" b="0" kern="0" spc="0" dirty="0">
                <a:solidFill>
                  <a:srgbClr val="5A6577"/>
                </a:solidFill>
                <a:latin typeface="Calibri" pitchFamily="34" charset="0"/>
                <a:ea typeface="Calibri" pitchFamily="34" charset="-122"/>
                <a:cs typeface="Calibri" pitchFamily="34" charset="-120"/>
              </a:rPr>
              <a:t>Tuned KHÔNG đổi kiến trúc — chỉ chỉnh hai siêu tham số của GPT-2 để giảm ghi nhớ ảnh rò rỉ.</a:t>
            </a:r>
            <a:endParaRPr lang="en-US" sz="1000" dirty="0"/>
          </a:p>
        </p:txBody>
      </p:sp>
      <p:graphicFrame>
        <p:nvGraphicFramePr>
          <p:cNvPr id="6" name="Table 0"/>
          <p:cNvGraphicFramePr>
            <a:graphicFrameLocks noGrp="1"/>
          </p:cNvGraphicFramePr>
          <p:nvPr/>
        </p:nvGraphicFramePr>
        <p:xfrm>
          <a:off x="566928" y="1554480"/>
          <a:ext cx="11057839" cy="4680000"/>
        </p:xfrm>
        <a:graphic>
          <a:graphicData uri="http://schemas.openxmlformats.org/drawingml/2006/table">
            <a:tbl>
              <a:tblPr/>
              <a:tblGrid>
                <a:gridCol w="1250000">
                  <a:extLst>
                    <a:ext uri="{9D8B030D-6E8A-4147-A177-3AD203B41FA5}">
                      <a16:colId xmlns:a16="http://schemas.microsoft.com/office/drawing/2014/main" val="20000"/>
                    </a:ext>
                  </a:extLst>
                </a:gridCol>
                <a:gridCol w="2750000">
                  <a:extLst>
                    <a:ext uri="{9D8B030D-6E8A-4147-A177-3AD203B41FA5}">
                      <a16:colId xmlns:a16="http://schemas.microsoft.com/office/drawing/2014/main" val="20001"/>
                    </a:ext>
                  </a:extLst>
                </a:gridCol>
                <a:gridCol w="1700000">
                  <a:extLst>
                    <a:ext uri="{9D8B030D-6E8A-4147-A177-3AD203B41FA5}">
                      <a16:colId xmlns:a16="http://schemas.microsoft.com/office/drawing/2014/main" val="20002"/>
                    </a:ext>
                  </a:extLst>
                </a:gridCol>
                <a:gridCol w="1700000">
                  <a:extLst>
                    <a:ext uri="{9D8B030D-6E8A-4147-A177-3AD203B41FA5}">
                      <a16:colId xmlns:a16="http://schemas.microsoft.com/office/drawing/2014/main" val="20003"/>
                    </a:ext>
                  </a:extLst>
                </a:gridCol>
                <a:gridCol w="3657839">
                  <a:extLst>
                    <a:ext uri="{9D8B030D-6E8A-4147-A177-3AD203B41FA5}">
                      <a16:colId xmlns:a16="http://schemas.microsoft.com/office/drawing/2014/main" val="20004"/>
                    </a:ext>
                  </a:extLst>
                </a:gridCol>
              </a:tblGrid>
              <a:tr h="360000">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Nhóm</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Tham số</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Baseline</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Tuned</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Vai trò</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extLst>
                  <a:ext uri="{0D108BD9-81ED-4DB2-BD59-A6C34878D82A}">
                    <a16:rowId xmlns:a16="http://schemas.microsoft.com/office/drawing/2014/main" val="10000"/>
                  </a:ext>
                </a:extLst>
              </a:tr>
              <a:tr h="360000">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Dữ liệu</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image_size</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224 × 224</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224 × 224</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Chuẩn hóa chung mọi encoder</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1"/>
                  </a:ext>
                </a:extLst>
              </a:tr>
              <a:tr h="360000">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Dữ liệu</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max_len / max_ans_len</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32 / 16</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32 / 16</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Độ dài câu hỏi và câu trả lời</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2"/>
                  </a:ext>
                </a:extLst>
              </a:tr>
              <a:tr h="360000">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Dữ liệu</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val_ratio / seed</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0.1 / 42</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0.1 / 42</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Tái lập kết quả</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3"/>
                  </a:ext>
                </a:extLst>
              </a:tr>
              <a:tr h="360000">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SFT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batch_size</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32</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32</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4"/>
                  </a:ext>
                </a:extLst>
              </a:tr>
              <a:tr h="360000">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SFT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lr (toàn cục)</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1e-3</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1e-3</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Giữ nguyên cho khối nhẹ</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5"/>
                  </a:ext>
                </a:extLst>
              </a:tr>
              <a:tr h="360000">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SFT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D3DEEA"/>
                    </a:solidFill>
                  </a:tcPr>
                </a:tc>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LR_GPT2</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D3DEEA"/>
                    </a:solidFill>
                  </a:tcPr>
                </a:tc>
                <a:tc>
                  <a:txBody>
                    <a:bodyPr/>
                    <a:lstStyle/>
                    <a:p>
                      <a:pPr marL="0" indent="0" algn="ctr">
                        <a:buNone/>
                      </a:pPr>
                      <a:r>
                        <a:rPr lang="en-US" sz="1000" b="1" dirty="0">
                          <a:solidFill>
                            <a:srgbClr val="14243A"/>
                          </a:solidFill>
                          <a:latin typeface="Calibri" pitchFamily="34" charset="0"/>
                          <a:ea typeface="Calibri" pitchFamily="34" charset="-122"/>
                          <a:cs typeface="Calibri" pitchFamily="34" charset="-120"/>
                        </a:rPr>
                        <a:t>1e-3</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D3DEEA"/>
                    </a:solidFill>
                  </a:tcPr>
                </a:tc>
                <a:tc>
                  <a:txBody>
                    <a:bodyPr/>
                    <a:lstStyle/>
                    <a:p>
                      <a:pPr marL="0" indent="0" algn="ctr">
                        <a:buNone/>
                      </a:pPr>
                      <a:r>
                        <a:rPr lang="en-US" sz="1000" b="1" dirty="0">
                          <a:solidFill>
                            <a:srgbClr val="14243A"/>
                          </a:solidFill>
                          <a:latin typeface="Calibri" pitchFamily="34" charset="0"/>
                          <a:ea typeface="Calibri" pitchFamily="34" charset="-122"/>
                          <a:cs typeface="Calibri" pitchFamily="34" charset="-120"/>
                        </a:rPr>
                        <a:t>1e-4</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D3DEEA"/>
                    </a:solidFill>
                  </a:tcPr>
                </a:tc>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Bảo vệ tri thức pretrain của GPT-2</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D3DEEA"/>
                    </a:solidFill>
                  </a:tcPr>
                </a:tc>
                <a:extLst>
                  <a:ext uri="{0D108BD9-81ED-4DB2-BD59-A6C34878D82A}">
                    <a16:rowId xmlns:a16="http://schemas.microsoft.com/office/drawing/2014/main" val="10006"/>
                  </a:ext>
                </a:extLst>
              </a:tr>
              <a:tr h="360000">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SFT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D3DEEA"/>
                    </a:solidFill>
                  </a:tcPr>
                </a:tc>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WD_GPT2</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D3DEEA"/>
                    </a:solidFill>
                  </a:tcPr>
                </a:tc>
                <a:tc>
                  <a:txBody>
                    <a:bodyPr/>
                    <a:lstStyle/>
                    <a:p>
                      <a:pPr marL="0" indent="0" algn="ctr">
                        <a:buNone/>
                      </a:pPr>
                      <a:r>
                        <a:rPr lang="en-US" sz="1000" b="1" dirty="0">
                          <a:solidFill>
                            <a:srgbClr val="14243A"/>
                          </a:solidFill>
                          <a:latin typeface="Calibri" pitchFamily="34" charset="0"/>
                          <a:ea typeface="Calibri" pitchFamily="34" charset="-122"/>
                          <a:cs typeface="Calibri" pitchFamily="34" charset="-120"/>
                        </a:rPr>
                        <a:t>1e-4</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D3DEEA"/>
                    </a:solidFill>
                  </a:tcPr>
                </a:tc>
                <a:tc>
                  <a:txBody>
                    <a:bodyPr/>
                    <a:lstStyle/>
                    <a:p>
                      <a:pPr marL="0" indent="0" algn="ctr">
                        <a:buNone/>
                      </a:pPr>
                      <a:r>
                        <a:rPr lang="en-US" sz="1000" b="1" dirty="0">
                          <a:solidFill>
                            <a:srgbClr val="14243A"/>
                          </a:solidFill>
                          <a:latin typeface="Calibri" pitchFamily="34" charset="0"/>
                          <a:ea typeface="Calibri" pitchFamily="34" charset="-122"/>
                          <a:cs typeface="Calibri" pitchFamily="34" charset="-120"/>
                        </a:rPr>
                        <a:t>1e-2</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D3DEEA"/>
                    </a:solidFill>
                  </a:tcPr>
                </a:tc>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Tăng chính quy hóa, chống overfit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D3DEEA"/>
                    </a:solidFill>
                  </a:tcPr>
                </a:tc>
                <a:extLst>
                  <a:ext uri="{0D108BD9-81ED-4DB2-BD59-A6C34878D82A}">
                    <a16:rowId xmlns:a16="http://schemas.microsoft.com/office/drawing/2014/main" val="10007"/>
                  </a:ext>
                </a:extLst>
              </a:tr>
              <a:tr h="360000">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SFT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patience</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Dừng sớm theo val EM</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8"/>
                  </a:ext>
                </a:extLst>
              </a:tr>
              <a:tr h="360000">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RL (SCST)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rl_epochs</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5 (Q-Former: 20)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5 (Q-Former: 20)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Chạy sau khi SFT xong</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9"/>
                  </a:ext>
                </a:extLst>
              </a:tr>
              <a:tr h="360000">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RL (SCST)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rl_lr</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1e-5</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1e-5</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Nhỏ để không phá policy</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10"/>
                  </a:ext>
                </a:extLst>
              </a:tr>
              <a:tr h="360000">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RL (SCST)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Gradient clipping</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Ổn định REINFORCE</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11"/>
                  </a:ext>
                </a:extLst>
              </a:tr>
              <a:tr h="360000">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Tối ưu</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AdamW / epochs</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b="0" dirty="0">
                          <a:solidFill>
                            <a:srgbClr val="14243A"/>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l">
                        <a:buNone/>
                      </a:pPr>
                      <a:r>
                        <a:rPr lang="en-US" sz="1000" b="0" dirty="0">
                          <a:solidFill>
                            <a:srgbClr val="14243A"/>
                          </a:solidFill>
                          <a:latin typeface="Calibri" pitchFamily="34" charset="0"/>
                          <a:ea typeface="Calibri" pitchFamily="34" charset="-122"/>
                          <a:cs typeface="Calibri" pitchFamily="34" charset="-120"/>
                        </a:rPr>
                        <a:t>Kết thúc bởi early stopping</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B26A00"/>
                </a:solidFill>
                <a:latin typeface="Calibri" pitchFamily="34" charset="0"/>
                <a:ea typeface="Calibri" pitchFamily="34" charset="-122"/>
                <a:cs typeface="Calibri" pitchFamily="34" charset="-120"/>
              </a:rPr>
              <a:t>PHẦN 6 · KẾT QUẢ</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Bật chú ý không giúp gì trên tập sạch</a:t>
            </a:r>
            <a:endParaRPr lang="en-US" sz="2900" dirty="0"/>
          </a:p>
        </p:txBody>
      </p:sp>
      <p:sp>
        <p:nvSpPr>
          <p:cNvPr id="5" name="Text 2"/>
          <p:cNvSpPr/>
          <p:nvPr/>
        </p:nvSpPr>
        <p:spPr>
          <a:xfrm>
            <a:off x="566928" y="1371600"/>
            <a:ext cx="11057839" cy="292608"/>
          </a:xfrm>
          <a:prstGeom prst="rect">
            <a:avLst/>
          </a:prstGeom>
          <a:noFill/>
          <a:ln/>
        </p:spPr>
        <p:txBody>
          <a:bodyPr wrap="square" lIns="0" tIns="0" rIns="0" bIns="0" rtlCol="0" anchor="ctr"/>
          <a:lstStyle/>
          <a:p>
            <a:pPr marL="0" indent="0">
              <a:buNone/>
            </a:pPr>
            <a:r>
              <a:rPr lang="en-US" sz="1250" dirty="0">
                <a:solidFill>
                  <a:srgbClr val="4F637B"/>
                </a:solidFill>
                <a:latin typeface="Calibri" pitchFamily="34" charset="0"/>
                <a:ea typeface="Calibri" pitchFamily="34" charset="-122"/>
                <a:cs typeface="Calibri" pitchFamily="34" charset="-120"/>
              </a:rPr>
              <a:t>Exact Match tổng thể trên RadImageNet-VQA, bốn biến thể đóng băng của nhánh LSTM, công thức Baseline.</a:t>
            </a:r>
            <a:endParaRPr lang="en-US" sz="1250" dirty="0"/>
          </a:p>
        </p:txBody>
      </p:sp>
      <p:graphicFrame>
        <p:nvGraphicFramePr>
          <p:cNvPr id="6" name="Chart 0"/>
          <p:cNvGraphicFramePr/>
          <p:nvPr/>
        </p:nvGraphicFramePr>
        <p:xfrm>
          <a:off x="566928" y="1755648"/>
          <a:ext cx="6675120" cy="365760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7498080" y="1755648"/>
            <a:ext cx="4133088" cy="3657600"/>
          </a:xfrm>
          <a:prstGeom prst="roundRect">
            <a:avLst>
              <a:gd name="adj" fmla="val 2250"/>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8" name="Shape 4"/>
          <p:cNvSpPr/>
          <p:nvPr/>
        </p:nvSpPr>
        <p:spPr>
          <a:xfrm>
            <a:off x="7717536" y="1975104"/>
            <a:ext cx="329184" cy="329184"/>
          </a:xfrm>
          <a:prstGeom prst="ellipse">
            <a:avLst/>
          </a:prstGeom>
          <a:solidFill>
            <a:srgbClr val="B26A00"/>
          </a:solidFill>
          <a:ln/>
        </p:spPr>
        <p:txBody>
          <a:bodyPr/>
          <a:lstStyle/>
          <a:p>
            <a:endParaRPr lang="en-US"/>
          </a:p>
        </p:txBody>
      </p:sp>
      <p:sp>
        <p:nvSpPr>
          <p:cNvPr id="9" name="Text 5"/>
          <p:cNvSpPr/>
          <p:nvPr/>
        </p:nvSpPr>
        <p:spPr>
          <a:xfrm>
            <a:off x="7717536" y="197510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0" name="Text 6"/>
          <p:cNvSpPr/>
          <p:nvPr/>
        </p:nvSpPr>
        <p:spPr>
          <a:xfrm>
            <a:off x="8174736" y="1956816"/>
            <a:ext cx="3236976"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Đọc nhanh</a:t>
            </a:r>
            <a:endParaRPr lang="en-US" sz="1450" dirty="0"/>
          </a:p>
        </p:txBody>
      </p:sp>
      <p:sp>
        <p:nvSpPr>
          <p:cNvPr id="11" name="Text 7"/>
          <p:cNvSpPr/>
          <p:nvPr/>
        </p:nvSpPr>
        <p:spPr>
          <a:xfrm>
            <a:off x="7717536" y="2450592"/>
            <a:ext cx="3694176" cy="2743200"/>
          </a:xfrm>
          <a:prstGeom prst="rect">
            <a:avLst/>
          </a:prstGeom>
          <a:noFill/>
          <a:ln/>
        </p:spPr>
        <p:txBody>
          <a:bodyPr wrap="square" lIns="0" tIns="0" rIns="0" bIns="0" rtlCol="0" anchor="t"/>
          <a:lstStyle/>
          <a:p>
            <a:pPr marL="342900" indent="-342900">
              <a:spcAft>
                <a:spcPts val="1000"/>
              </a:spcAft>
              <a:buSzPct val="100000"/>
              <a:buChar char="•"/>
            </a:pPr>
            <a:r>
              <a:rPr lang="en-US" sz="1150" dirty="0">
                <a:solidFill>
                  <a:srgbClr val="4F637B"/>
                </a:solidFill>
                <a:latin typeface="Calibri" pitchFamily="34" charset="0"/>
                <a:ea typeface="Calibri" pitchFamily="34" charset="-122"/>
                <a:cs typeface="Calibri" pitchFamily="34" charset="-120"/>
              </a:rPr>
              <a:t>A2 thấp hơn A1 ở ba trong bốn biến thể — bật chú ý không cải thiện ổn định trên tập sạch.</a:t>
            </a:r>
            <a:endParaRPr lang="en-US" sz="1150" dirty="0"/>
          </a:p>
          <a:p>
            <a:pPr marL="342900" indent="-342900">
              <a:spcAft>
                <a:spcPts val="1000"/>
              </a:spcAft>
              <a:buSzPct val="100000"/>
              <a:buChar char="•"/>
            </a:pPr>
            <a:r>
              <a:rPr lang="en-US" sz="1150" dirty="0">
                <a:solidFill>
                  <a:srgbClr val="4F637B"/>
                </a:solidFill>
                <a:latin typeface="Calibri" pitchFamily="34" charset="0"/>
                <a:ea typeface="Calibri" pitchFamily="34" charset="-122"/>
                <a:cs typeface="Calibri" pitchFamily="34" charset="-120"/>
              </a:rPr>
              <a:t>Rõ nhất ở biến thể đóng băng encoder ảnh: 21,00% so với 23,40%.</a:t>
            </a:r>
            <a:endParaRPr lang="en-US" sz="1150" dirty="0"/>
          </a:p>
          <a:p>
            <a:pPr marL="342900" indent="-342900">
              <a:spcAft>
                <a:spcPts val="1000"/>
              </a:spcAft>
              <a:buSzPct val="100000"/>
              <a:buChar char="•"/>
            </a:pPr>
            <a:r>
              <a:rPr lang="en-US" sz="1150" dirty="0">
                <a:solidFill>
                  <a:srgbClr val="4F637B"/>
                </a:solidFill>
                <a:latin typeface="Calibri" pitchFamily="34" charset="0"/>
                <a:ea typeface="Calibri" pitchFamily="34" charset="-122"/>
                <a:cs typeface="Calibri" pitchFamily="34" charset="-120"/>
              </a:rPr>
              <a:t>EM Open xấp xỉ 0% ở gần như toàn bộ cấu hình A1/A2 khi ra tập sạch.</a:t>
            </a:r>
            <a:endParaRPr lang="en-US" sz="1150" dirty="0"/>
          </a:p>
          <a:p>
            <a:pPr marL="342900" indent="-342900">
              <a:spcAft>
                <a:spcPts val="1000"/>
              </a:spcAft>
              <a:buSzPct val="100000"/>
              <a:buChar char="•"/>
            </a:pPr>
            <a:r>
              <a:rPr lang="en-US" sz="1150" dirty="0">
                <a:solidFill>
                  <a:srgbClr val="4F637B"/>
                </a:solidFill>
                <a:latin typeface="Calibri" pitchFamily="34" charset="0"/>
                <a:ea typeface="Calibri" pitchFamily="34" charset="-122"/>
                <a:cs typeface="Calibri" pitchFamily="34" charset="-120"/>
              </a:rPr>
              <a:t>Kết luận: pipeline CNN nhẹ bất lực với câu hỏi mở trên ảnh mới. Đây chính là động cơ chuyển sang PubMedCLIP, Q-Former và Gemma.</a:t>
            </a:r>
            <a:endParaRPr lang="en-US" sz="1150" dirty="0"/>
          </a:p>
        </p:txBody>
      </p:sp>
      <p:sp>
        <p:nvSpPr>
          <p:cNvPr id="12" name="Text 8"/>
          <p:cNvSpPr/>
          <p:nvPr/>
        </p:nvSpPr>
        <p:spPr>
          <a:xfrm>
            <a:off x="566928" y="6382512"/>
            <a:ext cx="11057839" cy="274320"/>
          </a:xfrm>
          <a:prstGeom prst="rect">
            <a:avLst/>
          </a:prstGeom>
          <a:noFill/>
          <a:ln/>
        </p:spPr>
        <p:txBody>
          <a:bodyPr wrap="square" lIns="0" tIns="0" rIns="0" bIns="0" rtlCol="0" anchor="ctr"/>
          <a:lstStyle/>
          <a:p>
            <a:pPr marL="0" indent="0">
              <a:buNone/>
            </a:pPr>
            <a:r>
              <a:rPr lang="en-US" sz="950" i="1" dirty="0">
                <a:solidFill>
                  <a:srgbClr val="8494A8"/>
                </a:solidFill>
                <a:latin typeface="Calibri" pitchFamily="34" charset="0"/>
                <a:ea typeface="Calibri" pitchFamily="34" charset="-122"/>
                <a:cs typeface="Calibri" pitchFamily="34" charset="-120"/>
              </a:rPr>
              <a:t>Lưu ý: mọi chênh lệch dưới khoảng ±3,9 điểm trên tập 500 mẫu nằm trong khoảng nhiễu lấy mẫu.</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logo"/>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3 · KIẾN TRÚC</a:t>
            </a:r>
            <a:endParaRPr lang="en-US" sz="1050" dirty="0"/>
          </a:p>
        </p:txBody>
      </p:sp>
      <p:sp>
        <p:nvSpPr>
          <p:cNvPr id="4" name="Text 1"/>
          <p:cNvSpPr/>
          <p:nvPr/>
        </p:nvSpPr>
        <p:spPr>
          <a:xfrm>
            <a:off x="566928" y="548640"/>
            <a:ext cx="9777679" cy="480060"/>
          </a:xfrm>
          <a:prstGeom prst="rect">
            <a:avLst/>
          </a:prstGeom>
          <a:noFill/>
          <a:ln/>
        </p:spPr>
        <p:txBody>
          <a:bodyPr wrap="square" lIns="0" tIns="0" rIns="0" bIns="0" rtlCol="0" anchor="ctr"/>
          <a:lstStyle/>
          <a:p>
            <a:pPr marL="0" indent="0">
              <a:buNone/>
            </a:pPr>
            <a:r>
              <a:rPr lang="en-US" sz="2400" b="1" kern="0" spc="0" dirty="0">
                <a:solidFill>
                  <a:srgbClr val="14243A"/>
                </a:solidFill>
                <a:latin typeface="Calibri" pitchFamily="34" charset="0"/>
                <a:ea typeface="Calibri" pitchFamily="34" charset="-122"/>
                <a:cs typeface="Calibri" pitchFamily="34" charset="-120"/>
              </a:rPr>
              <a:t>Bảng 4.6 — Chú ý và đóng băng trên bộ phân loại nhẹ</a:t>
            </a:r>
            <a:endParaRPr lang="en-US" sz="2400" dirty="0"/>
          </a:p>
        </p:txBody>
      </p:sp>
      <p:sp>
        <p:nvSpPr>
          <p:cNvPr id="5" name="Text 2"/>
          <p:cNvSpPr/>
          <p:nvPr/>
        </p:nvSpPr>
        <p:spPr>
          <a:xfrm>
            <a:off x="566928" y="1046480"/>
            <a:ext cx="10515911" cy="274320"/>
          </a:xfrm>
          <a:prstGeom prst="rect">
            <a:avLst/>
          </a:prstGeom>
          <a:noFill/>
          <a:ln/>
        </p:spPr>
        <p:txBody>
          <a:bodyPr wrap="square" lIns="0" tIns="0" rIns="0" bIns="0" rtlCol="0" anchor="ctr"/>
          <a:lstStyle/>
          <a:p>
            <a:pPr marL="0" indent="0">
              <a:buNone/>
            </a:pPr>
            <a:r>
              <a:rPr lang="en-US" sz="900" b="0" kern="0" spc="0" dirty="0">
                <a:solidFill>
                  <a:srgbClr val="5A6577"/>
                </a:solidFill>
                <a:latin typeface="Calibri" pitchFamily="34" charset="0"/>
                <a:ea typeface="Calibri" pitchFamily="34" charset="-122"/>
                <a:cs typeface="Calibri" pitchFamily="34" charset="-120"/>
              </a:rPr>
              <a:t>Công thức Baseline, cả hai tập kiểm thử. A1 tắt chú ý · A2 bật Squeeze-and-Excitation và temporal attention · hậu tố = thành phần bị đóng băng.</a:t>
            </a:r>
            <a:endParaRPr lang="en-US" sz="900" dirty="0"/>
          </a:p>
        </p:txBody>
      </p:sp>
      <p:graphicFrame>
        <p:nvGraphicFramePr>
          <p:cNvPr id="6" name="Table 46"/>
          <p:cNvGraphicFramePr>
            <a:graphicFrameLocks noGrp="1"/>
          </p:cNvGraphicFramePr>
          <p:nvPr/>
        </p:nvGraphicFramePr>
        <p:xfrm>
          <a:off x="566928" y="1417320"/>
          <a:ext cx="11057840" cy="4824000"/>
        </p:xfrm>
        <a:graphic>
          <a:graphicData uri="http://schemas.openxmlformats.org/drawingml/2006/table">
            <a:tbl>
              <a:tblPr/>
              <a:tblGrid>
                <a:gridCol w="1430000">
                  <a:extLst>
                    <a:ext uri="{9D8B030D-6E8A-4147-A177-3AD203B41FA5}">
                      <a16:colId xmlns:a16="http://schemas.microsoft.com/office/drawing/2014/main" val="20000"/>
                    </a:ext>
                  </a:extLst>
                </a:gridCol>
                <a:gridCol w="802320">
                  <a:extLst>
                    <a:ext uri="{9D8B030D-6E8A-4147-A177-3AD203B41FA5}">
                      <a16:colId xmlns:a16="http://schemas.microsoft.com/office/drawing/2014/main" val="20001"/>
                    </a:ext>
                  </a:extLst>
                </a:gridCol>
                <a:gridCol w="802320">
                  <a:extLst>
                    <a:ext uri="{9D8B030D-6E8A-4147-A177-3AD203B41FA5}">
                      <a16:colId xmlns:a16="http://schemas.microsoft.com/office/drawing/2014/main" val="20002"/>
                    </a:ext>
                  </a:extLst>
                </a:gridCol>
                <a:gridCol w="802320">
                  <a:extLst>
                    <a:ext uri="{9D8B030D-6E8A-4147-A177-3AD203B41FA5}">
                      <a16:colId xmlns:a16="http://schemas.microsoft.com/office/drawing/2014/main" val="20003"/>
                    </a:ext>
                  </a:extLst>
                </a:gridCol>
                <a:gridCol w="802320">
                  <a:extLst>
                    <a:ext uri="{9D8B030D-6E8A-4147-A177-3AD203B41FA5}">
                      <a16:colId xmlns:a16="http://schemas.microsoft.com/office/drawing/2014/main" val="20004"/>
                    </a:ext>
                  </a:extLst>
                </a:gridCol>
                <a:gridCol w="802320">
                  <a:extLst>
                    <a:ext uri="{9D8B030D-6E8A-4147-A177-3AD203B41FA5}">
                      <a16:colId xmlns:a16="http://schemas.microsoft.com/office/drawing/2014/main" val="20005"/>
                    </a:ext>
                  </a:extLst>
                </a:gridCol>
                <a:gridCol w="802320">
                  <a:extLst>
                    <a:ext uri="{9D8B030D-6E8A-4147-A177-3AD203B41FA5}">
                      <a16:colId xmlns:a16="http://schemas.microsoft.com/office/drawing/2014/main" val="20006"/>
                    </a:ext>
                  </a:extLst>
                </a:gridCol>
                <a:gridCol w="802320">
                  <a:extLst>
                    <a:ext uri="{9D8B030D-6E8A-4147-A177-3AD203B41FA5}">
                      <a16:colId xmlns:a16="http://schemas.microsoft.com/office/drawing/2014/main" val="20007"/>
                    </a:ext>
                  </a:extLst>
                </a:gridCol>
                <a:gridCol w="802320">
                  <a:extLst>
                    <a:ext uri="{9D8B030D-6E8A-4147-A177-3AD203B41FA5}">
                      <a16:colId xmlns:a16="http://schemas.microsoft.com/office/drawing/2014/main" val="20008"/>
                    </a:ext>
                  </a:extLst>
                </a:gridCol>
                <a:gridCol w="802320">
                  <a:extLst>
                    <a:ext uri="{9D8B030D-6E8A-4147-A177-3AD203B41FA5}">
                      <a16:colId xmlns:a16="http://schemas.microsoft.com/office/drawing/2014/main" val="20009"/>
                    </a:ext>
                  </a:extLst>
                </a:gridCol>
                <a:gridCol w="802320">
                  <a:extLst>
                    <a:ext uri="{9D8B030D-6E8A-4147-A177-3AD203B41FA5}">
                      <a16:colId xmlns:a16="http://schemas.microsoft.com/office/drawing/2014/main" val="20010"/>
                    </a:ext>
                  </a:extLst>
                </a:gridCol>
                <a:gridCol w="802320">
                  <a:extLst>
                    <a:ext uri="{9D8B030D-6E8A-4147-A177-3AD203B41FA5}">
                      <a16:colId xmlns:a16="http://schemas.microsoft.com/office/drawing/2014/main" val="20011"/>
                    </a:ext>
                  </a:extLst>
                </a:gridCol>
                <a:gridCol w="802320">
                  <a:extLst>
                    <a:ext uri="{9D8B030D-6E8A-4147-A177-3AD203B41FA5}">
                      <a16:colId xmlns:a16="http://schemas.microsoft.com/office/drawing/2014/main" val="20012"/>
                    </a:ext>
                  </a:extLst>
                </a:gridCol>
              </a:tblGrid>
              <a:tr h="268000">
                <a:tc rowSpan="2">
                  <a:txBody>
                    <a:bodyPr/>
                    <a:lstStyle/>
                    <a:p>
                      <a:pPr marL="0" indent="0" algn="l">
                        <a:buNone/>
                      </a:pPr>
                      <a:r>
                        <a:rPr lang="en-US" sz="800" b="1" dirty="0">
                          <a:solidFill>
                            <a:srgbClr val="FFFFFF"/>
                          </a:solidFill>
                          <a:latin typeface="Calibri" pitchFamily="34" charset="0"/>
                          <a:ea typeface="Calibri" pitchFamily="34" charset="-122"/>
                          <a:cs typeface="Calibri" pitchFamily="34" charset="-120"/>
                        </a:rPr>
                        <a:t>Cấu hình</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0F4C81"/>
                    </a:solidFill>
                  </a:tcPr>
                </a:tc>
                <a:tc gridSpan="6">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VQA-RAD  ·  nội miền (rò rỉ ảnh 99,51%)</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0F4C81"/>
                    </a:solidFill>
                  </a:tcPr>
                </a:tc>
                <a:tc hMerge="1">
                  <a:txBody>
                    <a:bodyPr/>
                    <a:lstStyle/>
                    <a:p>
                      <a:pPr algn="ctr"/>
                      <a:endParaRPr lang="en-US" sz="80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0F4C81"/>
                    </a:solidFill>
                  </a:tcPr>
                </a:tc>
                <a:tc hMerge="1">
                  <a:txBody>
                    <a:bodyPr/>
                    <a:lstStyle/>
                    <a:p>
                      <a:pPr algn="ctr"/>
                      <a:endParaRPr lang="en-US" sz="80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0F4C81"/>
                    </a:solidFill>
                  </a:tcPr>
                </a:tc>
                <a:tc hMerge="1">
                  <a:txBody>
                    <a:bodyPr/>
                    <a:lstStyle/>
                    <a:p>
                      <a:pPr algn="ctr"/>
                      <a:endParaRPr lang="en-US" sz="80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0F4C81"/>
                    </a:solidFill>
                  </a:tcPr>
                </a:tc>
                <a:tc hMerge="1">
                  <a:txBody>
                    <a:bodyPr/>
                    <a:lstStyle/>
                    <a:p>
                      <a:pPr algn="ctr"/>
                      <a:endParaRPr lang="en-US" sz="80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0F4C81"/>
                    </a:solidFill>
                  </a:tcPr>
                </a:tc>
                <a:tc hMerge="1">
                  <a:txBody>
                    <a:bodyPr/>
                    <a:lstStyle/>
                    <a:p>
                      <a:pPr algn="ctr"/>
                      <a:endParaRPr lang="en-US" sz="80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0F4C81"/>
                    </a:solidFill>
                  </a:tcPr>
                </a:tc>
                <a:tc gridSpan="6">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RadImageNet-VQA  ·  tập sạch (0% rò rỉ)</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0F4C81"/>
                    </a:solidFill>
                  </a:tcPr>
                </a:tc>
                <a:tc hMerge="1">
                  <a:txBody>
                    <a:bodyPr/>
                    <a:lstStyle/>
                    <a:p>
                      <a:pPr algn="ctr"/>
                      <a:endParaRPr lang="en-US" sz="80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0F4C81"/>
                    </a:solidFill>
                  </a:tcPr>
                </a:tc>
                <a:tc hMerge="1">
                  <a:txBody>
                    <a:bodyPr/>
                    <a:lstStyle/>
                    <a:p>
                      <a:pPr algn="ctr"/>
                      <a:endParaRPr lang="en-US" sz="80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0F4C81"/>
                    </a:solidFill>
                  </a:tcPr>
                </a:tc>
                <a:tc hMerge="1">
                  <a:txBody>
                    <a:bodyPr/>
                    <a:lstStyle/>
                    <a:p>
                      <a:pPr algn="ctr"/>
                      <a:endParaRPr lang="en-US" sz="80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0F4C81"/>
                    </a:solidFill>
                  </a:tcPr>
                </a:tc>
                <a:tc hMerge="1">
                  <a:txBody>
                    <a:bodyPr/>
                    <a:lstStyle/>
                    <a:p>
                      <a:pPr algn="ctr"/>
                      <a:endParaRPr lang="en-US" sz="80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0F4C81"/>
                    </a:solidFill>
                  </a:tcPr>
                </a:tc>
                <a:tc hMerge="1">
                  <a:txBody>
                    <a:bodyPr/>
                    <a:lstStyle/>
                    <a:p>
                      <a:pPr algn="ctr"/>
                      <a:endParaRPr lang="en-US" sz="80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0F4C81"/>
                    </a:solidFill>
                  </a:tcPr>
                </a:tc>
                <a:extLst>
                  <a:ext uri="{0D108BD9-81ED-4DB2-BD59-A6C34878D82A}">
                    <a16:rowId xmlns:a16="http://schemas.microsoft.com/office/drawing/2014/main" val="10000"/>
                  </a:ext>
                </a:extLst>
              </a:tr>
              <a:tr h="268000">
                <a:tc vMerge="1">
                  <a:txBody>
                    <a:bodyPr/>
                    <a:lstStyle/>
                    <a:p>
                      <a:pPr algn="ctr"/>
                      <a:endParaRPr lang="en-US" sz="80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0F4C81"/>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EM-O</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EM-C</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EM-Op</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F1-Op</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Sem</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AUC</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EM-O</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EM-C</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EM-Op</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F1-Op</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Sem</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AUC</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extLst>
                  <a:ext uri="{0D108BD9-81ED-4DB2-BD59-A6C34878D82A}">
                    <a16:rowId xmlns:a16="http://schemas.microsoft.com/office/drawing/2014/main" val="10001"/>
                  </a:ext>
                </a:extLst>
              </a:tr>
              <a:tr h="268000">
                <a:tc>
                  <a:txBody>
                    <a:bodyPr/>
                    <a:lstStyle/>
                    <a:p>
                      <a:pPr marL="0" indent="0" algn="l">
                        <a:buNone/>
                      </a:pPr>
                      <a:r>
                        <a:rPr lang="en-US" sz="800" b="1" dirty="0">
                          <a:solidFill>
                            <a:srgbClr val="14243A"/>
                          </a:solidFill>
                          <a:latin typeface="Calibri" pitchFamily="34" charset="0"/>
                          <a:ea typeface="Calibri" pitchFamily="34" charset="-122"/>
                          <a:cs typeface="Calibri" pitchFamily="34" charset="-120"/>
                        </a:rPr>
                        <a:t>A1_lstm_all</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33.70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54.18</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0B5C2E"/>
                          </a:solidFill>
                          <a:latin typeface="Calibri" pitchFamily="34" charset="0"/>
                          <a:ea typeface="Calibri" pitchFamily="34" charset="-122"/>
                          <a:cs typeface="Calibri" pitchFamily="34" charset="-120"/>
                        </a:rPr>
                        <a:t>8.00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u="sng" dirty="0">
                          <a:solidFill>
                            <a:srgbClr val="14243A"/>
                          </a:solidFill>
                          <a:latin typeface="Calibri" pitchFamily="34" charset="0"/>
                          <a:ea typeface="Calibri" pitchFamily="34" charset="-122"/>
                          <a:cs typeface="Calibri" pitchFamily="34" charset="-120"/>
                        </a:rPr>
                        <a:t>12.33</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0B5C2E"/>
                          </a:solidFill>
                          <a:latin typeface="Calibri" pitchFamily="34" charset="0"/>
                          <a:ea typeface="Calibri" pitchFamily="34" charset="-122"/>
                          <a:cs typeface="Calibri" pitchFamily="34" charset="-120"/>
                        </a:rPr>
                        <a:t>0.2958</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u="sng" dirty="0">
                          <a:solidFill>
                            <a:srgbClr val="14243A"/>
                          </a:solidFill>
                          <a:latin typeface="Calibri" pitchFamily="34" charset="0"/>
                          <a:ea typeface="Calibri" pitchFamily="34" charset="-122"/>
                          <a:cs typeface="Calibri" pitchFamily="34" charset="-120"/>
                        </a:rPr>
                        <a:t>0.6179</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0B5C2E"/>
                          </a:solidFill>
                          <a:latin typeface="Calibri" pitchFamily="34" charset="0"/>
                          <a:ea typeface="Calibri" pitchFamily="34" charset="-122"/>
                          <a:cs typeface="Calibri" pitchFamily="34" charset="-120"/>
                        </a:rPr>
                        <a:t>28.80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0B5C2E"/>
                          </a:solidFill>
                          <a:latin typeface="Calibri" pitchFamily="34" charset="0"/>
                          <a:ea typeface="Calibri" pitchFamily="34" charset="-122"/>
                          <a:cs typeface="Calibri" pitchFamily="34" charset="-120"/>
                        </a:rPr>
                        <a:t>56.80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0B5C2E"/>
                          </a:solidFill>
                          <a:latin typeface="Calibri" pitchFamily="34" charset="0"/>
                          <a:ea typeface="Calibri" pitchFamily="34" charset="-122"/>
                          <a:cs typeface="Calibri" pitchFamily="34" charset="-120"/>
                        </a:rPr>
                        <a:t>0.80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1.05</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0B5C2E"/>
                          </a:solidFill>
                          <a:latin typeface="Calibri" pitchFamily="34" charset="0"/>
                          <a:ea typeface="Calibri" pitchFamily="34" charset="-122"/>
                          <a:cs typeface="Calibri" pitchFamily="34" charset="-120"/>
                        </a:rPr>
                        <a:t>0.2411</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0B5C2E"/>
                          </a:solidFill>
                          <a:latin typeface="Calibri" pitchFamily="34" charset="0"/>
                          <a:ea typeface="Calibri" pitchFamily="34" charset="-122"/>
                          <a:cs typeface="Calibri" pitchFamily="34" charset="-120"/>
                        </a:rPr>
                        <a:t>0.5919</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8000">
                <a:tc>
                  <a:txBody>
                    <a:bodyPr/>
                    <a:lstStyle/>
                    <a:p>
                      <a:pPr marL="0" indent="0" algn="l">
                        <a:buNone/>
                      </a:pPr>
                      <a:r>
                        <a:rPr lang="en-US" sz="800" b="1" dirty="0">
                          <a:solidFill>
                            <a:srgbClr val="14243A"/>
                          </a:solidFill>
                          <a:latin typeface="Calibri" pitchFamily="34" charset="0"/>
                          <a:ea typeface="Calibri" pitchFamily="34" charset="-122"/>
                          <a:cs typeface="Calibri" pitchFamily="34" charset="-120"/>
                        </a:rPr>
                        <a:t>A1_lstm_dec</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29.49</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52.99</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0.1473</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0.5643</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23.80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47.60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2.20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0.1344</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0.4222</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extLst>
                  <a:ext uri="{0D108BD9-81ED-4DB2-BD59-A6C34878D82A}">
                    <a16:rowId xmlns:a16="http://schemas.microsoft.com/office/drawing/2014/main" val="10003"/>
                  </a:ext>
                </a:extLst>
              </a:tr>
              <a:tr h="268000">
                <a:tc>
                  <a:txBody>
                    <a:bodyPr/>
                    <a:lstStyle/>
                    <a:p>
                      <a:pPr marL="0" indent="0" algn="l">
                        <a:buNone/>
                      </a:pPr>
                      <a:r>
                        <a:rPr lang="en-US" sz="800" b="1" dirty="0">
                          <a:solidFill>
                            <a:srgbClr val="14243A"/>
                          </a:solidFill>
                          <a:latin typeface="Calibri" pitchFamily="34" charset="0"/>
                          <a:ea typeface="Calibri" pitchFamily="34" charset="-122"/>
                          <a:cs typeface="Calibri" pitchFamily="34" charset="-120"/>
                        </a:rPr>
                        <a:t>A1_lstm_img</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28.82</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49.40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3.00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4.08</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0.2112</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0.5024</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23.40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46.80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0.1943</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0.4987</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68000">
                <a:tc>
                  <a:txBody>
                    <a:bodyPr/>
                    <a:lstStyle/>
                    <a:p>
                      <a:pPr marL="0" indent="0" algn="l">
                        <a:buNone/>
                      </a:pPr>
                      <a:r>
                        <a:rPr lang="en-US" sz="800" b="1" dirty="0">
                          <a:solidFill>
                            <a:srgbClr val="14243A"/>
                          </a:solidFill>
                          <a:latin typeface="Calibri" pitchFamily="34" charset="0"/>
                          <a:ea typeface="Calibri" pitchFamily="34" charset="-122"/>
                          <a:cs typeface="Calibri" pitchFamily="34" charset="-120"/>
                        </a:rPr>
                        <a:t>A1_lstm_txt</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28.60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48.21</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4.00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9.14</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0.2705</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0.4598</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25.60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50.80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u="sng" dirty="0">
                          <a:solidFill>
                            <a:srgbClr val="14243A"/>
                          </a:solidFill>
                          <a:latin typeface="Calibri" pitchFamily="34" charset="0"/>
                          <a:ea typeface="Calibri" pitchFamily="34" charset="-122"/>
                          <a:cs typeface="Calibri" pitchFamily="34" charset="-120"/>
                        </a:rPr>
                        <a:t>0.40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0.60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0.2218</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u="sng" dirty="0">
                          <a:solidFill>
                            <a:srgbClr val="14243A"/>
                          </a:solidFill>
                          <a:latin typeface="Calibri" pitchFamily="34" charset="0"/>
                          <a:ea typeface="Calibri" pitchFamily="34" charset="-122"/>
                          <a:cs typeface="Calibri" pitchFamily="34" charset="-120"/>
                        </a:rPr>
                        <a:t>0.5531</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extLst>
                  <a:ext uri="{0D108BD9-81ED-4DB2-BD59-A6C34878D82A}">
                    <a16:rowId xmlns:a16="http://schemas.microsoft.com/office/drawing/2014/main" val="10005"/>
                  </a:ext>
                </a:extLst>
              </a:tr>
              <a:tr h="268000">
                <a:tc>
                  <a:txBody>
                    <a:bodyPr/>
                    <a:lstStyle/>
                    <a:p>
                      <a:pPr marL="0" indent="0" algn="l">
                        <a:buNone/>
                      </a:pPr>
                      <a:r>
                        <a:rPr lang="en-US" sz="800" b="1" dirty="0">
                          <a:solidFill>
                            <a:srgbClr val="14243A"/>
                          </a:solidFill>
                          <a:latin typeface="Calibri" pitchFamily="34" charset="0"/>
                          <a:ea typeface="Calibri" pitchFamily="34" charset="-122"/>
                          <a:cs typeface="Calibri" pitchFamily="34" charset="-120"/>
                        </a:rPr>
                        <a:t>A1_trans_all</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31.93</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51.39</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u="sng" dirty="0">
                          <a:solidFill>
                            <a:srgbClr val="14243A"/>
                          </a:solidFill>
                          <a:latin typeface="Calibri" pitchFamily="34" charset="0"/>
                          <a:ea typeface="Calibri" pitchFamily="34" charset="-122"/>
                          <a:cs typeface="Calibri" pitchFamily="34" charset="-120"/>
                        </a:rPr>
                        <a:t>7.50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10.28</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0.2522</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0.5361</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23.80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47.60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0.40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0.1893</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0.4544</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68000">
                <a:tc>
                  <a:txBody>
                    <a:bodyPr/>
                    <a:lstStyle/>
                    <a:p>
                      <a:pPr marL="0" indent="0" algn="l">
                        <a:buNone/>
                      </a:pPr>
                      <a:r>
                        <a:rPr lang="en-US" sz="800" b="1" dirty="0">
                          <a:solidFill>
                            <a:srgbClr val="14243A"/>
                          </a:solidFill>
                          <a:latin typeface="Calibri" pitchFamily="34" charset="0"/>
                          <a:ea typeface="Calibri" pitchFamily="34" charset="-122"/>
                          <a:cs typeface="Calibri" pitchFamily="34" charset="-120"/>
                        </a:rPr>
                        <a:t>A1_trans_dec</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32.82</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54.58</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5.50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6.62</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0.2265</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0.5575</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25.20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50.40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2.60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0.2188</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0.5141</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extLst>
                  <a:ext uri="{0D108BD9-81ED-4DB2-BD59-A6C34878D82A}">
                    <a16:rowId xmlns:a16="http://schemas.microsoft.com/office/drawing/2014/main" val="10007"/>
                  </a:ext>
                </a:extLst>
              </a:tr>
              <a:tr h="268000">
                <a:tc>
                  <a:txBody>
                    <a:bodyPr/>
                    <a:lstStyle/>
                    <a:p>
                      <a:pPr marL="0" indent="0" algn="l">
                        <a:buNone/>
                      </a:pPr>
                      <a:r>
                        <a:rPr lang="en-US" sz="800" b="1" dirty="0">
                          <a:solidFill>
                            <a:srgbClr val="14243A"/>
                          </a:solidFill>
                          <a:latin typeface="Calibri" pitchFamily="34" charset="0"/>
                          <a:ea typeface="Calibri" pitchFamily="34" charset="-122"/>
                          <a:cs typeface="Calibri" pitchFamily="34" charset="-120"/>
                        </a:rPr>
                        <a:t>A1_trans_img</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32.82</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52.59</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0B5C2E"/>
                          </a:solidFill>
                          <a:latin typeface="Calibri" pitchFamily="34" charset="0"/>
                          <a:ea typeface="Calibri" pitchFamily="34" charset="-122"/>
                          <a:cs typeface="Calibri" pitchFamily="34" charset="-120"/>
                        </a:rPr>
                        <a:t>8.00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0B5C2E"/>
                          </a:solidFill>
                          <a:latin typeface="Calibri" pitchFamily="34" charset="0"/>
                          <a:ea typeface="Calibri" pitchFamily="34" charset="-122"/>
                          <a:cs typeface="Calibri" pitchFamily="34" charset="-120"/>
                        </a:rPr>
                        <a:t>13.16</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0.2702</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0.5681</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25.40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50.80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0.11</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0.2063</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0.4899</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68000">
                <a:tc>
                  <a:txBody>
                    <a:bodyPr/>
                    <a:lstStyle/>
                    <a:p>
                      <a:pPr marL="0" indent="0" algn="l">
                        <a:buNone/>
                      </a:pPr>
                      <a:r>
                        <a:rPr lang="en-US" sz="800" b="1" dirty="0">
                          <a:solidFill>
                            <a:srgbClr val="14243A"/>
                          </a:solidFill>
                          <a:latin typeface="Calibri" pitchFamily="34" charset="0"/>
                          <a:ea typeface="Calibri" pitchFamily="34" charset="-122"/>
                          <a:cs typeface="Calibri" pitchFamily="34" charset="-120"/>
                        </a:rPr>
                        <a:t>A1_trans_txt</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29.27</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51.79</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1.00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1.00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0.1616</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0.5312</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u="sng" dirty="0">
                          <a:solidFill>
                            <a:srgbClr val="14243A"/>
                          </a:solidFill>
                          <a:latin typeface="Calibri" pitchFamily="34" charset="0"/>
                          <a:ea typeface="Calibri" pitchFamily="34" charset="-122"/>
                          <a:cs typeface="Calibri" pitchFamily="34" charset="-120"/>
                        </a:rPr>
                        <a:t>25.80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u="sng" dirty="0">
                          <a:solidFill>
                            <a:srgbClr val="14243A"/>
                          </a:solidFill>
                          <a:latin typeface="Calibri" pitchFamily="34" charset="0"/>
                          <a:ea typeface="Calibri" pitchFamily="34" charset="-122"/>
                          <a:cs typeface="Calibri" pitchFamily="34" charset="-120"/>
                        </a:rPr>
                        <a:t>51.60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1" dirty="0">
                          <a:solidFill>
                            <a:srgbClr val="0B5C2E"/>
                          </a:solidFill>
                          <a:latin typeface="Calibri" pitchFamily="34" charset="0"/>
                          <a:ea typeface="Calibri" pitchFamily="34" charset="-122"/>
                          <a:cs typeface="Calibri" pitchFamily="34" charset="-120"/>
                        </a:rPr>
                        <a:t>6.40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0.1507</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0.4849</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extLst>
                  <a:ext uri="{0D108BD9-81ED-4DB2-BD59-A6C34878D82A}">
                    <a16:rowId xmlns:a16="http://schemas.microsoft.com/office/drawing/2014/main" val="10009"/>
                  </a:ext>
                </a:extLst>
              </a:tr>
              <a:tr h="268000">
                <a:tc>
                  <a:txBody>
                    <a:bodyPr/>
                    <a:lstStyle/>
                    <a:p>
                      <a:pPr marL="0" indent="0" algn="l">
                        <a:buNone/>
                      </a:pPr>
                      <a:r>
                        <a:rPr lang="en-US" sz="800" b="1" dirty="0">
                          <a:solidFill>
                            <a:srgbClr val="14243A"/>
                          </a:solidFill>
                          <a:latin typeface="Calibri" pitchFamily="34" charset="0"/>
                          <a:ea typeface="Calibri" pitchFamily="34" charset="-122"/>
                          <a:cs typeface="Calibri" pitchFamily="34" charset="-120"/>
                        </a:rPr>
                        <a:t>A2_lstm_all</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31.93</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54.18</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4.00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4.39</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0.2147</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0.5751</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24.00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48.00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0.1984</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0.4818</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68000">
                <a:tc>
                  <a:txBody>
                    <a:bodyPr/>
                    <a:lstStyle/>
                    <a:p>
                      <a:pPr marL="0" indent="0" algn="l">
                        <a:buNone/>
                      </a:pPr>
                      <a:r>
                        <a:rPr lang="en-US" sz="800" b="1" dirty="0">
                          <a:solidFill>
                            <a:srgbClr val="14243A"/>
                          </a:solidFill>
                          <a:latin typeface="Calibri" pitchFamily="34" charset="0"/>
                          <a:ea typeface="Calibri" pitchFamily="34" charset="-122"/>
                          <a:cs typeface="Calibri" pitchFamily="34" charset="-120"/>
                        </a:rPr>
                        <a:t>A2_lstm_dec</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29.49</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52.99</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0.1454</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0.5372</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24.80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49.60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2.60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0.1398</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0.4581</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extLst>
                  <a:ext uri="{0D108BD9-81ED-4DB2-BD59-A6C34878D82A}">
                    <a16:rowId xmlns:a16="http://schemas.microsoft.com/office/drawing/2014/main" val="10011"/>
                  </a:ext>
                </a:extLst>
              </a:tr>
              <a:tr h="268000">
                <a:tc>
                  <a:txBody>
                    <a:bodyPr/>
                    <a:lstStyle/>
                    <a:p>
                      <a:pPr marL="0" indent="0" algn="l">
                        <a:buNone/>
                      </a:pPr>
                      <a:r>
                        <a:rPr lang="en-US" sz="800" b="1" dirty="0">
                          <a:solidFill>
                            <a:srgbClr val="14243A"/>
                          </a:solidFill>
                          <a:latin typeface="Calibri" pitchFamily="34" charset="0"/>
                          <a:ea typeface="Calibri" pitchFamily="34" charset="-122"/>
                          <a:cs typeface="Calibri" pitchFamily="34" charset="-120"/>
                        </a:rPr>
                        <a:t>A2_lstm_img</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0B5C2E"/>
                          </a:solidFill>
                          <a:latin typeface="Calibri" pitchFamily="34" charset="0"/>
                          <a:ea typeface="Calibri" pitchFamily="34" charset="-122"/>
                          <a:cs typeface="Calibri" pitchFamily="34" charset="-120"/>
                        </a:rPr>
                        <a:t>34.59</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u="sng" dirty="0">
                          <a:solidFill>
                            <a:srgbClr val="14243A"/>
                          </a:solidFill>
                          <a:latin typeface="Calibri" pitchFamily="34" charset="0"/>
                          <a:ea typeface="Calibri" pitchFamily="34" charset="-122"/>
                          <a:cs typeface="Calibri" pitchFamily="34" charset="-120"/>
                        </a:rPr>
                        <a:t>56.18</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u="sng" dirty="0">
                          <a:solidFill>
                            <a:srgbClr val="14243A"/>
                          </a:solidFill>
                          <a:latin typeface="Calibri" pitchFamily="34" charset="0"/>
                          <a:ea typeface="Calibri" pitchFamily="34" charset="-122"/>
                          <a:cs typeface="Calibri" pitchFamily="34" charset="-120"/>
                        </a:rPr>
                        <a:t>7.50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11.52</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u="sng" dirty="0">
                          <a:solidFill>
                            <a:srgbClr val="14243A"/>
                          </a:solidFill>
                          <a:latin typeface="Calibri" pitchFamily="34" charset="0"/>
                          <a:ea typeface="Calibri" pitchFamily="34" charset="-122"/>
                          <a:cs typeface="Calibri" pitchFamily="34" charset="-120"/>
                        </a:rPr>
                        <a:t>0.2852</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0.6024</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21.00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42.00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u="sng" dirty="0">
                          <a:solidFill>
                            <a:srgbClr val="14243A"/>
                          </a:solidFill>
                          <a:latin typeface="Calibri" pitchFamily="34" charset="0"/>
                          <a:ea typeface="Calibri" pitchFamily="34" charset="-122"/>
                          <a:cs typeface="Calibri" pitchFamily="34" charset="-120"/>
                        </a:rPr>
                        <a:t>0.2279</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0.4109</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68000">
                <a:tc>
                  <a:txBody>
                    <a:bodyPr/>
                    <a:lstStyle/>
                    <a:p>
                      <a:pPr marL="0" indent="0" algn="l">
                        <a:buNone/>
                      </a:pPr>
                      <a:r>
                        <a:rPr lang="en-US" sz="800" b="1" dirty="0">
                          <a:solidFill>
                            <a:srgbClr val="14243A"/>
                          </a:solidFill>
                          <a:latin typeface="Calibri" pitchFamily="34" charset="0"/>
                          <a:ea typeface="Calibri" pitchFamily="34" charset="-122"/>
                          <a:cs typeface="Calibri" pitchFamily="34" charset="-120"/>
                        </a:rPr>
                        <a:t>A2_lstm_txt</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28.16</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47.81</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3.50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5.87</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0.2269</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0.5147</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23.80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47.20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u="sng" dirty="0">
                          <a:solidFill>
                            <a:srgbClr val="14243A"/>
                          </a:solidFill>
                          <a:latin typeface="Calibri" pitchFamily="34" charset="0"/>
                          <a:ea typeface="Calibri" pitchFamily="34" charset="-122"/>
                          <a:cs typeface="Calibri" pitchFamily="34" charset="-120"/>
                        </a:rPr>
                        <a:t>0.40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1.40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0.1701</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0.4871</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extLst>
                  <a:ext uri="{0D108BD9-81ED-4DB2-BD59-A6C34878D82A}">
                    <a16:rowId xmlns:a16="http://schemas.microsoft.com/office/drawing/2014/main" val="10013"/>
                  </a:ext>
                </a:extLst>
              </a:tr>
              <a:tr h="268000">
                <a:tc>
                  <a:txBody>
                    <a:bodyPr/>
                    <a:lstStyle/>
                    <a:p>
                      <a:pPr marL="0" indent="0" algn="l">
                        <a:buNone/>
                      </a:pPr>
                      <a:r>
                        <a:rPr lang="en-US" sz="800" b="1" dirty="0">
                          <a:solidFill>
                            <a:srgbClr val="14243A"/>
                          </a:solidFill>
                          <a:latin typeface="Calibri" pitchFamily="34" charset="0"/>
                          <a:ea typeface="Calibri" pitchFamily="34" charset="-122"/>
                          <a:cs typeface="Calibri" pitchFamily="34" charset="-120"/>
                        </a:rPr>
                        <a:t>A2_trans_all</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28.82</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49.40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3.00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3.33</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0.2177</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0.5378</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25.20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50.40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0.20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0.1947</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0.4868</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268000">
                <a:tc>
                  <a:txBody>
                    <a:bodyPr/>
                    <a:lstStyle/>
                    <a:p>
                      <a:pPr marL="0" indent="0" algn="l">
                        <a:buNone/>
                      </a:pPr>
                      <a:r>
                        <a:rPr lang="en-US" sz="800" b="1" dirty="0">
                          <a:solidFill>
                            <a:srgbClr val="14243A"/>
                          </a:solidFill>
                          <a:latin typeface="Calibri" pitchFamily="34" charset="0"/>
                          <a:ea typeface="Calibri" pitchFamily="34" charset="-122"/>
                          <a:cs typeface="Calibri" pitchFamily="34" charset="-120"/>
                        </a:rPr>
                        <a:t>A2_trans_dec</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u="sng" dirty="0">
                          <a:solidFill>
                            <a:srgbClr val="14243A"/>
                          </a:solidFill>
                          <a:latin typeface="Calibri" pitchFamily="34" charset="0"/>
                          <a:ea typeface="Calibri" pitchFamily="34" charset="-122"/>
                          <a:cs typeface="Calibri" pitchFamily="34" charset="-120"/>
                        </a:rPr>
                        <a:t>34.37</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1" dirty="0">
                          <a:solidFill>
                            <a:srgbClr val="0B5C2E"/>
                          </a:solidFill>
                          <a:latin typeface="Calibri" pitchFamily="34" charset="0"/>
                          <a:ea typeface="Calibri" pitchFamily="34" charset="-122"/>
                          <a:cs typeface="Calibri" pitchFamily="34" charset="-120"/>
                        </a:rPr>
                        <a:t>61.75</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0.1473</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1" dirty="0">
                          <a:solidFill>
                            <a:srgbClr val="0B5C2E"/>
                          </a:solidFill>
                          <a:latin typeface="Calibri" pitchFamily="34" charset="0"/>
                          <a:ea typeface="Calibri" pitchFamily="34" charset="-122"/>
                          <a:cs typeface="Calibri" pitchFamily="34" charset="-120"/>
                        </a:rPr>
                        <a:t>0.6555</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23.80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47.60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u="sng" dirty="0">
                          <a:solidFill>
                            <a:srgbClr val="14243A"/>
                          </a:solidFill>
                          <a:latin typeface="Calibri" pitchFamily="34" charset="0"/>
                          <a:ea typeface="Calibri" pitchFamily="34" charset="-122"/>
                          <a:cs typeface="Calibri" pitchFamily="34" charset="-120"/>
                        </a:rPr>
                        <a:t>6.00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0.1425</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0.4716</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extLst>
                  <a:ext uri="{0D108BD9-81ED-4DB2-BD59-A6C34878D82A}">
                    <a16:rowId xmlns:a16="http://schemas.microsoft.com/office/drawing/2014/main" val="10015"/>
                  </a:ext>
                </a:extLst>
              </a:tr>
              <a:tr h="268000">
                <a:tc>
                  <a:txBody>
                    <a:bodyPr/>
                    <a:lstStyle/>
                    <a:p>
                      <a:pPr marL="0" indent="0" algn="l">
                        <a:buNone/>
                      </a:pPr>
                      <a:r>
                        <a:rPr lang="en-US" sz="800" b="1" dirty="0">
                          <a:solidFill>
                            <a:srgbClr val="14243A"/>
                          </a:solidFill>
                          <a:latin typeface="Calibri" pitchFamily="34" charset="0"/>
                          <a:ea typeface="Calibri" pitchFamily="34" charset="-122"/>
                          <a:cs typeface="Calibri" pitchFamily="34" charset="-120"/>
                        </a:rPr>
                        <a:t>A2_trans_img</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32.82</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54.18</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6.00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7.58</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0.2310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0.5712</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21.80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43.60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0.1874</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0.4768</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FFFFF"/>
                    </a:solidFill>
                  </a:tcPr>
                </a:tc>
                <a:extLst>
                  <a:ext uri="{0D108BD9-81ED-4DB2-BD59-A6C34878D82A}">
                    <a16:rowId xmlns:a16="http://schemas.microsoft.com/office/drawing/2014/main" val="10016"/>
                  </a:ext>
                </a:extLst>
              </a:tr>
              <a:tr h="268000">
                <a:tc>
                  <a:txBody>
                    <a:bodyPr/>
                    <a:lstStyle/>
                    <a:p>
                      <a:pPr marL="0" indent="0" algn="l">
                        <a:buNone/>
                      </a:pPr>
                      <a:r>
                        <a:rPr lang="en-US" sz="800" b="1" dirty="0">
                          <a:solidFill>
                            <a:srgbClr val="14243A"/>
                          </a:solidFill>
                          <a:latin typeface="Calibri" pitchFamily="34" charset="0"/>
                          <a:ea typeface="Calibri" pitchFamily="34" charset="-122"/>
                          <a:cs typeface="Calibri" pitchFamily="34" charset="-120"/>
                        </a:rPr>
                        <a:t>A2_trans_txt</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27.27</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49.00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0.1474</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0.5199</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24.00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48.00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0.00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1.60</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0.1345</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tc>
                  <a:txBody>
                    <a:bodyPr/>
                    <a:lstStyle/>
                    <a:p>
                      <a:pPr marL="0" indent="0" algn="ctr">
                        <a:buNone/>
                      </a:pPr>
                      <a:r>
                        <a:rPr lang="en-US" sz="800" b="0" dirty="0">
                          <a:solidFill>
                            <a:srgbClr val="14243A"/>
                          </a:solidFill>
                          <a:latin typeface="Calibri" pitchFamily="34" charset="0"/>
                          <a:ea typeface="Calibri" pitchFamily="34" charset="-122"/>
                          <a:cs typeface="Calibri" pitchFamily="34" charset="-120"/>
                        </a:rPr>
                        <a:t>0.4844</a:t>
                      </a:r>
                      <a:endParaRPr lang="en-US" sz="800" dirty="0"/>
                    </a:p>
                  </a:txBody>
                  <a:tcPr marL="45720" marR="45720" marT="18288" marB="18288"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2F7FC"/>
                    </a:solidFill>
                  </a:tcPr>
                </a:tc>
                <a:extLst>
                  <a:ext uri="{0D108BD9-81ED-4DB2-BD59-A6C34878D82A}">
                    <a16:rowId xmlns:a16="http://schemas.microsoft.com/office/drawing/2014/main" val="10017"/>
                  </a:ext>
                </a:extLst>
              </a:tr>
            </a:tbl>
          </a:graphicData>
        </a:graphic>
      </p:graphicFrame>
      <p:sp>
        <p:nvSpPr>
          <p:cNvPr id="7" name="Text 3"/>
          <p:cNvSpPr/>
          <p:nvPr/>
        </p:nvSpPr>
        <p:spPr>
          <a:xfrm>
            <a:off x="566928" y="6330000"/>
            <a:ext cx="11057840" cy="240000"/>
          </a:xfrm>
          <a:prstGeom prst="rect">
            <a:avLst/>
          </a:prstGeom>
          <a:noFill/>
          <a:ln/>
        </p:spPr>
        <p:txBody>
          <a:bodyPr wrap="square" lIns="0" tIns="0" rIns="0" bIns="0" rtlCol="0" anchor="ctr"/>
          <a:lstStyle/>
          <a:p>
            <a:pPr marL="0" indent="0">
              <a:buNone/>
            </a:pPr>
            <a:r>
              <a:rPr lang="en-US" sz="850" b="0" kern="0" spc="0" dirty="0">
                <a:solidFill>
                  <a:srgbClr val="6B7685"/>
                </a:solidFill>
                <a:latin typeface="Calibri" pitchFamily="34" charset="0"/>
                <a:ea typeface="Calibri" pitchFamily="34" charset="-122"/>
                <a:cs typeface="Calibri" pitchFamily="34" charset="-120"/>
              </a:rPr>
              <a:t>Đậm xanh = tốt nhất cột · gạch chân = hạng nhì. Sem = tương đồng ngữ nghĩa (open) · AUC = Clinical AUC. Tham chiếu hằng số: 27,83% EM-O nội miền và 25,00% trên tập sạch.</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6 · PHƯƠNG PHÁP</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Nhóm R và nhóm D — hai cách cải thiện không đổi kiến trúc</a:t>
            </a:r>
            <a:endParaRPr lang="en-US" sz="2900" dirty="0"/>
          </a:p>
        </p:txBody>
      </p:sp>
      <p:sp>
        <p:nvSpPr>
          <p:cNvPr id="5" name="Shape 2"/>
          <p:cNvSpPr/>
          <p:nvPr/>
        </p:nvSpPr>
        <p:spPr>
          <a:xfrm>
            <a:off x="566928" y="1371600"/>
            <a:ext cx="5486400" cy="2139696"/>
          </a:xfrm>
          <a:prstGeom prst="roundRect">
            <a:avLst>
              <a:gd name="adj" fmla="val 3846"/>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6" name="Shape 3"/>
          <p:cNvSpPr/>
          <p:nvPr/>
        </p:nvSpPr>
        <p:spPr>
          <a:xfrm>
            <a:off x="822960" y="1591056"/>
            <a:ext cx="329184" cy="329184"/>
          </a:xfrm>
          <a:prstGeom prst="ellipse">
            <a:avLst/>
          </a:prstGeom>
          <a:solidFill>
            <a:srgbClr val="1466C0"/>
          </a:solidFill>
          <a:ln/>
        </p:spPr>
        <p:txBody>
          <a:bodyPr/>
          <a:lstStyle/>
          <a:p>
            <a:endParaRPr lang="en-US"/>
          </a:p>
        </p:txBody>
      </p:sp>
      <p:sp>
        <p:nvSpPr>
          <p:cNvPr id="7" name="Text 4"/>
          <p:cNvSpPr/>
          <p:nvPr/>
        </p:nvSpPr>
        <p:spPr>
          <a:xfrm>
            <a:off x="822960" y="159105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a:t>
            </a:r>
            <a:endParaRPr lang="en-US" sz="1300" dirty="0"/>
          </a:p>
        </p:txBody>
      </p:sp>
      <p:sp>
        <p:nvSpPr>
          <p:cNvPr id="8" name="Text 5"/>
          <p:cNvSpPr/>
          <p:nvPr/>
        </p:nvSpPr>
        <p:spPr>
          <a:xfrm>
            <a:off x="1280160" y="1572768"/>
            <a:ext cx="457200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Giải mã ràng buộc (Rules)</a:t>
            </a:r>
            <a:endParaRPr lang="en-US" sz="1450" dirty="0"/>
          </a:p>
        </p:txBody>
      </p:sp>
      <p:sp>
        <p:nvSpPr>
          <p:cNvPr id="9" name="Text 6"/>
          <p:cNvSpPr/>
          <p:nvPr/>
        </p:nvSpPr>
        <p:spPr>
          <a:xfrm>
            <a:off x="822960" y="2066544"/>
            <a:ext cx="5029200" cy="640080"/>
          </a:xfrm>
          <a:prstGeom prst="rect">
            <a:avLst/>
          </a:prstGeom>
          <a:noFill/>
          <a:ln/>
        </p:spPr>
        <p:txBody>
          <a:bodyPr wrap="square" lIns="0" tIns="0" rIns="0" bIns="0" rtlCol="0" anchor="ctr"/>
          <a:lstStyle/>
          <a:p>
            <a:pPr marL="0" indent="0">
              <a:lnSpc>
                <a:spcPct val="114000"/>
              </a:lnSpc>
              <a:buNone/>
            </a:pPr>
            <a:r>
              <a:rPr lang="en-US" sz="1150" dirty="0">
                <a:solidFill>
                  <a:srgbClr val="4F637B"/>
                </a:solidFill>
                <a:latin typeface="Calibri" pitchFamily="34" charset="0"/>
                <a:ea typeface="Calibri" pitchFamily="34" charset="-122"/>
                <a:cs typeface="Calibri" pitchFamily="34" charset="-120"/>
              </a:rPr>
              <a:t>Lấy nguyên checkpoint P_pubmed_gpt2, không huấn luyện lại gì. Khi gặp câu hỏi đóng, bước sinh từ bị ép chỉ được chọn trong hai token yes và no thay vì toàn bộ từ vựng.</a:t>
            </a:r>
            <a:endParaRPr lang="en-US" sz="1150" dirty="0"/>
          </a:p>
        </p:txBody>
      </p:sp>
      <p:sp>
        <p:nvSpPr>
          <p:cNvPr id="10" name="Text 7"/>
          <p:cNvSpPr/>
          <p:nvPr/>
        </p:nvSpPr>
        <p:spPr>
          <a:xfrm>
            <a:off x="822960" y="2779776"/>
            <a:ext cx="5029200" cy="566928"/>
          </a:xfrm>
          <a:prstGeom prst="rect">
            <a:avLst/>
          </a:prstGeom>
          <a:noFill/>
          <a:ln/>
        </p:spPr>
        <p:txBody>
          <a:bodyPr wrap="square" lIns="0" tIns="0" rIns="0" bIns="0" rtlCol="0" anchor="ctr"/>
          <a:lstStyle/>
          <a:p>
            <a:pPr marL="0" indent="0">
              <a:lnSpc>
                <a:spcPct val="112000"/>
              </a:lnSpc>
              <a:buNone/>
            </a:pPr>
            <a:r>
              <a:rPr lang="en-US" sz="1150" b="1" dirty="0">
                <a:solidFill>
                  <a:srgbClr val="14243A"/>
                </a:solidFill>
                <a:latin typeface="Calibri" pitchFamily="34" charset="0"/>
                <a:ea typeface="Calibri" pitchFamily="34" charset="-122"/>
                <a:cs typeface="Calibri" pitchFamily="34" charset="-120"/>
              </a:rPr>
              <a:t>Kết quả: </a:t>
            </a:r>
            <a:r>
              <a:rPr lang="en-US" sz="1150" dirty="0">
                <a:solidFill>
                  <a:srgbClr val="4F637B"/>
                </a:solidFill>
                <a:latin typeface="Calibri" pitchFamily="34" charset="0"/>
                <a:ea typeface="Calibri" pitchFamily="34" charset="-122"/>
                <a:cs typeface="Calibri" pitchFamily="34" charset="-120"/>
              </a:rPr>
              <a:t>EM tổng thể 34,15% → 34,37% trên VQA-RAD. Cải thiện có thật nhưng nhỏ hơn nhiễu lấy mẫu, và không thay đổi gì trên tập sạch.</a:t>
            </a:r>
            <a:endParaRPr lang="en-US" sz="1150" dirty="0"/>
          </a:p>
        </p:txBody>
      </p:sp>
      <p:sp>
        <p:nvSpPr>
          <p:cNvPr id="11" name="Shape 8"/>
          <p:cNvSpPr/>
          <p:nvPr/>
        </p:nvSpPr>
        <p:spPr>
          <a:xfrm>
            <a:off x="6236208" y="1371600"/>
            <a:ext cx="5394960" cy="2139696"/>
          </a:xfrm>
          <a:prstGeom prst="roundRect">
            <a:avLst>
              <a:gd name="adj" fmla="val 3846"/>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2" name="Shape 9"/>
          <p:cNvSpPr/>
          <p:nvPr/>
        </p:nvSpPr>
        <p:spPr>
          <a:xfrm>
            <a:off x="6492240" y="1591056"/>
            <a:ext cx="329184" cy="329184"/>
          </a:xfrm>
          <a:prstGeom prst="ellipse">
            <a:avLst/>
          </a:prstGeom>
          <a:solidFill>
            <a:srgbClr val="6B33C7"/>
          </a:solidFill>
          <a:ln/>
        </p:spPr>
        <p:txBody>
          <a:bodyPr/>
          <a:lstStyle/>
          <a:p>
            <a:endParaRPr lang="en-US"/>
          </a:p>
        </p:txBody>
      </p:sp>
      <p:sp>
        <p:nvSpPr>
          <p:cNvPr id="13" name="Text 10"/>
          <p:cNvSpPr/>
          <p:nvPr/>
        </p:nvSpPr>
        <p:spPr>
          <a:xfrm>
            <a:off x="6492240" y="159105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14" name="Text 11"/>
          <p:cNvSpPr/>
          <p:nvPr/>
        </p:nvSpPr>
        <p:spPr>
          <a:xfrm>
            <a:off x="6949440" y="1572768"/>
            <a:ext cx="448056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Học tăng cường SCST</a:t>
            </a:r>
            <a:endParaRPr lang="en-US" sz="1450" dirty="0"/>
          </a:p>
        </p:txBody>
      </p:sp>
      <p:sp>
        <p:nvSpPr>
          <p:cNvPr id="15" name="Text 12"/>
          <p:cNvSpPr/>
          <p:nvPr/>
        </p:nvSpPr>
        <p:spPr>
          <a:xfrm>
            <a:off x="6492240" y="2066544"/>
            <a:ext cx="4937760" cy="640080"/>
          </a:xfrm>
          <a:prstGeom prst="rect">
            <a:avLst/>
          </a:prstGeom>
          <a:noFill/>
          <a:ln/>
        </p:spPr>
        <p:txBody>
          <a:bodyPr wrap="square" lIns="0" tIns="0" rIns="0" bIns="0" rtlCol="0" anchor="ctr"/>
          <a:lstStyle/>
          <a:p>
            <a:pPr marL="0" indent="0">
              <a:lnSpc>
                <a:spcPct val="114000"/>
              </a:lnSpc>
              <a:buNone/>
            </a:pPr>
            <a:r>
              <a:rPr lang="en-US" sz="1150" dirty="0">
                <a:solidFill>
                  <a:srgbClr val="4F637B"/>
                </a:solidFill>
                <a:latin typeface="Calibri" pitchFamily="34" charset="0"/>
                <a:ea typeface="Calibri" pitchFamily="34" charset="-122"/>
                <a:cs typeface="Calibri" pitchFamily="34" charset="-120"/>
              </a:rPr>
              <a:t>Self-Critical Sequence Training: mô hình tự sinh câu, tự chấm điểm bằng một hàm phần thưởng, rồi cập nhật chính sách theo policy gradient. Khởi động từ checkpoint SFT tốt nhất.</a:t>
            </a:r>
            <a:endParaRPr lang="en-US" sz="1150" dirty="0"/>
          </a:p>
        </p:txBody>
      </p:sp>
      <p:sp>
        <p:nvSpPr>
          <p:cNvPr id="16" name="Text 13"/>
          <p:cNvSpPr/>
          <p:nvPr/>
        </p:nvSpPr>
        <p:spPr>
          <a:xfrm>
            <a:off x="6492240" y="2779776"/>
            <a:ext cx="4937760" cy="566928"/>
          </a:xfrm>
          <a:prstGeom prst="rect">
            <a:avLst/>
          </a:prstGeom>
          <a:noFill/>
          <a:ln/>
        </p:spPr>
        <p:txBody>
          <a:bodyPr wrap="square" lIns="0" tIns="0" rIns="0" bIns="0" rtlCol="0" anchor="ctr"/>
          <a:lstStyle/>
          <a:p>
            <a:pPr marL="0" indent="0">
              <a:lnSpc>
                <a:spcPct val="112000"/>
              </a:lnSpc>
              <a:buNone/>
            </a:pPr>
            <a:r>
              <a:rPr lang="en-US" sz="1150" b="1" dirty="0">
                <a:solidFill>
                  <a:srgbClr val="6B33C7"/>
                </a:solidFill>
                <a:latin typeface="Courier New" pitchFamily="34" charset="0"/>
                <a:ea typeface="Courier New" pitchFamily="34" charset="-122"/>
                <a:cs typeface="Courier New" pitchFamily="34" charset="-120"/>
              </a:rPr>
              <a:t>D1_scst </a:t>
            </a:r>
            <a:r>
              <a:rPr lang="en-US" sz="1150" dirty="0">
                <a:solidFill>
                  <a:srgbClr val="4F637B"/>
                </a:solidFill>
                <a:latin typeface="Calibri" pitchFamily="34" charset="0"/>
                <a:ea typeface="Calibri" pitchFamily="34" charset="-122"/>
                <a:cs typeface="Calibri" pitchFamily="34" charset="-120"/>
              </a:rPr>
              <a:t>dùng phần thưởng từ vựng 0,5·EM + 0,5·Token-F1.    </a:t>
            </a:r>
            <a:r>
              <a:rPr lang="en-US" sz="1150" b="1" dirty="0">
                <a:solidFill>
                  <a:srgbClr val="6B33C7"/>
                </a:solidFill>
                <a:latin typeface="Courier New" pitchFamily="34" charset="0"/>
                <a:ea typeface="Courier New" pitchFamily="34" charset="-122"/>
                <a:cs typeface="Courier New" pitchFamily="34" charset="-120"/>
              </a:rPr>
              <a:t>D_semantic </a:t>
            </a:r>
            <a:r>
              <a:rPr lang="en-US" sz="1150" dirty="0">
                <a:solidFill>
                  <a:srgbClr val="4F637B"/>
                </a:solidFill>
                <a:latin typeface="Calibri" pitchFamily="34" charset="0"/>
                <a:ea typeface="Calibri" pitchFamily="34" charset="-122"/>
                <a:cs typeface="Calibri" pitchFamily="34" charset="-120"/>
              </a:rPr>
              <a:t>đổi sang phần thưởng tương đồng ngữ nghĩa.</a:t>
            </a:r>
            <a:endParaRPr lang="en-US" sz="1150" dirty="0"/>
          </a:p>
        </p:txBody>
      </p:sp>
      <p:sp>
        <p:nvSpPr>
          <p:cNvPr id="17" name="Shape 14"/>
          <p:cNvSpPr/>
          <p:nvPr/>
        </p:nvSpPr>
        <p:spPr>
          <a:xfrm>
            <a:off x="566928" y="3657600"/>
            <a:ext cx="6309360" cy="2176272"/>
          </a:xfrm>
          <a:prstGeom prst="roundRect">
            <a:avLst>
              <a:gd name="adj" fmla="val 2941"/>
            </a:avLst>
          </a:prstGeom>
          <a:solidFill>
            <a:srgbClr val="FFFFFF"/>
          </a:solidFill>
          <a:ln w="12700">
            <a:solidFill>
              <a:srgbClr val="D3DEEA"/>
            </a:solidFill>
            <a:prstDash val="solid"/>
          </a:ln>
          <a:effectLst>
            <a:outerShdw blurRad="127000" dist="25400" dir="5400000" algn="bl" rotWithShape="0">
              <a:srgbClr val="000000">
                <a:alpha val="30000"/>
              </a:srgbClr>
            </a:outerShdw>
          </a:effectLst>
        </p:spPr>
        <p:txBody>
          <a:bodyPr/>
          <a:lstStyle/>
          <a:p>
            <a:endParaRPr lang="en-US"/>
          </a:p>
        </p:txBody>
      </p:sp>
      <p:pic>
        <p:nvPicPr>
          <p:cNvPr id="18" name="Image 1" descr="E:/DoCode/Master_Subject2026_TDTU/02_Code_DeepLearning/report/01_analyze_data/05_report_html_data_eval/rl_progress_d1_scst.png"/>
          <p:cNvPicPr>
            <a:picLocks noChangeAspect="1"/>
          </p:cNvPicPr>
          <p:nvPr/>
        </p:nvPicPr>
        <p:blipFill>
          <a:blip r:embed="rId4"/>
          <a:srcRect/>
          <a:stretch/>
        </p:blipFill>
        <p:spPr>
          <a:xfrm>
            <a:off x="658368" y="3749040"/>
            <a:ext cx="6126480" cy="1993392"/>
          </a:xfrm>
          <a:prstGeom prst="rect">
            <a:avLst/>
          </a:prstGeom>
        </p:spPr>
      </p:pic>
      <p:sp>
        <p:nvSpPr>
          <p:cNvPr id="19" name="Shape 15"/>
          <p:cNvSpPr/>
          <p:nvPr/>
        </p:nvSpPr>
        <p:spPr>
          <a:xfrm>
            <a:off x="7059168" y="3657600"/>
            <a:ext cx="4572000" cy="2176272"/>
          </a:xfrm>
          <a:prstGeom prst="roundRect">
            <a:avLst>
              <a:gd name="adj" fmla="val 3782"/>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20" name="Shape 16"/>
          <p:cNvSpPr/>
          <p:nvPr/>
        </p:nvSpPr>
        <p:spPr>
          <a:xfrm>
            <a:off x="7278624" y="3877056"/>
            <a:ext cx="329184" cy="329184"/>
          </a:xfrm>
          <a:prstGeom prst="ellipse">
            <a:avLst/>
          </a:prstGeom>
          <a:solidFill>
            <a:srgbClr val="C62828"/>
          </a:solidFill>
          <a:ln/>
        </p:spPr>
        <p:txBody>
          <a:bodyPr/>
          <a:lstStyle/>
          <a:p>
            <a:endParaRPr lang="en-US"/>
          </a:p>
        </p:txBody>
      </p:sp>
      <p:sp>
        <p:nvSpPr>
          <p:cNvPr id="21" name="Text 17"/>
          <p:cNvSpPr/>
          <p:nvPr/>
        </p:nvSpPr>
        <p:spPr>
          <a:xfrm>
            <a:off x="7278624" y="387705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2" name="Text 18"/>
          <p:cNvSpPr/>
          <p:nvPr/>
        </p:nvSpPr>
        <p:spPr>
          <a:xfrm>
            <a:off x="7735824" y="3858768"/>
            <a:ext cx="365760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RL không vượt được SFT</a:t>
            </a:r>
            <a:endParaRPr lang="en-US" sz="1450" dirty="0"/>
          </a:p>
        </p:txBody>
      </p:sp>
      <p:sp>
        <p:nvSpPr>
          <p:cNvPr id="23" name="Text 19"/>
          <p:cNvSpPr/>
          <p:nvPr/>
        </p:nvSpPr>
        <p:spPr>
          <a:xfrm>
            <a:off x="7278624" y="4352544"/>
            <a:ext cx="4114800" cy="1371600"/>
          </a:xfrm>
          <a:prstGeom prst="rect">
            <a:avLst/>
          </a:prstGeom>
          <a:noFill/>
          <a:ln/>
        </p:spPr>
        <p:txBody>
          <a:bodyPr wrap="square" lIns="0" tIns="0" rIns="0" bIns="0" rtlCol="0" anchor="t"/>
          <a:lstStyle/>
          <a:p>
            <a:pPr marL="342900" indent="-342900">
              <a:spcAft>
                <a:spcPts val="900"/>
              </a:spcAft>
              <a:buSzPct val="100000"/>
              <a:buChar char="•"/>
            </a:pPr>
            <a:r>
              <a:rPr lang="en-US" sz="1100" dirty="0">
                <a:solidFill>
                  <a:srgbClr val="4F637B"/>
                </a:solidFill>
                <a:latin typeface="Calibri" pitchFamily="34" charset="0"/>
                <a:ea typeface="Calibri" pitchFamily="34" charset="-122"/>
                <a:cs typeface="Calibri" pitchFamily="34" charset="-120"/>
              </a:rPr>
              <a:t>Phần thưởng trên tập train tăng đều, nhưng Exact Match trên validation không bao giờ vượt mốc SFT baseline 32,04%.</a:t>
            </a:r>
            <a:endParaRPr lang="en-US" sz="1100" dirty="0"/>
          </a:p>
          <a:p>
            <a:pPr marL="342900" indent="-342900">
              <a:spcAft>
                <a:spcPts val="900"/>
              </a:spcAft>
              <a:buSzPct val="100000"/>
              <a:buChar char="•"/>
            </a:pPr>
            <a:r>
              <a:rPr lang="en-US" sz="1100" dirty="0">
                <a:solidFill>
                  <a:srgbClr val="4F637B"/>
                </a:solidFill>
                <a:latin typeface="Calibri" pitchFamily="34" charset="0"/>
                <a:ea typeface="Calibri" pitchFamily="34" charset="-122"/>
                <a:cs typeface="Calibri" pitchFamily="34" charset="-120"/>
              </a:rPr>
              <a:t>Với đáp án cực ngắn, reward gần như nhị phân: tín hiệu thưa và phương sai lớn nên policy gradient không tìm được checkpoint tốt hơn.</a:t>
            </a:r>
            <a:endParaRPr lang="en-US" sz="1100" dirty="0"/>
          </a:p>
        </p:txBody>
      </p:sp>
      <p:sp>
        <p:nvSpPr>
          <p:cNvPr id="24" name="Text 20"/>
          <p:cNvSpPr/>
          <p:nvPr/>
        </p:nvSpPr>
        <p:spPr>
          <a:xfrm>
            <a:off x="566928" y="6382512"/>
            <a:ext cx="11057839" cy="274320"/>
          </a:xfrm>
          <a:prstGeom prst="rect">
            <a:avLst/>
          </a:prstGeom>
          <a:noFill/>
          <a:ln/>
        </p:spPr>
        <p:txBody>
          <a:bodyPr wrap="square" lIns="0" tIns="0" rIns="0" bIns="0" rtlCol="0" anchor="ctr"/>
          <a:lstStyle/>
          <a:p>
            <a:pPr marL="0" indent="0">
              <a:buNone/>
            </a:pPr>
            <a:r>
              <a:rPr lang="en-US" sz="950" i="1" dirty="0">
                <a:solidFill>
                  <a:srgbClr val="8494A8"/>
                </a:solidFill>
                <a:latin typeface="Calibri" pitchFamily="34" charset="0"/>
                <a:ea typeface="Calibri" pitchFamily="34" charset="-122"/>
                <a:cs typeface="Calibri" pitchFamily="34" charset="-120"/>
              </a:rPr>
              <a:t>Vì checkpoint tốt nhất không đổi, các run RL trên bảng kết quả trùng khít với run SFT gốc của chúng.</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6B33C7"/>
                </a:solidFill>
                <a:latin typeface="Calibri" pitchFamily="34" charset="0"/>
                <a:ea typeface="Calibri" pitchFamily="34" charset="-122"/>
                <a:cs typeface="Calibri" pitchFamily="34" charset="-120"/>
              </a:rPr>
              <a:t>PHẦN 6 · ABLATION</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Q-Former là gì và nó sửa cổ chai nào?</a:t>
            </a:r>
            <a:endParaRPr lang="en-US" sz="2900" dirty="0"/>
          </a:p>
        </p:txBody>
      </p:sp>
      <p:sp>
        <p:nvSpPr>
          <p:cNvPr id="5" name="Text 2"/>
          <p:cNvSpPr/>
          <p:nvPr/>
        </p:nvSpPr>
        <p:spPr>
          <a:xfrm>
            <a:off x="621792" y="1207008"/>
            <a:ext cx="11057839" cy="457200"/>
          </a:xfrm>
          <a:prstGeom prst="rect">
            <a:avLst/>
          </a:prstGeom>
          <a:noFill/>
          <a:ln/>
        </p:spPr>
        <p:txBody>
          <a:bodyPr wrap="square" lIns="0" tIns="0" rIns="0" bIns="0" rtlCol="0" anchor="ctr"/>
          <a:lstStyle/>
          <a:p>
            <a:pPr marL="0" indent="0">
              <a:lnSpc>
                <a:spcPct val="116000"/>
              </a:lnSpc>
              <a:buNone/>
            </a:pPr>
            <a:r>
              <a:rPr lang="en-US" sz="1250" dirty="0">
                <a:solidFill>
                  <a:srgbClr val="4F637B"/>
                </a:solidFill>
                <a:latin typeface="Calibri" pitchFamily="34" charset="0"/>
                <a:ea typeface="Calibri" pitchFamily="34" charset="-122"/>
                <a:cs typeface="Calibri" pitchFamily="34" charset="-120"/>
              </a:rPr>
              <a:t>Hai nhánh dùng chung bộ mã hóa ảnh, bộ mã hóa chữ, decoder GPT-2 và cùng một công thức huấn luyện. Khác biệt duy nhất là cách nối đặc trưng ảnh vào GPT-2 — nhờ vậy mọi chênh lệch kết quả quy đúng về bộ chiếu.</a:t>
            </a:r>
            <a:endParaRPr lang="en-US" sz="1250" dirty="0"/>
          </a:p>
        </p:txBody>
      </p:sp>
      <p:sp>
        <p:nvSpPr>
          <p:cNvPr id="6" name="Shape 3"/>
          <p:cNvSpPr/>
          <p:nvPr/>
        </p:nvSpPr>
        <p:spPr>
          <a:xfrm>
            <a:off x="566928" y="1920240"/>
            <a:ext cx="5486400" cy="2395728"/>
          </a:xfrm>
          <a:prstGeom prst="roundRect">
            <a:avLst>
              <a:gd name="adj" fmla="val 3435"/>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7" name="Shape 4"/>
          <p:cNvSpPr/>
          <p:nvPr/>
        </p:nvSpPr>
        <p:spPr>
          <a:xfrm>
            <a:off x="822960" y="2139696"/>
            <a:ext cx="329184" cy="329184"/>
          </a:xfrm>
          <a:prstGeom prst="ellipse">
            <a:avLst/>
          </a:prstGeom>
          <a:solidFill>
            <a:srgbClr val="8494A8"/>
          </a:solidFill>
          <a:ln/>
        </p:spPr>
        <p:txBody>
          <a:bodyPr/>
          <a:lstStyle/>
          <a:p>
            <a:endParaRPr lang="en-US"/>
          </a:p>
        </p:txBody>
      </p:sp>
      <p:sp>
        <p:nvSpPr>
          <p:cNvPr id="8" name="Text 5"/>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9" name="Text 6"/>
          <p:cNvSpPr/>
          <p:nvPr/>
        </p:nvSpPr>
        <p:spPr>
          <a:xfrm>
            <a:off x="1280160" y="2121408"/>
            <a:ext cx="457200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Q_pooled — bản đối chứng</a:t>
            </a:r>
            <a:endParaRPr lang="en-US" sz="1450" dirty="0"/>
          </a:p>
        </p:txBody>
      </p:sp>
      <p:sp>
        <p:nvSpPr>
          <p:cNvPr id="10" name="Text 7"/>
          <p:cNvSpPr/>
          <p:nvPr/>
        </p:nvSpPr>
        <p:spPr>
          <a:xfrm>
            <a:off x="1335024" y="2487168"/>
            <a:ext cx="4480560" cy="237744"/>
          </a:xfrm>
          <a:prstGeom prst="rect">
            <a:avLst/>
          </a:prstGeom>
          <a:noFill/>
          <a:ln/>
        </p:spPr>
        <p:txBody>
          <a:bodyPr wrap="square" lIns="0" tIns="0" rIns="0" bIns="0" rtlCol="0" anchor="ctr"/>
          <a:lstStyle/>
          <a:p>
            <a:pPr marL="0" indent="0">
              <a:buNone/>
            </a:pPr>
            <a:r>
              <a:rPr lang="en-US" sz="1100" i="1" dirty="0">
                <a:solidFill>
                  <a:srgbClr val="8494A8"/>
                </a:solidFill>
                <a:latin typeface="Calibri" pitchFamily="34" charset="0"/>
                <a:ea typeface="Calibri" pitchFamily="34" charset="-122"/>
                <a:cs typeface="Calibri" pitchFamily="34" charset="-120"/>
              </a:rPr>
              <a:t>87M tham số huấn luyện</a:t>
            </a:r>
            <a:endParaRPr lang="en-US" sz="1100" dirty="0"/>
          </a:p>
        </p:txBody>
      </p:sp>
      <p:sp>
        <p:nvSpPr>
          <p:cNvPr id="11" name="Text 8"/>
          <p:cNvSpPr/>
          <p:nvPr/>
        </p:nvSpPr>
        <p:spPr>
          <a:xfrm>
            <a:off x="822960" y="2816352"/>
            <a:ext cx="5029200" cy="177393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4F637B"/>
                </a:solidFill>
                <a:latin typeface="Calibri" pitchFamily="34" charset="0"/>
                <a:ea typeface="Calibri" pitchFamily="34" charset="-122"/>
                <a:cs typeface="Calibri" pitchFamily="34" charset="-120"/>
              </a:rPr>
              <a:t>Lấy pooler_output của CLIP — một vectơ 768 chiều đã nén cả bức ảnh — rồi chiếu về 128 chiều.</a:t>
            </a:r>
            <a:endParaRPr lang="en-US" sz="1150" dirty="0"/>
          </a:p>
          <a:p>
            <a:pPr marL="342900" indent="-342900">
              <a:spcAft>
                <a:spcPts val="600"/>
              </a:spcAft>
              <a:buSzPct val="100000"/>
              <a:buChar char="•"/>
            </a:pPr>
            <a:r>
              <a:rPr lang="en-US" sz="1150" dirty="0">
                <a:solidFill>
                  <a:srgbClr val="4F637B"/>
                </a:solidFill>
                <a:latin typeface="Calibri" pitchFamily="34" charset="0"/>
                <a:ea typeface="Calibri" pitchFamily="34" charset="-122"/>
                <a:cs typeface="Calibri" pitchFamily="34" charset="-120"/>
              </a:rPr>
              <a:t>Ghép với đặc trưng câu hỏi 64 chiều từ PubMedBERT.</a:t>
            </a:r>
            <a:endParaRPr lang="en-US" sz="1150" dirty="0"/>
          </a:p>
          <a:p>
            <a:pPr marL="342900" indent="-342900">
              <a:spcAft>
                <a:spcPts val="600"/>
              </a:spcAft>
              <a:buSzPct val="100000"/>
              <a:buChar char="•"/>
            </a:pPr>
            <a:r>
              <a:rPr lang="en-US" sz="1150" dirty="0">
                <a:solidFill>
                  <a:srgbClr val="4F637B"/>
                </a:solidFill>
                <a:latin typeface="Calibri" pitchFamily="34" charset="0"/>
                <a:ea typeface="Calibri" pitchFamily="34" charset="-122"/>
                <a:cs typeface="Calibri" pitchFamily="34" charset="-120"/>
              </a:rPr>
              <a:t>Linear(192 → 768) tạo đúng MỘT prefix token cho GPT-2.</a:t>
            </a:r>
            <a:endParaRPr lang="en-US" sz="1150" dirty="0"/>
          </a:p>
          <a:p>
            <a:pPr marL="342900" indent="-342900">
              <a:spcAft>
                <a:spcPts val="600"/>
              </a:spcAft>
              <a:buSzPct val="100000"/>
              <a:buChar char="•"/>
            </a:pPr>
            <a:r>
              <a:rPr lang="en-US" sz="1150" dirty="0">
                <a:solidFill>
                  <a:srgbClr val="4F637B"/>
                </a:solidFill>
                <a:latin typeface="Calibri" pitchFamily="34" charset="0"/>
                <a:ea typeface="Calibri" pitchFamily="34" charset="-122"/>
                <a:cs typeface="Calibri" pitchFamily="34" charset="-120"/>
              </a:rPr>
              <a:t>Chi tiết không gian của ảnh bị ép vào một token ⇒ cổ chai.</a:t>
            </a:r>
            <a:endParaRPr lang="en-US" sz="1150" dirty="0"/>
          </a:p>
        </p:txBody>
      </p:sp>
      <p:sp>
        <p:nvSpPr>
          <p:cNvPr id="12" name="Shape 9"/>
          <p:cNvSpPr/>
          <p:nvPr/>
        </p:nvSpPr>
        <p:spPr>
          <a:xfrm>
            <a:off x="6236208" y="1920240"/>
            <a:ext cx="5394960" cy="2395728"/>
          </a:xfrm>
          <a:prstGeom prst="roundRect">
            <a:avLst>
              <a:gd name="adj" fmla="val 3435"/>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3" name="Shape 10"/>
          <p:cNvSpPr/>
          <p:nvPr/>
        </p:nvSpPr>
        <p:spPr>
          <a:xfrm>
            <a:off x="6492240" y="2139696"/>
            <a:ext cx="329184" cy="329184"/>
          </a:xfrm>
          <a:prstGeom prst="ellipse">
            <a:avLst/>
          </a:prstGeom>
          <a:solidFill>
            <a:srgbClr val="6B33C7"/>
          </a:solidFill>
          <a:ln/>
        </p:spPr>
        <p:txBody>
          <a:bodyPr/>
          <a:lstStyle/>
          <a:p>
            <a:endParaRPr lang="en-US"/>
          </a:p>
        </p:txBody>
      </p:sp>
      <p:sp>
        <p:nvSpPr>
          <p:cNvPr id="14" name="Text 11"/>
          <p:cNvSpPr/>
          <p:nvPr/>
        </p:nvSpPr>
        <p:spPr>
          <a:xfrm>
            <a:off x="649224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5" name="Text 12"/>
          <p:cNvSpPr/>
          <p:nvPr/>
        </p:nvSpPr>
        <p:spPr>
          <a:xfrm>
            <a:off x="6949440" y="2121408"/>
            <a:ext cx="448056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Q_qformer — Querying Transformer</a:t>
            </a:r>
            <a:endParaRPr lang="en-US" sz="1450" dirty="0"/>
          </a:p>
        </p:txBody>
      </p:sp>
      <p:sp>
        <p:nvSpPr>
          <p:cNvPr id="16" name="Text 13"/>
          <p:cNvSpPr/>
          <p:nvPr/>
        </p:nvSpPr>
        <p:spPr>
          <a:xfrm>
            <a:off x="7004304" y="2487168"/>
            <a:ext cx="4389120" cy="237744"/>
          </a:xfrm>
          <a:prstGeom prst="rect">
            <a:avLst/>
          </a:prstGeom>
          <a:noFill/>
          <a:ln/>
        </p:spPr>
        <p:txBody>
          <a:bodyPr wrap="square" lIns="0" tIns="0" rIns="0" bIns="0" rtlCol="0" anchor="ctr"/>
          <a:lstStyle/>
          <a:p>
            <a:pPr marL="0" indent="0">
              <a:buNone/>
            </a:pPr>
            <a:r>
              <a:rPr lang="en-US" sz="1100" i="1" dirty="0">
                <a:solidFill>
                  <a:srgbClr val="6B33C7"/>
                </a:solidFill>
                <a:latin typeface="Calibri" pitchFamily="34" charset="0"/>
                <a:ea typeface="Calibri" pitchFamily="34" charset="-122"/>
                <a:cs typeface="Calibri" pitchFamily="34" charset="-120"/>
              </a:rPr>
              <a:t>98M tham số huấn luyện  ·  thêm 11M</a:t>
            </a:r>
            <a:endParaRPr lang="en-US" sz="1100" dirty="0"/>
          </a:p>
        </p:txBody>
      </p:sp>
      <p:sp>
        <p:nvSpPr>
          <p:cNvPr id="17" name="Text 14"/>
          <p:cNvSpPr/>
          <p:nvPr/>
        </p:nvSpPr>
        <p:spPr>
          <a:xfrm>
            <a:off x="6492240" y="2816352"/>
            <a:ext cx="4937760" cy="177393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4F637B"/>
                </a:solidFill>
                <a:latin typeface="Calibri" pitchFamily="34" charset="0"/>
                <a:ea typeface="Calibri" pitchFamily="34" charset="-122"/>
                <a:cs typeface="Calibri" pitchFamily="34" charset="-120"/>
              </a:rPr>
              <a:t>Giữ nguyên chuỗi khoảng 50 patch token của CLIP-ViT thay vì gộp lại.</a:t>
            </a:r>
            <a:endParaRPr lang="en-US" sz="1150" dirty="0"/>
          </a:p>
          <a:p>
            <a:pPr marL="342900" indent="-342900">
              <a:spcAft>
                <a:spcPts val="600"/>
              </a:spcAft>
              <a:buSzPct val="100000"/>
              <a:buChar char="•"/>
            </a:pPr>
            <a:r>
              <a:rPr lang="en-US" sz="1150" dirty="0">
                <a:solidFill>
                  <a:srgbClr val="4F637B"/>
                </a:solidFill>
                <a:latin typeface="Calibri" pitchFamily="34" charset="0"/>
                <a:ea typeface="Calibri" pitchFamily="34" charset="-122"/>
                <a:cs typeface="Calibri" pitchFamily="34" charset="-120"/>
              </a:rPr>
              <a:t>Khối Q-Former gồm 16 query học được và 2 lớp cross-attention, “truy vấn” các patch để rút thông tin.</a:t>
            </a:r>
            <a:endParaRPr lang="en-US" sz="1150" dirty="0"/>
          </a:p>
          <a:p>
            <a:pPr marL="342900" indent="-342900">
              <a:spcAft>
                <a:spcPts val="600"/>
              </a:spcAft>
              <a:buSzPct val="100000"/>
              <a:buChar char="•"/>
            </a:pPr>
            <a:r>
              <a:rPr lang="en-US" sz="1150" dirty="0">
                <a:solidFill>
                  <a:srgbClr val="4F637B"/>
                </a:solidFill>
                <a:latin typeface="Calibri" pitchFamily="34" charset="0"/>
                <a:ea typeface="Calibri" pitchFamily="34" charset="-122"/>
                <a:cs typeface="Calibri" pitchFamily="34" charset="-120"/>
              </a:rPr>
              <a:t>Sinh ra 16 visual token, cộng thêm 1 text token ⇒ GPT-2 nhận 17 prefix token.</a:t>
            </a:r>
            <a:endParaRPr lang="en-US" sz="1150" dirty="0"/>
          </a:p>
          <a:p>
            <a:pPr marL="342900" indent="-342900">
              <a:spcAft>
                <a:spcPts val="600"/>
              </a:spcAft>
              <a:buSzPct val="100000"/>
              <a:buChar char="•"/>
            </a:pPr>
            <a:r>
              <a:rPr lang="en-US" sz="1150" dirty="0">
                <a:solidFill>
                  <a:srgbClr val="4F637B"/>
                </a:solidFill>
                <a:latin typeface="Calibri" pitchFamily="34" charset="0"/>
                <a:ea typeface="Calibri" pitchFamily="34" charset="-122"/>
                <a:cs typeface="Calibri" pitchFamily="34" charset="-120"/>
              </a:rPr>
              <a:t>Ý tưởng lấy từ BLIP-2: giữ được bố cục không gian của ảnh.</a:t>
            </a:r>
            <a:endParaRPr lang="en-US" sz="1150" dirty="0"/>
          </a:p>
        </p:txBody>
      </p:sp>
      <p:sp>
        <p:nvSpPr>
          <p:cNvPr id="18" name="Text 15"/>
          <p:cNvSpPr/>
          <p:nvPr/>
        </p:nvSpPr>
        <p:spPr>
          <a:xfrm>
            <a:off x="566928" y="4590288"/>
            <a:ext cx="2682164" cy="402336"/>
          </a:xfrm>
          <a:prstGeom prst="rect">
            <a:avLst/>
          </a:prstGeom>
          <a:noFill/>
          <a:ln/>
        </p:spPr>
        <p:txBody>
          <a:bodyPr wrap="square" lIns="0" tIns="0" rIns="0" bIns="0" rtlCol="0" anchor="ctr"/>
          <a:lstStyle/>
          <a:p>
            <a:pPr marL="0" indent="0">
              <a:buNone/>
            </a:pPr>
            <a:r>
              <a:rPr lang="en-US" sz="2400" b="1" dirty="0">
                <a:solidFill>
                  <a:srgbClr val="6B33C7"/>
                </a:solidFill>
                <a:latin typeface="Cambria" pitchFamily="34" charset="0"/>
                <a:ea typeface="Cambria" pitchFamily="34" charset="-122"/>
                <a:cs typeface="Cambria" pitchFamily="34" charset="-120"/>
              </a:rPr>
              <a:t>1 → 17</a:t>
            </a:r>
            <a:endParaRPr lang="en-US" sz="2400" dirty="0"/>
          </a:p>
        </p:txBody>
      </p:sp>
      <p:sp>
        <p:nvSpPr>
          <p:cNvPr id="19" name="Text 16"/>
          <p:cNvSpPr/>
          <p:nvPr/>
        </p:nvSpPr>
        <p:spPr>
          <a:xfrm>
            <a:off x="566928" y="5029200"/>
            <a:ext cx="2682164" cy="365760"/>
          </a:xfrm>
          <a:prstGeom prst="rect">
            <a:avLst/>
          </a:prstGeom>
          <a:noFill/>
          <a:ln/>
        </p:spPr>
        <p:txBody>
          <a:bodyPr wrap="square" lIns="0" tIns="0" rIns="0" bIns="0" rtlCol="0" anchor="ctr"/>
          <a:lstStyle/>
          <a:p>
            <a:pPr marL="0" indent="0">
              <a:lnSpc>
                <a:spcPct val="108000"/>
              </a:lnSpc>
              <a:buNone/>
            </a:pPr>
            <a:r>
              <a:rPr lang="en-US" sz="1100" dirty="0">
                <a:solidFill>
                  <a:srgbClr val="4F637B"/>
                </a:solidFill>
                <a:latin typeface="Calibri" pitchFamily="34" charset="0"/>
                <a:ea typeface="Calibri" pitchFamily="34" charset="-122"/>
                <a:cs typeface="Calibri" pitchFamily="34" charset="-120"/>
              </a:rPr>
              <a:t>số prefix token đưa vào GPT-2</a:t>
            </a:r>
            <a:endParaRPr lang="en-US" sz="1100" dirty="0"/>
          </a:p>
        </p:txBody>
      </p:sp>
      <p:sp>
        <p:nvSpPr>
          <p:cNvPr id="20" name="Text 17"/>
          <p:cNvSpPr/>
          <p:nvPr/>
        </p:nvSpPr>
        <p:spPr>
          <a:xfrm>
            <a:off x="3358820" y="4590288"/>
            <a:ext cx="2682164" cy="402336"/>
          </a:xfrm>
          <a:prstGeom prst="rect">
            <a:avLst/>
          </a:prstGeom>
          <a:noFill/>
          <a:ln/>
        </p:spPr>
        <p:txBody>
          <a:bodyPr wrap="square" lIns="0" tIns="0" rIns="0" bIns="0" rtlCol="0" anchor="ctr"/>
          <a:lstStyle/>
          <a:p>
            <a:pPr marL="0" indent="0">
              <a:buNone/>
            </a:pPr>
            <a:r>
              <a:rPr lang="en-US" sz="2400" b="1" dirty="0">
                <a:solidFill>
                  <a:srgbClr val="B26A00"/>
                </a:solidFill>
                <a:latin typeface="Cambria" pitchFamily="34" charset="0"/>
                <a:ea typeface="Cambria" pitchFamily="34" charset="-122"/>
                <a:cs typeface="Cambria" pitchFamily="34" charset="-120"/>
              </a:rPr>
              <a:t>+11M</a:t>
            </a:r>
            <a:endParaRPr lang="en-US" sz="2400" dirty="0"/>
          </a:p>
        </p:txBody>
      </p:sp>
      <p:sp>
        <p:nvSpPr>
          <p:cNvPr id="21" name="Text 18"/>
          <p:cNvSpPr/>
          <p:nvPr/>
        </p:nvSpPr>
        <p:spPr>
          <a:xfrm>
            <a:off x="3358820" y="5029200"/>
            <a:ext cx="2682164" cy="365760"/>
          </a:xfrm>
          <a:prstGeom prst="rect">
            <a:avLst/>
          </a:prstGeom>
          <a:noFill/>
          <a:ln/>
        </p:spPr>
        <p:txBody>
          <a:bodyPr wrap="square" lIns="0" tIns="0" rIns="0" bIns="0" rtlCol="0" anchor="ctr"/>
          <a:lstStyle/>
          <a:p>
            <a:pPr marL="0" indent="0">
              <a:lnSpc>
                <a:spcPct val="108000"/>
              </a:lnSpc>
              <a:buNone/>
            </a:pPr>
            <a:r>
              <a:rPr lang="en-US" sz="1100" dirty="0">
                <a:solidFill>
                  <a:srgbClr val="4F637B"/>
                </a:solidFill>
                <a:latin typeface="Calibri" pitchFamily="34" charset="0"/>
                <a:ea typeface="Calibri" pitchFamily="34" charset="-122"/>
                <a:cs typeface="Calibri" pitchFamily="34" charset="-120"/>
              </a:rPr>
              <a:t>tham số tăng thêm (87M → 98M)</a:t>
            </a:r>
            <a:endParaRPr lang="en-US" sz="1100" dirty="0"/>
          </a:p>
        </p:txBody>
      </p:sp>
      <p:sp>
        <p:nvSpPr>
          <p:cNvPr id="22" name="Text 19"/>
          <p:cNvSpPr/>
          <p:nvPr/>
        </p:nvSpPr>
        <p:spPr>
          <a:xfrm>
            <a:off x="6150712" y="4590288"/>
            <a:ext cx="2682164" cy="402336"/>
          </a:xfrm>
          <a:prstGeom prst="rect">
            <a:avLst/>
          </a:prstGeom>
          <a:noFill/>
          <a:ln/>
        </p:spPr>
        <p:txBody>
          <a:bodyPr wrap="square" lIns="0" tIns="0" rIns="0" bIns="0" rtlCol="0" anchor="ctr"/>
          <a:lstStyle/>
          <a:p>
            <a:pPr marL="0" indent="0">
              <a:buNone/>
            </a:pPr>
            <a:r>
              <a:rPr lang="en-US" sz="2400" b="1" dirty="0">
                <a:solidFill>
                  <a:srgbClr val="1466C0"/>
                </a:solidFill>
                <a:latin typeface="Cambria" pitchFamily="34" charset="0"/>
                <a:ea typeface="Cambria" pitchFamily="34" charset="-122"/>
                <a:cs typeface="Cambria" pitchFamily="34" charset="-120"/>
              </a:rPr>
              <a:t>19 → 21</a:t>
            </a:r>
            <a:endParaRPr lang="en-US" sz="2400" dirty="0"/>
          </a:p>
        </p:txBody>
      </p:sp>
      <p:sp>
        <p:nvSpPr>
          <p:cNvPr id="23" name="Text 20"/>
          <p:cNvSpPr/>
          <p:nvPr/>
        </p:nvSpPr>
        <p:spPr>
          <a:xfrm>
            <a:off x="6150712" y="5029200"/>
            <a:ext cx="2682164" cy="365760"/>
          </a:xfrm>
          <a:prstGeom prst="rect">
            <a:avLst/>
          </a:prstGeom>
          <a:noFill/>
          <a:ln/>
        </p:spPr>
        <p:txBody>
          <a:bodyPr wrap="square" lIns="0" tIns="0" rIns="0" bIns="0" rtlCol="0" anchor="ctr"/>
          <a:lstStyle/>
          <a:p>
            <a:pPr marL="0" indent="0">
              <a:lnSpc>
                <a:spcPct val="108000"/>
              </a:lnSpc>
              <a:buNone/>
            </a:pPr>
            <a:r>
              <a:rPr lang="en-US" sz="1100" dirty="0">
                <a:solidFill>
                  <a:srgbClr val="4F637B"/>
                </a:solidFill>
                <a:latin typeface="Calibri" pitchFamily="34" charset="0"/>
                <a:ea typeface="Calibri" pitchFamily="34" charset="-122"/>
                <a:cs typeface="Calibri" pitchFamily="34" charset="-120"/>
              </a:rPr>
              <a:t>số epoch trước khi dừng sớm</a:t>
            </a:r>
            <a:endParaRPr lang="en-US" sz="1100" dirty="0"/>
          </a:p>
        </p:txBody>
      </p:sp>
      <p:sp>
        <p:nvSpPr>
          <p:cNvPr id="24" name="Text 21"/>
          <p:cNvSpPr/>
          <p:nvPr/>
        </p:nvSpPr>
        <p:spPr>
          <a:xfrm>
            <a:off x="8942603" y="4590288"/>
            <a:ext cx="2682164" cy="402336"/>
          </a:xfrm>
          <a:prstGeom prst="rect">
            <a:avLst/>
          </a:prstGeom>
          <a:noFill/>
          <a:ln/>
        </p:spPr>
        <p:txBody>
          <a:bodyPr wrap="square" lIns="0" tIns="0" rIns="0" bIns="0" rtlCol="0" anchor="ctr"/>
          <a:lstStyle/>
          <a:p>
            <a:pPr marL="0" indent="0">
              <a:buNone/>
            </a:pPr>
            <a:r>
              <a:rPr lang="en-US" sz="2000" b="1" dirty="0">
                <a:solidFill>
                  <a:srgbClr val="0B8457"/>
                </a:solidFill>
                <a:latin typeface="Cambria" pitchFamily="34" charset="0"/>
                <a:ea typeface="Cambria" pitchFamily="34" charset="-122"/>
                <a:cs typeface="Cambria" pitchFamily="34" charset="-120"/>
              </a:rPr>
              <a:t>32,60 → 34,25%</a:t>
            </a:r>
            <a:endParaRPr lang="en-US" sz="2000" dirty="0"/>
          </a:p>
        </p:txBody>
      </p:sp>
      <p:sp>
        <p:nvSpPr>
          <p:cNvPr id="25" name="Text 22"/>
          <p:cNvSpPr/>
          <p:nvPr/>
        </p:nvSpPr>
        <p:spPr>
          <a:xfrm>
            <a:off x="8942603" y="5029200"/>
            <a:ext cx="2682164" cy="365760"/>
          </a:xfrm>
          <a:prstGeom prst="rect">
            <a:avLst/>
          </a:prstGeom>
          <a:noFill/>
          <a:ln/>
        </p:spPr>
        <p:txBody>
          <a:bodyPr wrap="square" lIns="0" tIns="0" rIns="0" bIns="0" rtlCol="0" anchor="ctr"/>
          <a:lstStyle/>
          <a:p>
            <a:pPr marL="0" indent="0">
              <a:lnSpc>
                <a:spcPct val="108000"/>
              </a:lnSpc>
              <a:buNone/>
            </a:pPr>
            <a:r>
              <a:rPr lang="en-US" sz="1100" dirty="0">
                <a:solidFill>
                  <a:srgbClr val="4F637B"/>
                </a:solidFill>
                <a:latin typeface="Calibri" pitchFamily="34" charset="0"/>
                <a:ea typeface="Calibri" pitchFamily="34" charset="-122"/>
                <a:cs typeface="Calibri" pitchFamily="34" charset="-120"/>
              </a:rPr>
              <a:t>Best Val EM</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889B6-DE00-28E0-123C-F3BB47F5B9DD}"/>
            </a:ext>
          </a:extLst>
        </p:cNvPr>
        <p:cNvGrpSpPr/>
        <p:nvPr/>
      </p:nvGrpSpPr>
      <p:grpSpPr>
        <a:xfrm>
          <a:off x="0" y="0"/>
          <a:ext cx="0" cy="0"/>
          <a:chOff x="0" y="0"/>
          <a:chExt cx="0" cy="0"/>
        </a:xfrm>
      </p:grpSpPr>
      <p:pic>
        <p:nvPicPr>
          <p:cNvPr id="2" name="Image 0" descr="E:/DoCode/Master_Subject2026_TDTU/01_DeepLearning_report/figs/logo.jpg">
            <a:extLst>
              <a:ext uri="{FF2B5EF4-FFF2-40B4-BE49-F238E27FC236}">
                <a16:creationId xmlns:a16="http://schemas.microsoft.com/office/drawing/2014/main" id="{1AD281F4-1881-C6FE-C7F2-A54A04F3030D}"/>
              </a:ext>
            </a:extLst>
          </p:cNvPr>
          <p:cNvPicPr>
            <a:picLocks noChangeAspect="1"/>
          </p:cNvPicPr>
          <p:nvPr/>
        </p:nvPicPr>
        <p:blipFill>
          <a:blip r:embed="rId3"/>
          <a:stretch>
            <a:fillRect/>
          </a:stretch>
        </p:blipFill>
        <p:spPr>
          <a:xfrm>
            <a:off x="10527487" y="237744"/>
            <a:ext cx="1097280" cy="589788"/>
          </a:xfrm>
          <a:prstGeom prst="rect">
            <a:avLst/>
          </a:prstGeom>
        </p:spPr>
      </p:pic>
      <p:sp>
        <p:nvSpPr>
          <p:cNvPr id="3" name="Text 0">
            <a:extLst>
              <a:ext uri="{FF2B5EF4-FFF2-40B4-BE49-F238E27FC236}">
                <a16:creationId xmlns:a16="http://schemas.microsoft.com/office/drawing/2014/main" id="{280D9641-9D15-AFD0-4DDF-76A0372F14E2}"/>
              </a:ext>
            </a:extLst>
          </p:cNvPr>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6B33C7"/>
                </a:solidFill>
                <a:latin typeface="Calibri" pitchFamily="34" charset="0"/>
                <a:ea typeface="Calibri" pitchFamily="34" charset="-122"/>
                <a:cs typeface="Calibri" pitchFamily="34" charset="-120"/>
              </a:rPr>
              <a:t>PHẦN 6 · ABLATION</a:t>
            </a:r>
            <a:endParaRPr lang="en-US" sz="1050" dirty="0"/>
          </a:p>
        </p:txBody>
      </p:sp>
      <p:sp>
        <p:nvSpPr>
          <p:cNvPr id="4" name="Text 1">
            <a:extLst>
              <a:ext uri="{FF2B5EF4-FFF2-40B4-BE49-F238E27FC236}">
                <a16:creationId xmlns:a16="http://schemas.microsoft.com/office/drawing/2014/main" id="{3949A664-7D26-9AC7-33A3-88FE30086E04}"/>
              </a:ext>
            </a:extLst>
          </p:cNvPr>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Q-Former là gì và nó sửa cổ chai nào?</a:t>
            </a:r>
            <a:endParaRPr lang="en-US" sz="2900" dirty="0"/>
          </a:p>
        </p:txBody>
      </p:sp>
      <p:sp>
        <p:nvSpPr>
          <p:cNvPr id="5" name="Text 2">
            <a:extLst>
              <a:ext uri="{FF2B5EF4-FFF2-40B4-BE49-F238E27FC236}">
                <a16:creationId xmlns:a16="http://schemas.microsoft.com/office/drawing/2014/main" id="{BBD468EE-A182-AB66-E0A7-29DBE1C08664}"/>
              </a:ext>
            </a:extLst>
          </p:cNvPr>
          <p:cNvSpPr/>
          <p:nvPr/>
        </p:nvSpPr>
        <p:spPr>
          <a:xfrm>
            <a:off x="621792" y="1207008"/>
            <a:ext cx="11057839" cy="457200"/>
          </a:xfrm>
          <a:prstGeom prst="rect">
            <a:avLst/>
          </a:prstGeom>
          <a:noFill/>
          <a:ln/>
        </p:spPr>
        <p:txBody>
          <a:bodyPr wrap="square" lIns="0" tIns="0" rIns="0" bIns="0" rtlCol="0" anchor="ctr"/>
          <a:lstStyle/>
          <a:p>
            <a:pPr marL="0" indent="0">
              <a:lnSpc>
                <a:spcPct val="116000"/>
              </a:lnSpc>
              <a:buNone/>
            </a:pPr>
            <a:r>
              <a:rPr lang="en-US" sz="1250" dirty="0">
                <a:solidFill>
                  <a:srgbClr val="4F637B"/>
                </a:solidFill>
                <a:latin typeface="Calibri" pitchFamily="34" charset="0"/>
                <a:ea typeface="Calibri" pitchFamily="34" charset="-122"/>
                <a:cs typeface="Calibri" pitchFamily="34" charset="-120"/>
              </a:rPr>
              <a:t>Hai nhánh dùng chung bộ mã hóa ảnh, bộ mã hóa chữ, decoder GPT-2 và cùng một công thức huấn luyện. Khác biệt duy nhất là cách nối đặc trưng ảnh vào GPT-2 — nhờ vậy mọi chênh lệch kết quả quy đúng về bộ chiếu.</a:t>
            </a:r>
            <a:endParaRPr lang="en-US" sz="1250" dirty="0"/>
          </a:p>
        </p:txBody>
      </p:sp>
      <p:sp>
        <p:nvSpPr>
          <p:cNvPr id="6" name="Shape 3">
            <a:extLst>
              <a:ext uri="{FF2B5EF4-FFF2-40B4-BE49-F238E27FC236}">
                <a16:creationId xmlns:a16="http://schemas.microsoft.com/office/drawing/2014/main" id="{FA7F3E98-C302-AEAE-73EA-814EBD0AC4E8}"/>
              </a:ext>
            </a:extLst>
          </p:cNvPr>
          <p:cNvSpPr/>
          <p:nvPr/>
        </p:nvSpPr>
        <p:spPr>
          <a:xfrm>
            <a:off x="566928" y="1920240"/>
            <a:ext cx="5486400" cy="2395728"/>
          </a:xfrm>
          <a:prstGeom prst="roundRect">
            <a:avLst>
              <a:gd name="adj" fmla="val 3435"/>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7" name="Shape 4">
            <a:extLst>
              <a:ext uri="{FF2B5EF4-FFF2-40B4-BE49-F238E27FC236}">
                <a16:creationId xmlns:a16="http://schemas.microsoft.com/office/drawing/2014/main" id="{693D2FE9-24B8-2637-73DB-438C0C7BFE82}"/>
              </a:ext>
            </a:extLst>
          </p:cNvPr>
          <p:cNvSpPr/>
          <p:nvPr/>
        </p:nvSpPr>
        <p:spPr>
          <a:xfrm>
            <a:off x="822960" y="2139696"/>
            <a:ext cx="329184" cy="329184"/>
          </a:xfrm>
          <a:prstGeom prst="ellipse">
            <a:avLst/>
          </a:prstGeom>
          <a:solidFill>
            <a:srgbClr val="8494A8"/>
          </a:solidFill>
          <a:ln/>
        </p:spPr>
        <p:txBody>
          <a:bodyPr/>
          <a:lstStyle/>
          <a:p>
            <a:endParaRPr lang="en-US"/>
          </a:p>
        </p:txBody>
      </p:sp>
      <p:sp>
        <p:nvSpPr>
          <p:cNvPr id="8" name="Text 5">
            <a:extLst>
              <a:ext uri="{FF2B5EF4-FFF2-40B4-BE49-F238E27FC236}">
                <a16:creationId xmlns:a16="http://schemas.microsoft.com/office/drawing/2014/main" id="{2F09F660-E745-C8F8-D1E0-F9DB6F4A2BAB}"/>
              </a:ext>
            </a:extLst>
          </p:cNvPr>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9" name="Text 6">
            <a:extLst>
              <a:ext uri="{FF2B5EF4-FFF2-40B4-BE49-F238E27FC236}">
                <a16:creationId xmlns:a16="http://schemas.microsoft.com/office/drawing/2014/main" id="{041E37A5-F243-39B8-6A10-36C51AFE0785}"/>
              </a:ext>
            </a:extLst>
          </p:cNvPr>
          <p:cNvSpPr/>
          <p:nvPr/>
        </p:nvSpPr>
        <p:spPr>
          <a:xfrm>
            <a:off x="1280160" y="2121408"/>
            <a:ext cx="457200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Q_pooled — bản đối chứng</a:t>
            </a:r>
            <a:endParaRPr lang="en-US" sz="1450" dirty="0"/>
          </a:p>
        </p:txBody>
      </p:sp>
      <p:sp>
        <p:nvSpPr>
          <p:cNvPr id="10" name="Text 7">
            <a:extLst>
              <a:ext uri="{FF2B5EF4-FFF2-40B4-BE49-F238E27FC236}">
                <a16:creationId xmlns:a16="http://schemas.microsoft.com/office/drawing/2014/main" id="{8B35587B-7F75-5EFA-EA47-80BFC72DCA69}"/>
              </a:ext>
            </a:extLst>
          </p:cNvPr>
          <p:cNvSpPr/>
          <p:nvPr/>
        </p:nvSpPr>
        <p:spPr>
          <a:xfrm>
            <a:off x="1335024" y="2487168"/>
            <a:ext cx="4480560" cy="237744"/>
          </a:xfrm>
          <a:prstGeom prst="rect">
            <a:avLst/>
          </a:prstGeom>
          <a:noFill/>
          <a:ln/>
        </p:spPr>
        <p:txBody>
          <a:bodyPr wrap="square" lIns="0" tIns="0" rIns="0" bIns="0" rtlCol="0" anchor="ctr"/>
          <a:lstStyle/>
          <a:p>
            <a:pPr marL="0" indent="0">
              <a:buNone/>
            </a:pPr>
            <a:r>
              <a:rPr lang="en-US" sz="1100" i="1" dirty="0">
                <a:solidFill>
                  <a:srgbClr val="8494A8"/>
                </a:solidFill>
                <a:latin typeface="Calibri" pitchFamily="34" charset="0"/>
                <a:ea typeface="Calibri" pitchFamily="34" charset="-122"/>
                <a:cs typeface="Calibri" pitchFamily="34" charset="-120"/>
              </a:rPr>
              <a:t>87M tham số huấn luyện</a:t>
            </a:r>
            <a:endParaRPr lang="en-US" sz="1100" dirty="0"/>
          </a:p>
        </p:txBody>
      </p:sp>
      <p:sp>
        <p:nvSpPr>
          <p:cNvPr id="11" name="Text 8">
            <a:extLst>
              <a:ext uri="{FF2B5EF4-FFF2-40B4-BE49-F238E27FC236}">
                <a16:creationId xmlns:a16="http://schemas.microsoft.com/office/drawing/2014/main" id="{0732ED24-CD81-8704-B7BC-BEAEE8ED7FC1}"/>
              </a:ext>
            </a:extLst>
          </p:cNvPr>
          <p:cNvSpPr/>
          <p:nvPr/>
        </p:nvSpPr>
        <p:spPr>
          <a:xfrm>
            <a:off x="822960" y="2816352"/>
            <a:ext cx="5029200" cy="177393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4F637B"/>
                </a:solidFill>
                <a:latin typeface="Calibri" pitchFamily="34" charset="0"/>
                <a:ea typeface="Calibri" pitchFamily="34" charset="-122"/>
                <a:cs typeface="Calibri" pitchFamily="34" charset="-120"/>
              </a:rPr>
              <a:t>Lấy pooler_output của CLIP — một vectơ 768 chiều đã nén cả bức ảnh — rồi chiếu về 128 chiều.</a:t>
            </a:r>
            <a:endParaRPr lang="en-US" sz="1150" dirty="0"/>
          </a:p>
          <a:p>
            <a:pPr marL="342900" indent="-342900">
              <a:spcAft>
                <a:spcPts val="600"/>
              </a:spcAft>
              <a:buSzPct val="100000"/>
              <a:buChar char="•"/>
            </a:pPr>
            <a:r>
              <a:rPr lang="en-US" sz="1150" dirty="0">
                <a:solidFill>
                  <a:srgbClr val="4F637B"/>
                </a:solidFill>
                <a:latin typeface="Calibri" pitchFamily="34" charset="0"/>
                <a:ea typeface="Calibri" pitchFamily="34" charset="-122"/>
                <a:cs typeface="Calibri" pitchFamily="34" charset="-120"/>
              </a:rPr>
              <a:t>Ghép với đặc trưng câu hỏi 64 chiều từ PubMedBERT.</a:t>
            </a:r>
            <a:endParaRPr lang="en-US" sz="1150" dirty="0"/>
          </a:p>
          <a:p>
            <a:pPr marL="342900" indent="-342900">
              <a:spcAft>
                <a:spcPts val="600"/>
              </a:spcAft>
              <a:buSzPct val="100000"/>
              <a:buChar char="•"/>
            </a:pPr>
            <a:r>
              <a:rPr lang="en-US" sz="1150" dirty="0">
                <a:solidFill>
                  <a:srgbClr val="4F637B"/>
                </a:solidFill>
                <a:latin typeface="Calibri" pitchFamily="34" charset="0"/>
                <a:ea typeface="Calibri" pitchFamily="34" charset="-122"/>
                <a:cs typeface="Calibri" pitchFamily="34" charset="-120"/>
              </a:rPr>
              <a:t>Linear(192 → 768) tạo đúng MỘT prefix token cho GPT-2.</a:t>
            </a:r>
            <a:endParaRPr lang="en-US" sz="1150" dirty="0"/>
          </a:p>
          <a:p>
            <a:pPr marL="342900" indent="-342900">
              <a:spcAft>
                <a:spcPts val="600"/>
              </a:spcAft>
              <a:buSzPct val="100000"/>
              <a:buChar char="•"/>
            </a:pPr>
            <a:r>
              <a:rPr lang="en-US" sz="1150" dirty="0">
                <a:solidFill>
                  <a:srgbClr val="4F637B"/>
                </a:solidFill>
                <a:latin typeface="Calibri" pitchFamily="34" charset="0"/>
                <a:ea typeface="Calibri" pitchFamily="34" charset="-122"/>
                <a:cs typeface="Calibri" pitchFamily="34" charset="-120"/>
              </a:rPr>
              <a:t>Chi tiết không gian của ảnh bị ép vào một token ⇒ cổ chai.</a:t>
            </a:r>
            <a:endParaRPr lang="en-US" sz="1150" dirty="0"/>
          </a:p>
        </p:txBody>
      </p:sp>
      <p:sp>
        <p:nvSpPr>
          <p:cNvPr id="12" name="Shape 9">
            <a:extLst>
              <a:ext uri="{FF2B5EF4-FFF2-40B4-BE49-F238E27FC236}">
                <a16:creationId xmlns:a16="http://schemas.microsoft.com/office/drawing/2014/main" id="{D64D4B99-E381-911B-2E20-E06631FDFC11}"/>
              </a:ext>
            </a:extLst>
          </p:cNvPr>
          <p:cNvSpPr/>
          <p:nvPr/>
        </p:nvSpPr>
        <p:spPr>
          <a:xfrm>
            <a:off x="6236208" y="1920240"/>
            <a:ext cx="5394960" cy="2395728"/>
          </a:xfrm>
          <a:prstGeom prst="roundRect">
            <a:avLst>
              <a:gd name="adj" fmla="val 3435"/>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3" name="Shape 10">
            <a:extLst>
              <a:ext uri="{FF2B5EF4-FFF2-40B4-BE49-F238E27FC236}">
                <a16:creationId xmlns:a16="http://schemas.microsoft.com/office/drawing/2014/main" id="{7C1471C0-9246-2F65-0480-EE8DFCCB55A2}"/>
              </a:ext>
            </a:extLst>
          </p:cNvPr>
          <p:cNvSpPr/>
          <p:nvPr/>
        </p:nvSpPr>
        <p:spPr>
          <a:xfrm>
            <a:off x="6492240" y="2139696"/>
            <a:ext cx="329184" cy="329184"/>
          </a:xfrm>
          <a:prstGeom prst="ellipse">
            <a:avLst/>
          </a:prstGeom>
          <a:solidFill>
            <a:srgbClr val="6B33C7"/>
          </a:solidFill>
          <a:ln/>
        </p:spPr>
        <p:txBody>
          <a:bodyPr/>
          <a:lstStyle/>
          <a:p>
            <a:endParaRPr lang="en-US"/>
          </a:p>
        </p:txBody>
      </p:sp>
      <p:sp>
        <p:nvSpPr>
          <p:cNvPr id="14" name="Text 11">
            <a:extLst>
              <a:ext uri="{FF2B5EF4-FFF2-40B4-BE49-F238E27FC236}">
                <a16:creationId xmlns:a16="http://schemas.microsoft.com/office/drawing/2014/main" id="{279BA1A0-43D7-9E03-AE9E-C1C1128EA6DD}"/>
              </a:ext>
            </a:extLst>
          </p:cNvPr>
          <p:cNvSpPr/>
          <p:nvPr/>
        </p:nvSpPr>
        <p:spPr>
          <a:xfrm>
            <a:off x="649224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5" name="Text 12">
            <a:extLst>
              <a:ext uri="{FF2B5EF4-FFF2-40B4-BE49-F238E27FC236}">
                <a16:creationId xmlns:a16="http://schemas.microsoft.com/office/drawing/2014/main" id="{CDDFD184-9861-4F4D-CD94-43CBE65C4DAD}"/>
              </a:ext>
            </a:extLst>
          </p:cNvPr>
          <p:cNvSpPr/>
          <p:nvPr/>
        </p:nvSpPr>
        <p:spPr>
          <a:xfrm>
            <a:off x="6949440" y="2121408"/>
            <a:ext cx="448056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Q_qformer — Querying Transformer</a:t>
            </a:r>
            <a:endParaRPr lang="en-US" sz="1450" dirty="0"/>
          </a:p>
        </p:txBody>
      </p:sp>
      <p:sp>
        <p:nvSpPr>
          <p:cNvPr id="16" name="Text 13">
            <a:extLst>
              <a:ext uri="{FF2B5EF4-FFF2-40B4-BE49-F238E27FC236}">
                <a16:creationId xmlns:a16="http://schemas.microsoft.com/office/drawing/2014/main" id="{77AF8284-5B4B-2F8B-9D2F-96EE9C07E7D2}"/>
              </a:ext>
            </a:extLst>
          </p:cNvPr>
          <p:cNvSpPr/>
          <p:nvPr/>
        </p:nvSpPr>
        <p:spPr>
          <a:xfrm>
            <a:off x="7004304" y="2487168"/>
            <a:ext cx="4389120" cy="237744"/>
          </a:xfrm>
          <a:prstGeom prst="rect">
            <a:avLst/>
          </a:prstGeom>
          <a:noFill/>
          <a:ln/>
        </p:spPr>
        <p:txBody>
          <a:bodyPr wrap="square" lIns="0" tIns="0" rIns="0" bIns="0" rtlCol="0" anchor="ctr"/>
          <a:lstStyle/>
          <a:p>
            <a:pPr marL="0" indent="0">
              <a:buNone/>
            </a:pPr>
            <a:r>
              <a:rPr lang="en-US" sz="1100" i="1" dirty="0">
                <a:solidFill>
                  <a:srgbClr val="6B33C7"/>
                </a:solidFill>
                <a:latin typeface="Calibri" pitchFamily="34" charset="0"/>
                <a:ea typeface="Calibri" pitchFamily="34" charset="-122"/>
                <a:cs typeface="Calibri" pitchFamily="34" charset="-120"/>
              </a:rPr>
              <a:t>98M tham số huấn luyện  ·  thêm 11M</a:t>
            </a:r>
            <a:endParaRPr lang="en-US" sz="1100" dirty="0"/>
          </a:p>
        </p:txBody>
      </p:sp>
      <p:sp>
        <p:nvSpPr>
          <p:cNvPr id="17" name="Text 14">
            <a:extLst>
              <a:ext uri="{FF2B5EF4-FFF2-40B4-BE49-F238E27FC236}">
                <a16:creationId xmlns:a16="http://schemas.microsoft.com/office/drawing/2014/main" id="{B269E30A-02C9-077E-98E1-C67E9F718880}"/>
              </a:ext>
            </a:extLst>
          </p:cNvPr>
          <p:cNvSpPr/>
          <p:nvPr/>
        </p:nvSpPr>
        <p:spPr>
          <a:xfrm>
            <a:off x="6492240" y="2816352"/>
            <a:ext cx="4937760" cy="177393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4F637B"/>
                </a:solidFill>
                <a:latin typeface="Calibri" pitchFamily="34" charset="0"/>
                <a:ea typeface="Calibri" pitchFamily="34" charset="-122"/>
                <a:cs typeface="Calibri" pitchFamily="34" charset="-120"/>
              </a:rPr>
              <a:t>Giữ nguyên chuỗi khoảng 50 patch token của CLIP-ViT thay vì gộp lại.</a:t>
            </a:r>
            <a:endParaRPr lang="en-US" sz="1150" dirty="0"/>
          </a:p>
          <a:p>
            <a:pPr marL="342900" indent="-342900">
              <a:spcAft>
                <a:spcPts val="600"/>
              </a:spcAft>
              <a:buSzPct val="100000"/>
              <a:buChar char="•"/>
            </a:pPr>
            <a:r>
              <a:rPr lang="en-US" sz="1150" dirty="0">
                <a:solidFill>
                  <a:srgbClr val="4F637B"/>
                </a:solidFill>
                <a:latin typeface="Calibri" pitchFamily="34" charset="0"/>
                <a:ea typeface="Calibri" pitchFamily="34" charset="-122"/>
                <a:cs typeface="Calibri" pitchFamily="34" charset="-120"/>
              </a:rPr>
              <a:t>Khối Q-Former gồm 16 query học được và 2 lớp cross-attention, “truy vấn” các patch để rút thông tin.</a:t>
            </a:r>
            <a:endParaRPr lang="en-US" sz="1150" dirty="0"/>
          </a:p>
          <a:p>
            <a:pPr marL="342900" indent="-342900">
              <a:spcAft>
                <a:spcPts val="600"/>
              </a:spcAft>
              <a:buSzPct val="100000"/>
              <a:buChar char="•"/>
            </a:pPr>
            <a:r>
              <a:rPr lang="en-US" sz="1150" dirty="0">
                <a:solidFill>
                  <a:srgbClr val="4F637B"/>
                </a:solidFill>
                <a:latin typeface="Calibri" pitchFamily="34" charset="0"/>
                <a:ea typeface="Calibri" pitchFamily="34" charset="-122"/>
                <a:cs typeface="Calibri" pitchFamily="34" charset="-120"/>
              </a:rPr>
              <a:t>Sinh ra 16 visual token, cộng thêm 1 text token ⇒ GPT-2 nhận 17 prefix token.</a:t>
            </a:r>
            <a:endParaRPr lang="en-US" sz="1150" dirty="0"/>
          </a:p>
          <a:p>
            <a:pPr marL="342900" indent="-342900">
              <a:spcAft>
                <a:spcPts val="600"/>
              </a:spcAft>
              <a:buSzPct val="100000"/>
              <a:buChar char="•"/>
            </a:pPr>
            <a:r>
              <a:rPr lang="en-US" sz="1150" dirty="0">
                <a:solidFill>
                  <a:srgbClr val="4F637B"/>
                </a:solidFill>
                <a:latin typeface="Calibri" pitchFamily="34" charset="0"/>
                <a:ea typeface="Calibri" pitchFamily="34" charset="-122"/>
                <a:cs typeface="Calibri" pitchFamily="34" charset="-120"/>
              </a:rPr>
              <a:t>Ý tưởng lấy từ BLIP-2: giữ được bố cục không gian của ảnh.</a:t>
            </a:r>
            <a:endParaRPr lang="en-US" sz="1150" dirty="0"/>
          </a:p>
        </p:txBody>
      </p:sp>
      <p:sp>
        <p:nvSpPr>
          <p:cNvPr id="18" name="Text 15">
            <a:extLst>
              <a:ext uri="{FF2B5EF4-FFF2-40B4-BE49-F238E27FC236}">
                <a16:creationId xmlns:a16="http://schemas.microsoft.com/office/drawing/2014/main" id="{3FED825F-3754-C03A-94CE-213547414E12}"/>
              </a:ext>
            </a:extLst>
          </p:cNvPr>
          <p:cNvSpPr/>
          <p:nvPr/>
        </p:nvSpPr>
        <p:spPr>
          <a:xfrm>
            <a:off x="566928" y="4590288"/>
            <a:ext cx="2682164" cy="402336"/>
          </a:xfrm>
          <a:prstGeom prst="rect">
            <a:avLst/>
          </a:prstGeom>
          <a:noFill/>
          <a:ln/>
        </p:spPr>
        <p:txBody>
          <a:bodyPr wrap="square" lIns="0" tIns="0" rIns="0" bIns="0" rtlCol="0" anchor="ctr"/>
          <a:lstStyle/>
          <a:p>
            <a:pPr marL="0" indent="0">
              <a:buNone/>
            </a:pPr>
            <a:r>
              <a:rPr lang="en-US" sz="2400" b="1" dirty="0">
                <a:solidFill>
                  <a:srgbClr val="6B33C7"/>
                </a:solidFill>
                <a:latin typeface="Cambria" pitchFamily="34" charset="0"/>
                <a:ea typeface="Cambria" pitchFamily="34" charset="-122"/>
                <a:cs typeface="Cambria" pitchFamily="34" charset="-120"/>
              </a:rPr>
              <a:t>1 → 17</a:t>
            </a:r>
            <a:endParaRPr lang="en-US" sz="2400" dirty="0"/>
          </a:p>
        </p:txBody>
      </p:sp>
      <p:sp>
        <p:nvSpPr>
          <p:cNvPr id="19" name="Text 16">
            <a:extLst>
              <a:ext uri="{FF2B5EF4-FFF2-40B4-BE49-F238E27FC236}">
                <a16:creationId xmlns:a16="http://schemas.microsoft.com/office/drawing/2014/main" id="{3F04765B-1AFD-5C85-2A59-5715E1C92FBE}"/>
              </a:ext>
            </a:extLst>
          </p:cNvPr>
          <p:cNvSpPr/>
          <p:nvPr/>
        </p:nvSpPr>
        <p:spPr>
          <a:xfrm>
            <a:off x="566928" y="5029200"/>
            <a:ext cx="2682164" cy="365760"/>
          </a:xfrm>
          <a:prstGeom prst="rect">
            <a:avLst/>
          </a:prstGeom>
          <a:noFill/>
          <a:ln/>
        </p:spPr>
        <p:txBody>
          <a:bodyPr wrap="square" lIns="0" tIns="0" rIns="0" bIns="0" rtlCol="0" anchor="ctr"/>
          <a:lstStyle/>
          <a:p>
            <a:pPr marL="0" indent="0">
              <a:lnSpc>
                <a:spcPct val="108000"/>
              </a:lnSpc>
              <a:buNone/>
            </a:pPr>
            <a:r>
              <a:rPr lang="en-US" sz="1100" dirty="0">
                <a:solidFill>
                  <a:srgbClr val="4F637B"/>
                </a:solidFill>
                <a:latin typeface="Calibri" pitchFamily="34" charset="0"/>
                <a:ea typeface="Calibri" pitchFamily="34" charset="-122"/>
                <a:cs typeface="Calibri" pitchFamily="34" charset="-120"/>
              </a:rPr>
              <a:t>số prefix token đưa vào GPT-2</a:t>
            </a:r>
            <a:endParaRPr lang="en-US" sz="1100" dirty="0"/>
          </a:p>
        </p:txBody>
      </p:sp>
      <p:sp>
        <p:nvSpPr>
          <p:cNvPr id="20" name="Text 17">
            <a:extLst>
              <a:ext uri="{FF2B5EF4-FFF2-40B4-BE49-F238E27FC236}">
                <a16:creationId xmlns:a16="http://schemas.microsoft.com/office/drawing/2014/main" id="{376C550C-1C05-992C-C4F7-6D5FBBC254FD}"/>
              </a:ext>
            </a:extLst>
          </p:cNvPr>
          <p:cNvSpPr/>
          <p:nvPr/>
        </p:nvSpPr>
        <p:spPr>
          <a:xfrm>
            <a:off x="3358820" y="4590288"/>
            <a:ext cx="2682164" cy="402336"/>
          </a:xfrm>
          <a:prstGeom prst="rect">
            <a:avLst/>
          </a:prstGeom>
          <a:noFill/>
          <a:ln/>
        </p:spPr>
        <p:txBody>
          <a:bodyPr wrap="square" lIns="0" tIns="0" rIns="0" bIns="0" rtlCol="0" anchor="ctr"/>
          <a:lstStyle/>
          <a:p>
            <a:pPr marL="0" indent="0">
              <a:buNone/>
            </a:pPr>
            <a:r>
              <a:rPr lang="en-US" sz="2400" b="1" dirty="0">
                <a:solidFill>
                  <a:srgbClr val="B26A00"/>
                </a:solidFill>
                <a:latin typeface="Cambria" pitchFamily="34" charset="0"/>
                <a:ea typeface="Cambria" pitchFamily="34" charset="-122"/>
                <a:cs typeface="Cambria" pitchFamily="34" charset="-120"/>
              </a:rPr>
              <a:t>+11M</a:t>
            </a:r>
            <a:endParaRPr lang="en-US" sz="2400" dirty="0"/>
          </a:p>
        </p:txBody>
      </p:sp>
      <p:sp>
        <p:nvSpPr>
          <p:cNvPr id="21" name="Text 18">
            <a:extLst>
              <a:ext uri="{FF2B5EF4-FFF2-40B4-BE49-F238E27FC236}">
                <a16:creationId xmlns:a16="http://schemas.microsoft.com/office/drawing/2014/main" id="{7C6EB306-76E7-DA0D-C429-0DC04C640C6F}"/>
              </a:ext>
            </a:extLst>
          </p:cNvPr>
          <p:cNvSpPr/>
          <p:nvPr/>
        </p:nvSpPr>
        <p:spPr>
          <a:xfrm>
            <a:off x="3358820" y="5029200"/>
            <a:ext cx="2682164" cy="365760"/>
          </a:xfrm>
          <a:prstGeom prst="rect">
            <a:avLst/>
          </a:prstGeom>
          <a:noFill/>
          <a:ln/>
        </p:spPr>
        <p:txBody>
          <a:bodyPr wrap="square" lIns="0" tIns="0" rIns="0" bIns="0" rtlCol="0" anchor="ctr"/>
          <a:lstStyle/>
          <a:p>
            <a:pPr marL="0" indent="0">
              <a:lnSpc>
                <a:spcPct val="108000"/>
              </a:lnSpc>
              <a:buNone/>
            </a:pPr>
            <a:r>
              <a:rPr lang="en-US" sz="1100" dirty="0">
                <a:solidFill>
                  <a:srgbClr val="4F637B"/>
                </a:solidFill>
                <a:latin typeface="Calibri" pitchFamily="34" charset="0"/>
                <a:ea typeface="Calibri" pitchFamily="34" charset="-122"/>
                <a:cs typeface="Calibri" pitchFamily="34" charset="-120"/>
              </a:rPr>
              <a:t>tham số tăng thêm (87M → 98M)</a:t>
            </a:r>
            <a:endParaRPr lang="en-US" sz="1100" dirty="0"/>
          </a:p>
        </p:txBody>
      </p:sp>
      <p:sp>
        <p:nvSpPr>
          <p:cNvPr id="22" name="Text 19">
            <a:extLst>
              <a:ext uri="{FF2B5EF4-FFF2-40B4-BE49-F238E27FC236}">
                <a16:creationId xmlns:a16="http://schemas.microsoft.com/office/drawing/2014/main" id="{67F65850-3C29-66CF-70D4-BE2381E06259}"/>
              </a:ext>
            </a:extLst>
          </p:cNvPr>
          <p:cNvSpPr/>
          <p:nvPr/>
        </p:nvSpPr>
        <p:spPr>
          <a:xfrm>
            <a:off x="6150712" y="4590288"/>
            <a:ext cx="2682164" cy="402336"/>
          </a:xfrm>
          <a:prstGeom prst="rect">
            <a:avLst/>
          </a:prstGeom>
          <a:noFill/>
          <a:ln/>
        </p:spPr>
        <p:txBody>
          <a:bodyPr wrap="square" lIns="0" tIns="0" rIns="0" bIns="0" rtlCol="0" anchor="ctr"/>
          <a:lstStyle/>
          <a:p>
            <a:pPr marL="0" indent="0">
              <a:buNone/>
            </a:pPr>
            <a:r>
              <a:rPr lang="en-US" sz="2400" b="1" dirty="0">
                <a:solidFill>
                  <a:srgbClr val="1466C0"/>
                </a:solidFill>
                <a:latin typeface="Cambria" pitchFamily="34" charset="0"/>
                <a:ea typeface="Cambria" pitchFamily="34" charset="-122"/>
                <a:cs typeface="Cambria" pitchFamily="34" charset="-120"/>
              </a:rPr>
              <a:t>19 → 21</a:t>
            </a:r>
            <a:endParaRPr lang="en-US" sz="2400" dirty="0"/>
          </a:p>
        </p:txBody>
      </p:sp>
      <p:sp>
        <p:nvSpPr>
          <p:cNvPr id="23" name="Text 20">
            <a:extLst>
              <a:ext uri="{FF2B5EF4-FFF2-40B4-BE49-F238E27FC236}">
                <a16:creationId xmlns:a16="http://schemas.microsoft.com/office/drawing/2014/main" id="{F1F7F950-DE68-305A-A21A-9A1ADDEC300A}"/>
              </a:ext>
            </a:extLst>
          </p:cNvPr>
          <p:cNvSpPr/>
          <p:nvPr/>
        </p:nvSpPr>
        <p:spPr>
          <a:xfrm>
            <a:off x="6150712" y="5029200"/>
            <a:ext cx="2682164" cy="365760"/>
          </a:xfrm>
          <a:prstGeom prst="rect">
            <a:avLst/>
          </a:prstGeom>
          <a:noFill/>
          <a:ln/>
        </p:spPr>
        <p:txBody>
          <a:bodyPr wrap="square" lIns="0" tIns="0" rIns="0" bIns="0" rtlCol="0" anchor="ctr"/>
          <a:lstStyle/>
          <a:p>
            <a:pPr marL="0" indent="0">
              <a:lnSpc>
                <a:spcPct val="108000"/>
              </a:lnSpc>
              <a:buNone/>
            </a:pPr>
            <a:r>
              <a:rPr lang="en-US" sz="1100" dirty="0">
                <a:solidFill>
                  <a:srgbClr val="4F637B"/>
                </a:solidFill>
                <a:latin typeface="Calibri" pitchFamily="34" charset="0"/>
                <a:ea typeface="Calibri" pitchFamily="34" charset="-122"/>
                <a:cs typeface="Calibri" pitchFamily="34" charset="-120"/>
              </a:rPr>
              <a:t>số epoch trước khi dừng sớm</a:t>
            </a:r>
            <a:endParaRPr lang="en-US" sz="1100" dirty="0"/>
          </a:p>
        </p:txBody>
      </p:sp>
      <p:sp>
        <p:nvSpPr>
          <p:cNvPr id="24" name="Text 21">
            <a:extLst>
              <a:ext uri="{FF2B5EF4-FFF2-40B4-BE49-F238E27FC236}">
                <a16:creationId xmlns:a16="http://schemas.microsoft.com/office/drawing/2014/main" id="{6C7251D3-4FDC-606D-1AC8-AB6DE4DCCCAA}"/>
              </a:ext>
            </a:extLst>
          </p:cNvPr>
          <p:cNvSpPr/>
          <p:nvPr/>
        </p:nvSpPr>
        <p:spPr>
          <a:xfrm>
            <a:off x="8942603" y="4590288"/>
            <a:ext cx="2682164" cy="402336"/>
          </a:xfrm>
          <a:prstGeom prst="rect">
            <a:avLst/>
          </a:prstGeom>
          <a:noFill/>
          <a:ln/>
        </p:spPr>
        <p:txBody>
          <a:bodyPr wrap="square" lIns="0" tIns="0" rIns="0" bIns="0" rtlCol="0" anchor="ctr"/>
          <a:lstStyle/>
          <a:p>
            <a:pPr marL="0" indent="0">
              <a:buNone/>
            </a:pPr>
            <a:r>
              <a:rPr lang="en-US" sz="2000" b="1" dirty="0">
                <a:solidFill>
                  <a:srgbClr val="0B8457"/>
                </a:solidFill>
                <a:latin typeface="Cambria" pitchFamily="34" charset="0"/>
                <a:ea typeface="Cambria" pitchFamily="34" charset="-122"/>
                <a:cs typeface="Cambria" pitchFamily="34" charset="-120"/>
              </a:rPr>
              <a:t>32,60 → 34,25%</a:t>
            </a:r>
            <a:endParaRPr lang="en-US" sz="2000" dirty="0"/>
          </a:p>
        </p:txBody>
      </p:sp>
      <p:sp>
        <p:nvSpPr>
          <p:cNvPr id="25" name="Text 22">
            <a:extLst>
              <a:ext uri="{FF2B5EF4-FFF2-40B4-BE49-F238E27FC236}">
                <a16:creationId xmlns:a16="http://schemas.microsoft.com/office/drawing/2014/main" id="{92B1036E-BFEF-566B-54EF-5A136683044F}"/>
              </a:ext>
            </a:extLst>
          </p:cNvPr>
          <p:cNvSpPr/>
          <p:nvPr/>
        </p:nvSpPr>
        <p:spPr>
          <a:xfrm>
            <a:off x="8942603" y="5029200"/>
            <a:ext cx="2682164" cy="365760"/>
          </a:xfrm>
          <a:prstGeom prst="rect">
            <a:avLst/>
          </a:prstGeom>
          <a:noFill/>
          <a:ln/>
        </p:spPr>
        <p:txBody>
          <a:bodyPr wrap="square" lIns="0" tIns="0" rIns="0" bIns="0" rtlCol="0" anchor="ctr"/>
          <a:lstStyle/>
          <a:p>
            <a:pPr marL="0" indent="0">
              <a:lnSpc>
                <a:spcPct val="108000"/>
              </a:lnSpc>
              <a:buNone/>
            </a:pPr>
            <a:r>
              <a:rPr lang="en-US" sz="1100" dirty="0">
                <a:solidFill>
                  <a:srgbClr val="4F637B"/>
                </a:solidFill>
                <a:latin typeface="Calibri" pitchFamily="34" charset="0"/>
                <a:ea typeface="Calibri" pitchFamily="34" charset="-122"/>
                <a:cs typeface="Calibri" pitchFamily="34" charset="-120"/>
              </a:rPr>
              <a:t>Best Val EM</a:t>
            </a:r>
            <a:endParaRPr lang="en-US" sz="1100" dirty="0"/>
          </a:p>
        </p:txBody>
      </p:sp>
    </p:spTree>
    <p:extLst>
      <p:ext uri="{BB962C8B-B14F-4D97-AF65-F5344CB8AC3E}">
        <p14:creationId xmlns:p14="http://schemas.microsoft.com/office/powerpoint/2010/main" val="29049113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0B8457"/>
                </a:solidFill>
                <a:latin typeface="Calibri" pitchFamily="34" charset="0"/>
                <a:ea typeface="Calibri" pitchFamily="34" charset="-122"/>
                <a:cs typeface="Calibri" pitchFamily="34" charset="-120"/>
              </a:rPr>
              <a:t>PHẦN 6 · KẾT QUẢ</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Q-Former cải thiện đúng chỗ nhắm: câu mở</a:t>
            </a:r>
            <a:endParaRPr lang="en-US" sz="2900" dirty="0"/>
          </a:p>
        </p:txBody>
      </p:sp>
      <p:sp>
        <p:nvSpPr>
          <p:cNvPr id="5" name="Text 2"/>
          <p:cNvSpPr/>
          <p:nvPr/>
        </p:nvSpPr>
        <p:spPr>
          <a:xfrm>
            <a:off x="566928" y="1371600"/>
            <a:ext cx="11057839" cy="292608"/>
          </a:xfrm>
          <a:prstGeom prst="rect">
            <a:avLst/>
          </a:prstGeom>
          <a:noFill/>
          <a:ln/>
        </p:spPr>
        <p:txBody>
          <a:bodyPr wrap="square" lIns="0" tIns="0" rIns="0" bIns="0" rtlCol="0" anchor="ctr"/>
          <a:lstStyle/>
          <a:p>
            <a:pPr marL="0" indent="0">
              <a:buNone/>
            </a:pPr>
            <a:r>
              <a:rPr lang="en-US" sz="1250" dirty="0">
                <a:solidFill>
                  <a:srgbClr val="4F637B"/>
                </a:solidFill>
                <a:latin typeface="Calibri" pitchFamily="34" charset="0"/>
                <a:ea typeface="Calibri" pitchFamily="34" charset="-122"/>
                <a:cs typeface="Calibri" pitchFamily="34" charset="-120"/>
              </a:rPr>
              <a:t>Kết quả trên VQA-RAD test (nội miền, có rò rỉ ảnh). Bốn thước đo liên quan trực tiếp đến câu hỏi mở.</a:t>
            </a:r>
            <a:endParaRPr lang="en-US" sz="1250" dirty="0"/>
          </a:p>
        </p:txBody>
      </p:sp>
      <p:graphicFrame>
        <p:nvGraphicFramePr>
          <p:cNvPr id="6" name="Chart 0"/>
          <p:cNvGraphicFramePr/>
          <p:nvPr/>
        </p:nvGraphicFramePr>
        <p:xfrm>
          <a:off x="566928" y="1755648"/>
          <a:ext cx="6858000" cy="356616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7680960" y="1755648"/>
            <a:ext cx="3950208" cy="3566160"/>
          </a:xfrm>
          <a:prstGeom prst="roundRect">
            <a:avLst>
              <a:gd name="adj" fmla="val 2308"/>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8" name="Shape 4"/>
          <p:cNvSpPr/>
          <p:nvPr/>
        </p:nvSpPr>
        <p:spPr>
          <a:xfrm>
            <a:off x="7900416" y="1975104"/>
            <a:ext cx="329184" cy="329184"/>
          </a:xfrm>
          <a:prstGeom prst="ellipse">
            <a:avLst/>
          </a:prstGeom>
          <a:solidFill>
            <a:srgbClr val="0B8457"/>
          </a:solidFill>
          <a:ln/>
        </p:spPr>
        <p:txBody>
          <a:bodyPr/>
          <a:lstStyle/>
          <a:p>
            <a:endParaRPr lang="en-US"/>
          </a:p>
        </p:txBody>
      </p:sp>
      <p:sp>
        <p:nvSpPr>
          <p:cNvPr id="9" name="Text 5"/>
          <p:cNvSpPr/>
          <p:nvPr/>
        </p:nvSpPr>
        <p:spPr>
          <a:xfrm>
            <a:off x="7900416" y="197510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0" name="Text 6"/>
          <p:cNvSpPr/>
          <p:nvPr/>
        </p:nvSpPr>
        <p:spPr>
          <a:xfrm>
            <a:off x="8357616" y="1956816"/>
            <a:ext cx="3054096"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Điều gì đã cải thiện</a:t>
            </a:r>
            <a:endParaRPr lang="en-US" sz="1450" dirty="0"/>
          </a:p>
        </p:txBody>
      </p:sp>
      <p:sp>
        <p:nvSpPr>
          <p:cNvPr id="11" name="Text 7"/>
          <p:cNvSpPr/>
          <p:nvPr/>
        </p:nvSpPr>
        <p:spPr>
          <a:xfrm>
            <a:off x="7900416" y="2450592"/>
            <a:ext cx="3511296" cy="2651760"/>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4F637B"/>
                </a:solidFill>
                <a:latin typeface="Calibri" pitchFamily="34" charset="0"/>
                <a:ea typeface="Calibri" pitchFamily="34" charset="-122"/>
                <a:cs typeface="Calibri" pitchFamily="34" charset="-120"/>
              </a:rPr>
              <a:t>EM Open tăng gấp đôi: 5,50% → 10,50%.</a:t>
            </a:r>
            <a:endParaRPr lang="en-US" sz="1150" dirty="0"/>
          </a:p>
          <a:p>
            <a:pPr marL="342900" indent="-342900">
              <a:spcAft>
                <a:spcPts val="900"/>
              </a:spcAft>
              <a:buSzPct val="100000"/>
              <a:buChar char="•"/>
            </a:pPr>
            <a:r>
              <a:rPr lang="en-US" sz="1150" dirty="0">
                <a:solidFill>
                  <a:srgbClr val="4F637B"/>
                </a:solidFill>
                <a:latin typeface="Calibri" pitchFamily="34" charset="0"/>
                <a:ea typeface="Calibri" pitchFamily="34" charset="-122"/>
                <a:cs typeface="Calibri" pitchFamily="34" charset="-120"/>
              </a:rPr>
              <a:t>Token-F1 Open: 12,50% → 17,25%.</a:t>
            </a:r>
            <a:endParaRPr lang="en-US" sz="1150" dirty="0"/>
          </a:p>
          <a:p>
            <a:pPr marL="342900" indent="-342900">
              <a:spcAft>
                <a:spcPts val="900"/>
              </a:spcAft>
              <a:buSzPct val="100000"/>
              <a:buChar char="•"/>
            </a:pPr>
            <a:r>
              <a:rPr lang="en-US" sz="1150" dirty="0">
                <a:solidFill>
                  <a:srgbClr val="4F637B"/>
                </a:solidFill>
                <a:latin typeface="Calibri" pitchFamily="34" charset="0"/>
                <a:ea typeface="Calibri" pitchFamily="34" charset="-122"/>
                <a:cs typeface="Calibri" pitchFamily="34" charset="-120"/>
              </a:rPr>
              <a:t>sem_open: 0,3048 → 0,3427.</a:t>
            </a:r>
            <a:endParaRPr lang="en-US" sz="1150" dirty="0"/>
          </a:p>
          <a:p>
            <a:pPr marL="342900" indent="-342900">
              <a:spcAft>
                <a:spcPts val="900"/>
              </a:spcAft>
              <a:buSzPct val="100000"/>
              <a:buChar char="•"/>
            </a:pPr>
            <a:r>
              <a:rPr lang="en-US" sz="1150" dirty="0">
                <a:solidFill>
                  <a:srgbClr val="4F637B"/>
                </a:solidFill>
                <a:latin typeface="Calibri" pitchFamily="34" charset="0"/>
                <a:ea typeface="Calibri" pitchFamily="34" charset="-122"/>
                <a:cs typeface="Calibri" pitchFamily="34" charset="-120"/>
              </a:rPr>
              <a:t>EM tổng thể: 33,26% → 35,25%.</a:t>
            </a:r>
            <a:endParaRPr lang="en-US" sz="1150" dirty="0"/>
          </a:p>
          <a:p>
            <a:pPr marL="342900" indent="-342900">
              <a:spcAft>
                <a:spcPts val="900"/>
              </a:spcAft>
              <a:buSzPct val="100000"/>
              <a:buChar char="•"/>
            </a:pPr>
            <a:r>
              <a:rPr lang="en-US" sz="1150" dirty="0">
                <a:solidFill>
                  <a:srgbClr val="4F637B"/>
                </a:solidFill>
                <a:latin typeface="Calibri" pitchFamily="34" charset="0"/>
                <a:ea typeface="Calibri" pitchFamily="34" charset="-122"/>
                <a:cs typeface="Calibri" pitchFamily="34" charset="-120"/>
              </a:rPr>
              <a:t>Đánh đổi nhỏ: EM Closed giảm nhẹ 55,38% → 54,98%, Clinical AUC 0,5789 → 0,5628.</a:t>
            </a:r>
            <a:endParaRPr lang="en-US" sz="1150" dirty="0"/>
          </a:p>
        </p:txBody>
      </p:sp>
      <p:sp>
        <p:nvSpPr>
          <p:cNvPr id="12" name="Text 8"/>
          <p:cNvSpPr/>
          <p:nvPr/>
        </p:nvSpPr>
        <p:spPr>
          <a:xfrm>
            <a:off x="566928" y="5431536"/>
            <a:ext cx="11057839" cy="475488"/>
          </a:xfrm>
          <a:prstGeom prst="rect">
            <a:avLst/>
          </a:prstGeom>
          <a:noFill/>
          <a:ln/>
        </p:spPr>
        <p:txBody>
          <a:bodyPr wrap="square" lIns="0" tIns="0" rIns="0" bIns="0" rtlCol="0" anchor="ctr"/>
          <a:lstStyle/>
          <a:p>
            <a:pPr marL="0" indent="0">
              <a:lnSpc>
                <a:spcPct val="114000"/>
              </a:lnSpc>
              <a:buNone/>
            </a:pPr>
            <a:r>
              <a:rPr lang="en-US" sz="1200" i="1" dirty="0">
                <a:solidFill>
                  <a:srgbClr val="4F637B"/>
                </a:solidFill>
                <a:latin typeface="Calibri" pitchFamily="34" charset="0"/>
                <a:ea typeface="Calibri" pitchFamily="34" charset="-122"/>
                <a:cs typeface="Calibri" pitchFamily="34" charset="-120"/>
              </a:rPr>
              <a:t>Cơ chế: các query token học được “hỏi” bản đồ đặc trưng ảnh qua cross-attention, giúp mô hình tập trung vào vùng bệnh lý chi tiết thay vì một vectơ trung bình — tức là căn chỉnh ảnh–chữ tốt hơn cho bước sinh câu.</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C62828"/>
                </a:solidFill>
                <a:latin typeface="Calibri" pitchFamily="34" charset="0"/>
                <a:ea typeface="Calibri" pitchFamily="34" charset="-122"/>
                <a:cs typeface="Calibri" pitchFamily="34" charset="-120"/>
              </a:rPr>
              <a:t>PHẦN 6 · KẾT QUẢ</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Nhưng lợi thế đó không chuyển giao được</a:t>
            </a:r>
            <a:endParaRPr lang="en-US" sz="2900" dirty="0"/>
          </a:p>
        </p:txBody>
      </p:sp>
      <p:sp>
        <p:nvSpPr>
          <p:cNvPr id="5" name="Shape 2"/>
          <p:cNvSpPr/>
          <p:nvPr/>
        </p:nvSpPr>
        <p:spPr>
          <a:xfrm>
            <a:off x="566928" y="1389888"/>
            <a:ext cx="6492240" cy="3200400"/>
          </a:xfrm>
          <a:prstGeom prst="roundRect">
            <a:avLst>
              <a:gd name="adj" fmla="val 2000"/>
            </a:avLst>
          </a:prstGeom>
          <a:solidFill>
            <a:srgbClr val="FFFFFF"/>
          </a:solidFill>
          <a:ln w="12700">
            <a:solidFill>
              <a:srgbClr val="D3DEEA"/>
            </a:solidFill>
            <a:prstDash val="solid"/>
          </a:ln>
          <a:effectLst>
            <a:outerShdw blurRad="127000" dist="25400" dir="5400000" algn="bl" rotWithShape="0">
              <a:srgbClr val="000000">
                <a:alpha val="30000"/>
              </a:srgbClr>
            </a:outerShdw>
          </a:effectLst>
        </p:spPr>
        <p:txBody>
          <a:bodyPr/>
          <a:lstStyle/>
          <a:p>
            <a:endParaRPr lang="en-US"/>
          </a:p>
        </p:txBody>
      </p:sp>
      <p:pic>
        <p:nvPicPr>
          <p:cNvPr id="6" name="Image 1" descr="E:/DoCode/Master_Subject2026_TDTU/02_Code_DeepLearning/report/01_analyze_data/05_report_html_data_eval/sft_loss_comparison_qformer.png"/>
          <p:cNvPicPr>
            <a:picLocks noChangeAspect="1"/>
          </p:cNvPicPr>
          <p:nvPr/>
        </p:nvPicPr>
        <p:blipFill>
          <a:blip r:embed="rId4"/>
          <a:srcRect/>
          <a:stretch/>
        </p:blipFill>
        <p:spPr>
          <a:xfrm>
            <a:off x="658368" y="1481328"/>
            <a:ext cx="6309360" cy="3017520"/>
          </a:xfrm>
          <a:prstGeom prst="rect">
            <a:avLst/>
          </a:prstGeom>
        </p:spPr>
      </p:pic>
      <p:sp>
        <p:nvSpPr>
          <p:cNvPr id="7" name="Text 3"/>
          <p:cNvSpPr/>
          <p:nvPr/>
        </p:nvSpPr>
        <p:spPr>
          <a:xfrm>
            <a:off x="566928" y="4700016"/>
            <a:ext cx="6492240" cy="512064"/>
          </a:xfrm>
          <a:prstGeom prst="rect">
            <a:avLst/>
          </a:prstGeom>
          <a:noFill/>
          <a:ln/>
        </p:spPr>
        <p:txBody>
          <a:bodyPr wrap="square" lIns="0" tIns="0" rIns="0" bIns="0" rtlCol="0" anchor="ctr"/>
          <a:lstStyle/>
          <a:p>
            <a:pPr marL="0" indent="0">
              <a:lnSpc>
                <a:spcPct val="114000"/>
              </a:lnSpc>
              <a:buNone/>
            </a:pPr>
            <a:r>
              <a:rPr lang="en-US" sz="1150" i="1" dirty="0">
                <a:solidFill>
                  <a:srgbClr val="4F637B"/>
                </a:solidFill>
                <a:latin typeface="Calibri" pitchFamily="34" charset="0"/>
                <a:ea typeface="Calibri" pitchFamily="34" charset="-122"/>
                <a:cs typeface="Calibri" pitchFamily="34" charset="-120"/>
              </a:rPr>
              <a:t>Q_qformer giảm loss trên tập train nhanh hơn nhờ dung lượng lớn hơn, nhưng Validation Loss bắt đầu tăng ngay từ khoảng epoch 6 — dấu hiệu quá khớp rất sớm và rất rõ.</a:t>
            </a:r>
            <a:endParaRPr lang="en-US" sz="1150" dirty="0"/>
          </a:p>
        </p:txBody>
      </p:sp>
      <p:sp>
        <p:nvSpPr>
          <p:cNvPr id="8" name="Shape 4"/>
          <p:cNvSpPr/>
          <p:nvPr/>
        </p:nvSpPr>
        <p:spPr>
          <a:xfrm>
            <a:off x="7242048" y="1389888"/>
            <a:ext cx="4389120" cy="1645920"/>
          </a:xfrm>
          <a:prstGeom prst="roundRect">
            <a:avLst>
              <a:gd name="adj" fmla="val 5000"/>
            </a:avLst>
          </a:prstGeom>
          <a:solidFill>
            <a:srgbClr val="FBEBEA"/>
          </a:solidFill>
          <a:ln w="12700">
            <a:solidFill>
              <a:srgbClr val="C62828"/>
            </a:solidFill>
            <a:prstDash val="solid"/>
          </a:ln>
          <a:effectLst>
            <a:outerShdw blurRad="114300" dist="25400" dir="5400000" algn="bl" rotWithShape="0">
              <a:srgbClr val="B9C6D6">
                <a:alpha val="50000"/>
              </a:srgbClr>
            </a:outerShdw>
          </a:effectLst>
        </p:spPr>
        <p:txBody>
          <a:bodyPr/>
          <a:lstStyle/>
          <a:p>
            <a:endParaRPr lang="en-US"/>
          </a:p>
        </p:txBody>
      </p:sp>
      <p:sp>
        <p:nvSpPr>
          <p:cNvPr id="9" name="Text 5"/>
          <p:cNvSpPr/>
          <p:nvPr/>
        </p:nvSpPr>
        <p:spPr>
          <a:xfrm>
            <a:off x="7461504" y="1627632"/>
            <a:ext cx="3950208" cy="475488"/>
          </a:xfrm>
          <a:prstGeom prst="rect">
            <a:avLst/>
          </a:prstGeom>
          <a:noFill/>
          <a:ln/>
        </p:spPr>
        <p:txBody>
          <a:bodyPr wrap="square" lIns="0" tIns="0" rIns="0" bIns="0" rtlCol="0" anchor="ctr"/>
          <a:lstStyle/>
          <a:p>
            <a:pPr marL="0" indent="0">
              <a:buNone/>
            </a:pPr>
            <a:r>
              <a:rPr lang="en-US" sz="2700" b="1" dirty="0">
                <a:solidFill>
                  <a:srgbClr val="C62828"/>
                </a:solidFill>
                <a:latin typeface="Cambria" pitchFamily="34" charset="0"/>
                <a:ea typeface="Cambria" pitchFamily="34" charset="-122"/>
                <a:cs typeface="Cambria" pitchFamily="34" charset="-120"/>
              </a:rPr>
              <a:t>25,80%  →  23,60%</a:t>
            </a:r>
            <a:endParaRPr lang="en-US" sz="2700" dirty="0"/>
          </a:p>
        </p:txBody>
      </p:sp>
      <p:sp>
        <p:nvSpPr>
          <p:cNvPr id="10" name="Text 6"/>
          <p:cNvSpPr/>
          <p:nvPr/>
        </p:nvSpPr>
        <p:spPr>
          <a:xfrm>
            <a:off x="7461504" y="2157984"/>
            <a:ext cx="3950208" cy="713232"/>
          </a:xfrm>
          <a:prstGeom prst="rect">
            <a:avLst/>
          </a:prstGeom>
          <a:noFill/>
          <a:ln/>
        </p:spPr>
        <p:txBody>
          <a:bodyPr wrap="square" lIns="0" tIns="0" rIns="0" bIns="0" rtlCol="0" anchor="ctr"/>
          <a:lstStyle/>
          <a:p>
            <a:pPr marL="0" indent="0">
              <a:lnSpc>
                <a:spcPct val="114000"/>
              </a:lnSpc>
              <a:buNone/>
            </a:pPr>
            <a:r>
              <a:rPr lang="en-US" sz="1150" dirty="0">
                <a:solidFill>
                  <a:srgbClr val="4F637B"/>
                </a:solidFill>
                <a:latin typeface="Calibri" pitchFamily="34" charset="0"/>
                <a:ea typeface="Calibri" pitchFamily="34" charset="-122"/>
                <a:cs typeface="Calibri" pitchFamily="34" charset="-120"/>
              </a:rPr>
              <a:t>EM tổng thể trên RadImageNet-VQA: Q-Former THẤP HƠN bản gộp một token. Lợi thế nội miền đảo chiều hoàn toàn khi ra phân phối mới.</a:t>
            </a:r>
            <a:endParaRPr lang="en-US" sz="1150" dirty="0"/>
          </a:p>
        </p:txBody>
      </p:sp>
      <p:sp>
        <p:nvSpPr>
          <p:cNvPr id="11" name="Shape 7"/>
          <p:cNvSpPr/>
          <p:nvPr/>
        </p:nvSpPr>
        <p:spPr>
          <a:xfrm>
            <a:off x="7242048" y="3145536"/>
            <a:ext cx="4389120" cy="2743200"/>
          </a:xfrm>
          <a:prstGeom prst="roundRect">
            <a:avLst>
              <a:gd name="adj" fmla="val 3000"/>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2" name="Shape 8"/>
          <p:cNvSpPr/>
          <p:nvPr/>
        </p:nvSpPr>
        <p:spPr>
          <a:xfrm>
            <a:off x="7461504" y="3364992"/>
            <a:ext cx="329184" cy="329184"/>
          </a:xfrm>
          <a:prstGeom prst="ellipse">
            <a:avLst/>
          </a:prstGeom>
          <a:solidFill>
            <a:srgbClr val="B26A00"/>
          </a:solidFill>
          <a:ln/>
        </p:spPr>
        <p:txBody>
          <a:bodyPr/>
          <a:lstStyle/>
          <a:p>
            <a:endParaRPr lang="en-US"/>
          </a:p>
        </p:txBody>
      </p:sp>
      <p:sp>
        <p:nvSpPr>
          <p:cNvPr id="13" name="Text 9"/>
          <p:cNvSpPr/>
          <p:nvPr/>
        </p:nvSpPr>
        <p:spPr>
          <a:xfrm>
            <a:off x="7461504" y="336499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4" name="Text 10"/>
          <p:cNvSpPr/>
          <p:nvPr/>
        </p:nvSpPr>
        <p:spPr>
          <a:xfrm>
            <a:off x="7918704" y="3346704"/>
            <a:ext cx="3493008"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Vì sao đảo chiều</a:t>
            </a:r>
            <a:endParaRPr lang="en-US" sz="1450" dirty="0"/>
          </a:p>
        </p:txBody>
      </p:sp>
      <p:sp>
        <p:nvSpPr>
          <p:cNvPr id="15" name="Text 11"/>
          <p:cNvSpPr/>
          <p:nvPr/>
        </p:nvSpPr>
        <p:spPr>
          <a:xfrm>
            <a:off x="7461504" y="3840480"/>
            <a:ext cx="3950208" cy="1883664"/>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4F637B"/>
                </a:solidFill>
                <a:latin typeface="Calibri" pitchFamily="34" charset="0"/>
                <a:ea typeface="Calibri" pitchFamily="34" charset="-122"/>
                <a:cs typeface="Calibri" pitchFamily="34" charset="-120"/>
              </a:rPr>
              <a:t>Q-Former thêm 11 triệu tham số huấn luyện vào một tập train chỉ khoảng 1.800 mẫu.</a:t>
            </a:r>
            <a:endParaRPr lang="en-US" sz="1100" dirty="0"/>
          </a:p>
          <a:p>
            <a:pPr marL="342900" indent="-342900">
              <a:spcAft>
                <a:spcPts val="800"/>
              </a:spcAft>
              <a:buSzPct val="100000"/>
              <a:buChar char="•"/>
            </a:pPr>
            <a:r>
              <a:rPr lang="en-US" sz="1100" dirty="0">
                <a:solidFill>
                  <a:srgbClr val="4F637B"/>
                </a:solidFill>
                <a:latin typeface="Calibri" pitchFamily="34" charset="0"/>
                <a:ea typeface="Calibri" pitchFamily="34" charset="-122"/>
                <a:cs typeface="Calibri" pitchFamily="34" charset="-120"/>
              </a:rPr>
              <a:t>Mô hình ghi nhớ rất tốt ảnh của VQA-RAD — vốn đã rò rỉ 99,51% sang tập test.</a:t>
            </a:r>
            <a:endParaRPr lang="en-US" sz="1100" dirty="0"/>
          </a:p>
          <a:p>
            <a:pPr marL="342900" indent="-342900">
              <a:spcAft>
                <a:spcPts val="800"/>
              </a:spcAft>
              <a:buSzPct val="100000"/>
              <a:buChar char="•"/>
            </a:pPr>
            <a:r>
              <a:rPr lang="en-US" sz="1100" dirty="0">
                <a:solidFill>
                  <a:srgbClr val="4F637B"/>
                </a:solidFill>
                <a:latin typeface="Calibri" pitchFamily="34" charset="0"/>
                <a:ea typeface="Calibri" pitchFamily="34" charset="-122"/>
                <a:cs typeface="Calibri" pitchFamily="34" charset="-120"/>
              </a:rPr>
              <a:t>F1 Open trên tập sạch rơi từ 2,91% xuống 0,20%; sem_open từ 0,2306 xuống 0,2039.</a:t>
            </a:r>
            <a:endParaRPr lang="en-US" sz="1100" dirty="0"/>
          </a:p>
          <a:p>
            <a:pPr marL="342900" indent="-342900">
              <a:spcAft>
                <a:spcPts val="800"/>
              </a:spcAft>
              <a:buSzPct val="100000"/>
              <a:buChar char="•"/>
            </a:pPr>
            <a:r>
              <a:rPr lang="en-US" sz="1100" dirty="0">
                <a:solidFill>
                  <a:srgbClr val="4F637B"/>
                </a:solidFill>
                <a:latin typeface="Calibri" pitchFamily="34" charset="0"/>
                <a:ea typeface="Calibri" pitchFamily="34" charset="-122"/>
                <a:cs typeface="Calibri" pitchFamily="34" charset="-120"/>
              </a:rPr>
              <a:t>Câu mở gần như bằng 0 ở cả hai nhánh: miền RadImageNet quá xa VQA-RAD.</a:t>
            </a:r>
            <a:endParaRPr lang="en-US" sz="1100" dirty="0"/>
          </a:p>
        </p:txBody>
      </p:sp>
      <p:sp>
        <p:nvSpPr>
          <p:cNvPr id="16" name="Text 12"/>
          <p:cNvSpPr/>
          <p:nvPr/>
        </p:nvSpPr>
        <p:spPr>
          <a:xfrm>
            <a:off x="566928" y="6382512"/>
            <a:ext cx="11057839" cy="274320"/>
          </a:xfrm>
          <a:prstGeom prst="rect">
            <a:avLst/>
          </a:prstGeom>
          <a:noFill/>
          <a:ln/>
        </p:spPr>
        <p:txBody>
          <a:bodyPr wrap="square" lIns="0" tIns="0" rIns="0" bIns="0" rtlCol="0" anchor="ctr"/>
          <a:lstStyle/>
          <a:p>
            <a:pPr marL="0" indent="0">
              <a:buNone/>
            </a:pPr>
            <a:r>
              <a:rPr lang="en-US" sz="950" i="1" dirty="0">
                <a:solidFill>
                  <a:srgbClr val="8494A8"/>
                </a:solidFill>
                <a:latin typeface="Calibri" pitchFamily="34" charset="0"/>
                <a:ea typeface="Calibri" pitchFamily="34" charset="-122"/>
                <a:cs typeface="Calibri" pitchFamily="34" charset="-120"/>
              </a:rPr>
              <a:t>Bài học: bộ chiếu tinh vi chỉ phát huy khi được pretrain trên hàng triệu cặp ảnh–chữ, không phải trên vài nghìn mẫu.</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B26A00"/>
                </a:solidFill>
                <a:latin typeface="Calibri" pitchFamily="34" charset="0"/>
                <a:ea typeface="Calibri" pitchFamily="34" charset="-122"/>
                <a:cs typeface="Calibri" pitchFamily="34" charset="-120"/>
              </a:rPr>
              <a:t>PHẦN 6 · KẾT QUẢ</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Hai cải tiến đã thử nhưng không hiệu quả</a:t>
            </a:r>
            <a:endParaRPr lang="en-US" sz="2900" dirty="0"/>
          </a:p>
        </p:txBody>
      </p:sp>
      <p:sp>
        <p:nvSpPr>
          <p:cNvPr id="5" name="Shape 2"/>
          <p:cNvSpPr/>
          <p:nvPr/>
        </p:nvSpPr>
        <p:spPr>
          <a:xfrm>
            <a:off x="566928" y="1371600"/>
            <a:ext cx="5486400" cy="2103120"/>
          </a:xfrm>
          <a:prstGeom prst="roundRect">
            <a:avLst>
              <a:gd name="adj" fmla="val 3913"/>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6" name="Shape 3"/>
          <p:cNvSpPr/>
          <p:nvPr/>
        </p:nvSpPr>
        <p:spPr>
          <a:xfrm>
            <a:off x="822960" y="1591056"/>
            <a:ext cx="329184" cy="329184"/>
          </a:xfrm>
          <a:prstGeom prst="ellipse">
            <a:avLst/>
          </a:prstGeom>
          <a:solidFill>
            <a:srgbClr val="B26A00"/>
          </a:solidFill>
          <a:ln/>
        </p:spPr>
        <p:txBody>
          <a:bodyPr/>
          <a:lstStyle/>
          <a:p>
            <a:endParaRPr lang="en-US"/>
          </a:p>
        </p:txBody>
      </p:sp>
      <p:sp>
        <p:nvSpPr>
          <p:cNvPr id="7" name="Text 4"/>
          <p:cNvSpPr/>
          <p:nvPr/>
        </p:nvSpPr>
        <p:spPr>
          <a:xfrm>
            <a:off x="822960" y="159105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②</a:t>
            </a:r>
            <a:endParaRPr lang="en-US" sz="1300" dirty="0"/>
          </a:p>
        </p:txBody>
      </p:sp>
      <p:sp>
        <p:nvSpPr>
          <p:cNvPr id="8" name="Text 5"/>
          <p:cNvSpPr/>
          <p:nvPr/>
        </p:nvSpPr>
        <p:spPr>
          <a:xfrm>
            <a:off x="1280160" y="1572768"/>
            <a:ext cx="457200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Beam Search thua Greedy</a:t>
            </a:r>
            <a:endParaRPr lang="en-US" sz="1450" dirty="0"/>
          </a:p>
        </p:txBody>
      </p:sp>
      <p:sp>
        <p:nvSpPr>
          <p:cNvPr id="9" name="Text 6"/>
          <p:cNvSpPr/>
          <p:nvPr/>
        </p:nvSpPr>
        <p:spPr>
          <a:xfrm>
            <a:off x="822960" y="2048256"/>
            <a:ext cx="5029200" cy="603504"/>
          </a:xfrm>
          <a:prstGeom prst="rect">
            <a:avLst/>
          </a:prstGeom>
          <a:noFill/>
          <a:ln/>
        </p:spPr>
        <p:txBody>
          <a:bodyPr wrap="square" lIns="0" tIns="0" rIns="0" bIns="0" rtlCol="0" anchor="ctr"/>
          <a:lstStyle/>
          <a:p>
            <a:pPr marL="0" indent="0">
              <a:lnSpc>
                <a:spcPct val="112000"/>
              </a:lnSpc>
              <a:buNone/>
            </a:pPr>
            <a:r>
              <a:rPr lang="en-US" sz="1250" b="1" dirty="0">
                <a:solidFill>
                  <a:srgbClr val="0B8457"/>
                </a:solidFill>
                <a:latin typeface="Calibri" pitchFamily="34" charset="0"/>
                <a:ea typeface="Calibri" pitchFamily="34" charset="-122"/>
                <a:cs typeface="Calibri" pitchFamily="34" charset="-120"/>
              </a:rPr>
              <a:t>Greedy 35,25%</a:t>
            </a:r>
            <a:r>
              <a:rPr lang="en-US" sz="1250" dirty="0">
                <a:solidFill>
                  <a:srgbClr val="4F637B"/>
                </a:solidFill>
                <a:latin typeface="Calibri" pitchFamily="34" charset="0"/>
                <a:ea typeface="Calibri" pitchFamily="34" charset="-122"/>
                <a:cs typeface="Calibri" pitchFamily="34" charset="-120"/>
              </a:rPr>
              <a:t>   so với   </a:t>
            </a:r>
            <a:r>
              <a:rPr lang="en-US" sz="1250" b="1" dirty="0">
                <a:solidFill>
                  <a:srgbClr val="C62828"/>
                </a:solidFill>
                <a:latin typeface="Calibri" pitchFamily="34" charset="0"/>
                <a:ea typeface="Calibri" pitchFamily="34" charset="-122"/>
                <a:cs typeface="Calibri" pitchFamily="34" charset="-120"/>
              </a:rPr>
              <a:t>Beam 34,15%</a:t>
            </a:r>
            <a:endParaRPr lang="en-US" sz="1250" dirty="0"/>
          </a:p>
          <a:p>
            <a:pPr marL="0" indent="0">
              <a:lnSpc>
                <a:spcPct val="112000"/>
              </a:lnSpc>
              <a:buNone/>
            </a:pPr>
            <a:r>
              <a:rPr lang="en-US" sz="1200" dirty="0">
                <a:solidFill>
                  <a:srgbClr val="4F637B"/>
                </a:solidFill>
                <a:latin typeface="Calibri" pitchFamily="34" charset="0"/>
                <a:ea typeface="Calibri" pitchFamily="34" charset="-122"/>
                <a:cs typeface="Calibri" pitchFamily="34" charset="-120"/>
              </a:rPr>
              <a:t>EM Open còn chênh rõ hơn: 10,50% so với 8,00%.</a:t>
            </a:r>
            <a:endParaRPr lang="en-US" sz="1250" dirty="0"/>
          </a:p>
        </p:txBody>
      </p:sp>
      <p:sp>
        <p:nvSpPr>
          <p:cNvPr id="10" name="Text 7"/>
          <p:cNvSpPr/>
          <p:nvPr/>
        </p:nvSpPr>
        <p:spPr>
          <a:xfrm>
            <a:off x="822960" y="2706624"/>
            <a:ext cx="5029200" cy="658368"/>
          </a:xfrm>
          <a:prstGeom prst="rect">
            <a:avLst/>
          </a:prstGeom>
          <a:noFill/>
          <a:ln/>
        </p:spPr>
        <p:txBody>
          <a:bodyPr wrap="square" lIns="0" tIns="0" rIns="0" bIns="0" rtlCol="0" anchor="ctr"/>
          <a:lstStyle/>
          <a:p>
            <a:pPr marL="0" indent="0">
              <a:lnSpc>
                <a:spcPct val="114000"/>
              </a:lnSpc>
              <a:buNone/>
            </a:pPr>
            <a:r>
              <a:rPr lang="en-US" sz="1150" dirty="0">
                <a:solidFill>
                  <a:srgbClr val="4F637B"/>
                </a:solidFill>
                <a:latin typeface="Calibri" pitchFamily="34" charset="0"/>
                <a:ea typeface="Calibri" pitchFamily="34" charset="-122"/>
                <a:cs typeface="Calibri" pitchFamily="34" charset="-120"/>
              </a:rPr>
              <a:t>Lý do: đáp án mở trong VQA-RAD thường rất ngắn và là danh từ cụ thể — “lungs”, “brain”, “axial”, “pneumonia”. Beam Search làm mượt phân phối trên toàn chuỗi và thiên về từ phổ biến, an toàn, nên vô tình đánh mất thực thể lâm sàng đặc hiệu.</a:t>
            </a:r>
            <a:endParaRPr lang="en-US" sz="1150" dirty="0"/>
          </a:p>
        </p:txBody>
      </p:sp>
      <p:sp>
        <p:nvSpPr>
          <p:cNvPr id="11" name="Shape 8"/>
          <p:cNvSpPr/>
          <p:nvPr/>
        </p:nvSpPr>
        <p:spPr>
          <a:xfrm>
            <a:off x="6236208" y="1371600"/>
            <a:ext cx="5394960" cy="2103120"/>
          </a:xfrm>
          <a:prstGeom prst="roundRect">
            <a:avLst>
              <a:gd name="adj" fmla="val 3913"/>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2" name="Shape 9"/>
          <p:cNvSpPr/>
          <p:nvPr/>
        </p:nvSpPr>
        <p:spPr>
          <a:xfrm>
            <a:off x="6492240" y="1591056"/>
            <a:ext cx="329184" cy="329184"/>
          </a:xfrm>
          <a:prstGeom prst="ellipse">
            <a:avLst/>
          </a:prstGeom>
          <a:solidFill>
            <a:srgbClr val="6B33C7"/>
          </a:solidFill>
          <a:ln/>
        </p:spPr>
        <p:txBody>
          <a:bodyPr/>
          <a:lstStyle/>
          <a:p>
            <a:endParaRPr lang="en-US"/>
          </a:p>
        </p:txBody>
      </p:sp>
      <p:sp>
        <p:nvSpPr>
          <p:cNvPr id="13" name="Text 10"/>
          <p:cNvSpPr/>
          <p:nvPr/>
        </p:nvSpPr>
        <p:spPr>
          <a:xfrm>
            <a:off x="6492240" y="159105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③</a:t>
            </a:r>
            <a:endParaRPr lang="en-US" sz="1300" dirty="0"/>
          </a:p>
        </p:txBody>
      </p:sp>
      <p:sp>
        <p:nvSpPr>
          <p:cNvPr id="14" name="Text 11"/>
          <p:cNvSpPr/>
          <p:nvPr/>
        </p:nvSpPr>
        <p:spPr>
          <a:xfrm>
            <a:off x="6949440" y="1572768"/>
            <a:ext cx="448056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Phần thưởng ngữ nghĩa vẫn đứng yên</a:t>
            </a:r>
            <a:endParaRPr lang="en-US" sz="1450" dirty="0"/>
          </a:p>
        </p:txBody>
      </p:sp>
      <p:sp>
        <p:nvSpPr>
          <p:cNvPr id="15" name="Text 12"/>
          <p:cNvSpPr/>
          <p:nvPr/>
        </p:nvSpPr>
        <p:spPr>
          <a:xfrm>
            <a:off x="6492240" y="2048256"/>
            <a:ext cx="4937760" cy="640080"/>
          </a:xfrm>
          <a:prstGeom prst="rect">
            <a:avLst/>
          </a:prstGeom>
          <a:noFill/>
          <a:ln/>
        </p:spPr>
        <p:txBody>
          <a:bodyPr wrap="square" lIns="0" tIns="0" rIns="0" bIns="0" rtlCol="0" anchor="ctr"/>
          <a:lstStyle/>
          <a:p>
            <a:pPr marL="0" indent="0">
              <a:lnSpc>
                <a:spcPct val="114000"/>
              </a:lnSpc>
              <a:buNone/>
            </a:pPr>
            <a:r>
              <a:rPr lang="en-US" sz="1150" dirty="0">
                <a:solidFill>
                  <a:srgbClr val="4F637B"/>
                </a:solidFill>
                <a:latin typeface="Calibri" pitchFamily="34" charset="0"/>
                <a:ea typeface="Calibri" pitchFamily="34" charset="-122"/>
                <a:cs typeface="Calibri" pitchFamily="34" charset="-120"/>
              </a:rPr>
              <a:t>D_semantic đổi reward của SCST từ 0,5·EM + 0,5·F1 sang độ tương đồng ngữ nghĩa bằng SentenceTransformer — đúng hướng đề xuất. Kết quả trùng khít từng chữ số với Q_qformer greedy.</a:t>
            </a:r>
            <a:endParaRPr lang="en-US" sz="1150" dirty="0"/>
          </a:p>
        </p:txBody>
      </p:sp>
      <p:sp>
        <p:nvSpPr>
          <p:cNvPr id="16" name="Text 13"/>
          <p:cNvSpPr/>
          <p:nvPr/>
        </p:nvSpPr>
        <p:spPr>
          <a:xfrm>
            <a:off x="6492240" y="2743200"/>
            <a:ext cx="4937760" cy="621792"/>
          </a:xfrm>
          <a:prstGeom prst="rect">
            <a:avLst/>
          </a:prstGeom>
          <a:noFill/>
          <a:ln/>
        </p:spPr>
        <p:txBody>
          <a:bodyPr wrap="square" lIns="0" tIns="0" rIns="0" bIns="0" rtlCol="0" anchor="ctr"/>
          <a:lstStyle/>
          <a:p>
            <a:pPr marL="0" indent="0">
              <a:lnSpc>
                <a:spcPct val="114000"/>
              </a:lnSpc>
              <a:buNone/>
            </a:pPr>
            <a:r>
              <a:rPr lang="en-US" sz="1150" dirty="0">
                <a:solidFill>
                  <a:srgbClr val="4F637B"/>
                </a:solidFill>
                <a:latin typeface="Calibri" pitchFamily="34" charset="0"/>
                <a:ea typeface="Calibri" pitchFamily="34" charset="-122"/>
                <a:cs typeface="Calibri" pitchFamily="34" charset="-120"/>
              </a:rPr>
              <a:t>Trong 20 epoch RL, Validation EM cao nhất chỉ đạt khoảng 30,38% ở epoch 5, không vượt nổi mốc SFT baseline 34,25%. Vì vậy checkpoint tốt nhất vẫn là checkpoint SFT gốc.</a:t>
            </a:r>
            <a:endParaRPr lang="en-US" sz="1150" dirty="0"/>
          </a:p>
        </p:txBody>
      </p:sp>
      <p:sp>
        <p:nvSpPr>
          <p:cNvPr id="17" name="Shape 14"/>
          <p:cNvSpPr/>
          <p:nvPr/>
        </p:nvSpPr>
        <p:spPr>
          <a:xfrm>
            <a:off x="566928" y="3621024"/>
            <a:ext cx="6492240" cy="2212848"/>
          </a:xfrm>
          <a:prstGeom prst="roundRect">
            <a:avLst>
              <a:gd name="adj" fmla="val 2893"/>
            </a:avLst>
          </a:prstGeom>
          <a:solidFill>
            <a:srgbClr val="FFFFFF"/>
          </a:solidFill>
          <a:ln w="12700">
            <a:solidFill>
              <a:srgbClr val="D3DEEA"/>
            </a:solidFill>
            <a:prstDash val="solid"/>
          </a:ln>
          <a:effectLst>
            <a:outerShdw blurRad="127000" dist="25400" dir="5400000" algn="bl" rotWithShape="0">
              <a:srgbClr val="000000">
                <a:alpha val="30000"/>
              </a:srgbClr>
            </a:outerShdw>
          </a:effectLst>
        </p:spPr>
        <p:txBody>
          <a:bodyPr/>
          <a:lstStyle/>
          <a:p>
            <a:endParaRPr lang="en-US"/>
          </a:p>
        </p:txBody>
      </p:sp>
      <p:pic>
        <p:nvPicPr>
          <p:cNvPr id="18" name="Image 1" descr="E:/DoCode/Master_Subject2026_TDTU/02_Code_DeepLearning/report/01_analyze_data/05_report_html_data_eval/rl_progress_d_semantic.png"/>
          <p:cNvPicPr>
            <a:picLocks noChangeAspect="1"/>
          </p:cNvPicPr>
          <p:nvPr/>
        </p:nvPicPr>
        <p:blipFill>
          <a:blip r:embed="rId4"/>
          <a:srcRect/>
          <a:stretch/>
        </p:blipFill>
        <p:spPr>
          <a:xfrm>
            <a:off x="658368" y="3712464"/>
            <a:ext cx="6309360" cy="2029968"/>
          </a:xfrm>
          <a:prstGeom prst="rect">
            <a:avLst/>
          </a:prstGeom>
        </p:spPr>
      </p:pic>
      <p:sp>
        <p:nvSpPr>
          <p:cNvPr id="19" name="Shape 15"/>
          <p:cNvSpPr/>
          <p:nvPr/>
        </p:nvSpPr>
        <p:spPr>
          <a:xfrm>
            <a:off x="7242048" y="3621024"/>
            <a:ext cx="4389120" cy="2212848"/>
          </a:xfrm>
          <a:prstGeom prst="roundRect">
            <a:avLst>
              <a:gd name="adj" fmla="val 3719"/>
            </a:avLst>
          </a:prstGeom>
          <a:solidFill>
            <a:srgbClr val="FBF1DE"/>
          </a:solidFill>
          <a:ln w="12700">
            <a:solidFill>
              <a:srgbClr val="B26A00"/>
            </a:solidFill>
            <a:prstDash val="solid"/>
          </a:ln>
          <a:effectLst>
            <a:outerShdw blurRad="114300" dist="25400" dir="5400000" algn="bl" rotWithShape="0">
              <a:srgbClr val="B9C6D6">
                <a:alpha val="50000"/>
              </a:srgbClr>
            </a:outerShdw>
          </a:effectLst>
        </p:spPr>
        <p:txBody>
          <a:bodyPr/>
          <a:lstStyle/>
          <a:p>
            <a:endParaRPr lang="en-US"/>
          </a:p>
        </p:txBody>
      </p:sp>
      <p:sp>
        <p:nvSpPr>
          <p:cNvPr id="20" name="Shape 16"/>
          <p:cNvSpPr/>
          <p:nvPr/>
        </p:nvSpPr>
        <p:spPr>
          <a:xfrm>
            <a:off x="7461504" y="3840480"/>
            <a:ext cx="329184" cy="329184"/>
          </a:xfrm>
          <a:prstGeom prst="ellipse">
            <a:avLst/>
          </a:prstGeom>
          <a:solidFill>
            <a:srgbClr val="B26A00"/>
          </a:solidFill>
          <a:ln/>
        </p:spPr>
        <p:txBody>
          <a:bodyPr/>
          <a:lstStyle/>
          <a:p>
            <a:endParaRPr lang="en-US"/>
          </a:p>
        </p:txBody>
      </p:sp>
      <p:sp>
        <p:nvSpPr>
          <p:cNvPr id="21" name="Text 17"/>
          <p:cNvSpPr/>
          <p:nvPr/>
        </p:nvSpPr>
        <p:spPr>
          <a:xfrm>
            <a:off x="7461504" y="384048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2" name="Text 18"/>
          <p:cNvSpPr/>
          <p:nvPr/>
        </p:nvSpPr>
        <p:spPr>
          <a:xfrm>
            <a:off x="7918704" y="3822192"/>
            <a:ext cx="3493008"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Kết luận rút ra</a:t>
            </a:r>
            <a:endParaRPr lang="en-US" sz="1450" dirty="0"/>
          </a:p>
        </p:txBody>
      </p:sp>
      <p:sp>
        <p:nvSpPr>
          <p:cNvPr id="23" name="Text 19"/>
          <p:cNvSpPr/>
          <p:nvPr/>
        </p:nvSpPr>
        <p:spPr>
          <a:xfrm>
            <a:off x="7461504" y="4315968"/>
            <a:ext cx="3950208" cy="1316736"/>
          </a:xfrm>
          <a:prstGeom prst="rect">
            <a:avLst/>
          </a:prstGeom>
          <a:noFill/>
          <a:ln/>
        </p:spPr>
        <p:txBody>
          <a:bodyPr wrap="square" lIns="0" tIns="0" rIns="0" bIns="0" rtlCol="0" anchor="ctr"/>
          <a:lstStyle/>
          <a:p>
            <a:pPr marL="0" indent="0">
              <a:lnSpc>
                <a:spcPct val="114000"/>
              </a:lnSpc>
              <a:buNone/>
            </a:pPr>
            <a:r>
              <a:rPr lang="en-US" sz="1150" dirty="0">
                <a:solidFill>
                  <a:srgbClr val="4F637B"/>
                </a:solidFill>
                <a:latin typeface="Calibri" pitchFamily="34" charset="0"/>
                <a:ea typeface="Calibri" pitchFamily="34" charset="-122"/>
                <a:cs typeface="Calibri" pitchFamily="34" charset="-120"/>
              </a:rPr>
              <a:t>REINFORCE rất nhạy với điểm khởi tạo. Đổi phần thưởng sang tín hiệu mịn hơn vẫn chưa đủ để khắc phục tính bất ổn của policy gradient trên tập dữ liệu nhỏ. Hướng thay thế hợp lý là DPO — tối ưu theo cặp ưa thích/từ chối, bỏ hẳn phần thưởng rời rạc.</a:t>
            </a:r>
            <a:endParaRPr lang="en-US" sz="11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0B8457"/>
                </a:solidFill>
                <a:latin typeface="Calibri" pitchFamily="34" charset="0"/>
                <a:ea typeface="Calibri" pitchFamily="34" charset="-122"/>
                <a:cs typeface="Calibri" pitchFamily="34" charset="-120"/>
              </a:rPr>
              <a:t>PHẦN 6 · GEMMA LORA</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Thay cả pipeline bằng một mô hình ngôn ngữ lớn</a:t>
            </a:r>
            <a:endParaRPr lang="en-US" sz="2900" dirty="0"/>
          </a:p>
        </p:txBody>
      </p:sp>
      <p:sp>
        <p:nvSpPr>
          <p:cNvPr id="5" name="Text 2"/>
          <p:cNvSpPr/>
          <p:nvPr/>
        </p:nvSpPr>
        <p:spPr>
          <a:xfrm>
            <a:off x="566928" y="1371600"/>
            <a:ext cx="11057839" cy="457200"/>
          </a:xfrm>
          <a:prstGeom prst="rect">
            <a:avLst/>
          </a:prstGeom>
          <a:noFill/>
          <a:ln/>
        </p:spPr>
        <p:txBody>
          <a:bodyPr wrap="square" lIns="0" tIns="0" rIns="0" bIns="0" rtlCol="0" anchor="ctr"/>
          <a:lstStyle/>
          <a:p>
            <a:pPr marL="0" indent="0">
              <a:lnSpc>
                <a:spcPct val="116000"/>
              </a:lnSpc>
              <a:buNone/>
            </a:pPr>
            <a:r>
              <a:rPr lang="en-US" sz="1250" dirty="0">
                <a:solidFill>
                  <a:srgbClr val="4F637B"/>
                </a:solidFill>
                <a:latin typeface="Calibri" pitchFamily="34" charset="0"/>
                <a:ea typeface="Calibri" pitchFamily="34" charset="-122"/>
                <a:cs typeface="Calibri" pitchFamily="34" charset="-120"/>
              </a:rPr>
              <a:t>Thay vì tự ghép CLIP + BERT + GPT-2, giai đoạn ba tinh chỉnh trực tiếp một mô hình thị giác–ngôn ngữ hợp nhất đã có sẵn tri thức nền, bằng kỹ thuật LoRA.</a:t>
            </a:r>
            <a:endParaRPr lang="en-US" sz="1250" dirty="0"/>
          </a:p>
        </p:txBody>
      </p:sp>
      <p:sp>
        <p:nvSpPr>
          <p:cNvPr id="6" name="Shape 3"/>
          <p:cNvSpPr/>
          <p:nvPr/>
        </p:nvSpPr>
        <p:spPr>
          <a:xfrm>
            <a:off x="566928" y="1920240"/>
            <a:ext cx="5120640" cy="1883664"/>
          </a:xfrm>
          <a:prstGeom prst="roundRect">
            <a:avLst>
              <a:gd name="adj" fmla="val 4369"/>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7" name="Shape 4"/>
          <p:cNvSpPr/>
          <p:nvPr/>
        </p:nvSpPr>
        <p:spPr>
          <a:xfrm>
            <a:off x="822960" y="2139696"/>
            <a:ext cx="329184" cy="329184"/>
          </a:xfrm>
          <a:prstGeom prst="ellipse">
            <a:avLst/>
          </a:prstGeom>
          <a:solidFill>
            <a:srgbClr val="0B8457"/>
          </a:solidFill>
          <a:ln/>
        </p:spPr>
        <p:txBody>
          <a:bodyPr/>
          <a:lstStyle/>
          <a:p>
            <a:endParaRPr lang="en-US"/>
          </a:p>
        </p:txBody>
      </p:sp>
      <p:sp>
        <p:nvSpPr>
          <p:cNvPr id="8" name="Text 5"/>
          <p:cNvSpPr/>
          <p:nvPr/>
        </p:nvSpPr>
        <p:spPr>
          <a:xfrm>
            <a:off x="822960" y="2139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a:t>
            </a:r>
            <a:endParaRPr lang="en-US" sz="1300" dirty="0"/>
          </a:p>
        </p:txBody>
      </p:sp>
      <p:sp>
        <p:nvSpPr>
          <p:cNvPr id="9" name="Text 6"/>
          <p:cNvSpPr/>
          <p:nvPr/>
        </p:nvSpPr>
        <p:spPr>
          <a:xfrm>
            <a:off x="1280160" y="2121408"/>
            <a:ext cx="420624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LoRA là gì</a:t>
            </a:r>
            <a:endParaRPr lang="en-US" sz="1450" dirty="0"/>
          </a:p>
        </p:txBody>
      </p:sp>
      <p:sp>
        <p:nvSpPr>
          <p:cNvPr id="10" name="Text 7"/>
          <p:cNvSpPr/>
          <p:nvPr/>
        </p:nvSpPr>
        <p:spPr>
          <a:xfrm>
            <a:off x="822960" y="2615184"/>
            <a:ext cx="4663440" cy="1005840"/>
          </a:xfrm>
          <a:prstGeom prst="rect">
            <a:avLst/>
          </a:prstGeom>
          <a:noFill/>
          <a:ln/>
        </p:spPr>
        <p:txBody>
          <a:bodyPr wrap="square" lIns="0" tIns="0" rIns="0" bIns="0" rtlCol="0" anchor="ctr"/>
          <a:lstStyle/>
          <a:p>
            <a:pPr marL="0" indent="0">
              <a:lnSpc>
                <a:spcPct val="114000"/>
              </a:lnSpc>
              <a:buNone/>
            </a:pPr>
            <a:r>
              <a:rPr lang="en-US" sz="1150" dirty="0">
                <a:solidFill>
                  <a:srgbClr val="4F637B"/>
                </a:solidFill>
                <a:latin typeface="Calibri" pitchFamily="34" charset="0"/>
                <a:ea typeface="Calibri" pitchFamily="34" charset="-122"/>
                <a:cs typeface="Calibri" pitchFamily="34" charset="-120"/>
              </a:rPr>
              <a:t>Low-Rank Adaptation — một dạng tinh chỉnh hiệu quả tham số. Toàn bộ trọng số gốc của mô hình lớn được đóng băng; chỉ chèn thêm các ma trận hạng thấp cạnh những lớp cần thích nghi và chỉ huấn luyện phần chèn thêm đó. Nhờ vậy chỉ phải cập nhật dưới 1% tổng tham số.</a:t>
            </a:r>
            <a:endParaRPr lang="en-US" sz="1150" dirty="0"/>
          </a:p>
        </p:txBody>
      </p:sp>
      <p:sp>
        <p:nvSpPr>
          <p:cNvPr id="11" name="Shape 8"/>
          <p:cNvSpPr/>
          <p:nvPr/>
        </p:nvSpPr>
        <p:spPr>
          <a:xfrm>
            <a:off x="5870448" y="1920240"/>
            <a:ext cx="5760720" cy="877824"/>
          </a:xfrm>
          <a:prstGeom prst="roundRect">
            <a:avLst>
              <a:gd name="adj" fmla="val 9375"/>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2" name="Text 9"/>
          <p:cNvSpPr/>
          <p:nvPr/>
        </p:nvSpPr>
        <p:spPr>
          <a:xfrm>
            <a:off x="6089904" y="2029968"/>
            <a:ext cx="2286000" cy="274320"/>
          </a:xfrm>
          <a:prstGeom prst="rect">
            <a:avLst/>
          </a:prstGeom>
          <a:noFill/>
          <a:ln/>
        </p:spPr>
        <p:txBody>
          <a:bodyPr wrap="square" lIns="0" tIns="0" rIns="0" bIns="0" rtlCol="0" anchor="ctr"/>
          <a:lstStyle/>
          <a:p>
            <a:pPr marL="0" indent="0">
              <a:buNone/>
            </a:pPr>
            <a:r>
              <a:rPr lang="en-US" sz="1150" b="1" dirty="0">
                <a:solidFill>
                  <a:srgbClr val="0B8457"/>
                </a:solidFill>
                <a:latin typeface="Courier New" pitchFamily="34" charset="0"/>
                <a:ea typeface="Courier New" pitchFamily="34" charset="-122"/>
                <a:cs typeface="Courier New" pitchFamily="34" charset="-120"/>
              </a:rPr>
              <a:t>gemma_2_lora_E2b</a:t>
            </a:r>
            <a:endParaRPr lang="en-US" sz="1150" dirty="0"/>
          </a:p>
        </p:txBody>
      </p:sp>
      <p:sp>
        <p:nvSpPr>
          <p:cNvPr id="13" name="Text 10"/>
          <p:cNvSpPr/>
          <p:nvPr/>
        </p:nvSpPr>
        <p:spPr>
          <a:xfrm>
            <a:off x="6089904" y="2340864"/>
            <a:ext cx="2286000" cy="274320"/>
          </a:xfrm>
          <a:prstGeom prst="rect">
            <a:avLst/>
          </a:prstGeom>
          <a:noFill/>
          <a:ln/>
        </p:spPr>
        <p:txBody>
          <a:bodyPr wrap="square" lIns="0" tIns="0" rIns="0" bIns="0" rtlCol="0" anchor="ctr"/>
          <a:lstStyle/>
          <a:p>
            <a:pPr marL="0" indent="0">
              <a:buNone/>
            </a:pPr>
            <a:r>
              <a:rPr lang="en-US" sz="1000" dirty="0">
                <a:solidFill>
                  <a:srgbClr val="4F637B"/>
                </a:solidFill>
                <a:latin typeface="Calibri" pitchFamily="34" charset="0"/>
                <a:ea typeface="Calibri" pitchFamily="34" charset="-122"/>
                <a:cs typeface="Calibri" pitchFamily="34" charset="-120"/>
              </a:rPr>
              <a:t>mô hình nền Gemma 2B</a:t>
            </a:r>
            <a:endParaRPr lang="en-US" sz="1000" dirty="0"/>
          </a:p>
        </p:txBody>
      </p:sp>
      <p:sp>
        <p:nvSpPr>
          <p:cNvPr id="14" name="Text 11"/>
          <p:cNvSpPr/>
          <p:nvPr/>
        </p:nvSpPr>
        <p:spPr>
          <a:xfrm>
            <a:off x="8503920" y="2029968"/>
            <a:ext cx="1005840" cy="274320"/>
          </a:xfrm>
          <a:prstGeom prst="rect">
            <a:avLst/>
          </a:prstGeom>
          <a:noFill/>
          <a:ln/>
        </p:spPr>
        <p:txBody>
          <a:bodyPr wrap="square" lIns="0" tIns="0" rIns="0" bIns="0" rtlCol="0" anchor="ctr"/>
          <a:lstStyle/>
          <a:p>
            <a:pPr marL="0" indent="0" algn="ctr">
              <a:buNone/>
            </a:pPr>
            <a:r>
              <a:rPr lang="en-US" sz="1250" b="1" dirty="0">
                <a:solidFill>
                  <a:srgbClr val="14243A"/>
                </a:solidFill>
                <a:latin typeface="Calibri" pitchFamily="34" charset="0"/>
                <a:ea typeface="Calibri" pitchFamily="34" charset="-122"/>
                <a:cs typeface="Calibri" pitchFamily="34" charset="-120"/>
              </a:rPr>
              <a:t>4,44 tỷ</a:t>
            </a:r>
            <a:endParaRPr lang="en-US" sz="1250" dirty="0"/>
          </a:p>
        </p:txBody>
      </p:sp>
      <p:sp>
        <p:nvSpPr>
          <p:cNvPr id="15" name="Text 12"/>
          <p:cNvSpPr/>
          <p:nvPr/>
        </p:nvSpPr>
        <p:spPr>
          <a:xfrm>
            <a:off x="8503920" y="2322576"/>
            <a:ext cx="1005840" cy="274320"/>
          </a:xfrm>
          <a:prstGeom prst="rect">
            <a:avLst/>
          </a:prstGeom>
          <a:noFill/>
          <a:ln/>
        </p:spPr>
        <p:txBody>
          <a:bodyPr wrap="square" lIns="0" tIns="0" rIns="0" bIns="0" rtlCol="0" anchor="ctr"/>
          <a:lstStyle/>
          <a:p>
            <a:pPr marL="0" indent="0" algn="ctr">
              <a:buNone/>
            </a:pPr>
            <a:r>
              <a:rPr lang="en-US" sz="900" dirty="0">
                <a:solidFill>
                  <a:srgbClr val="8494A8"/>
                </a:solidFill>
                <a:latin typeface="Calibri" pitchFamily="34" charset="0"/>
                <a:ea typeface="Calibri" pitchFamily="34" charset="-122"/>
                <a:cs typeface="Calibri" pitchFamily="34" charset="-120"/>
              </a:rPr>
              <a:t>tổng tham số</a:t>
            </a:r>
            <a:endParaRPr lang="en-US" sz="900" dirty="0"/>
          </a:p>
        </p:txBody>
      </p:sp>
      <p:sp>
        <p:nvSpPr>
          <p:cNvPr id="16" name="Text 13"/>
          <p:cNvSpPr/>
          <p:nvPr/>
        </p:nvSpPr>
        <p:spPr>
          <a:xfrm>
            <a:off x="9546336" y="2029968"/>
            <a:ext cx="1005840" cy="274320"/>
          </a:xfrm>
          <a:prstGeom prst="rect">
            <a:avLst/>
          </a:prstGeom>
          <a:noFill/>
          <a:ln/>
        </p:spPr>
        <p:txBody>
          <a:bodyPr wrap="square" lIns="0" tIns="0" rIns="0" bIns="0" rtlCol="0" anchor="ctr"/>
          <a:lstStyle/>
          <a:p>
            <a:pPr marL="0" indent="0" algn="ctr">
              <a:buNone/>
            </a:pPr>
            <a:r>
              <a:rPr lang="en-US" sz="1250" b="1" dirty="0">
                <a:solidFill>
                  <a:srgbClr val="14243A"/>
                </a:solidFill>
                <a:latin typeface="Calibri" pitchFamily="34" charset="0"/>
                <a:ea typeface="Calibri" pitchFamily="34" charset="-122"/>
                <a:cs typeface="Calibri" pitchFamily="34" charset="-120"/>
              </a:rPr>
              <a:t>29.859.840</a:t>
            </a:r>
            <a:endParaRPr lang="en-US" sz="1250" dirty="0"/>
          </a:p>
        </p:txBody>
      </p:sp>
      <p:sp>
        <p:nvSpPr>
          <p:cNvPr id="17" name="Text 14"/>
          <p:cNvSpPr/>
          <p:nvPr/>
        </p:nvSpPr>
        <p:spPr>
          <a:xfrm>
            <a:off x="9546336" y="2322576"/>
            <a:ext cx="1005840" cy="274320"/>
          </a:xfrm>
          <a:prstGeom prst="rect">
            <a:avLst/>
          </a:prstGeom>
          <a:noFill/>
          <a:ln/>
        </p:spPr>
        <p:txBody>
          <a:bodyPr wrap="square" lIns="0" tIns="0" rIns="0" bIns="0" rtlCol="0" anchor="ctr"/>
          <a:lstStyle/>
          <a:p>
            <a:pPr marL="0" indent="0" algn="ctr">
              <a:buNone/>
            </a:pPr>
            <a:r>
              <a:rPr lang="en-US" sz="900" dirty="0">
                <a:solidFill>
                  <a:srgbClr val="8494A8"/>
                </a:solidFill>
                <a:latin typeface="Calibri" pitchFamily="34" charset="0"/>
                <a:ea typeface="Calibri" pitchFamily="34" charset="-122"/>
                <a:cs typeface="Calibri" pitchFamily="34" charset="-120"/>
              </a:rPr>
              <a:t>tham số LoRA</a:t>
            </a:r>
            <a:endParaRPr lang="en-US" sz="900" dirty="0"/>
          </a:p>
        </p:txBody>
      </p:sp>
      <p:sp>
        <p:nvSpPr>
          <p:cNvPr id="18" name="Text 15"/>
          <p:cNvSpPr/>
          <p:nvPr/>
        </p:nvSpPr>
        <p:spPr>
          <a:xfrm>
            <a:off x="10588752" y="2029968"/>
            <a:ext cx="1005840" cy="274320"/>
          </a:xfrm>
          <a:prstGeom prst="rect">
            <a:avLst/>
          </a:prstGeom>
          <a:noFill/>
          <a:ln/>
        </p:spPr>
        <p:txBody>
          <a:bodyPr wrap="square" lIns="0" tIns="0" rIns="0" bIns="0" rtlCol="0" anchor="ctr"/>
          <a:lstStyle/>
          <a:p>
            <a:pPr marL="0" indent="0" algn="ctr">
              <a:buNone/>
            </a:pPr>
            <a:r>
              <a:rPr lang="en-US" sz="1250" b="1" dirty="0">
                <a:solidFill>
                  <a:srgbClr val="14243A"/>
                </a:solidFill>
                <a:latin typeface="Calibri" pitchFamily="34" charset="0"/>
                <a:ea typeface="Calibri" pitchFamily="34" charset="-122"/>
                <a:cs typeface="Calibri" pitchFamily="34" charset="-120"/>
              </a:rPr>
              <a:t>0,67%</a:t>
            </a:r>
            <a:endParaRPr lang="en-US" sz="1250" dirty="0"/>
          </a:p>
        </p:txBody>
      </p:sp>
      <p:sp>
        <p:nvSpPr>
          <p:cNvPr id="19" name="Text 16"/>
          <p:cNvSpPr/>
          <p:nvPr/>
        </p:nvSpPr>
        <p:spPr>
          <a:xfrm>
            <a:off x="10588752" y="2322576"/>
            <a:ext cx="1005840" cy="274320"/>
          </a:xfrm>
          <a:prstGeom prst="rect">
            <a:avLst/>
          </a:prstGeom>
          <a:noFill/>
          <a:ln/>
        </p:spPr>
        <p:txBody>
          <a:bodyPr wrap="square" lIns="0" tIns="0" rIns="0" bIns="0" rtlCol="0" anchor="ctr"/>
          <a:lstStyle/>
          <a:p>
            <a:pPr marL="0" indent="0" algn="ctr">
              <a:buNone/>
            </a:pPr>
            <a:r>
              <a:rPr lang="en-US" sz="900" dirty="0">
                <a:solidFill>
                  <a:srgbClr val="8494A8"/>
                </a:solidFill>
                <a:latin typeface="Calibri" pitchFamily="34" charset="0"/>
                <a:ea typeface="Calibri" pitchFamily="34" charset="-122"/>
                <a:cs typeface="Calibri" pitchFamily="34" charset="-120"/>
              </a:rPr>
              <a:t>tỉ lệ cập nhật</a:t>
            </a:r>
            <a:endParaRPr lang="en-US" sz="900" dirty="0"/>
          </a:p>
        </p:txBody>
      </p:sp>
      <p:sp>
        <p:nvSpPr>
          <p:cNvPr id="20" name="Shape 17"/>
          <p:cNvSpPr/>
          <p:nvPr/>
        </p:nvSpPr>
        <p:spPr>
          <a:xfrm>
            <a:off x="5870448" y="2907792"/>
            <a:ext cx="5760720" cy="877824"/>
          </a:xfrm>
          <a:prstGeom prst="roundRect">
            <a:avLst>
              <a:gd name="adj" fmla="val 9375"/>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21" name="Text 18"/>
          <p:cNvSpPr/>
          <p:nvPr/>
        </p:nvSpPr>
        <p:spPr>
          <a:xfrm>
            <a:off x="6089904" y="3017520"/>
            <a:ext cx="2286000" cy="274320"/>
          </a:xfrm>
          <a:prstGeom prst="rect">
            <a:avLst/>
          </a:prstGeom>
          <a:noFill/>
          <a:ln/>
        </p:spPr>
        <p:txBody>
          <a:bodyPr wrap="square" lIns="0" tIns="0" rIns="0" bIns="0" rtlCol="0" anchor="ctr"/>
          <a:lstStyle/>
          <a:p>
            <a:pPr marL="0" indent="0">
              <a:buNone/>
            </a:pPr>
            <a:r>
              <a:rPr lang="en-US" sz="1150" b="1" dirty="0">
                <a:solidFill>
                  <a:srgbClr val="1466C0"/>
                </a:solidFill>
                <a:latin typeface="Courier New" pitchFamily="34" charset="0"/>
                <a:ea typeface="Courier New" pitchFamily="34" charset="-122"/>
                <a:cs typeface="Courier New" pitchFamily="34" charset="-120"/>
              </a:rPr>
              <a:t>gemma_4_lora_E4b</a:t>
            </a:r>
            <a:endParaRPr lang="en-US" sz="1150" dirty="0"/>
          </a:p>
        </p:txBody>
      </p:sp>
      <p:sp>
        <p:nvSpPr>
          <p:cNvPr id="22" name="Text 19"/>
          <p:cNvSpPr/>
          <p:nvPr/>
        </p:nvSpPr>
        <p:spPr>
          <a:xfrm>
            <a:off x="6089904" y="3328416"/>
            <a:ext cx="2286000" cy="274320"/>
          </a:xfrm>
          <a:prstGeom prst="rect">
            <a:avLst/>
          </a:prstGeom>
          <a:noFill/>
          <a:ln/>
        </p:spPr>
        <p:txBody>
          <a:bodyPr wrap="square" lIns="0" tIns="0" rIns="0" bIns="0" rtlCol="0" anchor="ctr"/>
          <a:lstStyle/>
          <a:p>
            <a:pPr marL="0" indent="0">
              <a:buNone/>
            </a:pPr>
            <a:r>
              <a:rPr lang="en-US" sz="1000" dirty="0">
                <a:solidFill>
                  <a:srgbClr val="4F637B"/>
                </a:solidFill>
                <a:latin typeface="Calibri" pitchFamily="34" charset="0"/>
                <a:ea typeface="Calibri" pitchFamily="34" charset="-122"/>
                <a:cs typeface="Calibri" pitchFamily="34" charset="-120"/>
              </a:rPr>
              <a:t>mô hình nền Gemma 4B/5B</a:t>
            </a:r>
            <a:endParaRPr lang="en-US" sz="1000" dirty="0"/>
          </a:p>
        </p:txBody>
      </p:sp>
      <p:sp>
        <p:nvSpPr>
          <p:cNvPr id="23" name="Text 20"/>
          <p:cNvSpPr/>
          <p:nvPr/>
        </p:nvSpPr>
        <p:spPr>
          <a:xfrm>
            <a:off x="8503920" y="3017520"/>
            <a:ext cx="1005840" cy="274320"/>
          </a:xfrm>
          <a:prstGeom prst="rect">
            <a:avLst/>
          </a:prstGeom>
          <a:noFill/>
          <a:ln/>
        </p:spPr>
        <p:txBody>
          <a:bodyPr wrap="square" lIns="0" tIns="0" rIns="0" bIns="0" rtlCol="0" anchor="ctr"/>
          <a:lstStyle/>
          <a:p>
            <a:pPr marL="0" indent="0" algn="ctr">
              <a:buNone/>
            </a:pPr>
            <a:r>
              <a:rPr lang="en-US" sz="1250" b="1" dirty="0">
                <a:solidFill>
                  <a:srgbClr val="14243A"/>
                </a:solidFill>
                <a:latin typeface="Calibri" pitchFamily="34" charset="0"/>
                <a:ea typeface="Calibri" pitchFamily="34" charset="-122"/>
                <a:cs typeface="Calibri" pitchFamily="34" charset="-120"/>
              </a:rPr>
              <a:t>5,79 tỷ</a:t>
            </a:r>
            <a:endParaRPr lang="en-US" sz="1250" dirty="0"/>
          </a:p>
        </p:txBody>
      </p:sp>
      <p:sp>
        <p:nvSpPr>
          <p:cNvPr id="24" name="Text 21"/>
          <p:cNvSpPr/>
          <p:nvPr/>
        </p:nvSpPr>
        <p:spPr>
          <a:xfrm>
            <a:off x="8503920" y="3310128"/>
            <a:ext cx="1005840" cy="274320"/>
          </a:xfrm>
          <a:prstGeom prst="rect">
            <a:avLst/>
          </a:prstGeom>
          <a:noFill/>
          <a:ln/>
        </p:spPr>
        <p:txBody>
          <a:bodyPr wrap="square" lIns="0" tIns="0" rIns="0" bIns="0" rtlCol="0" anchor="ctr"/>
          <a:lstStyle/>
          <a:p>
            <a:pPr marL="0" indent="0" algn="ctr">
              <a:buNone/>
            </a:pPr>
            <a:r>
              <a:rPr lang="en-US" sz="900" dirty="0">
                <a:solidFill>
                  <a:srgbClr val="8494A8"/>
                </a:solidFill>
                <a:latin typeface="Calibri" pitchFamily="34" charset="0"/>
                <a:ea typeface="Calibri" pitchFamily="34" charset="-122"/>
                <a:cs typeface="Calibri" pitchFamily="34" charset="-120"/>
              </a:rPr>
              <a:t>tổng tham số</a:t>
            </a:r>
            <a:endParaRPr lang="en-US" sz="900" dirty="0"/>
          </a:p>
        </p:txBody>
      </p:sp>
      <p:sp>
        <p:nvSpPr>
          <p:cNvPr id="25" name="Text 22"/>
          <p:cNvSpPr/>
          <p:nvPr/>
        </p:nvSpPr>
        <p:spPr>
          <a:xfrm>
            <a:off x="9546336" y="3017520"/>
            <a:ext cx="1005840" cy="274320"/>
          </a:xfrm>
          <a:prstGeom prst="rect">
            <a:avLst/>
          </a:prstGeom>
          <a:noFill/>
          <a:ln/>
        </p:spPr>
        <p:txBody>
          <a:bodyPr wrap="square" lIns="0" tIns="0" rIns="0" bIns="0" rtlCol="0" anchor="ctr"/>
          <a:lstStyle/>
          <a:p>
            <a:pPr marL="0" indent="0" algn="ctr">
              <a:buNone/>
            </a:pPr>
            <a:r>
              <a:rPr lang="en-US" sz="1250" b="1" dirty="0">
                <a:solidFill>
                  <a:srgbClr val="14243A"/>
                </a:solidFill>
                <a:latin typeface="Calibri" pitchFamily="34" charset="0"/>
                <a:ea typeface="Calibri" pitchFamily="34" charset="-122"/>
                <a:cs typeface="Calibri" pitchFamily="34" charset="-120"/>
              </a:rPr>
              <a:t>41.222.144</a:t>
            </a:r>
            <a:endParaRPr lang="en-US" sz="1250" dirty="0"/>
          </a:p>
        </p:txBody>
      </p:sp>
      <p:sp>
        <p:nvSpPr>
          <p:cNvPr id="26" name="Text 23"/>
          <p:cNvSpPr/>
          <p:nvPr/>
        </p:nvSpPr>
        <p:spPr>
          <a:xfrm>
            <a:off x="9546336" y="3310128"/>
            <a:ext cx="1005840" cy="274320"/>
          </a:xfrm>
          <a:prstGeom prst="rect">
            <a:avLst/>
          </a:prstGeom>
          <a:noFill/>
          <a:ln/>
        </p:spPr>
        <p:txBody>
          <a:bodyPr wrap="square" lIns="0" tIns="0" rIns="0" bIns="0" rtlCol="0" anchor="ctr"/>
          <a:lstStyle/>
          <a:p>
            <a:pPr marL="0" indent="0" algn="ctr">
              <a:buNone/>
            </a:pPr>
            <a:r>
              <a:rPr lang="en-US" sz="900" dirty="0">
                <a:solidFill>
                  <a:srgbClr val="8494A8"/>
                </a:solidFill>
                <a:latin typeface="Calibri" pitchFamily="34" charset="0"/>
                <a:ea typeface="Calibri" pitchFamily="34" charset="-122"/>
                <a:cs typeface="Calibri" pitchFamily="34" charset="-120"/>
              </a:rPr>
              <a:t>tham số LoRA</a:t>
            </a:r>
            <a:endParaRPr lang="en-US" sz="900" dirty="0"/>
          </a:p>
        </p:txBody>
      </p:sp>
      <p:sp>
        <p:nvSpPr>
          <p:cNvPr id="27" name="Text 24"/>
          <p:cNvSpPr/>
          <p:nvPr/>
        </p:nvSpPr>
        <p:spPr>
          <a:xfrm>
            <a:off x="10588752" y="3017520"/>
            <a:ext cx="1005840" cy="274320"/>
          </a:xfrm>
          <a:prstGeom prst="rect">
            <a:avLst/>
          </a:prstGeom>
          <a:noFill/>
          <a:ln/>
        </p:spPr>
        <p:txBody>
          <a:bodyPr wrap="square" lIns="0" tIns="0" rIns="0" bIns="0" rtlCol="0" anchor="ctr"/>
          <a:lstStyle/>
          <a:p>
            <a:pPr marL="0" indent="0" algn="ctr">
              <a:buNone/>
            </a:pPr>
            <a:r>
              <a:rPr lang="en-US" sz="1250" b="1" dirty="0">
                <a:solidFill>
                  <a:srgbClr val="14243A"/>
                </a:solidFill>
                <a:latin typeface="Calibri" pitchFamily="34" charset="0"/>
                <a:ea typeface="Calibri" pitchFamily="34" charset="-122"/>
                <a:cs typeface="Calibri" pitchFamily="34" charset="-120"/>
              </a:rPr>
              <a:t>0,71%</a:t>
            </a:r>
            <a:endParaRPr lang="en-US" sz="1250" dirty="0"/>
          </a:p>
        </p:txBody>
      </p:sp>
      <p:sp>
        <p:nvSpPr>
          <p:cNvPr id="28" name="Text 25"/>
          <p:cNvSpPr/>
          <p:nvPr/>
        </p:nvSpPr>
        <p:spPr>
          <a:xfrm>
            <a:off x="10588752" y="3310128"/>
            <a:ext cx="1005840" cy="274320"/>
          </a:xfrm>
          <a:prstGeom prst="rect">
            <a:avLst/>
          </a:prstGeom>
          <a:noFill/>
          <a:ln/>
        </p:spPr>
        <p:txBody>
          <a:bodyPr wrap="square" lIns="0" tIns="0" rIns="0" bIns="0" rtlCol="0" anchor="ctr"/>
          <a:lstStyle/>
          <a:p>
            <a:pPr marL="0" indent="0" algn="ctr">
              <a:buNone/>
            </a:pPr>
            <a:r>
              <a:rPr lang="en-US" sz="900" dirty="0">
                <a:solidFill>
                  <a:srgbClr val="8494A8"/>
                </a:solidFill>
                <a:latin typeface="Calibri" pitchFamily="34" charset="0"/>
                <a:ea typeface="Calibri" pitchFamily="34" charset="-122"/>
                <a:cs typeface="Calibri" pitchFamily="34" charset="-120"/>
              </a:rPr>
              <a:t>tỉ lệ cập nhật</a:t>
            </a:r>
            <a:endParaRPr lang="en-US" sz="900" dirty="0"/>
          </a:p>
        </p:txBody>
      </p:sp>
      <p:sp>
        <p:nvSpPr>
          <p:cNvPr id="29" name="Shape 26"/>
          <p:cNvSpPr/>
          <p:nvPr/>
        </p:nvSpPr>
        <p:spPr>
          <a:xfrm>
            <a:off x="566928" y="3950208"/>
            <a:ext cx="11057839" cy="1627632"/>
          </a:xfrm>
          <a:prstGeom prst="roundRect">
            <a:avLst>
              <a:gd name="adj" fmla="val 5056"/>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30" name="Shape 27"/>
          <p:cNvSpPr/>
          <p:nvPr/>
        </p:nvSpPr>
        <p:spPr>
          <a:xfrm>
            <a:off x="841248" y="4169664"/>
            <a:ext cx="329184" cy="329184"/>
          </a:xfrm>
          <a:prstGeom prst="ellipse">
            <a:avLst/>
          </a:prstGeom>
          <a:solidFill>
            <a:srgbClr val="0B8457"/>
          </a:solidFill>
          <a:ln/>
        </p:spPr>
        <p:txBody>
          <a:bodyPr/>
          <a:lstStyle/>
          <a:p>
            <a:endParaRPr lang="en-US"/>
          </a:p>
        </p:txBody>
      </p:sp>
      <p:sp>
        <p:nvSpPr>
          <p:cNvPr id="31" name="Text 28"/>
          <p:cNvSpPr/>
          <p:nvPr/>
        </p:nvSpPr>
        <p:spPr>
          <a:xfrm>
            <a:off x="841248" y="4169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2" name="Text 29"/>
          <p:cNvSpPr/>
          <p:nvPr/>
        </p:nvSpPr>
        <p:spPr>
          <a:xfrm>
            <a:off x="1298448" y="4151376"/>
            <a:ext cx="1014984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Vì sao cách này giải quyết được cả ba cổ chai cùng lúc</a:t>
            </a:r>
            <a:endParaRPr lang="en-US" sz="1450" dirty="0"/>
          </a:p>
        </p:txBody>
      </p:sp>
      <p:sp>
        <p:nvSpPr>
          <p:cNvPr id="33" name="Shape 30"/>
          <p:cNvSpPr/>
          <p:nvPr/>
        </p:nvSpPr>
        <p:spPr>
          <a:xfrm>
            <a:off x="841248" y="4626864"/>
            <a:ext cx="310896" cy="310896"/>
          </a:xfrm>
          <a:prstGeom prst="ellipse">
            <a:avLst/>
          </a:prstGeom>
          <a:solidFill>
            <a:srgbClr val="1466C0"/>
          </a:solidFill>
          <a:ln/>
        </p:spPr>
        <p:txBody>
          <a:bodyPr/>
          <a:lstStyle/>
          <a:p>
            <a:endParaRPr lang="en-US"/>
          </a:p>
        </p:txBody>
      </p:sp>
      <p:sp>
        <p:nvSpPr>
          <p:cNvPr id="34" name="Text 31"/>
          <p:cNvSpPr/>
          <p:nvPr/>
        </p:nvSpPr>
        <p:spPr>
          <a:xfrm>
            <a:off x="841248" y="462686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5" name="Text 32"/>
          <p:cNvSpPr/>
          <p:nvPr/>
        </p:nvSpPr>
        <p:spPr>
          <a:xfrm>
            <a:off x="1261872" y="4572000"/>
            <a:ext cx="2962656" cy="859536"/>
          </a:xfrm>
          <a:prstGeom prst="rect">
            <a:avLst/>
          </a:prstGeom>
          <a:noFill/>
          <a:ln/>
        </p:spPr>
        <p:txBody>
          <a:bodyPr wrap="square" lIns="0" tIns="0" rIns="0" bIns="0" rtlCol="0" anchor="ctr"/>
          <a:lstStyle/>
          <a:p>
            <a:pPr marL="0" indent="0">
              <a:lnSpc>
                <a:spcPct val="114000"/>
              </a:lnSpc>
              <a:buNone/>
            </a:pPr>
            <a:r>
              <a:rPr lang="en-US" sz="1100" dirty="0">
                <a:solidFill>
                  <a:srgbClr val="4F637B"/>
                </a:solidFill>
                <a:latin typeface="Calibri" pitchFamily="34" charset="0"/>
                <a:ea typeface="Calibri" pitchFamily="34" charset="-122"/>
                <a:cs typeface="Calibri" pitchFamily="34" charset="-120"/>
              </a:rPr>
              <a:t>Bộ chiếu ảnh nằm sẵn bên trong mô hình hợp nhất, đã được pretrain trên lượng dữ liệu lớn hơn hẳn.</a:t>
            </a:r>
            <a:endParaRPr lang="en-US" sz="1100" dirty="0"/>
          </a:p>
        </p:txBody>
      </p:sp>
      <p:sp>
        <p:nvSpPr>
          <p:cNvPr id="36" name="Shape 33"/>
          <p:cNvSpPr/>
          <p:nvPr/>
        </p:nvSpPr>
        <p:spPr>
          <a:xfrm>
            <a:off x="4370832" y="4626864"/>
            <a:ext cx="310896" cy="310896"/>
          </a:xfrm>
          <a:prstGeom prst="ellipse">
            <a:avLst/>
          </a:prstGeom>
          <a:solidFill>
            <a:srgbClr val="B26A00"/>
          </a:solidFill>
          <a:ln/>
        </p:spPr>
        <p:txBody>
          <a:bodyPr/>
          <a:lstStyle/>
          <a:p>
            <a:endParaRPr lang="en-US"/>
          </a:p>
        </p:txBody>
      </p:sp>
      <p:sp>
        <p:nvSpPr>
          <p:cNvPr id="37" name="Text 34"/>
          <p:cNvSpPr/>
          <p:nvPr/>
        </p:nvSpPr>
        <p:spPr>
          <a:xfrm>
            <a:off x="4370832" y="462686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8" name="Text 35"/>
          <p:cNvSpPr/>
          <p:nvPr/>
        </p:nvSpPr>
        <p:spPr>
          <a:xfrm>
            <a:off x="4791456" y="4572000"/>
            <a:ext cx="2962656" cy="859536"/>
          </a:xfrm>
          <a:prstGeom prst="rect">
            <a:avLst/>
          </a:prstGeom>
          <a:noFill/>
          <a:ln/>
        </p:spPr>
        <p:txBody>
          <a:bodyPr wrap="square" lIns="0" tIns="0" rIns="0" bIns="0" rtlCol="0" anchor="ctr"/>
          <a:lstStyle/>
          <a:p>
            <a:pPr marL="0" indent="0">
              <a:lnSpc>
                <a:spcPct val="114000"/>
              </a:lnSpc>
              <a:buNone/>
            </a:pPr>
            <a:r>
              <a:rPr lang="en-US" sz="1100" dirty="0">
                <a:solidFill>
                  <a:srgbClr val="4F637B"/>
                </a:solidFill>
                <a:latin typeface="Calibri" pitchFamily="34" charset="0"/>
                <a:ea typeface="Calibri" pitchFamily="34" charset="-122"/>
                <a:cs typeface="Calibri" pitchFamily="34" charset="-120"/>
              </a:rPr>
              <a:t>Decoder là LLM y khoa có tri thức nền, không còn là GPT-2 124M rỗng kiến thức.</a:t>
            </a:r>
            <a:endParaRPr lang="en-US" sz="1100" dirty="0"/>
          </a:p>
        </p:txBody>
      </p:sp>
      <p:sp>
        <p:nvSpPr>
          <p:cNvPr id="39" name="Shape 36"/>
          <p:cNvSpPr/>
          <p:nvPr/>
        </p:nvSpPr>
        <p:spPr>
          <a:xfrm>
            <a:off x="7900416" y="4626864"/>
            <a:ext cx="310896" cy="310896"/>
          </a:xfrm>
          <a:prstGeom prst="ellipse">
            <a:avLst/>
          </a:prstGeom>
          <a:solidFill>
            <a:srgbClr val="6B33C7"/>
          </a:solidFill>
          <a:ln/>
        </p:spPr>
        <p:txBody>
          <a:bodyPr/>
          <a:lstStyle/>
          <a:p>
            <a:endParaRPr lang="en-US"/>
          </a:p>
        </p:txBody>
      </p:sp>
      <p:sp>
        <p:nvSpPr>
          <p:cNvPr id="40" name="Text 37"/>
          <p:cNvSpPr/>
          <p:nvPr/>
        </p:nvSpPr>
        <p:spPr>
          <a:xfrm>
            <a:off x="7900416" y="462686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1" name="Text 38"/>
          <p:cNvSpPr/>
          <p:nvPr/>
        </p:nvSpPr>
        <p:spPr>
          <a:xfrm>
            <a:off x="8321040" y="4572000"/>
            <a:ext cx="2962656" cy="859536"/>
          </a:xfrm>
          <a:prstGeom prst="rect">
            <a:avLst/>
          </a:prstGeom>
          <a:noFill/>
          <a:ln/>
        </p:spPr>
        <p:txBody>
          <a:bodyPr wrap="square" lIns="0" tIns="0" rIns="0" bIns="0" rtlCol="0" anchor="ctr"/>
          <a:lstStyle/>
          <a:p>
            <a:pPr marL="0" indent="0">
              <a:lnSpc>
                <a:spcPct val="114000"/>
              </a:lnSpc>
              <a:buNone/>
            </a:pPr>
            <a:r>
              <a:rPr lang="en-US" sz="1100" dirty="0">
                <a:solidFill>
                  <a:srgbClr val="4F637B"/>
                </a:solidFill>
                <a:latin typeface="Calibri" pitchFamily="34" charset="0"/>
                <a:ea typeface="Calibri" pitchFamily="34" charset="-122"/>
                <a:cs typeface="Calibri" pitchFamily="34" charset="-120"/>
              </a:rPr>
              <a:t>Không cần học tăng cường: chất lượng câu mở đến từ tri thức có sẵn chứ không từ tối ưu phần thưởng.</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B26A00"/>
                </a:solidFill>
                <a:latin typeface="Calibri" pitchFamily="34" charset="0"/>
                <a:ea typeface="Calibri" pitchFamily="34" charset="-122"/>
                <a:cs typeface="Calibri" pitchFamily="34" charset="-120"/>
              </a:rPr>
              <a:t>PHẦN 6 · KẾT QUẢ</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Nghịch lý: mô hình lớn hơn lại tổng quát hóa kém hơn</a:t>
            </a:r>
            <a:endParaRPr lang="en-US" sz="2900" dirty="0"/>
          </a:p>
        </p:txBody>
      </p:sp>
      <p:graphicFrame>
        <p:nvGraphicFramePr>
          <p:cNvPr id="5" name="Chart 0"/>
          <p:cNvGraphicFramePr/>
          <p:nvPr/>
        </p:nvGraphicFramePr>
        <p:xfrm>
          <a:off x="566928" y="1463040"/>
          <a:ext cx="6949440" cy="384048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7772400" y="1463040"/>
            <a:ext cx="3858768" cy="1847088"/>
          </a:xfrm>
          <a:prstGeom prst="roundRect">
            <a:avLst>
              <a:gd name="adj" fmla="val 4455"/>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7" name="Shape 3"/>
          <p:cNvSpPr/>
          <p:nvPr/>
        </p:nvSpPr>
        <p:spPr>
          <a:xfrm>
            <a:off x="7973568" y="1664208"/>
            <a:ext cx="329184" cy="329184"/>
          </a:xfrm>
          <a:prstGeom prst="ellipse">
            <a:avLst/>
          </a:prstGeom>
          <a:solidFill>
            <a:srgbClr val="1466C0"/>
          </a:solidFill>
          <a:ln/>
        </p:spPr>
        <p:txBody>
          <a:bodyPr/>
          <a:lstStyle/>
          <a:p>
            <a:endParaRPr lang="en-US"/>
          </a:p>
        </p:txBody>
      </p:sp>
      <p:sp>
        <p:nvSpPr>
          <p:cNvPr id="8" name="Text 4"/>
          <p:cNvSpPr/>
          <p:nvPr/>
        </p:nvSpPr>
        <p:spPr>
          <a:xfrm>
            <a:off x="7973568" y="166420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9" name="Text 5"/>
          <p:cNvSpPr/>
          <p:nvPr/>
        </p:nvSpPr>
        <p:spPr>
          <a:xfrm>
            <a:off x="8430768" y="1645920"/>
            <a:ext cx="2999232"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Gemma 4B thắng nội miền</a:t>
            </a:r>
            <a:endParaRPr lang="en-US" sz="1450" dirty="0"/>
          </a:p>
        </p:txBody>
      </p:sp>
      <p:sp>
        <p:nvSpPr>
          <p:cNvPr id="10" name="Text 6"/>
          <p:cNvSpPr/>
          <p:nvPr/>
        </p:nvSpPr>
        <p:spPr>
          <a:xfrm>
            <a:off x="7973568" y="2103120"/>
            <a:ext cx="3456432" cy="1078992"/>
          </a:xfrm>
          <a:prstGeom prst="rect">
            <a:avLst/>
          </a:prstGeom>
          <a:noFill/>
          <a:ln/>
        </p:spPr>
        <p:txBody>
          <a:bodyPr wrap="square" lIns="0" tIns="0" rIns="0" bIns="0" rtlCol="0" anchor="ctr"/>
          <a:lstStyle/>
          <a:p>
            <a:pPr marL="0" indent="0">
              <a:lnSpc>
                <a:spcPct val="114000"/>
              </a:lnSpc>
              <a:buNone/>
            </a:pPr>
            <a:r>
              <a:rPr lang="en-US" sz="1100" dirty="0">
                <a:solidFill>
                  <a:srgbClr val="4F637B"/>
                </a:solidFill>
                <a:latin typeface="Calibri" pitchFamily="34" charset="0"/>
                <a:ea typeface="Calibri" pitchFamily="34" charset="-122"/>
                <a:cs typeface="Calibri" pitchFamily="34" charset="-120"/>
              </a:rPr>
              <a:t>EM tổng thể 41,46% — cao nhất toàn báo cáo. Nhưng toàn bộ lợi thế đến từ câu đóng: EM Closed 62,95% so với 52,19%. Dung lượng lớn giúp học rất tốt quan hệ nhị phân yes/no của miền train.</a:t>
            </a:r>
            <a:endParaRPr lang="en-US" sz="1100" dirty="0"/>
          </a:p>
        </p:txBody>
      </p:sp>
      <p:sp>
        <p:nvSpPr>
          <p:cNvPr id="11" name="Shape 7"/>
          <p:cNvSpPr/>
          <p:nvPr/>
        </p:nvSpPr>
        <p:spPr>
          <a:xfrm>
            <a:off x="7772400" y="3456432"/>
            <a:ext cx="3858768" cy="1847088"/>
          </a:xfrm>
          <a:prstGeom prst="roundRect">
            <a:avLst>
              <a:gd name="adj" fmla="val 4455"/>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12" name="Shape 8"/>
          <p:cNvSpPr/>
          <p:nvPr/>
        </p:nvSpPr>
        <p:spPr>
          <a:xfrm>
            <a:off x="7973568" y="3657600"/>
            <a:ext cx="329184" cy="329184"/>
          </a:xfrm>
          <a:prstGeom prst="ellipse">
            <a:avLst/>
          </a:prstGeom>
          <a:solidFill>
            <a:srgbClr val="0B8457"/>
          </a:solidFill>
          <a:ln/>
        </p:spPr>
        <p:txBody>
          <a:bodyPr/>
          <a:lstStyle/>
          <a:p>
            <a:endParaRPr lang="en-US"/>
          </a:p>
        </p:txBody>
      </p:sp>
      <p:sp>
        <p:nvSpPr>
          <p:cNvPr id="13" name="Text 9"/>
          <p:cNvSpPr/>
          <p:nvPr/>
        </p:nvSpPr>
        <p:spPr>
          <a:xfrm>
            <a:off x="7973568" y="365760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0"/>
          <p:cNvSpPr/>
          <p:nvPr/>
        </p:nvSpPr>
        <p:spPr>
          <a:xfrm>
            <a:off x="8430768" y="3639312"/>
            <a:ext cx="2999232"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Gemma 2B thắng tập sạch</a:t>
            </a:r>
            <a:endParaRPr lang="en-US" sz="1450" dirty="0"/>
          </a:p>
        </p:txBody>
      </p:sp>
      <p:sp>
        <p:nvSpPr>
          <p:cNvPr id="15" name="Text 11"/>
          <p:cNvSpPr/>
          <p:nvPr/>
        </p:nvSpPr>
        <p:spPr>
          <a:xfrm>
            <a:off x="7973568" y="4096512"/>
            <a:ext cx="3456432" cy="1078992"/>
          </a:xfrm>
          <a:prstGeom prst="rect">
            <a:avLst/>
          </a:prstGeom>
          <a:noFill/>
          <a:ln/>
        </p:spPr>
        <p:txBody>
          <a:bodyPr wrap="square" lIns="0" tIns="0" rIns="0" bIns="0" rtlCol="0" anchor="ctr"/>
          <a:lstStyle/>
          <a:p>
            <a:pPr marL="0" indent="0">
              <a:lnSpc>
                <a:spcPct val="114000"/>
              </a:lnSpc>
              <a:buNone/>
            </a:pPr>
            <a:r>
              <a:rPr lang="en-US" sz="1100" dirty="0">
                <a:solidFill>
                  <a:srgbClr val="4F637B"/>
                </a:solidFill>
                <a:latin typeface="Calibri" pitchFamily="34" charset="0"/>
                <a:ea typeface="Calibri" pitchFamily="34" charset="-122"/>
                <a:cs typeface="Calibri" pitchFamily="34" charset="-120"/>
              </a:rPr>
              <a:t>Trên RadImageNet-VQA, bản nhỏ hơn dẫn trước ở mọi cột: 30,20% so với 25,00% EM tổng thể, 53,60% so với 46,40% câu đóng, 6,80% so với 3,60% câu mở, sem_open 0,3986 so với 0,3139.</a:t>
            </a:r>
            <a:endParaRPr lang="en-US" sz="1100" dirty="0"/>
          </a:p>
        </p:txBody>
      </p:sp>
      <p:sp>
        <p:nvSpPr>
          <p:cNvPr id="16" name="Text 12"/>
          <p:cNvSpPr/>
          <p:nvPr/>
        </p:nvSpPr>
        <p:spPr>
          <a:xfrm>
            <a:off x="566928" y="5413248"/>
            <a:ext cx="11057839" cy="475488"/>
          </a:xfrm>
          <a:prstGeom prst="rect">
            <a:avLst/>
          </a:prstGeom>
          <a:noFill/>
          <a:ln/>
        </p:spPr>
        <p:txBody>
          <a:bodyPr wrap="square" lIns="0" tIns="0" rIns="0" bIns="0" rtlCol="0" anchor="ctr"/>
          <a:lstStyle/>
          <a:p>
            <a:pPr marL="0" indent="0">
              <a:lnSpc>
                <a:spcPct val="114000"/>
              </a:lnSpc>
              <a:buNone/>
            </a:pPr>
            <a:r>
              <a:rPr lang="en-US" sz="1200" i="1" dirty="0">
                <a:solidFill>
                  <a:srgbClr val="B26A00"/>
                </a:solidFill>
                <a:latin typeface="Calibri" pitchFamily="34" charset="0"/>
                <a:ea typeface="Calibri" pitchFamily="34" charset="-122"/>
                <a:cs typeface="Calibri" pitchFamily="34" charset="-120"/>
              </a:rPr>
              <a:t>Cách hiểu: gemma_4 có 41,2M tham số LoRA so với 29,8M của gemma_2. Trên một tập train quá nhỏ, phần dung lượng dư thừa đó biến thành trí nhớ về ảnh VQA-RAD chứ không thành năng lực tổng quát. Khi gặp bệnh nhân mới, phần trí nhớ ấy vô dụng.</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7 · TỔNG HỢP</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Toàn bộ mô hình trên VQA-RAD (nội miền, rò rỉ 99,51%)</a:t>
            </a:r>
            <a:endParaRPr lang="en-US" sz="29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5096" cy="3675888"/>
        </p:xfrm>
        <a:graphic>
          <a:graphicData uri="http://schemas.openxmlformats.org/drawingml/2006/table">
            <a:tbl>
              <a:tblPr/>
              <a:tblGrid>
                <a:gridCol w="269748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234440">
                  <a:extLst>
                    <a:ext uri="{9D8B030D-6E8A-4147-A177-3AD203B41FA5}">
                      <a16:colId xmlns:a16="http://schemas.microsoft.com/office/drawing/2014/main" val="20006"/>
                    </a:ext>
                  </a:extLst>
                </a:gridCol>
                <a:gridCol w="1453896">
                  <a:extLst>
                    <a:ext uri="{9D8B030D-6E8A-4147-A177-3AD203B41FA5}">
                      <a16:colId xmlns:a16="http://schemas.microsoft.com/office/drawing/2014/main" val="20007"/>
                    </a:ext>
                  </a:extLst>
                </a:gridCol>
              </a:tblGrid>
              <a:tr h="306324">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Cấu hình mô hình</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Kiểu</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EM Overall</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EM Closed</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EM Open</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F1 Open</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sem_open</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Clinical AUC</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extLst>
                  <a:ext uri="{0D108BD9-81ED-4DB2-BD59-A6C34878D82A}">
                    <a16:rowId xmlns:a16="http://schemas.microsoft.com/office/drawing/2014/main" val="10000"/>
                  </a:ext>
                </a:extLst>
              </a:tr>
              <a:tr h="306324">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P_pubmed_gpt2 (Baseline)</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SFT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34,15%</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54,18%</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9,00%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17,69%</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0,3480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0,5592</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1"/>
                  </a:ext>
                </a:extLst>
              </a:tr>
              <a:tr h="306324">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P_pubmed_mlp (Baseline)</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SFT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32,15%</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52,19%</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7,00%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9,45%</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0,2836</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0,5432</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2"/>
                  </a:ext>
                </a:extLst>
              </a:tr>
              <a:tr h="306324">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P_resnet_trans (Best MLP)</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SFT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1" dirty="0">
                          <a:solidFill>
                            <a:srgbClr val="B26A00"/>
                          </a:solidFill>
                          <a:latin typeface="Calibri" pitchFamily="34" charset="0"/>
                          <a:ea typeface="Calibri" pitchFamily="34" charset="-122"/>
                          <a:cs typeface="Calibri" pitchFamily="34" charset="-120"/>
                        </a:rPr>
                        <a:t>38,80%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60,16%</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12,00%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16,83%</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0,3432</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1" dirty="0">
                          <a:solidFill>
                            <a:srgbClr val="0B8457"/>
                          </a:solidFill>
                          <a:latin typeface="Calibri" pitchFamily="34" charset="0"/>
                          <a:ea typeface="Calibri" pitchFamily="34" charset="-122"/>
                          <a:cs typeface="Calibri" pitchFamily="34" charset="-120"/>
                        </a:rPr>
                        <a:t>0,6745</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3"/>
                  </a:ext>
                </a:extLst>
              </a:tr>
              <a:tr h="306324">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R_constrained (Baseline)</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34,37%</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54,58%</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9,00%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17,69%</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0,3480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0,5592</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4"/>
                  </a:ext>
                </a:extLst>
              </a:tr>
              <a:tr h="306324">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D1_scst (Baseline)</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RL</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34,37%</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54,58%</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9,00%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17,69%</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0,3480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0,5592</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5"/>
                  </a:ext>
                </a:extLst>
              </a:tr>
              <a:tr h="306324">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Q_pooled (1 token)</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SFT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33,26%</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55,38%</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5,50%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12,50%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0,3048</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0,5789</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6"/>
                  </a:ext>
                </a:extLst>
              </a:tr>
              <a:tr h="306324">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Q_qformer (Greedy)</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SFT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35,25%</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54,98%</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10,50%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17,25%</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0,3427</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0,5628</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7"/>
                  </a:ext>
                </a:extLst>
              </a:tr>
              <a:tr h="306324">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Q_qformer (Beam)</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SFT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34,15%</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54,98%</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8,00%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12,83%</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0,3174</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0,5628</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8"/>
                  </a:ext>
                </a:extLst>
              </a:tr>
              <a:tr h="306324">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D_semantic (RL ngữ nghĩa)</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RL</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35,25%</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54,98%</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10,50%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17,25%</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0,3427</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0,5628</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9"/>
                  </a:ext>
                </a:extLst>
              </a:tr>
              <a:tr h="306324">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gemma_2_lora_E2b</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LoRA</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37,92%</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52,19%</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b="1" dirty="0">
                          <a:solidFill>
                            <a:srgbClr val="0B8457"/>
                          </a:solidFill>
                          <a:latin typeface="Calibri" pitchFamily="34" charset="0"/>
                          <a:ea typeface="Calibri" pitchFamily="34" charset="-122"/>
                          <a:cs typeface="Calibri" pitchFamily="34" charset="-120"/>
                        </a:rPr>
                        <a:t>20,00%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b="1" dirty="0">
                          <a:solidFill>
                            <a:srgbClr val="0B8457"/>
                          </a:solidFill>
                          <a:latin typeface="Calibri" pitchFamily="34" charset="0"/>
                          <a:ea typeface="Calibri" pitchFamily="34" charset="-122"/>
                          <a:cs typeface="Calibri" pitchFamily="34" charset="-120"/>
                        </a:rPr>
                        <a:t>29,58%</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b="1" dirty="0">
                          <a:solidFill>
                            <a:srgbClr val="0B8457"/>
                          </a:solidFill>
                          <a:latin typeface="Calibri" pitchFamily="34" charset="0"/>
                          <a:ea typeface="Calibri" pitchFamily="34" charset="-122"/>
                          <a:cs typeface="Calibri" pitchFamily="34" charset="-120"/>
                        </a:rPr>
                        <a:t>0,5112</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0,6285</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10"/>
                  </a:ext>
                </a:extLst>
              </a:tr>
              <a:tr h="306324">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gemma_4_lora_E4b</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LoRA</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1" dirty="0">
                          <a:solidFill>
                            <a:srgbClr val="0B8457"/>
                          </a:solidFill>
                          <a:latin typeface="Calibri" pitchFamily="34" charset="0"/>
                          <a:ea typeface="Calibri" pitchFamily="34" charset="-122"/>
                          <a:cs typeface="Calibri" pitchFamily="34" charset="-120"/>
                        </a:rPr>
                        <a:t>41,46%</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1" dirty="0">
                          <a:solidFill>
                            <a:srgbClr val="0B8457"/>
                          </a:solidFill>
                          <a:latin typeface="Calibri" pitchFamily="34" charset="0"/>
                          <a:ea typeface="Calibri" pitchFamily="34" charset="-122"/>
                          <a:cs typeface="Calibri" pitchFamily="34" charset="-120"/>
                        </a:rPr>
                        <a:t>62,95%</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14,50%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22,56%</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0,4367</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1" dirty="0">
                          <a:solidFill>
                            <a:srgbClr val="B26A00"/>
                          </a:solidFill>
                          <a:latin typeface="Calibri" pitchFamily="34" charset="0"/>
                          <a:ea typeface="Calibri" pitchFamily="34" charset="-122"/>
                          <a:cs typeface="Calibri" pitchFamily="34" charset="-120"/>
                        </a:rPr>
                        <a:t>0,6359</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11"/>
                  </a:ext>
                </a:extLst>
              </a:tr>
            </a:tbl>
          </a:graphicData>
        </a:graphic>
      </p:graphicFrame>
      <p:sp>
        <p:nvSpPr>
          <p:cNvPr id="6" name="Text 2"/>
          <p:cNvSpPr/>
          <p:nvPr/>
        </p:nvSpPr>
        <p:spPr>
          <a:xfrm>
            <a:off x="566928" y="5248656"/>
            <a:ext cx="11057839" cy="658368"/>
          </a:xfrm>
          <a:prstGeom prst="rect">
            <a:avLst/>
          </a:prstGeom>
          <a:noFill/>
          <a:ln/>
        </p:spPr>
        <p:txBody>
          <a:bodyPr wrap="square" lIns="0" tIns="0" rIns="0" bIns="0" rtlCol="0" anchor="ctr"/>
          <a:lstStyle/>
          <a:p>
            <a:pPr marL="0" indent="0">
              <a:lnSpc>
                <a:spcPct val="114000"/>
              </a:lnSpc>
              <a:buNone/>
            </a:pPr>
            <a:r>
              <a:rPr lang="en-US" sz="1100" i="1" dirty="0">
                <a:solidFill>
                  <a:srgbClr val="8494A8"/>
                </a:solidFill>
                <a:latin typeface="Calibri" pitchFamily="34" charset="0"/>
                <a:ea typeface="Calibri" pitchFamily="34" charset="-122"/>
                <a:cs typeface="Calibri" pitchFamily="34" charset="-120"/>
              </a:rPr>
              <a:t>Xanh = tốt nhất cột, vàng = hạng nhì.   </a:t>
            </a:r>
            <a:r>
              <a:rPr lang="en-US" sz="1100" dirty="0">
                <a:solidFill>
                  <a:srgbClr val="4F637B"/>
                </a:solidFill>
                <a:latin typeface="Calibri" pitchFamily="34" charset="0"/>
                <a:ea typeface="Calibri" pitchFamily="34" charset="-122"/>
                <a:cs typeface="Calibri" pitchFamily="34" charset="-120"/>
              </a:rPr>
              <a:t>Đọc bảng này cùng cảnh báo: sàn tham chiếu là 27,83% và khoảng tin cậy khoảng ±4,5 điểm, nên phần lớn chênh lệch ở cột EM Overall không có ý nghĩa thống kê. Cột đáng tin nhất để phân biệt mô hình là EM Open và sem_open — nơi Gemma bỏ xa toàn bộ nhánh GPT-2.</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0B8457"/>
                </a:solidFill>
                <a:latin typeface="Calibri" pitchFamily="34" charset="0"/>
                <a:ea typeface="Calibri" pitchFamily="34" charset="-122"/>
                <a:cs typeface="Calibri" pitchFamily="34" charset="-120"/>
              </a:rPr>
              <a:t>PHẦN 7 · TỔNG HỢP</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Toàn bộ mô hình trên RadImageNet-VQA (tập sạch, 0% rò rỉ)</a:t>
            </a:r>
            <a:endParaRPr lang="en-US" sz="29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5096" cy="3369564"/>
        </p:xfrm>
        <a:graphic>
          <a:graphicData uri="http://schemas.openxmlformats.org/drawingml/2006/table">
            <a:tbl>
              <a:tblPr/>
              <a:tblGrid>
                <a:gridCol w="269748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234440">
                  <a:extLst>
                    <a:ext uri="{9D8B030D-6E8A-4147-A177-3AD203B41FA5}">
                      <a16:colId xmlns:a16="http://schemas.microsoft.com/office/drawing/2014/main" val="20006"/>
                    </a:ext>
                  </a:extLst>
                </a:gridCol>
                <a:gridCol w="1453896">
                  <a:extLst>
                    <a:ext uri="{9D8B030D-6E8A-4147-A177-3AD203B41FA5}">
                      <a16:colId xmlns:a16="http://schemas.microsoft.com/office/drawing/2014/main" val="20007"/>
                    </a:ext>
                  </a:extLst>
                </a:gridCol>
              </a:tblGrid>
              <a:tr h="306324">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Cấu hình mô hình</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Kiểu</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EM Overall</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EM Closed</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EM Open</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F1 Open</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sem_open</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Clinical AUC</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1466C0"/>
                    </a:solidFill>
                  </a:tcPr>
                </a:tc>
                <a:extLst>
                  <a:ext uri="{0D108BD9-81ED-4DB2-BD59-A6C34878D82A}">
                    <a16:rowId xmlns:a16="http://schemas.microsoft.com/office/drawing/2014/main" val="10000"/>
                  </a:ext>
                </a:extLst>
              </a:tr>
              <a:tr h="306324">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P_pubmed_gpt2 (Baseline)</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SFT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25,60%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50,80%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0,40%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0,67%</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0,2055</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0,5235</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1"/>
                  </a:ext>
                </a:extLst>
              </a:tr>
              <a:tr h="306324">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P_pubmed_gpt2 (Tuned)</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SFT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25,80%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51,60%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2,91%</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0,2306</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0,5151</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2"/>
                  </a:ext>
                </a:extLst>
              </a:tr>
              <a:tr h="306324">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P_pubmed_mlp (Baseline)</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SFT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24,40%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48,80%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0,2191</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0,5415</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3"/>
                  </a:ext>
                </a:extLst>
              </a:tr>
              <a:tr h="306324">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P_resnet_trans (Best MLP)</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SFT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b="1" dirty="0">
                          <a:solidFill>
                            <a:srgbClr val="B26A00"/>
                          </a:solidFill>
                          <a:latin typeface="Calibri" pitchFamily="34" charset="0"/>
                          <a:ea typeface="Calibri" pitchFamily="34" charset="-122"/>
                          <a:cs typeface="Calibri" pitchFamily="34" charset="-120"/>
                        </a:rPr>
                        <a:t>27,00%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52,40%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1,60%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1,60%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0,2184</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0,4923</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4"/>
                  </a:ext>
                </a:extLst>
              </a:tr>
              <a:tr h="306324">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D1_scst (Tuned)</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RL</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26,00%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52,00%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0,31%</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0,1898</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0,5183</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5"/>
                  </a:ext>
                </a:extLst>
              </a:tr>
              <a:tr h="306324">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Q_pooled (1 token)</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SFT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25,80%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51,60%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2,91%</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0,2306</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0,5151</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6"/>
                  </a:ext>
                </a:extLst>
              </a:tr>
              <a:tr h="306324">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Q_qformer (Greedy)</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SFT</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C62828"/>
                          </a:solidFill>
                          <a:latin typeface="Calibri" pitchFamily="34" charset="0"/>
                          <a:ea typeface="Calibri" pitchFamily="34" charset="-122"/>
                          <a:cs typeface="Calibri" pitchFamily="34" charset="-120"/>
                        </a:rPr>
                        <a:t>23,60%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C62828"/>
                          </a:solidFill>
                          <a:latin typeface="Calibri" pitchFamily="34" charset="0"/>
                          <a:ea typeface="Calibri" pitchFamily="34" charset="-122"/>
                          <a:cs typeface="Calibri" pitchFamily="34" charset="-120"/>
                        </a:rPr>
                        <a:t>47,20%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0,20%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0,2039</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0,4756</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7"/>
                  </a:ext>
                </a:extLst>
              </a:tr>
              <a:tr h="306324">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D_semantic (RL ngữ nghĩa)</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RL</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C62828"/>
                          </a:solidFill>
                          <a:latin typeface="Calibri" pitchFamily="34" charset="0"/>
                          <a:ea typeface="Calibri" pitchFamily="34" charset="-122"/>
                          <a:cs typeface="Calibri" pitchFamily="34" charset="-120"/>
                        </a:rPr>
                        <a:t>23,60%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C62828"/>
                          </a:solidFill>
                          <a:latin typeface="Calibri" pitchFamily="34" charset="0"/>
                          <a:ea typeface="Calibri" pitchFamily="34" charset="-122"/>
                          <a:cs typeface="Calibri" pitchFamily="34" charset="-120"/>
                        </a:rPr>
                        <a:t>47,20%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0,20%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0,2039</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0,4756</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08"/>
                  </a:ext>
                </a:extLst>
              </a:tr>
              <a:tr h="306324">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gemma_2_lora_E2b</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LoRA</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1" dirty="0">
                          <a:solidFill>
                            <a:srgbClr val="0B8457"/>
                          </a:solidFill>
                          <a:latin typeface="Calibri" pitchFamily="34" charset="0"/>
                          <a:ea typeface="Calibri" pitchFamily="34" charset="-122"/>
                          <a:cs typeface="Calibri" pitchFamily="34" charset="-120"/>
                        </a:rPr>
                        <a:t>30,20%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1" dirty="0">
                          <a:solidFill>
                            <a:srgbClr val="0B8457"/>
                          </a:solidFill>
                          <a:latin typeface="Calibri" pitchFamily="34" charset="0"/>
                          <a:ea typeface="Calibri" pitchFamily="34" charset="-122"/>
                          <a:cs typeface="Calibri" pitchFamily="34" charset="-120"/>
                        </a:rPr>
                        <a:t>53,60%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1" dirty="0">
                          <a:solidFill>
                            <a:srgbClr val="0B8457"/>
                          </a:solidFill>
                          <a:latin typeface="Calibri" pitchFamily="34" charset="0"/>
                          <a:ea typeface="Calibri" pitchFamily="34" charset="-122"/>
                          <a:cs typeface="Calibri" pitchFamily="34" charset="-120"/>
                        </a:rPr>
                        <a:t>6,80%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1" dirty="0">
                          <a:solidFill>
                            <a:srgbClr val="0B8457"/>
                          </a:solidFill>
                          <a:latin typeface="Calibri" pitchFamily="34" charset="0"/>
                          <a:ea typeface="Calibri" pitchFamily="34" charset="-122"/>
                          <a:cs typeface="Calibri" pitchFamily="34" charset="-120"/>
                        </a:rPr>
                        <a:t>8,34%</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1" dirty="0">
                          <a:solidFill>
                            <a:srgbClr val="0B8457"/>
                          </a:solidFill>
                          <a:latin typeface="Calibri" pitchFamily="34" charset="0"/>
                          <a:ea typeface="Calibri" pitchFamily="34" charset="-122"/>
                          <a:cs typeface="Calibri" pitchFamily="34" charset="-120"/>
                        </a:rPr>
                        <a:t>0,3986</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tc>
                  <a:txBody>
                    <a:bodyPr/>
                    <a:lstStyle/>
                    <a:p>
                      <a:pPr marL="0" indent="0" algn="ctr">
                        <a:buNone/>
                      </a:pPr>
                      <a:r>
                        <a:rPr lang="en-US" sz="1000" b="1" dirty="0">
                          <a:solidFill>
                            <a:srgbClr val="0B8457"/>
                          </a:solidFill>
                          <a:latin typeface="Calibri" pitchFamily="34" charset="0"/>
                          <a:ea typeface="Calibri" pitchFamily="34" charset="-122"/>
                          <a:cs typeface="Calibri" pitchFamily="34" charset="-120"/>
                        </a:rPr>
                        <a:t>0,6684</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F4F8FC"/>
                    </a:solidFill>
                  </a:tcPr>
                </a:tc>
                <a:extLst>
                  <a:ext uri="{0D108BD9-81ED-4DB2-BD59-A6C34878D82A}">
                    <a16:rowId xmlns:a16="http://schemas.microsoft.com/office/drawing/2014/main" val="10009"/>
                  </a:ext>
                </a:extLst>
              </a:tr>
              <a:tr h="306324">
                <a:tc>
                  <a:txBody>
                    <a:bodyPr/>
                    <a:lstStyle/>
                    <a:p>
                      <a:pPr marL="0" indent="0" algn="l">
                        <a:buNone/>
                      </a:pPr>
                      <a:r>
                        <a:rPr lang="en-US" sz="1000" b="1" dirty="0">
                          <a:solidFill>
                            <a:srgbClr val="14243A"/>
                          </a:solidFill>
                          <a:latin typeface="Calibri" pitchFamily="34" charset="0"/>
                          <a:ea typeface="Calibri" pitchFamily="34" charset="-122"/>
                          <a:cs typeface="Calibri" pitchFamily="34" charset="-120"/>
                        </a:rPr>
                        <a:t>gemma_4_lora_E4b</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LoRA</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25,00%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C62828"/>
                          </a:solidFill>
                          <a:latin typeface="Calibri" pitchFamily="34" charset="0"/>
                          <a:ea typeface="Calibri" pitchFamily="34" charset="-122"/>
                          <a:cs typeface="Calibri" pitchFamily="34" charset="-120"/>
                        </a:rPr>
                        <a:t>46,40%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3,60%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3,60%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4F637B"/>
                          </a:solidFill>
                          <a:latin typeface="Calibri" pitchFamily="34" charset="0"/>
                          <a:ea typeface="Calibri" pitchFamily="34" charset="-122"/>
                          <a:cs typeface="Calibri" pitchFamily="34" charset="-120"/>
                        </a:rPr>
                        <a:t>0,3139</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tc>
                  <a:txBody>
                    <a:bodyPr/>
                    <a:lstStyle/>
                    <a:p>
                      <a:pPr marL="0" indent="0" algn="ctr">
                        <a:buNone/>
                      </a:pPr>
                      <a:r>
                        <a:rPr lang="en-US" sz="1000" dirty="0">
                          <a:solidFill>
                            <a:srgbClr val="C62828"/>
                          </a:solidFill>
                          <a:latin typeface="Calibri" pitchFamily="34" charset="0"/>
                          <a:ea typeface="Calibri" pitchFamily="34" charset="-122"/>
                          <a:cs typeface="Calibri" pitchFamily="34" charset="-120"/>
                        </a:rPr>
                        <a:t>0,4770</a:t>
                      </a:r>
                      <a:endParaRPr lang="en-US" sz="1000" dirty="0">
                        <a:latin typeface="Calibri" charset="0"/>
                        <a:ea typeface="Calibri" charset="0"/>
                        <a:cs typeface="Calibri" charset="0"/>
                      </a:endParaRPr>
                    </a:p>
                  </a:txBody>
                  <a:tcPr anchor="ctr">
                    <a:lnL w="9525" cap="flat" cmpd="sng" algn="ctr">
                      <a:solidFill>
                        <a:srgbClr val="D3DEEA"/>
                      </a:solidFill>
                      <a:prstDash val="solid"/>
                      <a:round/>
                      <a:headEnd type="none" w="med" len="med"/>
                      <a:tailEnd type="none" w="med" len="med"/>
                    </a:lnL>
                    <a:lnR w="9525" cap="flat" cmpd="sng" algn="ctr">
                      <a:solidFill>
                        <a:srgbClr val="D3DEEA"/>
                      </a:solidFill>
                      <a:prstDash val="solid"/>
                      <a:round/>
                      <a:headEnd type="none" w="med" len="med"/>
                      <a:tailEnd type="none" w="med" len="med"/>
                    </a:lnR>
                    <a:lnT w="9525" cap="flat" cmpd="sng" algn="ctr">
                      <a:solidFill>
                        <a:srgbClr val="D3DEEA"/>
                      </a:solidFill>
                      <a:prstDash val="solid"/>
                      <a:round/>
                      <a:headEnd type="none" w="med" len="med"/>
                      <a:tailEnd type="none" w="med" len="med"/>
                    </a:lnT>
                    <a:lnB w="9525" cap="flat" cmpd="sng" algn="ctr">
                      <a:solidFill>
                        <a:srgbClr val="D3DEEA"/>
                      </a:solidFill>
                      <a:prstDash val="solid"/>
                      <a:round/>
                      <a:headEnd type="none" w="med" len="med"/>
                      <a:tailEnd type="none" w="med" len="med"/>
                    </a:lnB>
                    <a:solidFill>
                      <a:srgbClr val="E7F0FB"/>
                    </a:solidFill>
                  </a:tcPr>
                </a:tc>
                <a:extLst>
                  <a:ext uri="{0D108BD9-81ED-4DB2-BD59-A6C34878D82A}">
                    <a16:rowId xmlns:a16="http://schemas.microsoft.com/office/drawing/2014/main" val="10010"/>
                  </a:ext>
                </a:extLst>
              </a:tr>
            </a:tbl>
          </a:graphicData>
        </a:graphic>
      </p:graphicFrame>
      <p:sp>
        <p:nvSpPr>
          <p:cNvPr id="6" name="Text 2"/>
          <p:cNvSpPr/>
          <p:nvPr/>
        </p:nvSpPr>
        <p:spPr>
          <a:xfrm>
            <a:off x="566928" y="4956048"/>
            <a:ext cx="3520440" cy="420624"/>
          </a:xfrm>
          <a:prstGeom prst="rect">
            <a:avLst/>
          </a:prstGeom>
          <a:noFill/>
          <a:ln/>
        </p:spPr>
        <p:txBody>
          <a:bodyPr wrap="square" lIns="0" tIns="0" rIns="0" bIns="0" rtlCol="0" anchor="ctr"/>
          <a:lstStyle/>
          <a:p>
            <a:pPr marL="0" indent="0">
              <a:buNone/>
            </a:pPr>
            <a:r>
              <a:rPr lang="en-US" sz="2600" b="1" dirty="0">
                <a:solidFill>
                  <a:srgbClr val="0B8457"/>
                </a:solidFill>
                <a:latin typeface="Cambria" pitchFamily="34" charset="0"/>
                <a:ea typeface="Cambria" pitchFamily="34" charset="-122"/>
                <a:cs typeface="Cambria" pitchFamily="34" charset="-120"/>
              </a:rPr>
              <a:t>30,20%</a:t>
            </a:r>
            <a:endParaRPr lang="en-US" sz="2600" dirty="0"/>
          </a:p>
        </p:txBody>
      </p:sp>
      <p:sp>
        <p:nvSpPr>
          <p:cNvPr id="7" name="Text 3"/>
          <p:cNvSpPr/>
          <p:nvPr/>
        </p:nvSpPr>
        <p:spPr>
          <a:xfrm>
            <a:off x="566928" y="5413248"/>
            <a:ext cx="3520440" cy="420624"/>
          </a:xfrm>
          <a:prstGeom prst="rect">
            <a:avLst/>
          </a:prstGeom>
          <a:noFill/>
          <a:ln/>
        </p:spPr>
        <p:txBody>
          <a:bodyPr wrap="square" lIns="0" tIns="0" rIns="0" bIns="0" rtlCol="0" anchor="ctr"/>
          <a:lstStyle/>
          <a:p>
            <a:pPr marL="0" indent="0">
              <a:lnSpc>
                <a:spcPct val="110000"/>
              </a:lnSpc>
              <a:buNone/>
            </a:pPr>
            <a:r>
              <a:rPr lang="en-US" sz="1100" dirty="0">
                <a:solidFill>
                  <a:srgbClr val="4F637B"/>
                </a:solidFill>
                <a:latin typeface="Calibri" pitchFamily="34" charset="0"/>
                <a:ea typeface="Calibri" pitchFamily="34" charset="-122"/>
                <a:cs typeface="Calibri" pitchFamily="34" charset="-120"/>
              </a:rPr>
              <a:t>kỷ lục mới trên tập sạch</a:t>
            </a:r>
            <a:endParaRPr lang="en-US" sz="1100" dirty="0"/>
          </a:p>
          <a:p>
            <a:pPr marL="0" indent="0">
              <a:lnSpc>
                <a:spcPct val="110000"/>
              </a:lnSpc>
              <a:buNone/>
            </a:pPr>
            <a:r>
              <a:rPr lang="en-US" sz="1100" dirty="0">
                <a:solidFill>
                  <a:srgbClr val="4F637B"/>
                </a:solidFill>
                <a:latin typeface="Calibri" pitchFamily="34" charset="0"/>
                <a:ea typeface="Calibri" pitchFamily="34" charset="-122"/>
                <a:cs typeface="Calibri" pitchFamily="34" charset="-120"/>
              </a:rPr>
              <a:t>— gemma_2_lora_E2b</a:t>
            </a:r>
            <a:endParaRPr lang="en-US" sz="1100" dirty="0"/>
          </a:p>
        </p:txBody>
      </p:sp>
      <p:sp>
        <p:nvSpPr>
          <p:cNvPr id="8" name="Text 4"/>
          <p:cNvSpPr/>
          <p:nvPr/>
        </p:nvSpPr>
        <p:spPr>
          <a:xfrm>
            <a:off x="4270248" y="4956048"/>
            <a:ext cx="3520440" cy="420624"/>
          </a:xfrm>
          <a:prstGeom prst="rect">
            <a:avLst/>
          </a:prstGeom>
          <a:noFill/>
          <a:ln/>
        </p:spPr>
        <p:txBody>
          <a:bodyPr wrap="square" lIns="0" tIns="0" rIns="0" bIns="0" rtlCol="0" anchor="ctr"/>
          <a:lstStyle/>
          <a:p>
            <a:pPr marL="0" indent="0">
              <a:buNone/>
            </a:pPr>
            <a:r>
              <a:rPr lang="en-US" sz="2600" b="1" dirty="0">
                <a:solidFill>
                  <a:srgbClr val="C62828"/>
                </a:solidFill>
                <a:latin typeface="Cambria" pitchFamily="34" charset="0"/>
                <a:ea typeface="Cambria" pitchFamily="34" charset="-122"/>
                <a:cs typeface="Cambria" pitchFamily="34" charset="-120"/>
              </a:rPr>
              <a:t>≈ 0%</a:t>
            </a:r>
            <a:endParaRPr lang="en-US" sz="2600" dirty="0"/>
          </a:p>
        </p:txBody>
      </p:sp>
      <p:sp>
        <p:nvSpPr>
          <p:cNvPr id="9" name="Text 5"/>
          <p:cNvSpPr/>
          <p:nvPr/>
        </p:nvSpPr>
        <p:spPr>
          <a:xfrm>
            <a:off x="4270248" y="5413248"/>
            <a:ext cx="3520440" cy="420624"/>
          </a:xfrm>
          <a:prstGeom prst="rect">
            <a:avLst/>
          </a:prstGeom>
          <a:noFill/>
          <a:ln/>
        </p:spPr>
        <p:txBody>
          <a:bodyPr wrap="square" lIns="0" tIns="0" rIns="0" bIns="0" rtlCol="0" anchor="ctr"/>
          <a:lstStyle/>
          <a:p>
            <a:pPr marL="0" indent="0">
              <a:lnSpc>
                <a:spcPct val="110000"/>
              </a:lnSpc>
              <a:buNone/>
            </a:pPr>
            <a:r>
              <a:rPr lang="en-US" sz="1100" dirty="0">
                <a:solidFill>
                  <a:srgbClr val="4F637B"/>
                </a:solidFill>
                <a:latin typeface="Calibri" pitchFamily="34" charset="0"/>
                <a:ea typeface="Calibri" pitchFamily="34" charset="-122"/>
                <a:cs typeface="Calibri" pitchFamily="34" charset="-120"/>
              </a:rPr>
              <a:t>EM Open của toàn bộ</a:t>
            </a:r>
            <a:endParaRPr lang="en-US" sz="1100" dirty="0"/>
          </a:p>
          <a:p>
            <a:pPr marL="0" indent="0">
              <a:lnSpc>
                <a:spcPct val="110000"/>
              </a:lnSpc>
              <a:buNone/>
            </a:pPr>
            <a:r>
              <a:rPr lang="en-US" sz="1100" dirty="0">
                <a:solidFill>
                  <a:srgbClr val="4F637B"/>
                </a:solidFill>
                <a:latin typeface="Calibri" pitchFamily="34" charset="0"/>
                <a:ea typeface="Calibri" pitchFamily="34" charset="-122"/>
                <a:cs typeface="Calibri" pitchFamily="34" charset="-120"/>
              </a:rPr>
              <a:t>nhánh GPT-2 khi ra tập sạch</a:t>
            </a:r>
            <a:endParaRPr lang="en-US" sz="1100" dirty="0"/>
          </a:p>
        </p:txBody>
      </p:sp>
      <p:sp>
        <p:nvSpPr>
          <p:cNvPr id="10" name="Text 6"/>
          <p:cNvSpPr/>
          <p:nvPr/>
        </p:nvSpPr>
        <p:spPr>
          <a:xfrm>
            <a:off x="7973568" y="4956048"/>
            <a:ext cx="3520440" cy="420624"/>
          </a:xfrm>
          <a:prstGeom prst="rect">
            <a:avLst/>
          </a:prstGeom>
          <a:noFill/>
          <a:ln/>
        </p:spPr>
        <p:txBody>
          <a:bodyPr wrap="square" lIns="0" tIns="0" rIns="0" bIns="0" rtlCol="0" anchor="ctr"/>
          <a:lstStyle/>
          <a:p>
            <a:pPr marL="0" indent="0">
              <a:buNone/>
            </a:pPr>
            <a:r>
              <a:rPr lang="en-US" sz="2600" b="1" dirty="0">
                <a:solidFill>
                  <a:srgbClr val="0B8457"/>
                </a:solidFill>
                <a:latin typeface="Cambria" pitchFamily="34" charset="0"/>
                <a:ea typeface="Cambria" pitchFamily="34" charset="-122"/>
                <a:cs typeface="Cambria" pitchFamily="34" charset="-120"/>
              </a:rPr>
              <a:t>0,3986</a:t>
            </a:r>
            <a:endParaRPr lang="en-US" sz="2600" dirty="0"/>
          </a:p>
        </p:txBody>
      </p:sp>
      <p:sp>
        <p:nvSpPr>
          <p:cNvPr id="11" name="Text 7"/>
          <p:cNvSpPr/>
          <p:nvPr/>
        </p:nvSpPr>
        <p:spPr>
          <a:xfrm>
            <a:off x="7973568" y="5413248"/>
            <a:ext cx="3520440" cy="420624"/>
          </a:xfrm>
          <a:prstGeom prst="rect">
            <a:avLst/>
          </a:prstGeom>
          <a:noFill/>
          <a:ln/>
        </p:spPr>
        <p:txBody>
          <a:bodyPr wrap="square" lIns="0" tIns="0" rIns="0" bIns="0" rtlCol="0" anchor="ctr"/>
          <a:lstStyle/>
          <a:p>
            <a:pPr marL="0" indent="0">
              <a:lnSpc>
                <a:spcPct val="110000"/>
              </a:lnSpc>
              <a:buNone/>
            </a:pPr>
            <a:r>
              <a:rPr lang="en-US" sz="1100" dirty="0">
                <a:solidFill>
                  <a:srgbClr val="4F637B"/>
                </a:solidFill>
                <a:latin typeface="Calibri" pitchFamily="34" charset="0"/>
                <a:ea typeface="Calibri" pitchFamily="34" charset="-122"/>
                <a:cs typeface="Calibri" pitchFamily="34" charset="-120"/>
              </a:rPr>
              <a:t>sem_open cao nhất, so với</a:t>
            </a:r>
            <a:endParaRPr lang="en-US" sz="1100" dirty="0"/>
          </a:p>
          <a:p>
            <a:pPr marL="0" indent="0">
              <a:lnSpc>
                <a:spcPct val="110000"/>
              </a:lnSpc>
              <a:buNone/>
            </a:pPr>
            <a:r>
              <a:rPr lang="en-US" sz="1100" dirty="0">
                <a:solidFill>
                  <a:srgbClr val="4F637B"/>
                </a:solidFill>
                <a:latin typeface="Calibri" pitchFamily="34" charset="0"/>
                <a:ea typeface="Calibri" pitchFamily="34" charset="-122"/>
                <a:cs typeface="Calibri" pitchFamily="34" charset="-120"/>
              </a:rPr>
              <a:t>tối đa 0,2306 của GPT-2</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B26A00"/>
                </a:solidFill>
                <a:latin typeface="Calibri" pitchFamily="34" charset="0"/>
                <a:ea typeface="Calibri" pitchFamily="34" charset="-122"/>
                <a:cs typeface="Calibri" pitchFamily="34" charset="-120"/>
              </a:rPr>
              <a:t>PHẦN 7 · PHÁT HIỆN CHÍNH</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Dung lượng đổi lấy trí nhớ, không đổi lấy năng lực</a:t>
            </a:r>
            <a:endParaRPr lang="en-US" sz="2900" dirty="0"/>
          </a:p>
        </p:txBody>
      </p:sp>
      <p:graphicFrame>
        <p:nvGraphicFramePr>
          <p:cNvPr id="5" name="Chart 0"/>
          <p:cNvGraphicFramePr/>
          <p:nvPr/>
        </p:nvGraphicFramePr>
        <p:xfrm>
          <a:off x="566928" y="1481328"/>
          <a:ext cx="7315200" cy="374904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8138160" y="1481328"/>
            <a:ext cx="3493008" cy="3749040"/>
          </a:xfrm>
          <a:prstGeom prst="roundRect">
            <a:avLst>
              <a:gd name="adj" fmla="val 2356"/>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7" name="Shape 3"/>
          <p:cNvSpPr/>
          <p:nvPr/>
        </p:nvSpPr>
        <p:spPr>
          <a:xfrm>
            <a:off x="8339328" y="1700784"/>
            <a:ext cx="329184" cy="329184"/>
          </a:xfrm>
          <a:prstGeom prst="ellipse">
            <a:avLst/>
          </a:prstGeom>
          <a:solidFill>
            <a:srgbClr val="C62828"/>
          </a:solidFill>
          <a:ln/>
        </p:spPr>
        <p:txBody>
          <a:bodyPr/>
          <a:lstStyle/>
          <a:p>
            <a:endParaRPr lang="en-US"/>
          </a:p>
        </p:txBody>
      </p:sp>
      <p:sp>
        <p:nvSpPr>
          <p:cNvPr id="8" name="Text 4"/>
          <p:cNvSpPr/>
          <p:nvPr/>
        </p:nvSpPr>
        <p:spPr>
          <a:xfrm>
            <a:off x="8339328" y="170078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9" name="Text 5"/>
          <p:cNvSpPr/>
          <p:nvPr/>
        </p:nvSpPr>
        <p:spPr>
          <a:xfrm>
            <a:off x="8796528" y="1682496"/>
            <a:ext cx="265176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Mức tụt khi ra tập sạch</a:t>
            </a:r>
            <a:endParaRPr lang="en-US" sz="1450" dirty="0"/>
          </a:p>
        </p:txBody>
      </p:sp>
      <p:sp>
        <p:nvSpPr>
          <p:cNvPr id="10" name="Text 6"/>
          <p:cNvSpPr/>
          <p:nvPr/>
        </p:nvSpPr>
        <p:spPr>
          <a:xfrm>
            <a:off x="8339328" y="2194560"/>
            <a:ext cx="2103120" cy="292608"/>
          </a:xfrm>
          <a:prstGeom prst="rect">
            <a:avLst/>
          </a:prstGeom>
          <a:noFill/>
          <a:ln/>
        </p:spPr>
        <p:txBody>
          <a:bodyPr wrap="square" lIns="0" tIns="0" rIns="0" bIns="0" rtlCol="0" anchor="ctr"/>
          <a:lstStyle/>
          <a:p>
            <a:pPr marL="0" indent="0">
              <a:buNone/>
            </a:pPr>
            <a:r>
              <a:rPr lang="en-US" sz="1150" dirty="0">
                <a:solidFill>
                  <a:srgbClr val="4F637B"/>
                </a:solidFill>
                <a:latin typeface="Calibri" pitchFamily="34" charset="0"/>
                <a:ea typeface="Calibri" pitchFamily="34" charset="-122"/>
                <a:cs typeface="Calibri" pitchFamily="34" charset="-120"/>
              </a:rPr>
              <a:t>gemma_4 (4B)</a:t>
            </a:r>
            <a:endParaRPr lang="en-US" sz="1150" dirty="0"/>
          </a:p>
        </p:txBody>
      </p:sp>
      <p:sp>
        <p:nvSpPr>
          <p:cNvPr id="11" name="Text 7"/>
          <p:cNvSpPr/>
          <p:nvPr/>
        </p:nvSpPr>
        <p:spPr>
          <a:xfrm>
            <a:off x="10442448" y="2194560"/>
            <a:ext cx="1005840" cy="292608"/>
          </a:xfrm>
          <a:prstGeom prst="rect">
            <a:avLst/>
          </a:prstGeom>
          <a:noFill/>
          <a:ln/>
        </p:spPr>
        <p:txBody>
          <a:bodyPr wrap="square" lIns="0" tIns="0" rIns="0" bIns="0" rtlCol="0" anchor="ctr"/>
          <a:lstStyle/>
          <a:p>
            <a:pPr marL="0" indent="0" algn="r">
              <a:buNone/>
            </a:pPr>
            <a:r>
              <a:rPr lang="en-US" sz="1200" b="1" dirty="0">
                <a:solidFill>
                  <a:srgbClr val="C62828"/>
                </a:solidFill>
                <a:latin typeface="Calibri" pitchFamily="34" charset="0"/>
                <a:ea typeface="Calibri" pitchFamily="34" charset="-122"/>
                <a:cs typeface="Calibri" pitchFamily="34" charset="-120"/>
              </a:rPr>
              <a:t>−16,46</a:t>
            </a:r>
            <a:endParaRPr lang="en-US" sz="1200" dirty="0"/>
          </a:p>
        </p:txBody>
      </p:sp>
      <p:sp>
        <p:nvSpPr>
          <p:cNvPr id="12" name="Text 8"/>
          <p:cNvSpPr/>
          <p:nvPr/>
        </p:nvSpPr>
        <p:spPr>
          <a:xfrm>
            <a:off x="8339328" y="2578608"/>
            <a:ext cx="2103120" cy="292608"/>
          </a:xfrm>
          <a:prstGeom prst="rect">
            <a:avLst/>
          </a:prstGeom>
          <a:noFill/>
          <a:ln/>
        </p:spPr>
        <p:txBody>
          <a:bodyPr wrap="square" lIns="0" tIns="0" rIns="0" bIns="0" rtlCol="0" anchor="ctr"/>
          <a:lstStyle/>
          <a:p>
            <a:pPr marL="0" indent="0">
              <a:buNone/>
            </a:pPr>
            <a:r>
              <a:rPr lang="en-US" sz="1150" dirty="0">
                <a:solidFill>
                  <a:srgbClr val="4F637B"/>
                </a:solidFill>
                <a:latin typeface="Calibri" pitchFamily="34" charset="0"/>
                <a:ea typeface="Calibri" pitchFamily="34" charset="-122"/>
                <a:cs typeface="Calibri" pitchFamily="34" charset="-120"/>
              </a:rPr>
              <a:t>Q_qformer</a:t>
            </a:r>
            <a:endParaRPr lang="en-US" sz="1150" dirty="0"/>
          </a:p>
        </p:txBody>
      </p:sp>
      <p:sp>
        <p:nvSpPr>
          <p:cNvPr id="13" name="Text 9"/>
          <p:cNvSpPr/>
          <p:nvPr/>
        </p:nvSpPr>
        <p:spPr>
          <a:xfrm>
            <a:off x="10442448" y="2578608"/>
            <a:ext cx="1005840" cy="292608"/>
          </a:xfrm>
          <a:prstGeom prst="rect">
            <a:avLst/>
          </a:prstGeom>
          <a:noFill/>
          <a:ln/>
        </p:spPr>
        <p:txBody>
          <a:bodyPr wrap="square" lIns="0" tIns="0" rIns="0" bIns="0" rtlCol="0" anchor="ctr"/>
          <a:lstStyle/>
          <a:p>
            <a:pPr marL="0" indent="0" algn="r">
              <a:buNone/>
            </a:pPr>
            <a:r>
              <a:rPr lang="en-US" sz="1200" b="1" dirty="0">
                <a:solidFill>
                  <a:srgbClr val="C62828"/>
                </a:solidFill>
                <a:latin typeface="Calibri" pitchFamily="34" charset="0"/>
                <a:ea typeface="Calibri" pitchFamily="34" charset="-122"/>
                <a:cs typeface="Calibri" pitchFamily="34" charset="-120"/>
              </a:rPr>
              <a:t>−11,65</a:t>
            </a:r>
            <a:endParaRPr lang="en-US" sz="1200" dirty="0"/>
          </a:p>
        </p:txBody>
      </p:sp>
      <p:sp>
        <p:nvSpPr>
          <p:cNvPr id="14" name="Text 10"/>
          <p:cNvSpPr/>
          <p:nvPr/>
        </p:nvSpPr>
        <p:spPr>
          <a:xfrm>
            <a:off x="8339328" y="2962656"/>
            <a:ext cx="2103120" cy="292608"/>
          </a:xfrm>
          <a:prstGeom prst="rect">
            <a:avLst/>
          </a:prstGeom>
          <a:noFill/>
          <a:ln/>
        </p:spPr>
        <p:txBody>
          <a:bodyPr wrap="square" lIns="0" tIns="0" rIns="0" bIns="0" rtlCol="0" anchor="ctr"/>
          <a:lstStyle/>
          <a:p>
            <a:pPr marL="0" indent="0">
              <a:buNone/>
            </a:pPr>
            <a:r>
              <a:rPr lang="en-US" sz="1150" dirty="0">
                <a:solidFill>
                  <a:srgbClr val="4F637B"/>
                </a:solidFill>
                <a:latin typeface="Calibri" pitchFamily="34" charset="0"/>
                <a:ea typeface="Calibri" pitchFamily="34" charset="-122"/>
                <a:cs typeface="Calibri" pitchFamily="34" charset="-120"/>
              </a:rPr>
              <a:t>P_resnet_trans</a:t>
            </a:r>
            <a:endParaRPr lang="en-US" sz="1150" dirty="0"/>
          </a:p>
        </p:txBody>
      </p:sp>
      <p:sp>
        <p:nvSpPr>
          <p:cNvPr id="15" name="Text 11"/>
          <p:cNvSpPr/>
          <p:nvPr/>
        </p:nvSpPr>
        <p:spPr>
          <a:xfrm>
            <a:off x="10442448" y="2962656"/>
            <a:ext cx="1005840" cy="292608"/>
          </a:xfrm>
          <a:prstGeom prst="rect">
            <a:avLst/>
          </a:prstGeom>
          <a:noFill/>
          <a:ln/>
        </p:spPr>
        <p:txBody>
          <a:bodyPr wrap="square" lIns="0" tIns="0" rIns="0" bIns="0" rtlCol="0" anchor="ctr"/>
          <a:lstStyle/>
          <a:p>
            <a:pPr marL="0" indent="0" algn="r">
              <a:buNone/>
            </a:pPr>
            <a:r>
              <a:rPr lang="en-US" sz="1200" b="1" dirty="0">
                <a:solidFill>
                  <a:srgbClr val="C62828"/>
                </a:solidFill>
                <a:latin typeface="Calibri" pitchFamily="34" charset="0"/>
                <a:ea typeface="Calibri" pitchFamily="34" charset="-122"/>
                <a:cs typeface="Calibri" pitchFamily="34" charset="-120"/>
              </a:rPr>
              <a:t>−11,80</a:t>
            </a:r>
            <a:endParaRPr lang="en-US" sz="1200" dirty="0"/>
          </a:p>
        </p:txBody>
      </p:sp>
      <p:sp>
        <p:nvSpPr>
          <p:cNvPr id="16" name="Text 12"/>
          <p:cNvSpPr/>
          <p:nvPr/>
        </p:nvSpPr>
        <p:spPr>
          <a:xfrm>
            <a:off x="8339328" y="3346704"/>
            <a:ext cx="2103120" cy="292608"/>
          </a:xfrm>
          <a:prstGeom prst="rect">
            <a:avLst/>
          </a:prstGeom>
          <a:noFill/>
          <a:ln/>
        </p:spPr>
        <p:txBody>
          <a:bodyPr wrap="square" lIns="0" tIns="0" rIns="0" bIns="0" rtlCol="0" anchor="ctr"/>
          <a:lstStyle/>
          <a:p>
            <a:pPr marL="0" indent="0">
              <a:buNone/>
            </a:pPr>
            <a:r>
              <a:rPr lang="en-US" sz="1150" dirty="0">
                <a:solidFill>
                  <a:srgbClr val="4F637B"/>
                </a:solidFill>
                <a:latin typeface="Calibri" pitchFamily="34" charset="0"/>
                <a:ea typeface="Calibri" pitchFamily="34" charset="-122"/>
                <a:cs typeface="Calibri" pitchFamily="34" charset="-120"/>
              </a:rPr>
              <a:t>Q_pooled</a:t>
            </a:r>
            <a:endParaRPr lang="en-US" sz="1150" dirty="0"/>
          </a:p>
        </p:txBody>
      </p:sp>
      <p:sp>
        <p:nvSpPr>
          <p:cNvPr id="17" name="Text 13"/>
          <p:cNvSpPr/>
          <p:nvPr/>
        </p:nvSpPr>
        <p:spPr>
          <a:xfrm>
            <a:off x="10442448" y="3346704"/>
            <a:ext cx="1005840" cy="292608"/>
          </a:xfrm>
          <a:prstGeom prst="rect">
            <a:avLst/>
          </a:prstGeom>
          <a:noFill/>
          <a:ln/>
        </p:spPr>
        <p:txBody>
          <a:bodyPr wrap="square" lIns="0" tIns="0" rIns="0" bIns="0" rtlCol="0" anchor="ctr"/>
          <a:lstStyle/>
          <a:p>
            <a:pPr marL="0" indent="0" algn="r">
              <a:buNone/>
            </a:pPr>
            <a:r>
              <a:rPr lang="en-US" sz="1200" b="1" dirty="0">
                <a:solidFill>
                  <a:srgbClr val="B26A00"/>
                </a:solidFill>
                <a:latin typeface="Calibri" pitchFamily="34" charset="0"/>
                <a:ea typeface="Calibri" pitchFamily="34" charset="-122"/>
                <a:cs typeface="Calibri" pitchFamily="34" charset="-120"/>
              </a:rPr>
              <a:t>−7,46</a:t>
            </a:r>
            <a:endParaRPr lang="en-US" sz="1200" dirty="0"/>
          </a:p>
        </p:txBody>
      </p:sp>
      <p:sp>
        <p:nvSpPr>
          <p:cNvPr id="18" name="Text 14"/>
          <p:cNvSpPr/>
          <p:nvPr/>
        </p:nvSpPr>
        <p:spPr>
          <a:xfrm>
            <a:off x="8339328" y="3730752"/>
            <a:ext cx="2103120" cy="292608"/>
          </a:xfrm>
          <a:prstGeom prst="rect">
            <a:avLst/>
          </a:prstGeom>
          <a:noFill/>
          <a:ln/>
        </p:spPr>
        <p:txBody>
          <a:bodyPr wrap="square" lIns="0" tIns="0" rIns="0" bIns="0" rtlCol="0" anchor="ctr"/>
          <a:lstStyle/>
          <a:p>
            <a:pPr marL="0" indent="0">
              <a:buNone/>
            </a:pPr>
            <a:r>
              <a:rPr lang="en-US" sz="1150" dirty="0">
                <a:solidFill>
                  <a:srgbClr val="4F637B"/>
                </a:solidFill>
                <a:latin typeface="Calibri" pitchFamily="34" charset="0"/>
                <a:ea typeface="Calibri" pitchFamily="34" charset="-122"/>
                <a:cs typeface="Calibri" pitchFamily="34" charset="-120"/>
              </a:rPr>
              <a:t>gemma_2 (2B)</a:t>
            </a:r>
            <a:endParaRPr lang="en-US" sz="1150" dirty="0"/>
          </a:p>
        </p:txBody>
      </p:sp>
      <p:sp>
        <p:nvSpPr>
          <p:cNvPr id="19" name="Text 15"/>
          <p:cNvSpPr/>
          <p:nvPr/>
        </p:nvSpPr>
        <p:spPr>
          <a:xfrm>
            <a:off x="10442448" y="3730752"/>
            <a:ext cx="1005840" cy="292608"/>
          </a:xfrm>
          <a:prstGeom prst="rect">
            <a:avLst/>
          </a:prstGeom>
          <a:noFill/>
          <a:ln/>
        </p:spPr>
        <p:txBody>
          <a:bodyPr wrap="square" lIns="0" tIns="0" rIns="0" bIns="0" rtlCol="0" anchor="ctr"/>
          <a:lstStyle/>
          <a:p>
            <a:pPr marL="0" indent="0" algn="r">
              <a:buNone/>
            </a:pPr>
            <a:r>
              <a:rPr lang="en-US" sz="1200" b="1" dirty="0">
                <a:solidFill>
                  <a:srgbClr val="B26A00"/>
                </a:solidFill>
                <a:latin typeface="Calibri" pitchFamily="34" charset="0"/>
                <a:ea typeface="Calibri" pitchFamily="34" charset="-122"/>
                <a:cs typeface="Calibri" pitchFamily="34" charset="-120"/>
              </a:rPr>
              <a:t>−7,72</a:t>
            </a:r>
            <a:endParaRPr lang="en-US" sz="1200" dirty="0"/>
          </a:p>
        </p:txBody>
      </p:sp>
      <p:sp>
        <p:nvSpPr>
          <p:cNvPr id="20" name="Shape 16"/>
          <p:cNvSpPr/>
          <p:nvPr/>
        </p:nvSpPr>
        <p:spPr>
          <a:xfrm>
            <a:off x="8339328" y="4206240"/>
            <a:ext cx="3108960" cy="0"/>
          </a:xfrm>
          <a:prstGeom prst="line">
            <a:avLst/>
          </a:prstGeom>
          <a:noFill/>
          <a:ln w="12700">
            <a:solidFill>
              <a:srgbClr val="D3DEEA"/>
            </a:solidFill>
            <a:prstDash val="solid"/>
          </a:ln>
        </p:spPr>
        <p:txBody>
          <a:bodyPr/>
          <a:lstStyle/>
          <a:p>
            <a:endParaRPr lang="en-US"/>
          </a:p>
        </p:txBody>
      </p:sp>
      <p:sp>
        <p:nvSpPr>
          <p:cNvPr id="21" name="Text 17"/>
          <p:cNvSpPr/>
          <p:nvPr/>
        </p:nvSpPr>
        <p:spPr>
          <a:xfrm>
            <a:off x="8339328" y="4352544"/>
            <a:ext cx="3108960" cy="786384"/>
          </a:xfrm>
          <a:prstGeom prst="rect">
            <a:avLst/>
          </a:prstGeom>
          <a:noFill/>
          <a:ln/>
        </p:spPr>
        <p:txBody>
          <a:bodyPr wrap="square" lIns="0" tIns="0" rIns="0" bIns="0" rtlCol="0" anchor="ctr"/>
          <a:lstStyle/>
          <a:p>
            <a:pPr marL="0" indent="0">
              <a:lnSpc>
                <a:spcPct val="114000"/>
              </a:lnSpc>
              <a:buNone/>
            </a:pPr>
            <a:r>
              <a:rPr lang="en-US" sz="1100" dirty="0">
                <a:solidFill>
                  <a:srgbClr val="4F637B"/>
                </a:solidFill>
                <a:latin typeface="Calibri" pitchFamily="34" charset="0"/>
                <a:ea typeface="Calibri" pitchFamily="34" charset="-122"/>
                <a:cs typeface="Calibri" pitchFamily="34" charset="-120"/>
              </a:rPr>
              <a:t>Mô hình có dung lượng lớn nhất tụt sâu nhất. Mô hình được chính quy hóa tốt hoặc nhỏ hơn giữ được điểm — và về đích cao nhất trên tập sạch.</a:t>
            </a:r>
            <a:endParaRPr lang="en-US" sz="1100" dirty="0"/>
          </a:p>
        </p:txBody>
      </p:sp>
      <p:sp>
        <p:nvSpPr>
          <p:cNvPr id="22" name="Text 18"/>
          <p:cNvSpPr/>
          <p:nvPr/>
        </p:nvSpPr>
        <p:spPr>
          <a:xfrm>
            <a:off x="566928" y="5358384"/>
            <a:ext cx="11057839" cy="457200"/>
          </a:xfrm>
          <a:prstGeom prst="rect">
            <a:avLst/>
          </a:prstGeom>
          <a:noFill/>
          <a:ln/>
        </p:spPr>
        <p:txBody>
          <a:bodyPr wrap="square" lIns="0" tIns="0" rIns="0" bIns="0" rtlCol="0" anchor="ctr"/>
          <a:lstStyle/>
          <a:p>
            <a:pPr marL="0" indent="0">
              <a:lnSpc>
                <a:spcPct val="114000"/>
              </a:lnSpc>
              <a:buNone/>
            </a:pPr>
            <a:r>
              <a:rPr lang="en-US" sz="1200" i="1" dirty="0">
                <a:solidFill>
                  <a:srgbClr val="B26A00"/>
                </a:solidFill>
                <a:latin typeface="Calibri" pitchFamily="34" charset="0"/>
                <a:ea typeface="Calibri" pitchFamily="34" charset="-122"/>
                <a:cs typeface="Calibri" pitchFamily="34" charset="-120"/>
              </a:rPr>
              <a:t>Ba giai đoạn thí nghiệm độc lập cùng chỉ về một kết luận: trên một tập train chỉ 1.793 mẫu với 99,51% ảnh test đã bị nhìn thấy, thêm dung lượng mô hình chủ yếu làm tăng khả năng ghi nhớ ảnh chứ không tăng năng lực suy luận trên bệnh nhân mới.</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310896"/>
            <a:ext cx="9777679" cy="219456"/>
          </a:xfrm>
          <a:prstGeom prst="rect">
            <a:avLst/>
          </a:prstGeom>
          <a:noFill/>
          <a:ln/>
        </p:spPr>
        <p:txBody>
          <a:bodyPr wrap="square" lIns="0" tIns="0" rIns="0" bIns="0" rtlCol="0" anchor="ctr"/>
          <a:lstStyle/>
          <a:p>
            <a:pPr marL="0" indent="0">
              <a:buNone/>
            </a:pPr>
            <a:r>
              <a:rPr lang="en-US" sz="1050" b="1" kern="0" spc="220" dirty="0">
                <a:solidFill>
                  <a:srgbClr val="1466C0"/>
                </a:solidFill>
                <a:latin typeface="Calibri" pitchFamily="34" charset="0"/>
                <a:ea typeface="Calibri" pitchFamily="34" charset="-122"/>
                <a:cs typeface="Calibri" pitchFamily="34" charset="-120"/>
              </a:rPr>
              <a:t>PHẦN 7 · KẾT LUẬN</a:t>
            </a:r>
            <a:endParaRPr lang="en-US" sz="1050" dirty="0"/>
          </a:p>
        </p:txBody>
      </p:sp>
      <p:sp>
        <p:nvSpPr>
          <p:cNvPr id="4" name="Text 1"/>
          <p:cNvSpPr/>
          <p:nvPr/>
        </p:nvSpPr>
        <p:spPr>
          <a:xfrm>
            <a:off x="566928" y="548640"/>
            <a:ext cx="9777679" cy="603504"/>
          </a:xfrm>
          <a:prstGeom prst="rect">
            <a:avLst/>
          </a:prstGeom>
          <a:noFill/>
          <a:ln/>
        </p:spPr>
        <p:txBody>
          <a:bodyPr wrap="square" lIns="0" tIns="0" rIns="0" bIns="0" rtlCol="0" anchor="ctr"/>
          <a:lstStyle/>
          <a:p>
            <a:pPr marL="0" indent="0">
              <a:buNone/>
            </a:pPr>
            <a:r>
              <a:rPr lang="en-US" sz="2900" b="1" dirty="0">
                <a:solidFill>
                  <a:srgbClr val="14243A"/>
                </a:solidFill>
                <a:latin typeface="Cambria" pitchFamily="34" charset="0"/>
                <a:ea typeface="Cambria" pitchFamily="34" charset="-122"/>
                <a:cs typeface="Cambria" pitchFamily="34" charset="-120"/>
              </a:rPr>
              <a:t>Kết luận và việc cần làm tiếp</a:t>
            </a:r>
            <a:endParaRPr lang="en-US" sz="2900" dirty="0"/>
          </a:p>
        </p:txBody>
      </p:sp>
      <p:sp>
        <p:nvSpPr>
          <p:cNvPr id="5" name="Shape 2"/>
          <p:cNvSpPr/>
          <p:nvPr/>
        </p:nvSpPr>
        <p:spPr>
          <a:xfrm>
            <a:off x="566928" y="1371600"/>
            <a:ext cx="5394960" cy="3986784"/>
          </a:xfrm>
          <a:prstGeom prst="roundRect">
            <a:avLst>
              <a:gd name="adj" fmla="val 2064"/>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6" name="Shape 3"/>
          <p:cNvSpPr/>
          <p:nvPr/>
        </p:nvSpPr>
        <p:spPr>
          <a:xfrm>
            <a:off x="822960" y="1591056"/>
            <a:ext cx="329184" cy="329184"/>
          </a:xfrm>
          <a:prstGeom prst="ellipse">
            <a:avLst/>
          </a:prstGeom>
          <a:solidFill>
            <a:srgbClr val="0B8457"/>
          </a:solidFill>
          <a:ln/>
        </p:spPr>
        <p:txBody>
          <a:bodyPr/>
          <a:lstStyle/>
          <a:p>
            <a:endParaRPr lang="en-US"/>
          </a:p>
        </p:txBody>
      </p:sp>
      <p:sp>
        <p:nvSpPr>
          <p:cNvPr id="7" name="Text 4"/>
          <p:cNvSpPr/>
          <p:nvPr/>
        </p:nvSpPr>
        <p:spPr>
          <a:xfrm>
            <a:off x="822960" y="159105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8" name="Text 5"/>
          <p:cNvSpPr/>
          <p:nvPr/>
        </p:nvSpPr>
        <p:spPr>
          <a:xfrm>
            <a:off x="1280160" y="1572768"/>
            <a:ext cx="448056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Bốn kết luận rút ra</a:t>
            </a:r>
            <a:endParaRPr lang="en-US" sz="1450" dirty="0"/>
          </a:p>
        </p:txBody>
      </p:sp>
      <p:sp>
        <p:nvSpPr>
          <p:cNvPr id="9" name="Shape 6"/>
          <p:cNvSpPr/>
          <p:nvPr/>
        </p:nvSpPr>
        <p:spPr>
          <a:xfrm>
            <a:off x="822960" y="2066544"/>
            <a:ext cx="292608" cy="292608"/>
          </a:xfrm>
          <a:prstGeom prst="ellipse">
            <a:avLst/>
          </a:prstGeom>
          <a:solidFill>
            <a:srgbClr val="0B8457"/>
          </a:solidFill>
          <a:ln/>
        </p:spPr>
        <p:txBody>
          <a:bodyPr/>
          <a:lstStyle/>
          <a:p>
            <a:endParaRPr lang="en-US"/>
          </a:p>
        </p:txBody>
      </p:sp>
      <p:sp>
        <p:nvSpPr>
          <p:cNvPr id="10" name="Text 7"/>
          <p:cNvSpPr/>
          <p:nvPr/>
        </p:nvSpPr>
        <p:spPr>
          <a:xfrm>
            <a:off x="822960" y="2066544"/>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8"/>
          <p:cNvSpPr/>
          <p:nvPr/>
        </p:nvSpPr>
        <p:spPr>
          <a:xfrm>
            <a:off x="1225296" y="2039112"/>
            <a:ext cx="4535424" cy="274320"/>
          </a:xfrm>
          <a:prstGeom prst="rect">
            <a:avLst/>
          </a:prstGeom>
          <a:noFill/>
          <a:ln/>
        </p:spPr>
        <p:txBody>
          <a:bodyPr wrap="square" lIns="0" tIns="0" rIns="0" bIns="0" rtlCol="0" anchor="ctr"/>
          <a:lstStyle/>
          <a:p>
            <a:pPr marL="0" indent="0">
              <a:buNone/>
            </a:pPr>
            <a:r>
              <a:rPr lang="en-US" sz="1200" b="1" dirty="0">
                <a:solidFill>
                  <a:srgbClr val="14243A"/>
                </a:solidFill>
                <a:latin typeface="Calibri" pitchFamily="34" charset="0"/>
                <a:ea typeface="Calibri" pitchFamily="34" charset="-122"/>
                <a:cs typeface="Calibri" pitchFamily="34" charset="-120"/>
              </a:rPr>
              <a:t>Chọn mô hình phải dựa trên tập sạch.</a:t>
            </a:r>
            <a:endParaRPr lang="en-US" sz="1200" dirty="0"/>
          </a:p>
        </p:txBody>
      </p:sp>
      <p:sp>
        <p:nvSpPr>
          <p:cNvPr id="12" name="Text 9"/>
          <p:cNvSpPr/>
          <p:nvPr/>
        </p:nvSpPr>
        <p:spPr>
          <a:xfrm>
            <a:off x="1225296" y="2322576"/>
            <a:ext cx="4535424" cy="457200"/>
          </a:xfrm>
          <a:prstGeom prst="rect">
            <a:avLst/>
          </a:prstGeom>
          <a:noFill/>
          <a:ln/>
        </p:spPr>
        <p:txBody>
          <a:bodyPr wrap="square" lIns="0" tIns="0" rIns="0" bIns="0" rtlCol="0" anchor="ctr"/>
          <a:lstStyle/>
          <a:p>
            <a:pPr marL="0" indent="0">
              <a:lnSpc>
                <a:spcPct val="112000"/>
              </a:lnSpc>
              <a:buNone/>
            </a:pPr>
            <a:r>
              <a:rPr lang="en-US" sz="1100" dirty="0">
                <a:solidFill>
                  <a:srgbClr val="4F637B"/>
                </a:solidFill>
                <a:latin typeface="Calibri" pitchFamily="34" charset="0"/>
                <a:ea typeface="Calibri" pitchFamily="34" charset="-122"/>
                <a:cs typeface="Calibri" pitchFamily="34" charset="-120"/>
              </a:rPr>
              <a:t>gemma_2_lora_E2b nên là nền tảng cho bước tiếp theo, dù điểm nội miền của nó thấp hơn gemma_4.</a:t>
            </a:r>
            <a:endParaRPr lang="en-US" sz="1100" dirty="0"/>
          </a:p>
        </p:txBody>
      </p:sp>
      <p:sp>
        <p:nvSpPr>
          <p:cNvPr id="13" name="Shape 10"/>
          <p:cNvSpPr/>
          <p:nvPr/>
        </p:nvSpPr>
        <p:spPr>
          <a:xfrm>
            <a:off x="822960" y="2871216"/>
            <a:ext cx="292608" cy="292608"/>
          </a:xfrm>
          <a:prstGeom prst="ellipse">
            <a:avLst/>
          </a:prstGeom>
          <a:solidFill>
            <a:srgbClr val="0B8457"/>
          </a:solidFill>
          <a:ln/>
        </p:spPr>
        <p:txBody>
          <a:bodyPr/>
          <a:lstStyle/>
          <a:p>
            <a:endParaRPr lang="en-US"/>
          </a:p>
        </p:txBody>
      </p:sp>
      <p:sp>
        <p:nvSpPr>
          <p:cNvPr id="14" name="Text 11"/>
          <p:cNvSpPr/>
          <p:nvPr/>
        </p:nvSpPr>
        <p:spPr>
          <a:xfrm>
            <a:off x="822960" y="2871216"/>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p:nvPr/>
        </p:nvSpPr>
        <p:spPr>
          <a:xfrm>
            <a:off x="1225296" y="2843784"/>
            <a:ext cx="4535424" cy="274320"/>
          </a:xfrm>
          <a:prstGeom prst="rect">
            <a:avLst/>
          </a:prstGeom>
          <a:noFill/>
          <a:ln/>
        </p:spPr>
        <p:txBody>
          <a:bodyPr wrap="square" lIns="0" tIns="0" rIns="0" bIns="0" rtlCol="0" anchor="ctr"/>
          <a:lstStyle/>
          <a:p>
            <a:pPr marL="0" indent="0">
              <a:buNone/>
            </a:pPr>
            <a:r>
              <a:rPr lang="en-US" sz="1200" b="1" dirty="0">
                <a:solidFill>
                  <a:srgbClr val="14243A"/>
                </a:solidFill>
                <a:latin typeface="Calibri" pitchFamily="34" charset="0"/>
                <a:ea typeface="Calibri" pitchFamily="34" charset="-122"/>
                <a:cs typeface="Calibri" pitchFamily="34" charset="-120"/>
              </a:rPr>
              <a:t>Dung lượng lớn cần dữ liệu tương xứng.</a:t>
            </a:r>
            <a:endParaRPr lang="en-US" sz="1200" dirty="0"/>
          </a:p>
        </p:txBody>
      </p:sp>
      <p:sp>
        <p:nvSpPr>
          <p:cNvPr id="16" name="Text 13"/>
          <p:cNvSpPr/>
          <p:nvPr/>
        </p:nvSpPr>
        <p:spPr>
          <a:xfrm>
            <a:off x="1225296" y="3127248"/>
            <a:ext cx="4535424" cy="457200"/>
          </a:xfrm>
          <a:prstGeom prst="rect">
            <a:avLst/>
          </a:prstGeom>
          <a:noFill/>
          <a:ln/>
        </p:spPr>
        <p:txBody>
          <a:bodyPr wrap="square" lIns="0" tIns="0" rIns="0" bIns="0" rtlCol="0" anchor="ctr"/>
          <a:lstStyle/>
          <a:p>
            <a:pPr marL="0" indent="0">
              <a:lnSpc>
                <a:spcPct val="112000"/>
              </a:lnSpc>
              <a:buNone/>
            </a:pPr>
            <a:r>
              <a:rPr lang="en-US" sz="1100" dirty="0">
                <a:solidFill>
                  <a:srgbClr val="4F637B"/>
                </a:solidFill>
                <a:latin typeface="Calibri" pitchFamily="34" charset="0"/>
                <a:ea typeface="Calibri" pitchFamily="34" charset="-122"/>
                <a:cs typeface="Calibri" pitchFamily="34" charset="-120"/>
              </a:rPr>
              <a:t>Cả Q-Former lẫn Gemma 4B đều quá khớp khi thêm tham số vào một tập train quá nhỏ.</a:t>
            </a:r>
            <a:endParaRPr lang="en-US" sz="1100" dirty="0"/>
          </a:p>
        </p:txBody>
      </p:sp>
      <p:sp>
        <p:nvSpPr>
          <p:cNvPr id="17" name="Shape 14"/>
          <p:cNvSpPr/>
          <p:nvPr/>
        </p:nvSpPr>
        <p:spPr>
          <a:xfrm>
            <a:off x="822960" y="3675888"/>
            <a:ext cx="292608" cy="292608"/>
          </a:xfrm>
          <a:prstGeom prst="ellipse">
            <a:avLst/>
          </a:prstGeom>
          <a:solidFill>
            <a:srgbClr val="0B8457"/>
          </a:solidFill>
          <a:ln/>
        </p:spPr>
        <p:txBody>
          <a:bodyPr/>
          <a:lstStyle/>
          <a:p>
            <a:endParaRPr lang="en-US"/>
          </a:p>
        </p:txBody>
      </p:sp>
      <p:sp>
        <p:nvSpPr>
          <p:cNvPr id="18" name="Text 15"/>
          <p:cNvSpPr/>
          <p:nvPr/>
        </p:nvSpPr>
        <p:spPr>
          <a:xfrm>
            <a:off x="822960" y="3675888"/>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6"/>
          <p:cNvSpPr/>
          <p:nvPr/>
        </p:nvSpPr>
        <p:spPr>
          <a:xfrm>
            <a:off x="1225296" y="3648456"/>
            <a:ext cx="4535424" cy="274320"/>
          </a:xfrm>
          <a:prstGeom prst="rect">
            <a:avLst/>
          </a:prstGeom>
          <a:noFill/>
          <a:ln/>
        </p:spPr>
        <p:txBody>
          <a:bodyPr wrap="square" lIns="0" tIns="0" rIns="0" bIns="0" rtlCol="0" anchor="ctr"/>
          <a:lstStyle/>
          <a:p>
            <a:pPr marL="0" indent="0">
              <a:buNone/>
            </a:pPr>
            <a:r>
              <a:rPr lang="en-US" sz="1200" b="1" dirty="0">
                <a:solidFill>
                  <a:srgbClr val="14243A"/>
                </a:solidFill>
                <a:latin typeface="Calibri" pitchFamily="34" charset="0"/>
                <a:ea typeface="Calibri" pitchFamily="34" charset="-122"/>
                <a:cs typeface="Calibri" pitchFamily="34" charset="-120"/>
              </a:rPr>
              <a:t>LLM có tri thức nền thắng kiến trúc tự ghép.</a:t>
            </a:r>
            <a:endParaRPr lang="en-US" sz="1200" dirty="0"/>
          </a:p>
        </p:txBody>
      </p:sp>
      <p:sp>
        <p:nvSpPr>
          <p:cNvPr id="20" name="Text 17"/>
          <p:cNvSpPr/>
          <p:nvPr/>
        </p:nvSpPr>
        <p:spPr>
          <a:xfrm>
            <a:off x="1225296" y="3931920"/>
            <a:ext cx="4535424" cy="457200"/>
          </a:xfrm>
          <a:prstGeom prst="rect">
            <a:avLst/>
          </a:prstGeom>
          <a:noFill/>
          <a:ln/>
        </p:spPr>
        <p:txBody>
          <a:bodyPr wrap="square" lIns="0" tIns="0" rIns="0" bIns="0" rtlCol="0" anchor="ctr"/>
          <a:lstStyle/>
          <a:p>
            <a:pPr marL="0" indent="0">
              <a:lnSpc>
                <a:spcPct val="112000"/>
              </a:lnSpc>
              <a:buNone/>
            </a:pPr>
            <a:r>
              <a:rPr lang="en-US" sz="1100" dirty="0">
                <a:solidFill>
                  <a:srgbClr val="4F637B"/>
                </a:solidFill>
                <a:latin typeface="Calibri" pitchFamily="34" charset="0"/>
                <a:ea typeface="Calibri" pitchFamily="34" charset="-122"/>
                <a:cs typeface="Calibri" pitchFamily="34" charset="-120"/>
              </a:rPr>
              <a:t>sem_open khoảng 0,51 so với tối đa 0,34 của mọi biến thể GPT-2.</a:t>
            </a:r>
            <a:endParaRPr lang="en-US" sz="1100" dirty="0"/>
          </a:p>
        </p:txBody>
      </p:sp>
      <p:sp>
        <p:nvSpPr>
          <p:cNvPr id="21" name="Shape 18"/>
          <p:cNvSpPr/>
          <p:nvPr/>
        </p:nvSpPr>
        <p:spPr>
          <a:xfrm>
            <a:off x="822960" y="4480560"/>
            <a:ext cx="292608" cy="292608"/>
          </a:xfrm>
          <a:prstGeom prst="ellipse">
            <a:avLst/>
          </a:prstGeom>
          <a:solidFill>
            <a:srgbClr val="0B8457"/>
          </a:solidFill>
          <a:ln/>
        </p:spPr>
        <p:txBody>
          <a:bodyPr/>
          <a:lstStyle/>
          <a:p>
            <a:endParaRPr lang="en-US"/>
          </a:p>
        </p:txBody>
      </p:sp>
      <p:sp>
        <p:nvSpPr>
          <p:cNvPr id="22" name="Text 19"/>
          <p:cNvSpPr/>
          <p:nvPr/>
        </p:nvSpPr>
        <p:spPr>
          <a:xfrm>
            <a:off x="822960" y="4480560"/>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0"/>
          <p:cNvSpPr/>
          <p:nvPr/>
        </p:nvSpPr>
        <p:spPr>
          <a:xfrm>
            <a:off x="1225296" y="4453128"/>
            <a:ext cx="4535424" cy="274320"/>
          </a:xfrm>
          <a:prstGeom prst="rect">
            <a:avLst/>
          </a:prstGeom>
          <a:noFill/>
          <a:ln/>
        </p:spPr>
        <p:txBody>
          <a:bodyPr wrap="square" lIns="0" tIns="0" rIns="0" bIns="0" rtlCol="0" anchor="ctr"/>
          <a:lstStyle/>
          <a:p>
            <a:pPr marL="0" indent="0">
              <a:buNone/>
            </a:pPr>
            <a:r>
              <a:rPr lang="en-US" sz="1200" b="1" dirty="0">
                <a:solidFill>
                  <a:srgbClr val="14243A"/>
                </a:solidFill>
                <a:latin typeface="Calibri" pitchFamily="34" charset="0"/>
                <a:ea typeface="Calibri" pitchFamily="34" charset="-122"/>
                <a:cs typeface="Calibri" pitchFamily="34" charset="-120"/>
              </a:rPr>
              <a:t>Rò rỉ dữ liệu phải được công bố, không giấu.</a:t>
            </a:r>
            <a:endParaRPr lang="en-US" sz="1200" dirty="0"/>
          </a:p>
        </p:txBody>
      </p:sp>
      <p:sp>
        <p:nvSpPr>
          <p:cNvPr id="24" name="Text 21"/>
          <p:cNvSpPr/>
          <p:nvPr/>
        </p:nvSpPr>
        <p:spPr>
          <a:xfrm>
            <a:off x="1225296" y="4736592"/>
            <a:ext cx="4535424" cy="457200"/>
          </a:xfrm>
          <a:prstGeom prst="rect">
            <a:avLst/>
          </a:prstGeom>
          <a:noFill/>
          <a:ln/>
        </p:spPr>
        <p:txBody>
          <a:bodyPr wrap="square" lIns="0" tIns="0" rIns="0" bIns="0" rtlCol="0" anchor="ctr"/>
          <a:lstStyle/>
          <a:p>
            <a:pPr marL="0" indent="0">
              <a:lnSpc>
                <a:spcPct val="112000"/>
              </a:lnSpc>
              <a:buNone/>
            </a:pPr>
            <a:r>
              <a:rPr lang="en-US" sz="1100" dirty="0">
                <a:solidFill>
                  <a:srgbClr val="4F637B"/>
                </a:solidFill>
                <a:latin typeface="Calibri" pitchFamily="34" charset="0"/>
                <a:ea typeface="Calibri" pitchFamily="34" charset="-122"/>
                <a:cs typeface="Calibri" pitchFamily="34" charset="-120"/>
              </a:rPr>
              <a:t>Nếu chỉ báo cáo VQA-RAD, kết luận về mô hình tốt nhất sẽ ngược hoàn toàn.</a:t>
            </a:r>
            <a:endParaRPr lang="en-US" sz="1100" dirty="0"/>
          </a:p>
        </p:txBody>
      </p:sp>
      <p:sp>
        <p:nvSpPr>
          <p:cNvPr id="25" name="Shape 22"/>
          <p:cNvSpPr/>
          <p:nvPr/>
        </p:nvSpPr>
        <p:spPr>
          <a:xfrm>
            <a:off x="6236208" y="1371600"/>
            <a:ext cx="5394960" cy="3986784"/>
          </a:xfrm>
          <a:prstGeom prst="roundRect">
            <a:avLst>
              <a:gd name="adj" fmla="val 2064"/>
            </a:avLst>
          </a:prstGeom>
          <a:solidFill>
            <a:srgbClr val="E7F0FB"/>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26" name="Shape 23"/>
          <p:cNvSpPr/>
          <p:nvPr/>
        </p:nvSpPr>
        <p:spPr>
          <a:xfrm>
            <a:off x="6492240" y="1591056"/>
            <a:ext cx="329184" cy="329184"/>
          </a:xfrm>
          <a:prstGeom prst="ellipse">
            <a:avLst/>
          </a:prstGeom>
          <a:solidFill>
            <a:srgbClr val="1466C0"/>
          </a:solidFill>
          <a:ln/>
        </p:spPr>
        <p:txBody>
          <a:bodyPr/>
          <a:lstStyle/>
          <a:p>
            <a:endParaRPr lang="en-US"/>
          </a:p>
        </p:txBody>
      </p:sp>
      <p:sp>
        <p:nvSpPr>
          <p:cNvPr id="27" name="Text 24"/>
          <p:cNvSpPr/>
          <p:nvPr/>
        </p:nvSpPr>
        <p:spPr>
          <a:xfrm>
            <a:off x="6492240" y="159105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8" name="Text 25"/>
          <p:cNvSpPr/>
          <p:nvPr/>
        </p:nvSpPr>
        <p:spPr>
          <a:xfrm>
            <a:off x="6949440" y="1572768"/>
            <a:ext cx="4480560"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Năm hướng đi tiếp theo</a:t>
            </a:r>
            <a:endParaRPr lang="en-US" sz="1450" dirty="0"/>
          </a:p>
        </p:txBody>
      </p:sp>
      <p:sp>
        <p:nvSpPr>
          <p:cNvPr id="29" name="Shape 26"/>
          <p:cNvSpPr/>
          <p:nvPr/>
        </p:nvSpPr>
        <p:spPr>
          <a:xfrm>
            <a:off x="6492240" y="2066544"/>
            <a:ext cx="274320" cy="274320"/>
          </a:xfrm>
          <a:prstGeom prst="ellipse">
            <a:avLst/>
          </a:prstGeom>
          <a:solidFill>
            <a:srgbClr val="1466C0"/>
          </a:solidFill>
          <a:ln/>
        </p:spPr>
        <p:txBody>
          <a:bodyPr/>
          <a:lstStyle/>
          <a:p>
            <a:endParaRPr lang="en-US"/>
          </a:p>
        </p:txBody>
      </p:sp>
      <p:sp>
        <p:nvSpPr>
          <p:cNvPr id="30" name="Text 27"/>
          <p:cNvSpPr/>
          <p:nvPr/>
        </p:nvSpPr>
        <p:spPr>
          <a:xfrm>
            <a:off x="6492240" y="2066544"/>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1" name="Text 28"/>
          <p:cNvSpPr/>
          <p:nvPr/>
        </p:nvSpPr>
        <p:spPr>
          <a:xfrm>
            <a:off x="6876288" y="2029968"/>
            <a:ext cx="4553712" cy="256032"/>
          </a:xfrm>
          <a:prstGeom prst="rect">
            <a:avLst/>
          </a:prstGeom>
          <a:noFill/>
          <a:ln/>
        </p:spPr>
        <p:txBody>
          <a:bodyPr wrap="square" lIns="0" tIns="0" rIns="0" bIns="0" rtlCol="0" anchor="ctr"/>
          <a:lstStyle/>
          <a:p>
            <a:pPr marL="0" indent="0">
              <a:buNone/>
            </a:pPr>
            <a:r>
              <a:rPr lang="en-US" sz="1150" b="1" dirty="0">
                <a:solidFill>
                  <a:srgbClr val="14243A"/>
                </a:solidFill>
                <a:latin typeface="Calibri" pitchFamily="34" charset="0"/>
                <a:ea typeface="Calibri" pitchFamily="34" charset="-122"/>
                <a:cs typeface="Calibri" pitchFamily="34" charset="-120"/>
              </a:rPr>
              <a:t>Bổ sung RAG</a:t>
            </a:r>
            <a:endParaRPr lang="en-US" sz="1150" dirty="0"/>
          </a:p>
        </p:txBody>
      </p:sp>
      <p:sp>
        <p:nvSpPr>
          <p:cNvPr id="32" name="Text 29"/>
          <p:cNvSpPr/>
          <p:nvPr/>
        </p:nvSpPr>
        <p:spPr>
          <a:xfrm>
            <a:off x="6876288" y="2286000"/>
            <a:ext cx="4553712" cy="384048"/>
          </a:xfrm>
          <a:prstGeom prst="rect">
            <a:avLst/>
          </a:prstGeom>
          <a:noFill/>
          <a:ln/>
        </p:spPr>
        <p:txBody>
          <a:bodyPr wrap="square" lIns="0" tIns="0" rIns="0" bIns="0" rtlCol="0" anchor="ctr"/>
          <a:lstStyle/>
          <a:p>
            <a:pPr marL="0" indent="0">
              <a:lnSpc>
                <a:spcPct val="110000"/>
              </a:lnSpc>
              <a:buNone/>
            </a:pPr>
            <a:r>
              <a:rPr lang="en-US" sz="1000" dirty="0">
                <a:solidFill>
                  <a:srgbClr val="4F637B"/>
                </a:solidFill>
                <a:latin typeface="Calibri" pitchFamily="34" charset="0"/>
                <a:ea typeface="Calibri" pitchFamily="34" charset="-122"/>
                <a:cs typeface="Calibri" pitchFamily="34" charset="-120"/>
              </a:rPr>
              <a:t>Dùng PubMedCLIP truy hồi 3–5 ca tương tự trong vector DB, đưa cặp hỏi–đáp tham chiếu vào context làm ví dụ few-shot. Đây là giải pháp duy nhất chưa làm.</a:t>
            </a:r>
            <a:endParaRPr lang="en-US" sz="1000" dirty="0"/>
          </a:p>
        </p:txBody>
      </p:sp>
      <p:sp>
        <p:nvSpPr>
          <p:cNvPr id="33" name="Shape 30"/>
          <p:cNvSpPr/>
          <p:nvPr/>
        </p:nvSpPr>
        <p:spPr>
          <a:xfrm>
            <a:off x="6492240" y="2706624"/>
            <a:ext cx="274320" cy="274320"/>
          </a:xfrm>
          <a:prstGeom prst="ellipse">
            <a:avLst/>
          </a:prstGeom>
          <a:solidFill>
            <a:srgbClr val="6B33C7"/>
          </a:solidFill>
          <a:ln/>
        </p:spPr>
        <p:txBody>
          <a:bodyPr/>
          <a:lstStyle/>
          <a:p>
            <a:endParaRPr lang="en-US"/>
          </a:p>
        </p:txBody>
      </p:sp>
      <p:sp>
        <p:nvSpPr>
          <p:cNvPr id="34" name="Text 31"/>
          <p:cNvSpPr/>
          <p:nvPr/>
        </p:nvSpPr>
        <p:spPr>
          <a:xfrm>
            <a:off x="6492240" y="2706624"/>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5" name="Text 32"/>
          <p:cNvSpPr/>
          <p:nvPr/>
        </p:nvSpPr>
        <p:spPr>
          <a:xfrm>
            <a:off x="6876288" y="2670048"/>
            <a:ext cx="4553712" cy="256032"/>
          </a:xfrm>
          <a:prstGeom prst="rect">
            <a:avLst/>
          </a:prstGeom>
          <a:noFill/>
          <a:ln/>
        </p:spPr>
        <p:txBody>
          <a:bodyPr wrap="square" lIns="0" tIns="0" rIns="0" bIns="0" rtlCol="0" anchor="ctr"/>
          <a:lstStyle/>
          <a:p>
            <a:pPr marL="0" indent="0">
              <a:buNone/>
            </a:pPr>
            <a:r>
              <a:rPr lang="en-US" sz="1150" b="1" dirty="0">
                <a:solidFill>
                  <a:srgbClr val="14243A"/>
                </a:solidFill>
                <a:latin typeface="Calibri" pitchFamily="34" charset="0"/>
                <a:ea typeface="Calibri" pitchFamily="34" charset="-122"/>
                <a:cs typeface="Calibri" pitchFamily="34" charset="-120"/>
              </a:rPr>
              <a:t>Chuyển RL sang DPO</a:t>
            </a:r>
            <a:endParaRPr lang="en-US" sz="1150" dirty="0"/>
          </a:p>
        </p:txBody>
      </p:sp>
      <p:sp>
        <p:nvSpPr>
          <p:cNvPr id="36" name="Text 33"/>
          <p:cNvSpPr/>
          <p:nvPr/>
        </p:nvSpPr>
        <p:spPr>
          <a:xfrm>
            <a:off x="6876288" y="2926080"/>
            <a:ext cx="4553712" cy="384048"/>
          </a:xfrm>
          <a:prstGeom prst="rect">
            <a:avLst/>
          </a:prstGeom>
          <a:noFill/>
          <a:ln/>
        </p:spPr>
        <p:txBody>
          <a:bodyPr wrap="square" lIns="0" tIns="0" rIns="0" bIns="0" rtlCol="0" anchor="ctr"/>
          <a:lstStyle/>
          <a:p>
            <a:pPr marL="0" indent="0">
              <a:lnSpc>
                <a:spcPct val="110000"/>
              </a:lnSpc>
              <a:buNone/>
            </a:pPr>
            <a:r>
              <a:rPr lang="en-US" sz="1000" dirty="0">
                <a:solidFill>
                  <a:srgbClr val="4F637B"/>
                </a:solidFill>
                <a:latin typeface="Calibri" pitchFamily="34" charset="0"/>
                <a:ea typeface="Calibri" pitchFamily="34" charset="-122"/>
                <a:cs typeface="Calibri" pitchFamily="34" charset="-120"/>
              </a:rPr>
              <a:t>Tối ưu theo cặp ưa thích/từ chối để tránh bất ổn của policy gradient trên dữ liệu nhỏ.</a:t>
            </a:r>
            <a:endParaRPr lang="en-US" sz="1000" dirty="0"/>
          </a:p>
        </p:txBody>
      </p:sp>
      <p:sp>
        <p:nvSpPr>
          <p:cNvPr id="37" name="Shape 34"/>
          <p:cNvSpPr/>
          <p:nvPr/>
        </p:nvSpPr>
        <p:spPr>
          <a:xfrm>
            <a:off x="6492240" y="3346704"/>
            <a:ext cx="274320" cy="274320"/>
          </a:xfrm>
          <a:prstGeom prst="ellipse">
            <a:avLst/>
          </a:prstGeom>
          <a:solidFill>
            <a:srgbClr val="B26A00"/>
          </a:solidFill>
          <a:ln/>
        </p:spPr>
        <p:txBody>
          <a:bodyPr/>
          <a:lstStyle/>
          <a:p>
            <a:endParaRPr lang="en-US"/>
          </a:p>
        </p:txBody>
      </p:sp>
      <p:sp>
        <p:nvSpPr>
          <p:cNvPr id="38" name="Text 35"/>
          <p:cNvSpPr/>
          <p:nvPr/>
        </p:nvSpPr>
        <p:spPr>
          <a:xfrm>
            <a:off x="6492240" y="3346704"/>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9" name="Text 36"/>
          <p:cNvSpPr/>
          <p:nvPr/>
        </p:nvSpPr>
        <p:spPr>
          <a:xfrm>
            <a:off x="6876288" y="3310128"/>
            <a:ext cx="4553712" cy="256032"/>
          </a:xfrm>
          <a:prstGeom prst="rect">
            <a:avLst/>
          </a:prstGeom>
          <a:noFill/>
          <a:ln/>
        </p:spPr>
        <p:txBody>
          <a:bodyPr wrap="square" lIns="0" tIns="0" rIns="0" bIns="0" rtlCol="0" anchor="ctr"/>
          <a:lstStyle/>
          <a:p>
            <a:pPr marL="0" indent="0">
              <a:buNone/>
            </a:pPr>
            <a:r>
              <a:rPr lang="en-US" sz="1150" b="1" dirty="0">
                <a:solidFill>
                  <a:srgbClr val="14243A"/>
                </a:solidFill>
                <a:latin typeface="Calibri" pitchFamily="34" charset="0"/>
                <a:ea typeface="Calibri" pitchFamily="34" charset="-122"/>
                <a:cs typeface="Calibri" pitchFamily="34" charset="-120"/>
              </a:rPr>
              <a:t>Chính quy hóa mạnh hơn cho mô hình lớn</a:t>
            </a:r>
            <a:endParaRPr lang="en-US" sz="1150" dirty="0"/>
          </a:p>
        </p:txBody>
      </p:sp>
      <p:sp>
        <p:nvSpPr>
          <p:cNvPr id="40" name="Text 37"/>
          <p:cNvSpPr/>
          <p:nvPr/>
        </p:nvSpPr>
        <p:spPr>
          <a:xfrm>
            <a:off x="6876288" y="3566160"/>
            <a:ext cx="4553712" cy="384048"/>
          </a:xfrm>
          <a:prstGeom prst="rect">
            <a:avLst/>
          </a:prstGeom>
          <a:noFill/>
          <a:ln/>
        </p:spPr>
        <p:txBody>
          <a:bodyPr wrap="square" lIns="0" tIns="0" rIns="0" bIns="0" rtlCol="0" anchor="ctr"/>
          <a:lstStyle/>
          <a:p>
            <a:pPr marL="0" indent="0">
              <a:lnSpc>
                <a:spcPct val="110000"/>
              </a:lnSpc>
              <a:buNone/>
            </a:pPr>
            <a:r>
              <a:rPr lang="en-US" sz="1000" dirty="0">
                <a:solidFill>
                  <a:srgbClr val="4F637B"/>
                </a:solidFill>
                <a:latin typeface="Calibri" pitchFamily="34" charset="0"/>
                <a:ea typeface="Calibri" pitchFamily="34" charset="-122"/>
                <a:cs typeface="Calibri" pitchFamily="34" charset="-120"/>
              </a:rPr>
              <a:t>Giảm hạng LoRA từ 16 xuống 8 hoặc 4, tăng dropout, hoặc đóng băng bớt lớp của Q-Former.</a:t>
            </a:r>
            <a:endParaRPr lang="en-US" sz="1000" dirty="0"/>
          </a:p>
        </p:txBody>
      </p:sp>
      <p:sp>
        <p:nvSpPr>
          <p:cNvPr id="41" name="Shape 38"/>
          <p:cNvSpPr/>
          <p:nvPr/>
        </p:nvSpPr>
        <p:spPr>
          <a:xfrm>
            <a:off x="6492240" y="3986784"/>
            <a:ext cx="274320" cy="274320"/>
          </a:xfrm>
          <a:prstGeom prst="ellipse">
            <a:avLst/>
          </a:prstGeom>
          <a:solidFill>
            <a:srgbClr val="B26A00"/>
          </a:solidFill>
          <a:ln/>
        </p:spPr>
        <p:txBody>
          <a:bodyPr/>
          <a:lstStyle/>
          <a:p>
            <a:endParaRPr lang="en-US"/>
          </a:p>
        </p:txBody>
      </p:sp>
      <p:sp>
        <p:nvSpPr>
          <p:cNvPr id="42" name="Text 39"/>
          <p:cNvSpPr/>
          <p:nvPr/>
        </p:nvSpPr>
        <p:spPr>
          <a:xfrm>
            <a:off x="6492240" y="3986784"/>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3" name="Text 40"/>
          <p:cNvSpPr/>
          <p:nvPr/>
        </p:nvSpPr>
        <p:spPr>
          <a:xfrm>
            <a:off x="6876288" y="3950208"/>
            <a:ext cx="4553712" cy="256032"/>
          </a:xfrm>
          <a:prstGeom prst="rect">
            <a:avLst/>
          </a:prstGeom>
          <a:noFill/>
          <a:ln/>
        </p:spPr>
        <p:txBody>
          <a:bodyPr wrap="square" lIns="0" tIns="0" rIns="0" bIns="0" rtlCol="0" anchor="ctr"/>
          <a:lstStyle/>
          <a:p>
            <a:pPr marL="0" indent="0">
              <a:buNone/>
            </a:pPr>
            <a:r>
              <a:rPr lang="en-US" sz="1150" b="1" dirty="0">
                <a:solidFill>
                  <a:srgbClr val="14243A"/>
                </a:solidFill>
                <a:latin typeface="Calibri" pitchFamily="34" charset="0"/>
                <a:ea typeface="Calibri" pitchFamily="34" charset="-122"/>
                <a:cs typeface="Calibri" pitchFamily="34" charset="-120"/>
              </a:rPr>
              <a:t>Pretrain Q-Former trên dữ liệu lớn</a:t>
            </a:r>
            <a:endParaRPr lang="en-US" sz="1150" dirty="0"/>
          </a:p>
        </p:txBody>
      </p:sp>
      <p:sp>
        <p:nvSpPr>
          <p:cNvPr id="44" name="Text 41"/>
          <p:cNvSpPr/>
          <p:nvPr/>
        </p:nvSpPr>
        <p:spPr>
          <a:xfrm>
            <a:off x="6876288" y="4206240"/>
            <a:ext cx="4553712" cy="384048"/>
          </a:xfrm>
          <a:prstGeom prst="rect">
            <a:avLst/>
          </a:prstGeom>
          <a:noFill/>
          <a:ln/>
        </p:spPr>
        <p:txBody>
          <a:bodyPr wrap="square" lIns="0" tIns="0" rIns="0" bIns="0" rtlCol="0" anchor="ctr"/>
          <a:lstStyle/>
          <a:p>
            <a:pPr marL="0" indent="0">
              <a:lnSpc>
                <a:spcPct val="110000"/>
              </a:lnSpc>
              <a:buNone/>
            </a:pPr>
            <a:r>
              <a:rPr lang="en-US" sz="1000" dirty="0">
                <a:solidFill>
                  <a:srgbClr val="4F637B"/>
                </a:solidFill>
                <a:latin typeface="Calibri" pitchFamily="34" charset="0"/>
                <a:ea typeface="Calibri" pitchFamily="34" charset="-122"/>
                <a:cs typeface="Calibri" pitchFamily="34" charset="-120"/>
              </a:rPr>
              <a:t>Q-Former chỉ phát huy khi được huấn luyện trước trên hàng triệu cặp ảnh–chữ y khoa như MIMIC-CXR hay ROCO.</a:t>
            </a:r>
            <a:endParaRPr lang="en-US" sz="1000" dirty="0"/>
          </a:p>
        </p:txBody>
      </p:sp>
      <p:sp>
        <p:nvSpPr>
          <p:cNvPr id="45" name="Shape 42"/>
          <p:cNvSpPr/>
          <p:nvPr/>
        </p:nvSpPr>
        <p:spPr>
          <a:xfrm>
            <a:off x="6492240" y="4626864"/>
            <a:ext cx="274320" cy="274320"/>
          </a:xfrm>
          <a:prstGeom prst="ellipse">
            <a:avLst/>
          </a:prstGeom>
          <a:solidFill>
            <a:srgbClr val="0B8457"/>
          </a:solidFill>
          <a:ln/>
        </p:spPr>
        <p:txBody>
          <a:bodyPr/>
          <a:lstStyle/>
          <a:p>
            <a:endParaRPr lang="en-US"/>
          </a:p>
        </p:txBody>
      </p:sp>
      <p:sp>
        <p:nvSpPr>
          <p:cNvPr id="46" name="Text 43"/>
          <p:cNvSpPr/>
          <p:nvPr/>
        </p:nvSpPr>
        <p:spPr>
          <a:xfrm>
            <a:off x="6492240" y="4626864"/>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7" name="Text 44"/>
          <p:cNvSpPr/>
          <p:nvPr/>
        </p:nvSpPr>
        <p:spPr>
          <a:xfrm>
            <a:off x="6876288" y="4590288"/>
            <a:ext cx="4553712" cy="256032"/>
          </a:xfrm>
          <a:prstGeom prst="rect">
            <a:avLst/>
          </a:prstGeom>
          <a:noFill/>
          <a:ln/>
        </p:spPr>
        <p:txBody>
          <a:bodyPr wrap="square" lIns="0" tIns="0" rIns="0" bIns="0" rtlCol="0" anchor="ctr"/>
          <a:lstStyle/>
          <a:p>
            <a:pPr marL="0" indent="0">
              <a:buNone/>
            </a:pPr>
            <a:r>
              <a:rPr lang="en-US" sz="1150" b="1" dirty="0">
                <a:solidFill>
                  <a:srgbClr val="14243A"/>
                </a:solidFill>
                <a:latin typeface="Calibri" pitchFamily="34" charset="0"/>
                <a:ea typeface="Calibri" pitchFamily="34" charset="-122"/>
                <a:cs typeface="Calibri" pitchFamily="34" charset="-120"/>
              </a:rPr>
              <a:t>Bổ sung kiểm định thống kê</a:t>
            </a:r>
            <a:endParaRPr lang="en-US" sz="1150" dirty="0"/>
          </a:p>
        </p:txBody>
      </p:sp>
      <p:sp>
        <p:nvSpPr>
          <p:cNvPr id="48" name="Text 45"/>
          <p:cNvSpPr/>
          <p:nvPr/>
        </p:nvSpPr>
        <p:spPr>
          <a:xfrm>
            <a:off x="6876288" y="4846320"/>
            <a:ext cx="4553712" cy="384048"/>
          </a:xfrm>
          <a:prstGeom prst="rect">
            <a:avLst/>
          </a:prstGeom>
          <a:noFill/>
          <a:ln/>
        </p:spPr>
        <p:txBody>
          <a:bodyPr wrap="square" lIns="0" tIns="0" rIns="0" bIns="0" rtlCol="0" anchor="ctr"/>
          <a:lstStyle/>
          <a:p>
            <a:pPr marL="0" indent="0">
              <a:lnSpc>
                <a:spcPct val="110000"/>
              </a:lnSpc>
              <a:buNone/>
            </a:pPr>
            <a:r>
              <a:rPr lang="en-US" sz="1000" dirty="0">
                <a:solidFill>
                  <a:srgbClr val="4F637B"/>
                </a:solidFill>
                <a:latin typeface="Calibri" pitchFamily="34" charset="0"/>
                <a:ea typeface="Calibri" pitchFamily="34" charset="-122"/>
                <a:cs typeface="Calibri" pitchFamily="34" charset="-120"/>
              </a:rPr>
              <a:t>Chạy nhiều seed và kiểm định McNemar theo từng mẫu, vì tập test nhỏ khiến nhiều chênh lệch nằm trong nhiễu.</a:t>
            </a:r>
            <a:endParaRPr lang="en-US" sz="1000" dirty="0"/>
          </a:p>
        </p:txBody>
      </p:sp>
      <p:sp>
        <p:nvSpPr>
          <p:cNvPr id="49" name="Text 46"/>
          <p:cNvSpPr/>
          <p:nvPr/>
        </p:nvSpPr>
        <p:spPr>
          <a:xfrm>
            <a:off x="566928" y="6382512"/>
            <a:ext cx="11057839" cy="274320"/>
          </a:xfrm>
          <a:prstGeom prst="rect">
            <a:avLst/>
          </a:prstGeom>
          <a:noFill/>
          <a:ln/>
        </p:spPr>
        <p:txBody>
          <a:bodyPr wrap="square" lIns="0" tIns="0" rIns="0" bIns="0" rtlCol="0" anchor="ctr"/>
          <a:lstStyle/>
          <a:p>
            <a:pPr marL="0" indent="0">
              <a:buNone/>
            </a:pPr>
            <a:r>
              <a:rPr lang="en-US" sz="950" i="1" dirty="0">
                <a:solidFill>
                  <a:srgbClr val="8494A8"/>
                </a:solidFill>
                <a:latin typeface="Calibri" pitchFamily="34" charset="0"/>
                <a:ea typeface="Calibri" pitchFamily="34" charset="-122"/>
                <a:cs typeface="Calibri" pitchFamily="34" charset="-120"/>
              </a:rPr>
              <a:t>Giới hạn cần nêu rõ: giao thức một seed, tập test nhỏ, và hai tập test khác nhau đồng thời ở rò rỉ lẫn miền ảnh.</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5">
    <p:bg>
      <p:bgPr>
        <a:solidFill>
          <a:srgbClr val="F1F6FC"/>
        </a:solidFill>
        <a:effectLst/>
      </p:bgPr>
    </p:bg>
    <p:spTree>
      <p:nvGrpSpPr>
        <p:cNvPr id="1" name=""/>
        <p:cNvGrpSpPr/>
        <p:nvPr/>
      </p:nvGrpSpPr>
      <p:grpSpPr>
        <a:xfrm>
          <a:off x="0" y="0"/>
          <a:ext cx="0" cy="0"/>
          <a:chOff x="0" y="0"/>
          <a:chExt cx="0" cy="0"/>
        </a:xfrm>
      </p:grpSpPr>
      <p:pic>
        <p:nvPicPr>
          <p:cNvPr id="2" name="Image 0" descr="E:/DoCode/Master_Subject2026_TDTU/01_DeepLearning_report/figs/logo.jpg"/>
          <p:cNvPicPr>
            <a:picLocks noChangeAspect="1"/>
          </p:cNvPicPr>
          <p:nvPr/>
        </p:nvPicPr>
        <p:blipFill>
          <a:blip r:embed="rId3"/>
          <a:stretch>
            <a:fillRect/>
          </a:stretch>
        </p:blipFill>
        <p:spPr>
          <a:xfrm>
            <a:off x="10527487" y="237744"/>
            <a:ext cx="1097280" cy="589788"/>
          </a:xfrm>
          <a:prstGeom prst="rect">
            <a:avLst/>
          </a:prstGeom>
        </p:spPr>
      </p:pic>
      <p:sp>
        <p:nvSpPr>
          <p:cNvPr id="3" name="Text 0"/>
          <p:cNvSpPr/>
          <p:nvPr/>
        </p:nvSpPr>
        <p:spPr>
          <a:xfrm>
            <a:off x="566928" y="2240280"/>
            <a:ext cx="6766560" cy="877824"/>
          </a:xfrm>
          <a:prstGeom prst="rect">
            <a:avLst/>
          </a:prstGeom>
          <a:noFill/>
          <a:ln/>
        </p:spPr>
        <p:txBody>
          <a:bodyPr wrap="square" lIns="0" tIns="0" rIns="0" bIns="0" rtlCol="0" anchor="ctr"/>
          <a:lstStyle/>
          <a:p>
            <a:pPr marL="0" indent="0">
              <a:buNone/>
            </a:pPr>
            <a:r>
              <a:rPr lang="en-US" sz="4600" b="1" dirty="0">
                <a:solidFill>
                  <a:srgbClr val="14243A"/>
                </a:solidFill>
                <a:latin typeface="Cambria" pitchFamily="34" charset="0"/>
                <a:ea typeface="Cambria" pitchFamily="34" charset="-122"/>
                <a:cs typeface="Cambria" pitchFamily="34" charset="-120"/>
              </a:rPr>
              <a:t>Xin cảm ơn</a:t>
            </a:r>
            <a:endParaRPr lang="en-US" sz="4600" dirty="0"/>
          </a:p>
        </p:txBody>
      </p:sp>
      <p:sp>
        <p:nvSpPr>
          <p:cNvPr id="4" name="Text 1"/>
          <p:cNvSpPr/>
          <p:nvPr/>
        </p:nvSpPr>
        <p:spPr>
          <a:xfrm>
            <a:off x="566928" y="3172968"/>
            <a:ext cx="6766560" cy="365760"/>
          </a:xfrm>
          <a:prstGeom prst="rect">
            <a:avLst/>
          </a:prstGeom>
          <a:noFill/>
          <a:ln/>
        </p:spPr>
        <p:txBody>
          <a:bodyPr wrap="square" lIns="0" tIns="0" rIns="0" bIns="0" rtlCol="0" anchor="ctr"/>
          <a:lstStyle/>
          <a:p>
            <a:pPr marL="0" indent="0">
              <a:buNone/>
            </a:pPr>
            <a:r>
              <a:rPr lang="en-US" sz="1500" dirty="0">
                <a:solidFill>
                  <a:srgbClr val="4F637B"/>
                </a:solidFill>
                <a:latin typeface="Calibri" pitchFamily="34" charset="0"/>
                <a:ea typeface="Calibri" pitchFamily="34" charset="-122"/>
                <a:cs typeface="Calibri" pitchFamily="34" charset="-120"/>
              </a:rPr>
              <a:t>Rất mong nhận được câu hỏi và góp ý từ hội đồng.</a:t>
            </a:r>
            <a:endParaRPr lang="en-US" sz="1500" dirty="0"/>
          </a:p>
        </p:txBody>
      </p:sp>
      <p:sp>
        <p:nvSpPr>
          <p:cNvPr id="5" name="Shape 2"/>
          <p:cNvSpPr/>
          <p:nvPr/>
        </p:nvSpPr>
        <p:spPr>
          <a:xfrm>
            <a:off x="566928" y="3840480"/>
            <a:ext cx="6400800" cy="0"/>
          </a:xfrm>
          <a:prstGeom prst="line">
            <a:avLst/>
          </a:prstGeom>
          <a:noFill/>
          <a:ln w="12700">
            <a:solidFill>
              <a:srgbClr val="D3DEEA"/>
            </a:solidFill>
            <a:prstDash val="solid"/>
          </a:ln>
        </p:spPr>
        <p:txBody>
          <a:bodyPr/>
          <a:lstStyle/>
          <a:p>
            <a:endParaRPr lang="en-US"/>
          </a:p>
        </p:txBody>
      </p:sp>
      <p:sp>
        <p:nvSpPr>
          <p:cNvPr id="6" name="Text 3"/>
          <p:cNvSpPr/>
          <p:nvPr/>
        </p:nvSpPr>
        <p:spPr>
          <a:xfrm>
            <a:off x="566928" y="3986784"/>
            <a:ext cx="6766560" cy="1188720"/>
          </a:xfrm>
          <a:prstGeom prst="rect">
            <a:avLst/>
          </a:prstGeom>
          <a:noFill/>
          <a:ln/>
        </p:spPr>
        <p:txBody>
          <a:bodyPr wrap="square" lIns="0" tIns="0" rIns="0" bIns="0" rtlCol="0" anchor="ctr"/>
          <a:lstStyle/>
          <a:p>
            <a:pPr marL="0" indent="0">
              <a:lnSpc>
                <a:spcPct val="118000"/>
              </a:lnSpc>
              <a:buNone/>
            </a:pPr>
            <a:r>
              <a:rPr lang="en-US" sz="1250" b="1" dirty="0">
                <a:solidFill>
                  <a:srgbClr val="14243A"/>
                </a:solidFill>
                <a:latin typeface="Calibri" pitchFamily="34" charset="0"/>
                <a:ea typeface="Calibri" pitchFamily="34" charset="-122"/>
                <a:cs typeface="Calibri" pitchFamily="34" charset="-120"/>
              </a:rPr>
              <a:t>Sinh viên thực hiện:  </a:t>
            </a:r>
            <a:r>
              <a:rPr lang="en-US" sz="1250" dirty="0">
                <a:solidFill>
                  <a:srgbClr val="4F637B"/>
                </a:solidFill>
                <a:latin typeface="Calibri" pitchFamily="34" charset="0"/>
                <a:ea typeface="Calibri" pitchFamily="34" charset="-122"/>
                <a:cs typeface="Calibri" pitchFamily="34" charset="-120"/>
              </a:rPr>
              <a:t>Hoàng Đình Quý Vũ</a:t>
            </a:r>
            <a:endParaRPr lang="en-US" sz="1250" dirty="0"/>
          </a:p>
          <a:p>
            <a:pPr marL="0" indent="0">
              <a:lnSpc>
                <a:spcPct val="118000"/>
              </a:lnSpc>
              <a:buNone/>
            </a:pPr>
            <a:r>
              <a:rPr lang="en-US" sz="1250" b="1" dirty="0">
                <a:solidFill>
                  <a:srgbClr val="14243A"/>
                </a:solidFill>
                <a:latin typeface="Calibri" pitchFamily="34" charset="0"/>
                <a:ea typeface="Calibri" pitchFamily="34" charset="-122"/>
                <a:cs typeface="Calibri" pitchFamily="34" charset="-120"/>
              </a:rPr>
              <a:t>Giảng viên hướng dẫn:  </a:t>
            </a:r>
            <a:r>
              <a:rPr lang="en-US" sz="1250" dirty="0">
                <a:solidFill>
                  <a:srgbClr val="4F637B"/>
                </a:solidFill>
                <a:latin typeface="Calibri" pitchFamily="34" charset="0"/>
                <a:ea typeface="Calibri" pitchFamily="34" charset="-122"/>
                <a:cs typeface="Calibri" pitchFamily="34" charset="-120"/>
              </a:rPr>
              <a:t>PGS.TS Lê Anh Cường</a:t>
            </a:r>
            <a:endParaRPr lang="en-US" sz="1250" dirty="0"/>
          </a:p>
          <a:p>
            <a:pPr marL="0" indent="0">
              <a:lnSpc>
                <a:spcPct val="118000"/>
              </a:lnSpc>
              <a:buNone/>
            </a:pPr>
            <a:r>
              <a:rPr lang="en-US" sz="1100" dirty="0">
                <a:solidFill>
                  <a:srgbClr val="8494A8"/>
                </a:solidFill>
                <a:latin typeface="Calibri" pitchFamily="34" charset="0"/>
                <a:ea typeface="Calibri" pitchFamily="34" charset="-122"/>
                <a:cs typeface="Calibri" pitchFamily="34" charset="-120"/>
              </a:rPr>
              <a:t>Đại học Tôn Đức Thắng  ·  Đồ án cuối kỳ môn Học sâu</a:t>
            </a:r>
            <a:endParaRPr lang="en-US" sz="1250" dirty="0"/>
          </a:p>
        </p:txBody>
      </p:sp>
      <p:sp>
        <p:nvSpPr>
          <p:cNvPr id="7" name="Shape 4"/>
          <p:cNvSpPr/>
          <p:nvPr/>
        </p:nvSpPr>
        <p:spPr>
          <a:xfrm>
            <a:off x="7406640" y="2139696"/>
            <a:ext cx="4224528" cy="2615184"/>
          </a:xfrm>
          <a:prstGeom prst="roundRect">
            <a:avLst>
              <a:gd name="adj" fmla="val 3147"/>
            </a:avLst>
          </a:prstGeom>
          <a:solidFill>
            <a:srgbClr val="F4F8FC"/>
          </a:solidFill>
          <a:ln w="12700">
            <a:solidFill>
              <a:srgbClr val="D3DEEA"/>
            </a:solidFill>
            <a:prstDash val="solid"/>
          </a:ln>
          <a:effectLst>
            <a:outerShdw blurRad="114300" dist="25400" dir="5400000" algn="bl" rotWithShape="0">
              <a:srgbClr val="B9C6D6">
                <a:alpha val="50000"/>
              </a:srgbClr>
            </a:outerShdw>
          </a:effectLst>
        </p:spPr>
        <p:txBody>
          <a:bodyPr/>
          <a:lstStyle/>
          <a:p>
            <a:endParaRPr lang="en-US"/>
          </a:p>
        </p:txBody>
      </p:sp>
      <p:sp>
        <p:nvSpPr>
          <p:cNvPr id="8" name="Shape 5"/>
          <p:cNvSpPr/>
          <p:nvPr/>
        </p:nvSpPr>
        <p:spPr>
          <a:xfrm>
            <a:off x="7626096" y="2377440"/>
            <a:ext cx="329184" cy="329184"/>
          </a:xfrm>
          <a:prstGeom prst="ellipse">
            <a:avLst/>
          </a:prstGeom>
          <a:solidFill>
            <a:srgbClr val="0B8457"/>
          </a:solidFill>
          <a:ln/>
        </p:spPr>
        <p:txBody>
          <a:bodyPr/>
          <a:lstStyle/>
          <a:p>
            <a:endParaRPr lang="en-US"/>
          </a:p>
        </p:txBody>
      </p:sp>
      <p:sp>
        <p:nvSpPr>
          <p:cNvPr id="9" name="Text 6"/>
          <p:cNvSpPr/>
          <p:nvPr/>
        </p:nvSpPr>
        <p:spPr>
          <a:xfrm>
            <a:off x="7626096" y="237744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0" name="Text 7"/>
          <p:cNvSpPr/>
          <p:nvPr/>
        </p:nvSpPr>
        <p:spPr>
          <a:xfrm>
            <a:off x="8083296" y="2359152"/>
            <a:ext cx="3328416" cy="365760"/>
          </a:xfrm>
          <a:prstGeom prst="rect">
            <a:avLst/>
          </a:prstGeom>
          <a:noFill/>
          <a:ln/>
        </p:spPr>
        <p:txBody>
          <a:bodyPr wrap="square" lIns="0" tIns="0" rIns="0" bIns="0" rtlCol="0" anchor="ctr"/>
          <a:lstStyle/>
          <a:p>
            <a:pPr marL="0" indent="0">
              <a:buNone/>
            </a:pPr>
            <a:r>
              <a:rPr lang="en-US" sz="1450" b="1" dirty="0">
                <a:solidFill>
                  <a:srgbClr val="14243A"/>
                </a:solidFill>
                <a:latin typeface="Calibri" pitchFamily="34" charset="0"/>
                <a:ea typeface="Calibri" pitchFamily="34" charset="-122"/>
                <a:cs typeface="Calibri" pitchFamily="34" charset="-120"/>
              </a:rPr>
              <a:t>Ba con số cần nhớ</a:t>
            </a:r>
            <a:endParaRPr lang="en-US" sz="1450" dirty="0"/>
          </a:p>
        </p:txBody>
      </p:sp>
      <p:sp>
        <p:nvSpPr>
          <p:cNvPr id="11" name="Text 8"/>
          <p:cNvSpPr/>
          <p:nvPr/>
        </p:nvSpPr>
        <p:spPr>
          <a:xfrm>
            <a:off x="7626096" y="2871216"/>
            <a:ext cx="1280160" cy="365760"/>
          </a:xfrm>
          <a:prstGeom prst="rect">
            <a:avLst/>
          </a:prstGeom>
          <a:noFill/>
          <a:ln/>
        </p:spPr>
        <p:txBody>
          <a:bodyPr wrap="square" lIns="0" tIns="0" rIns="0" bIns="0" rtlCol="0" anchor="ctr"/>
          <a:lstStyle/>
          <a:p>
            <a:pPr marL="0" indent="0">
              <a:buNone/>
            </a:pPr>
            <a:r>
              <a:rPr lang="en-US" sz="1800" b="1" dirty="0">
                <a:solidFill>
                  <a:srgbClr val="C62828"/>
                </a:solidFill>
                <a:latin typeface="Cambria" pitchFamily="34" charset="0"/>
                <a:ea typeface="Cambria" pitchFamily="34" charset="-122"/>
                <a:cs typeface="Cambria" pitchFamily="34" charset="-120"/>
              </a:rPr>
              <a:t>99,51%</a:t>
            </a:r>
            <a:endParaRPr lang="en-US" sz="1800" dirty="0"/>
          </a:p>
        </p:txBody>
      </p:sp>
      <p:sp>
        <p:nvSpPr>
          <p:cNvPr id="12" name="Text 9"/>
          <p:cNvSpPr/>
          <p:nvPr/>
        </p:nvSpPr>
        <p:spPr>
          <a:xfrm>
            <a:off x="8961120" y="2871216"/>
            <a:ext cx="2450592" cy="512064"/>
          </a:xfrm>
          <a:prstGeom prst="rect">
            <a:avLst/>
          </a:prstGeom>
          <a:noFill/>
          <a:ln/>
        </p:spPr>
        <p:txBody>
          <a:bodyPr wrap="square" lIns="0" tIns="0" rIns="0" bIns="0" rtlCol="0" anchor="ctr"/>
          <a:lstStyle/>
          <a:p>
            <a:pPr marL="0" indent="0">
              <a:lnSpc>
                <a:spcPct val="108000"/>
              </a:lnSpc>
              <a:buNone/>
            </a:pPr>
            <a:r>
              <a:rPr lang="en-US" sz="1000" dirty="0">
                <a:solidFill>
                  <a:srgbClr val="4F637B"/>
                </a:solidFill>
                <a:latin typeface="Calibri" pitchFamily="34" charset="0"/>
                <a:ea typeface="Calibri" pitchFamily="34" charset="-122"/>
                <a:cs typeface="Calibri" pitchFamily="34" charset="-120"/>
              </a:rPr>
              <a:t>ảnh test VQA-RAD đã xuất hiện khi huấn luyện</a:t>
            </a:r>
            <a:endParaRPr lang="en-US" sz="1000" dirty="0"/>
          </a:p>
        </p:txBody>
      </p:sp>
      <p:sp>
        <p:nvSpPr>
          <p:cNvPr id="13" name="Text 10"/>
          <p:cNvSpPr/>
          <p:nvPr/>
        </p:nvSpPr>
        <p:spPr>
          <a:xfrm>
            <a:off x="7626096" y="3474720"/>
            <a:ext cx="1280160" cy="365760"/>
          </a:xfrm>
          <a:prstGeom prst="rect">
            <a:avLst/>
          </a:prstGeom>
          <a:noFill/>
          <a:ln/>
        </p:spPr>
        <p:txBody>
          <a:bodyPr wrap="square" lIns="0" tIns="0" rIns="0" bIns="0" rtlCol="0" anchor="ctr"/>
          <a:lstStyle/>
          <a:p>
            <a:pPr marL="0" indent="0">
              <a:buNone/>
            </a:pPr>
            <a:r>
              <a:rPr lang="en-US" sz="1800" b="1" dirty="0">
                <a:solidFill>
                  <a:srgbClr val="0B8457"/>
                </a:solidFill>
                <a:latin typeface="Cambria" pitchFamily="34" charset="0"/>
                <a:ea typeface="Cambria" pitchFamily="34" charset="-122"/>
                <a:cs typeface="Cambria" pitchFamily="34" charset="-120"/>
              </a:rPr>
              <a:t>30,20%</a:t>
            </a:r>
            <a:endParaRPr lang="en-US" sz="1800" dirty="0"/>
          </a:p>
        </p:txBody>
      </p:sp>
      <p:sp>
        <p:nvSpPr>
          <p:cNvPr id="14" name="Text 11"/>
          <p:cNvSpPr/>
          <p:nvPr/>
        </p:nvSpPr>
        <p:spPr>
          <a:xfrm>
            <a:off x="8961120" y="3474720"/>
            <a:ext cx="2450592" cy="512064"/>
          </a:xfrm>
          <a:prstGeom prst="rect">
            <a:avLst/>
          </a:prstGeom>
          <a:noFill/>
          <a:ln/>
        </p:spPr>
        <p:txBody>
          <a:bodyPr wrap="square" lIns="0" tIns="0" rIns="0" bIns="0" rtlCol="0" anchor="ctr"/>
          <a:lstStyle/>
          <a:p>
            <a:pPr marL="0" indent="0">
              <a:lnSpc>
                <a:spcPct val="108000"/>
              </a:lnSpc>
              <a:buNone/>
            </a:pPr>
            <a:r>
              <a:rPr lang="en-US" sz="1000" dirty="0">
                <a:solidFill>
                  <a:srgbClr val="4F637B"/>
                </a:solidFill>
                <a:latin typeface="Calibri" pitchFamily="34" charset="0"/>
                <a:ea typeface="Calibri" pitchFamily="34" charset="-122"/>
                <a:cs typeface="Calibri" pitchFamily="34" charset="-120"/>
              </a:rPr>
              <a:t>EM tốt nhất trên tập sạch — Gemma 2B + LoRA</a:t>
            </a:r>
            <a:endParaRPr lang="en-US" sz="1000" dirty="0"/>
          </a:p>
        </p:txBody>
      </p:sp>
      <p:sp>
        <p:nvSpPr>
          <p:cNvPr id="15" name="Text 12"/>
          <p:cNvSpPr/>
          <p:nvPr/>
        </p:nvSpPr>
        <p:spPr>
          <a:xfrm>
            <a:off x="7626096" y="4078224"/>
            <a:ext cx="1280160" cy="365760"/>
          </a:xfrm>
          <a:prstGeom prst="rect">
            <a:avLst/>
          </a:prstGeom>
          <a:noFill/>
          <a:ln/>
        </p:spPr>
        <p:txBody>
          <a:bodyPr wrap="square" lIns="0" tIns="0" rIns="0" bIns="0" rtlCol="0" anchor="ctr"/>
          <a:lstStyle/>
          <a:p>
            <a:pPr marL="0" indent="0">
              <a:buNone/>
            </a:pPr>
            <a:r>
              <a:rPr lang="en-US" sz="1800" b="1" dirty="0">
                <a:solidFill>
                  <a:srgbClr val="1466C0"/>
                </a:solidFill>
                <a:latin typeface="Cambria" pitchFamily="34" charset="0"/>
                <a:ea typeface="Cambria" pitchFamily="34" charset="-122"/>
                <a:cs typeface="Cambria" pitchFamily="34" charset="-120"/>
              </a:rPr>
              <a:t>0,5112</a:t>
            </a:r>
            <a:endParaRPr lang="en-US" sz="1800" dirty="0"/>
          </a:p>
        </p:txBody>
      </p:sp>
      <p:sp>
        <p:nvSpPr>
          <p:cNvPr id="16" name="Text 13"/>
          <p:cNvSpPr/>
          <p:nvPr/>
        </p:nvSpPr>
        <p:spPr>
          <a:xfrm>
            <a:off x="8961120" y="4078224"/>
            <a:ext cx="2450592" cy="512064"/>
          </a:xfrm>
          <a:prstGeom prst="rect">
            <a:avLst/>
          </a:prstGeom>
          <a:noFill/>
          <a:ln/>
        </p:spPr>
        <p:txBody>
          <a:bodyPr wrap="square" lIns="0" tIns="0" rIns="0" bIns="0" rtlCol="0" anchor="ctr"/>
          <a:lstStyle/>
          <a:p>
            <a:pPr marL="0" indent="0">
              <a:lnSpc>
                <a:spcPct val="108000"/>
              </a:lnSpc>
              <a:buNone/>
            </a:pPr>
            <a:r>
              <a:rPr lang="en-US" sz="1000" dirty="0">
                <a:solidFill>
                  <a:srgbClr val="4F637B"/>
                </a:solidFill>
                <a:latin typeface="Calibri" pitchFamily="34" charset="0"/>
                <a:ea typeface="Calibri" pitchFamily="34" charset="-122"/>
                <a:cs typeface="Calibri" pitchFamily="34" charset="-120"/>
              </a:rPr>
              <a:t>sem_open cao nhất, so với 0,34 của mọi bản GPT-2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362</TotalTime>
  <Words>15361</Words>
  <Application>Microsoft Office PowerPoint</Application>
  <PresentationFormat>Widescreen</PresentationFormat>
  <Paragraphs>1572</Paragraphs>
  <Slides>51</Slides>
  <Notes>49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Aptos</vt: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Ton Duc Thang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VQA - Bao cao cuoi ky mon Hoc sau</dc:title>
  <dc:subject>VQA-RAD &amp; RadImageNet-VQA evaluation</dc:subject>
  <dc:creator>Hoang Dinh Quy Vu</dc:creator>
  <cp:lastModifiedBy>Vũ Hoàng</cp:lastModifiedBy>
  <cp:revision>8</cp:revision>
  <dcterms:created xsi:type="dcterms:W3CDTF">2026-07-27T17:14:26Z</dcterms:created>
  <dcterms:modified xsi:type="dcterms:W3CDTF">2026-08-01T08:31:29Z</dcterms:modified>
</cp:coreProperties>
</file>